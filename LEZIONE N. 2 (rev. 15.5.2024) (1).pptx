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6" r:id="rId3"/>
    <p:sldId id="258" r:id="rId4"/>
    <p:sldId id="259" r:id="rId5"/>
    <p:sldId id="282" r:id="rId6"/>
    <p:sldId id="260" r:id="rId7"/>
    <p:sldId id="261" r:id="rId8"/>
    <p:sldId id="262" r:id="rId9"/>
    <p:sldId id="263" r:id="rId10"/>
    <p:sldId id="264" r:id="rId11"/>
    <p:sldId id="283" r:id="rId12"/>
    <p:sldId id="265" r:id="rId13"/>
    <p:sldId id="266" r:id="rId14"/>
    <p:sldId id="284" r:id="rId15"/>
    <p:sldId id="267" r:id="rId16"/>
    <p:sldId id="268" r:id="rId17"/>
    <p:sldId id="285"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F96ABE-1036-4A1D-B902-249B1078A9FE}"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0B4482-6DAA-4FBB-B17B-B2F5AC38A2C9}"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AFCC2805-6DBF-41BB-8FAB-04AA5BA260B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CC910CA-81D1-4ACA-B206-BBB6D52ACA47}"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A915FB9C-C1F8-493E-926E-02C62FEF5B1E}"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AF15E1F7-EEDB-44FF-8983-D1B52018027A}"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EDF03951-49BA-48B8-9F8F-AB9AB0905090}"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C57D3771-036E-4913-8F95-1FDAAD173CB0}"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0B3DB58-DCA2-4B40-B351-A4918A1197D5}"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CCAE7946-84A8-4DB7-92CD-B5317230DED9}"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7C7298D2-4B4F-41DA-A28B-D6CEBFE53586}"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8B3FC59C-FF81-4F53-8A74-32DF85B0D39C}"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578F6E5A-6431-4BE6-A444-CA4297EC6B43}"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0BBB5-C3F4-45C3-934B-44C44AAE4CDE}"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714348" y="857233"/>
            <a:ext cx="7772400" cy="1000132"/>
          </a:xfrm>
        </p:spPr>
        <p:txBody>
          <a:bodyPr>
            <a:normAutofit/>
          </a:bodyPr>
          <a:lstStyle/>
          <a:p>
            <a:r>
              <a:rPr lang="it-IT" sz="2800" dirty="0" smtClean="0">
                <a:solidFill>
                  <a:srgbClr val="FF0000"/>
                </a:solidFill>
              </a:rPr>
              <a:t>LEZIONE N. 2</a:t>
            </a:r>
            <a:endParaRPr lang="it-IT" sz="2800" dirty="0">
              <a:solidFill>
                <a:srgbClr val="FF0000"/>
              </a:solidFill>
            </a:endParaRPr>
          </a:p>
        </p:txBody>
      </p:sp>
      <p:sp>
        <p:nvSpPr>
          <p:cNvPr id="3" name="Sottotitolo 2"/>
          <p:cNvSpPr>
            <a:spLocks noGrp="1"/>
          </p:cNvSpPr>
          <p:nvPr>
            <p:ph type="subTitle" idx="1"/>
          </p:nvPr>
        </p:nvSpPr>
        <p:spPr>
          <a:xfrm>
            <a:off x="571472" y="1785926"/>
            <a:ext cx="8358246" cy="4786346"/>
          </a:xfrm>
        </p:spPr>
        <p:txBody>
          <a:bodyPr>
            <a:normAutofit fontScale="47500" lnSpcReduction="20000"/>
          </a:bodyPr>
          <a:lstStyle/>
          <a:p>
            <a:pPr marL="514350" indent="-514350" algn="just">
              <a:lnSpc>
                <a:spcPct val="170000"/>
              </a:lnSpc>
              <a:buFont typeface="+mj-lt"/>
              <a:buAutoNum type="arabicPeriod"/>
            </a:pPr>
            <a:r>
              <a:rPr lang="en-US" sz="3800" b="1" dirty="0" smtClean="0">
                <a:solidFill>
                  <a:schemeClr val="tx1"/>
                </a:solidFill>
                <a:latin typeface="Garamond" pitchFamily="18" charset="0"/>
              </a:rPr>
              <a:t>Ecosystem</a:t>
            </a:r>
          </a:p>
          <a:p>
            <a:pPr marL="514350" indent="-514350" algn="just">
              <a:lnSpc>
                <a:spcPct val="170000"/>
              </a:lnSpc>
              <a:buFont typeface="+mj-lt"/>
              <a:buAutoNum type="arabicPeriod"/>
            </a:pPr>
            <a:r>
              <a:rPr lang="en-US" sz="3800" b="1" dirty="0" smtClean="0">
                <a:solidFill>
                  <a:schemeClr val="tx1"/>
                </a:solidFill>
                <a:latin typeface="Garamond" pitchFamily="18" charset="0"/>
              </a:rPr>
              <a:t>What is the blockchain?</a:t>
            </a:r>
          </a:p>
          <a:p>
            <a:pPr marL="514350" indent="-514350" algn="just">
              <a:lnSpc>
                <a:spcPct val="170000"/>
              </a:lnSpc>
              <a:buFont typeface="+mj-lt"/>
              <a:buAutoNum type="arabicPeriod"/>
            </a:pPr>
            <a:r>
              <a:rPr lang="en-US" sz="3800" b="1" dirty="0" smtClean="0">
                <a:solidFill>
                  <a:schemeClr val="tx1"/>
                </a:solidFill>
                <a:latin typeface="Garamond" pitchFamily="18" charset="0"/>
              </a:rPr>
              <a:t>Blockchain in the markets:  from capital to music</a:t>
            </a:r>
          </a:p>
          <a:p>
            <a:pPr marL="514350" indent="-514350" algn="just">
              <a:lnSpc>
                <a:spcPct val="170000"/>
              </a:lnSpc>
              <a:buFont typeface="+mj-lt"/>
              <a:buAutoNum type="arabicPeriod"/>
            </a:pPr>
            <a:r>
              <a:rPr lang="en-US" sz="3800" b="1" dirty="0" smtClean="0">
                <a:solidFill>
                  <a:schemeClr val="tx1"/>
                </a:solidFill>
                <a:latin typeface="Garamond" pitchFamily="18" charset="0"/>
              </a:rPr>
              <a:t>What could possibly go wrong? What are the obstacles?</a:t>
            </a:r>
          </a:p>
          <a:p>
            <a:pPr marL="514350" indent="-514350" algn="just">
              <a:lnSpc>
                <a:spcPct val="170000"/>
              </a:lnSpc>
              <a:buFont typeface="+mj-lt"/>
              <a:buAutoNum type="arabicPeriod"/>
            </a:pPr>
            <a:r>
              <a:rPr lang="en-US" sz="3800" b="1" dirty="0" smtClean="0">
                <a:solidFill>
                  <a:schemeClr val="tx1"/>
                </a:solidFill>
                <a:latin typeface="Garamond" pitchFamily="18" charset="0"/>
              </a:rPr>
              <a:t>What is the blockchain and how does it work?</a:t>
            </a:r>
          </a:p>
          <a:p>
            <a:pPr marL="514350" indent="-514350" algn="just">
              <a:lnSpc>
                <a:spcPct val="170000"/>
              </a:lnSpc>
              <a:buFont typeface="+mj-lt"/>
              <a:buAutoNum type="arabicPeriod"/>
            </a:pPr>
            <a:r>
              <a:rPr lang="en-US" sz="3800" b="1" dirty="0" smtClean="0">
                <a:solidFill>
                  <a:schemeClr val="tx1"/>
                </a:solidFill>
                <a:latin typeface="Garamond" pitchFamily="18" charset="0"/>
              </a:rPr>
              <a:t>Public </a:t>
            </a:r>
            <a:r>
              <a:rPr lang="en-US" sz="3800" b="1" dirty="0" err="1" smtClean="0">
                <a:solidFill>
                  <a:schemeClr val="tx1"/>
                </a:solidFill>
                <a:latin typeface="Garamond" pitchFamily="18" charset="0"/>
              </a:rPr>
              <a:t>vs</a:t>
            </a:r>
            <a:r>
              <a:rPr lang="en-US" sz="3800" b="1" dirty="0" smtClean="0">
                <a:solidFill>
                  <a:schemeClr val="tx1"/>
                </a:solidFill>
                <a:latin typeface="Garamond" pitchFamily="18" charset="0"/>
              </a:rPr>
              <a:t> private blockchain networks</a:t>
            </a:r>
          </a:p>
          <a:p>
            <a:pPr marL="514350" indent="-514350" algn="just">
              <a:lnSpc>
                <a:spcPct val="170000"/>
              </a:lnSpc>
              <a:buFont typeface="+mj-lt"/>
              <a:buAutoNum type="arabicPeriod"/>
            </a:pPr>
            <a:r>
              <a:rPr lang="en-US" sz="3800" b="1" dirty="0" smtClean="0">
                <a:solidFill>
                  <a:schemeClr val="tx1"/>
                </a:solidFill>
                <a:latin typeface="Garamond" pitchFamily="18" charset="0"/>
              </a:rPr>
              <a:t>Centralized </a:t>
            </a:r>
            <a:r>
              <a:rPr lang="en-US" sz="3800" b="1" dirty="0" err="1" smtClean="0">
                <a:solidFill>
                  <a:schemeClr val="tx1"/>
                </a:solidFill>
                <a:latin typeface="Garamond" pitchFamily="18" charset="0"/>
              </a:rPr>
              <a:t>vs</a:t>
            </a:r>
            <a:r>
              <a:rPr lang="en-US" sz="3800" b="1" dirty="0" smtClean="0">
                <a:solidFill>
                  <a:schemeClr val="tx1"/>
                </a:solidFill>
                <a:latin typeface="Garamond" pitchFamily="18" charset="0"/>
              </a:rPr>
              <a:t> decentralized </a:t>
            </a:r>
            <a:r>
              <a:rPr lang="en-US" sz="3800" b="1" dirty="0" err="1" smtClean="0">
                <a:solidFill>
                  <a:schemeClr val="tx1"/>
                </a:solidFill>
                <a:latin typeface="Garamond" pitchFamily="18" charset="0"/>
              </a:rPr>
              <a:t>vs</a:t>
            </a:r>
            <a:r>
              <a:rPr lang="en-US" sz="3800" b="1" dirty="0" smtClean="0">
                <a:solidFill>
                  <a:schemeClr val="tx1"/>
                </a:solidFill>
                <a:latin typeface="Garamond" pitchFamily="18" charset="0"/>
              </a:rPr>
              <a:t> distributed networks: an overview</a:t>
            </a:r>
          </a:p>
          <a:p>
            <a:pPr marL="514350" indent="-514350" algn="just">
              <a:lnSpc>
                <a:spcPct val="170000"/>
              </a:lnSpc>
              <a:buFont typeface="+mj-lt"/>
              <a:buAutoNum type="arabicPeriod"/>
            </a:pPr>
            <a:r>
              <a:rPr lang="en-US" sz="3800" b="1" dirty="0" smtClean="0">
                <a:solidFill>
                  <a:schemeClr val="tx1"/>
                </a:solidFill>
                <a:latin typeface="Garamond" pitchFamily="18" charset="0"/>
              </a:rPr>
              <a:t>Among </a:t>
            </a:r>
            <a:r>
              <a:rPr lang="en-US" sz="3800" b="1" dirty="0" err="1" smtClean="0">
                <a:solidFill>
                  <a:schemeClr val="tx1"/>
                </a:solidFill>
                <a:latin typeface="Garamond" pitchFamily="18" charset="0"/>
              </a:rPr>
              <a:t>thr</a:t>
            </a:r>
            <a:r>
              <a:rPr lang="en-US" sz="3800" b="1" dirty="0" smtClean="0">
                <a:solidFill>
                  <a:schemeClr val="tx1"/>
                </a:solidFill>
                <a:latin typeface="Garamond" pitchFamily="18" charset="0"/>
              </a:rPr>
              <a:t> terms of the blockchain: the   smart contract</a:t>
            </a:r>
          </a:p>
          <a:p>
            <a:pPr marL="514350" indent="-514350" algn="just">
              <a:lnSpc>
                <a:spcPct val="170000"/>
              </a:lnSpc>
              <a:buFont typeface="+mj-lt"/>
              <a:buAutoNum type="arabicPeriod"/>
            </a:pPr>
            <a:r>
              <a:rPr lang="en-US" sz="3800" b="1" dirty="0" smtClean="0">
                <a:solidFill>
                  <a:schemeClr val="tx1"/>
                </a:solidFill>
                <a:latin typeface="Garamond" pitchFamily="18" charset="0"/>
              </a:rPr>
              <a:t>How does a smart contract work?</a:t>
            </a:r>
          </a:p>
          <a:p>
            <a:pPr marL="514350" indent="-514350" algn="just">
              <a:lnSpc>
                <a:spcPct val="170000"/>
              </a:lnSpc>
              <a:buFont typeface="+mj-lt"/>
              <a:buAutoNum type="arabicPeriod"/>
            </a:pPr>
            <a:r>
              <a:rPr lang="en-US" sz="3800" b="1" dirty="0" smtClean="0">
                <a:solidFill>
                  <a:schemeClr val="tx1"/>
                </a:solidFill>
                <a:latin typeface="Garamond" pitchFamily="18" charset="0"/>
              </a:rPr>
              <a:t>Is the blockchain overrated?</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it-IT" sz="3600" b="1" dirty="0" smtClean="0">
                <a:solidFill>
                  <a:srgbClr val="FF0000"/>
                </a:solidFill>
                <a:latin typeface="Garamond" pitchFamily="18" charset="0"/>
              </a:rPr>
              <a:t>ECOSYSTEM</a:t>
            </a:r>
            <a:br>
              <a:rPr lang="it-IT" sz="3600" b="1" dirty="0"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55000" lnSpcReduction="20000"/>
          </a:bodyPr>
          <a:lstStyle/>
          <a:p>
            <a:pPr marL="0" indent="0" algn="just">
              <a:buNone/>
            </a:pPr>
            <a:r>
              <a:rPr lang="en-US" sz="3600" dirty="0" smtClean="0">
                <a:latin typeface="Garamond" pitchFamily="18" charset="0"/>
              </a:rPr>
              <a:t>In the early 1990s, the old media were centralized: the modality was one to many; the system was controlled by powerful forces and, we were all passive recipients.</a:t>
            </a:r>
          </a:p>
          <a:p>
            <a:pPr marL="0" indent="0" algn="just">
              <a:buNone/>
            </a:pPr>
            <a:r>
              <a:rPr lang="en-US" sz="3600" dirty="0" smtClean="0">
                <a:latin typeface="Garamond" pitchFamily="18" charset="0"/>
              </a:rPr>
              <a:t>The new web, the new media, are one to one, they are many to many; the system is highly distributed and no longer centralized.</a:t>
            </a:r>
          </a:p>
          <a:p>
            <a:pPr marL="0" indent="0" algn="just">
              <a:buNone/>
            </a:pPr>
            <a:r>
              <a:rPr lang="en-US" sz="3600" dirty="0" smtClean="0">
                <a:latin typeface="Garamond" pitchFamily="18" charset="0"/>
              </a:rPr>
              <a:t>Everyone is a participant, not an inert recipient, and this offers extraordinary neutrality.</a:t>
            </a:r>
          </a:p>
          <a:p>
            <a:pPr marL="0" indent="0" algn="just">
              <a:buNone/>
            </a:pPr>
            <a:r>
              <a:rPr lang="en-US" sz="3600" dirty="0" smtClean="0">
                <a:latin typeface="Garamond" pitchFamily="18" charset="0"/>
              </a:rPr>
              <a:t>It will be what we want it to be, and we can create a much more egalitarian and prosperous society where everyone can share the wealth they create.</a:t>
            </a:r>
          </a:p>
          <a:p>
            <a:pPr marL="0" indent="0" algn="just">
              <a:buNone/>
            </a:pPr>
            <a:r>
              <a:rPr lang="en-US" sz="3600" dirty="0" smtClean="0">
                <a:latin typeface="Garamond" pitchFamily="18" charset="0"/>
              </a:rPr>
              <a:t>Up until the 1990s, great things did occur, but, overall, the benefits of the digital age have been asymmetrical.</a:t>
            </a:r>
          </a:p>
          <a:p>
            <a:pPr marL="0" indent="0" algn="just">
              <a:buNone/>
            </a:pPr>
            <a:r>
              <a:rPr lang="en-US" sz="3600" dirty="0" smtClean="0">
                <a:latin typeface="Garamond" pitchFamily="18" charset="0"/>
              </a:rPr>
              <a:t>For example, we created a large “data asset,” yet we do not have it, control it, or protect it.</a:t>
            </a:r>
          </a:p>
          <a:p>
            <a:pPr marL="0" indent="0" algn="just">
              <a:buNone/>
            </a:pPr>
            <a:r>
              <a:rPr lang="en-US" sz="3600" dirty="0" smtClean="0">
                <a:latin typeface="Garamond" pitchFamily="18" charset="0"/>
              </a:rPr>
              <a:t>A handful of powerful corporations or governments own it,   monetize that data and, in the case of governments, use it to observe us, continually undermining our privacy.</a:t>
            </a: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But what if there was a second generation of the Internet that allowed for a true peer-to-peer value exchange? We do not have enough information yet, but  reality is changing fast.</a:t>
            </a:r>
          </a:p>
          <a:p>
            <a:pPr marL="0" indent="0" algn="just">
              <a:buNone/>
            </a:pPr>
            <a:r>
              <a:rPr lang="en-US" sz="2000" dirty="0" smtClean="0">
                <a:latin typeface="Garamond" pitchFamily="18" charset="0"/>
              </a:rPr>
              <a:t>If you take money transactions, for example, a different way of transferring  money  becomes clear.</a:t>
            </a:r>
          </a:p>
          <a:p>
            <a:pPr marL="0" indent="0" algn="just">
              <a:buNone/>
            </a:pPr>
            <a:r>
              <a:rPr lang="en-US" sz="2000" dirty="0" smtClean="0">
                <a:latin typeface="Garamond" pitchFamily="18" charset="0"/>
              </a:rPr>
              <a:t>If I am going to send money to someone else, I have to go through an intermediary - a powerful bank or a credit card company - and I need a government to authenticate who I am and who my counterpart is.</a:t>
            </a:r>
          </a:p>
          <a:p>
            <a:pPr marL="0" indent="0" algn="just">
              <a:buNone/>
            </a:pPr>
            <a:r>
              <a:rPr lang="en-US" sz="2000" dirty="0" smtClean="0">
                <a:latin typeface="Garamond" pitchFamily="18" charset="0"/>
              </a:rPr>
              <a:t>What if we could do it in a "peer-to-peer" mode?</a:t>
            </a:r>
          </a:p>
          <a:p>
            <a:pPr marL="0" indent="0" algn="just">
              <a:buNone/>
            </a:pPr>
            <a:r>
              <a:rPr lang="en-US" sz="2000" dirty="0" smtClean="0">
                <a:latin typeface="Garamond" pitchFamily="18" charset="0"/>
              </a:rPr>
              <a:t>What if there was a protocol - let's call it a trust protocol - that would allow us to transact, trade, and exchange money, without a powerful third party? That is essentially what is happening. In fact, the BLOCKCHAIN corresponds to this idea, making it a clearly  disruptive innovation.</a:t>
            </a:r>
          </a:p>
          <a:p>
            <a:pPr marL="0" indent="0" algn="just">
              <a:buNone/>
            </a:pPr>
            <a:endParaRPr lang="en-US" sz="2000" dirty="0" smtClean="0">
              <a:latin typeface="Garamond" pitchFamily="18" charset="0"/>
            </a:endParaRPr>
          </a:p>
          <a:p>
            <a:pPr>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200" b="1" dirty="0" smtClean="0">
                <a:solidFill>
                  <a:srgbClr val="FF0000"/>
                </a:solidFill>
                <a:latin typeface="Garamond" pitchFamily="18" charset="0"/>
              </a:rPr>
              <a:t>WHAT IS THE BLOCKCHAIN?</a:t>
            </a:r>
            <a:br>
              <a:rPr lang="it-IT"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blockchain is basically a distributed database.</a:t>
            </a:r>
          </a:p>
          <a:p>
            <a:pPr marL="0" indent="0" algn="just">
              <a:buNone/>
            </a:pPr>
            <a:r>
              <a:rPr lang="en-US" sz="2000" dirty="0" smtClean="0">
                <a:latin typeface="Garamond" pitchFamily="18" charset="0"/>
              </a:rPr>
              <a:t>Think of a giant global spreadsheet running on millions and millions of computers located around the world.</a:t>
            </a:r>
          </a:p>
          <a:p>
            <a:pPr marL="0" indent="0" algn="just">
              <a:buNone/>
            </a:pPr>
            <a:r>
              <a:rPr lang="en-US" sz="2000" dirty="0" smtClean="0">
                <a:latin typeface="Garamond" pitchFamily="18" charset="0"/>
              </a:rPr>
              <a:t>It is distributed, and it is an "open source," so anyone can know the underlying code and see what is going on.</a:t>
            </a:r>
          </a:p>
          <a:p>
            <a:pPr marL="0" indent="0" algn="just">
              <a:buNone/>
            </a:pPr>
            <a:r>
              <a:rPr lang="en-US" sz="2000" dirty="0" smtClean="0">
                <a:latin typeface="Garamond" pitchFamily="18" charset="0"/>
              </a:rPr>
              <a:t>It is truly "peer-to-peer" because it does not require powerful intermediaries to authenticate or settle transactions.</a:t>
            </a:r>
          </a:p>
          <a:p>
            <a:pPr marL="0" indent="0" algn="just">
              <a:buNone/>
            </a:pPr>
            <a:r>
              <a:rPr lang="en-US" sz="2000" dirty="0" smtClean="0">
                <a:latin typeface="Garamond" pitchFamily="18" charset="0"/>
              </a:rPr>
              <a:t>It uses state-of-the-art encryption which protects the contents of transactions.</a:t>
            </a:r>
          </a:p>
          <a:p>
            <a:pPr marL="0" indent="0">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can record any type of structured information, not just who paid whom, but who married whom, who owns what property, and even what type of energy they use. The examples are endless. </a:t>
            </a:r>
          </a:p>
          <a:p>
            <a:pPr marL="0" indent="0" algn="just">
              <a:buNone/>
            </a:pPr>
            <a:r>
              <a:rPr lang="en-US" sz="2000" dirty="0" smtClean="0">
                <a:latin typeface="Garamond" pitchFamily="18" charset="0"/>
              </a:rPr>
              <a:t>The Internet of Things (</a:t>
            </a:r>
            <a:r>
              <a:rPr lang="en-US" sz="2000" dirty="0" err="1" smtClean="0">
                <a:latin typeface="Garamond" pitchFamily="18" charset="0"/>
              </a:rPr>
              <a:t>IoT</a:t>
            </a:r>
            <a:r>
              <a:rPr lang="en-US" sz="2000" dirty="0" smtClean="0">
                <a:latin typeface="Garamond" pitchFamily="18" charset="0"/>
              </a:rPr>
              <a:t>), for instance, is complemented by an underlying blockchain settlement system. </a:t>
            </a:r>
          </a:p>
          <a:p>
            <a:pPr marL="0" indent="0" algn="just">
              <a:buNone/>
            </a:pPr>
            <a:r>
              <a:rPr lang="en-US" sz="2000" dirty="0" smtClean="0">
                <a:latin typeface="Garamond" pitchFamily="18" charset="0"/>
              </a:rPr>
              <a:t>It is an immutable and non-</a:t>
            </a:r>
            <a:r>
              <a:rPr lang="en-US" sz="2000" dirty="0" err="1" smtClean="0">
                <a:latin typeface="Garamond" pitchFamily="18" charset="0"/>
              </a:rPr>
              <a:t>hackable</a:t>
            </a:r>
            <a:r>
              <a:rPr lang="en-US" sz="2000" dirty="0" smtClean="0">
                <a:latin typeface="Garamond" pitchFamily="18" charset="0"/>
              </a:rPr>
              <a:t> distributed database of digital assets.</a:t>
            </a:r>
          </a:p>
          <a:p>
            <a:pPr marL="0" indent="0" algn="just">
              <a:buNone/>
            </a:pPr>
            <a:r>
              <a:rPr lang="en-US" sz="2000" dirty="0" smtClean="0">
                <a:latin typeface="Garamond" pitchFamily="18" charset="0"/>
              </a:rPr>
              <a:t>It is a platform for truth;  it is a platform for trust.</a:t>
            </a:r>
          </a:p>
          <a:p>
            <a:pPr marL="0" indent="0">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implications are astounding, not only for the financial services industry, but also for virtually every aspect of society.</a:t>
            </a:r>
          </a:p>
          <a:p>
            <a:pPr marL="0" indent="0" algn="just">
              <a:buNone/>
            </a:pPr>
            <a:r>
              <a:rPr lang="en-US" sz="2000" dirty="0" smtClean="0">
                <a:latin typeface="Garamond" pitchFamily="18" charset="0"/>
              </a:rPr>
              <a:t>Most of the </a:t>
            </a:r>
            <a:r>
              <a:rPr lang="en-US" sz="2000" dirty="0" err="1" smtClean="0">
                <a:latin typeface="Garamond" pitchFamily="18" charset="0"/>
              </a:rPr>
              <a:t>blockchains</a:t>
            </a:r>
            <a:r>
              <a:rPr lang="en-US" sz="2000" dirty="0" smtClean="0">
                <a:latin typeface="Garamond" pitchFamily="18" charset="0"/>
              </a:rPr>
              <a:t>, best known to date, are financial authorization-less systems – with </a:t>
            </a:r>
            <a:r>
              <a:rPr lang="en-US" sz="2000" dirty="0" err="1" smtClean="0">
                <a:latin typeface="Garamond" pitchFamily="18" charset="0"/>
              </a:rPr>
              <a:t>Bitcoin</a:t>
            </a:r>
            <a:r>
              <a:rPr lang="en-US" sz="2000" dirty="0" smtClean="0">
                <a:latin typeface="Garamond" pitchFamily="18" charset="0"/>
              </a:rPr>
              <a:t> as the largest.</a:t>
            </a:r>
          </a:p>
          <a:p>
            <a:pPr marL="0" indent="0" algn="just">
              <a:buNone/>
            </a:pPr>
            <a:r>
              <a:rPr lang="en-US" sz="2000" dirty="0" smtClean="0">
                <a:latin typeface="Garamond" pitchFamily="18" charset="0"/>
              </a:rPr>
              <a:t>We can make transactions and satisfy each other's economic needs, without knowing who the other party is, regardless of the central authorities that authorize the transaction.</a:t>
            </a:r>
          </a:p>
          <a:p>
            <a:pPr marL="0" indent="0">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These </a:t>
            </a:r>
            <a:r>
              <a:rPr lang="en-US" sz="2000" dirty="0" err="1" smtClean="0">
                <a:latin typeface="Garamond" pitchFamily="18" charset="0"/>
              </a:rPr>
              <a:t>blockchains</a:t>
            </a:r>
            <a:r>
              <a:rPr lang="en-US" sz="2000" dirty="0" smtClean="0">
                <a:latin typeface="Garamond" pitchFamily="18" charset="0"/>
              </a:rPr>
              <a:t> all have a digital currency of some kind associated with them, which is why everyone was talking, in the beginning, about </a:t>
            </a:r>
            <a:r>
              <a:rPr lang="en-US" sz="2000" dirty="0" err="1" smtClean="0">
                <a:latin typeface="Garamond" pitchFamily="18" charset="0"/>
              </a:rPr>
              <a:t>Bitcoin</a:t>
            </a:r>
            <a:r>
              <a:rPr lang="en-US" sz="2000" dirty="0" smtClean="0">
                <a:latin typeface="Garamond" pitchFamily="18" charset="0"/>
              </a:rPr>
              <a:t> in the same "breath" as blockchain, because the </a:t>
            </a:r>
            <a:r>
              <a:rPr lang="en-US" sz="2000" dirty="0" err="1" smtClean="0">
                <a:latin typeface="Garamond" pitchFamily="18" charset="0"/>
              </a:rPr>
              <a:t>Bitcoin</a:t>
            </a:r>
            <a:r>
              <a:rPr lang="en-US" sz="2000" dirty="0" smtClean="0">
                <a:latin typeface="Garamond" pitchFamily="18" charset="0"/>
              </a:rPr>
              <a:t> blockchain was the largest.</a:t>
            </a:r>
          </a:p>
          <a:p>
            <a:pPr marL="0" indent="0" algn="just">
              <a:buNone/>
            </a:pPr>
            <a:r>
              <a:rPr lang="en-US" sz="2000" dirty="0" smtClean="0">
                <a:latin typeface="Garamond" pitchFamily="18" charset="0"/>
              </a:rPr>
              <a:t>But, in reality, the blockchain is the underlying technology and represents  the greatest innovation in computing: it is the superlative idea of a distributed database in which trust is established through mass collaboration and an intelligent code, rather than through the authorization of a powerful institution.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BLOCKCHAIN IN THE MARKETS:  FROM CAPITAL TO MUSIC</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a:bodyPr>
          <a:lstStyle/>
          <a:p>
            <a:pPr marL="0" indent="0" algn="just">
              <a:buNone/>
            </a:pPr>
            <a:r>
              <a:rPr lang="en-US" sz="2000" dirty="0" smtClean="0">
                <a:latin typeface="Garamond" pitchFamily="18" charset="0"/>
              </a:rPr>
              <a:t>Starting with a monetary example always makes concepts clearer.</a:t>
            </a:r>
          </a:p>
          <a:p>
            <a:pPr marL="0" indent="0" algn="just">
              <a:buNone/>
            </a:pPr>
            <a:r>
              <a:rPr lang="en-US" sz="2000" dirty="0" smtClean="0">
                <a:latin typeface="Garamond" pitchFamily="18" charset="0"/>
              </a:rPr>
              <a:t>The way the blockchain works is as follows: if I have to give A $20, a transaction must be made.</a:t>
            </a:r>
          </a:p>
          <a:p>
            <a:pPr marL="0" indent="0" algn="just">
              <a:buNone/>
            </a:pPr>
            <a:r>
              <a:rPr lang="en-US" sz="2000" dirty="0" smtClean="0">
                <a:latin typeface="Garamond" pitchFamily="18" charset="0"/>
              </a:rPr>
              <a:t>To do so, a huge community, called miners, operates by decrypting a code, using a powerful computing resource.</a:t>
            </a:r>
          </a:p>
          <a:p>
            <a:pPr marL="0" indent="0" algn="just">
              <a:buNone/>
            </a:pPr>
            <a:r>
              <a:rPr lang="en-US" sz="2000" dirty="0" smtClean="0">
                <a:latin typeface="Garamond" pitchFamily="18" charset="0"/>
              </a:rPr>
              <a:t>Some experts have estimated that Google's entire computing power is just 5 percent of blockchain computing power needed for the </a:t>
            </a:r>
            <a:r>
              <a:rPr lang="en-US" sz="2000" dirty="0" err="1" smtClean="0">
                <a:latin typeface="Garamond" pitchFamily="18" charset="0"/>
              </a:rPr>
              <a:t>Bitcoin</a:t>
            </a:r>
            <a:r>
              <a:rPr lang="en-US" sz="2000" dirty="0" smtClean="0">
                <a:latin typeface="Garamond" pitchFamily="18" charset="0"/>
              </a:rPr>
              <a:t> blockchain.</a:t>
            </a:r>
          </a:p>
          <a:p>
            <a:pPr marL="0" indent="0" algn="just">
              <a:buNone/>
            </a:pPr>
            <a:r>
              <a:rPr lang="en-US" sz="2000" dirty="0" smtClean="0">
                <a:latin typeface="Garamond" pitchFamily="18" charset="0"/>
              </a:rPr>
              <a:t>The platform solves the problem of monetary transactions, called "double payment" (double spending), and is confident in the certainty of the transaction.</a:t>
            </a:r>
          </a:p>
          <a:p>
            <a:pPr marL="0" indent="0" algn="just">
              <a:buNone/>
            </a:pPr>
            <a:r>
              <a:rPr lang="en-US" sz="2000" dirty="0" smtClean="0">
                <a:latin typeface="Garamond" pitchFamily="18" charset="0"/>
              </a:rPr>
              <a:t>Every miner is motivated to be the first to find the truth. This is a test for everyone else.</a:t>
            </a:r>
          </a:p>
          <a:p>
            <a:pPr marL="0" indent="0" algn="just">
              <a:buNone/>
            </a:pPr>
            <a:r>
              <a:rPr lang="en-US" sz="2000" dirty="0" smtClean="0">
                <a:latin typeface="Garamond" pitchFamily="18" charset="0"/>
              </a:rPr>
              <a:t>When he or she finds the truth and solves a complex mathematical problem, the miner is paid in cash and </a:t>
            </a:r>
            <a:r>
              <a:rPr lang="en-US" sz="2000" dirty="0" err="1" smtClean="0">
                <a:latin typeface="Garamond" pitchFamily="18" charset="0"/>
              </a:rPr>
              <a:t>Bitcoin</a:t>
            </a:r>
            <a:r>
              <a:rPr lang="en-US" sz="2000" dirty="0" smtClean="0">
                <a:latin typeface="Garamond" pitchFamily="18" charset="0"/>
              </a:rPr>
              <a:t>. The process ends when this "truth" is shared with all the blocks.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is called blockchain is because each block is linked to the block before it, forming a chain of blocks .</a:t>
            </a:r>
          </a:p>
          <a:p>
            <a:pPr marL="0" indent="0" algn="just">
              <a:buNone/>
            </a:pPr>
            <a:r>
              <a:rPr lang="en-US" sz="2000" dirty="0" smtClean="0">
                <a:latin typeface="Garamond" pitchFamily="18" charset="0"/>
              </a:rPr>
              <a:t>A blockchain is running on an infinite number of computers, scattered all over the world. And for this reason, it is an absolutely new innovation. </a:t>
            </a:r>
          </a:p>
          <a:p>
            <a:pPr marL="0" indent="0" algn="just">
              <a:buNone/>
            </a:pPr>
            <a:r>
              <a:rPr lang="en-US" sz="2000" dirty="0" smtClean="0">
                <a:latin typeface="Garamond" pitchFamily="18" charset="0"/>
              </a:rPr>
              <a:t>Clearly, however, the use of </a:t>
            </a:r>
            <a:r>
              <a:rPr lang="en-US" sz="2000" dirty="0" err="1" smtClean="0">
                <a:latin typeface="Garamond" pitchFamily="18" charset="0"/>
              </a:rPr>
              <a:t>Bitcoin</a:t>
            </a:r>
            <a:r>
              <a:rPr lang="en-US" sz="2000" dirty="0" smtClean="0">
                <a:latin typeface="Garamond" pitchFamily="18" charset="0"/>
              </a:rPr>
              <a:t> has generated a number of problems in the context of huge exchanges and huge diseconomies: there was the failure of Mt. </a:t>
            </a:r>
            <a:r>
              <a:rPr lang="en-US" sz="2000" dirty="0" err="1" smtClean="0">
                <a:latin typeface="Garamond" pitchFamily="18" charset="0"/>
              </a:rPr>
              <a:t>Gox</a:t>
            </a:r>
            <a:r>
              <a:rPr lang="en-US" sz="2000" dirty="0" smtClean="0">
                <a:latin typeface="Garamond" pitchFamily="18" charset="0"/>
              </a:rPr>
              <a:t> and the so-called Silk Road, where </a:t>
            </a:r>
            <a:r>
              <a:rPr lang="en-US" sz="2000" dirty="0" err="1" smtClean="0">
                <a:latin typeface="Garamond" pitchFamily="18" charset="0"/>
              </a:rPr>
              <a:t>Bitcoin</a:t>
            </a:r>
            <a:r>
              <a:rPr lang="en-US" sz="2000" dirty="0" smtClean="0">
                <a:latin typeface="Garamond" pitchFamily="18" charset="0"/>
              </a:rPr>
              <a:t> was used for all kinds of illegal activities.</a:t>
            </a:r>
          </a:p>
          <a:p>
            <a:pPr marL="0" indent="0" algn="just">
              <a:buNone/>
            </a:pPr>
            <a:r>
              <a:rPr lang="en-US" sz="2000" dirty="0" smtClean="0">
                <a:latin typeface="Garamond" pitchFamily="18" charset="0"/>
              </a:rPr>
              <a:t>But do not get discouraged by this.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We often make the mistake of thinking: "</a:t>
            </a:r>
            <a:r>
              <a:rPr lang="en-US" sz="2000" dirty="0" err="1" smtClean="0">
                <a:latin typeface="Garamond" pitchFamily="18" charset="0"/>
              </a:rPr>
              <a:t>Bitcoin</a:t>
            </a:r>
            <a:r>
              <a:rPr lang="en-US" sz="2000" dirty="0" smtClean="0">
                <a:latin typeface="Garamond" pitchFamily="18" charset="0"/>
              </a:rPr>
              <a:t>? If it's an asset I can invest in, will it go up or down?"</a:t>
            </a:r>
          </a:p>
          <a:p>
            <a:pPr marL="0" indent="0" algn="just">
              <a:buNone/>
            </a:pPr>
            <a:r>
              <a:rPr lang="en-US" sz="2000" dirty="0" smtClean="0">
                <a:latin typeface="Garamond" pitchFamily="18" charset="0"/>
              </a:rPr>
              <a:t>But for the purpose of understanding the blockchain, this is not to the point.</a:t>
            </a:r>
          </a:p>
          <a:p>
            <a:pPr marL="0" indent="0" algn="just">
              <a:buNone/>
            </a:pPr>
            <a:r>
              <a:rPr lang="en-US" sz="2000" dirty="0" smtClean="0">
                <a:latin typeface="Garamond" pitchFamily="18" charset="0"/>
              </a:rPr>
              <a:t>What is of interest, however, for the study of blockchain technology, is that </a:t>
            </a:r>
            <a:r>
              <a:rPr lang="en-US" sz="2000" dirty="0" err="1" smtClean="0">
                <a:latin typeface="Garamond" pitchFamily="18" charset="0"/>
              </a:rPr>
              <a:t>Bitcoin</a:t>
            </a:r>
            <a:r>
              <a:rPr lang="en-US" sz="2000" dirty="0" smtClean="0">
                <a:latin typeface="Garamond" pitchFamily="18" charset="0"/>
              </a:rPr>
              <a:t>, as a digital currency, is an asset useful for closing a data transfer operation, thus allowing one to perform transactions within a blockchain system. </a:t>
            </a: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err="1" smtClean="0">
                <a:latin typeface="Garamond" pitchFamily="18" charset="0"/>
              </a:rPr>
              <a:t>Cryptocurrency</a:t>
            </a:r>
            <a:r>
              <a:rPr lang="en-US" sz="2000" dirty="0" smtClean="0">
                <a:latin typeface="Garamond" pitchFamily="18" charset="0"/>
              </a:rPr>
              <a:t> (e.g., </a:t>
            </a:r>
            <a:r>
              <a:rPr lang="en-US" sz="2000" dirty="0" err="1" smtClean="0">
                <a:latin typeface="Garamond" pitchFamily="18" charset="0"/>
              </a:rPr>
              <a:t>Bitcoin</a:t>
            </a:r>
            <a:r>
              <a:rPr lang="en-US" sz="2000" dirty="0" smtClean="0">
                <a:latin typeface="Garamond" pitchFamily="18" charset="0"/>
              </a:rPr>
              <a:t>) is a tool used in some, but not all, transactions on the blockchain platform.</a:t>
            </a:r>
          </a:p>
          <a:p>
            <a:pPr marL="0" indent="0" algn="just">
              <a:buNone/>
            </a:pPr>
            <a:r>
              <a:rPr lang="en-US" sz="2000" dirty="0" smtClean="0">
                <a:latin typeface="Garamond" pitchFamily="18" charset="0"/>
              </a:rPr>
              <a:t>So </a:t>
            </a:r>
            <a:r>
              <a:rPr lang="en-US" sz="2000" dirty="0" err="1" smtClean="0">
                <a:latin typeface="Garamond" pitchFamily="18" charset="0"/>
              </a:rPr>
              <a:t>Bitcoin</a:t>
            </a:r>
            <a:r>
              <a:rPr lang="en-US" sz="2000" dirty="0" smtClean="0">
                <a:latin typeface="Garamond" pitchFamily="18" charset="0"/>
              </a:rPr>
              <a:t>, like other </a:t>
            </a:r>
            <a:r>
              <a:rPr lang="en-US" sz="2000" dirty="0" err="1" smtClean="0">
                <a:latin typeface="Garamond" pitchFamily="18" charset="0"/>
              </a:rPr>
              <a:t>cryptocurrencies</a:t>
            </a:r>
            <a:r>
              <a:rPr lang="en-US" sz="2000" dirty="0" smtClean="0">
                <a:latin typeface="Garamond" pitchFamily="18" charset="0"/>
              </a:rPr>
              <a:t>, is not based on governments, which control transactions and their value, but rather </a:t>
            </a:r>
            <a:r>
              <a:rPr lang="en-US" sz="2000" dirty="0" err="1" smtClean="0">
                <a:latin typeface="Garamond" pitchFamily="18" charset="0"/>
              </a:rPr>
              <a:t>Bitcoin</a:t>
            </a:r>
            <a:r>
              <a:rPr lang="en-US" sz="2000" dirty="0" smtClean="0">
                <a:latin typeface="Garamond" pitchFamily="18" charset="0"/>
              </a:rPr>
              <a:t> self-governs within its platform. And this is the real news.</a:t>
            </a:r>
          </a:p>
          <a:p>
            <a:pPr marL="0" indent="0" algn="just">
              <a:buNone/>
            </a:pPr>
            <a:r>
              <a:rPr lang="en-US" sz="2000" dirty="0" smtClean="0">
                <a:latin typeface="Garamond" pitchFamily="18" charset="0"/>
              </a:rPr>
              <a:t>But we should focus on a bigger question: Does this core technology of a distributed database, which allows for true and immutable record, 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The financial services sector (present from the beginning of blockchain popularity) has undergone the greatest  transformation.</a:t>
            </a:r>
          </a:p>
          <a:p>
            <a:pPr marL="0" indent="0" algn="just">
              <a:buNone/>
            </a:pPr>
            <a:r>
              <a:rPr lang="en-US" sz="2000" dirty="0" smtClean="0">
                <a:latin typeface="Garamond" pitchFamily="18" charset="0"/>
              </a:rPr>
              <a:t>Research on the blockchain revolution entails examining the different things the financial industry does: It moves, stores, lends, exchanges, certifies, and accounts for money - and each and every one of these activities can be challenged by the new blockchain technology.</a:t>
            </a:r>
          </a:p>
          <a:p>
            <a:pPr marL="0" indent="0" algn="just">
              <a:buNone/>
            </a:pPr>
            <a:r>
              <a:rPr lang="en-US" sz="2000" dirty="0" smtClean="0">
                <a:latin typeface="Garamond" pitchFamily="18" charset="0"/>
              </a:rPr>
              <a:t>This technology has enormous potential to disrupt whatever sector we choose, creating a more prosperous world in which people can, as they say, “participate in the value they create.”</a:t>
            </a:r>
          </a:p>
          <a:p>
            <a:pPr marL="0" indent="0" algn="just">
              <a:buNone/>
            </a:pPr>
            <a:r>
              <a:rPr lang="en-US" sz="2000" dirty="0" smtClean="0">
                <a:latin typeface="Garamond" pitchFamily="18" charset="0"/>
              </a:rPr>
              <a:t>The music industry, for example, is in a currently ruinous state, at least for the musicians, who see most of the value of their work going to the big music labels.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Then there are the tech companies, spreading music online, plundering value even further. In the end, the songwriters and musicians are  left with very little.</a:t>
            </a:r>
          </a:p>
          <a:p>
            <a:pPr marL="0" indent="0" algn="just">
              <a:buNone/>
            </a:pPr>
            <a:r>
              <a:rPr lang="en-US" sz="2000" dirty="0" smtClean="0">
                <a:latin typeface="Garamond" pitchFamily="18" charset="0"/>
              </a:rPr>
              <a:t>What if, instead, the new music industry were an app, distributed on a blockchain, where a musician could publish a song, and with a smart contract, specify how it should be used? And what is the value in  exchange for its use?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An artist who publishes his or her music on a blockchain music platform will say: "Listen to my music, it's free. Do you want to put it in your film? It will cost you a lot, and here's how it works. You use it in the film, and the smart contract pays me."</a:t>
            </a:r>
          </a:p>
          <a:p>
            <a:pPr marL="0" indent="0" algn="just">
              <a:buNone/>
            </a:pPr>
            <a:r>
              <a:rPr lang="en-US" sz="2000" dirty="0" smtClean="0">
                <a:latin typeface="Garamond" pitchFamily="18" charset="0"/>
              </a:rPr>
              <a:t>Or, likewise, “If you decide to use it for a ringtone, there's a smart contract   for that too, and I'll get paid.”</a:t>
            </a:r>
          </a:p>
          <a:p>
            <a:pPr marL="0" indent="0" algn="just">
              <a:buNone/>
            </a:pPr>
            <a:r>
              <a:rPr lang="en-US" sz="2000" dirty="0" smtClean="0">
                <a:latin typeface="Garamond" pitchFamily="18" charset="0"/>
              </a:rPr>
              <a:t>This is no longer a pipe dream, and many musicians have already joined music platforms created on </a:t>
            </a:r>
            <a:r>
              <a:rPr lang="en-US" sz="2000" dirty="0" err="1" smtClean="0">
                <a:latin typeface="Garamond" pitchFamily="18" charset="0"/>
              </a:rPr>
              <a:t>blockchains</a:t>
            </a:r>
            <a:r>
              <a:rPr lang="en-US" sz="2000" dirty="0" smtClean="0">
                <a:latin typeface="Garamond" pitchFamily="18" charset="0"/>
              </a:rPr>
              <a: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err="1" smtClean="0">
                <a:latin typeface="Garamond" pitchFamily="18" charset="0"/>
              </a:rPr>
              <a:t>Imogen</a:t>
            </a:r>
            <a:r>
              <a:rPr lang="en-US" sz="2000" dirty="0" smtClean="0">
                <a:latin typeface="Garamond" pitchFamily="18" charset="0"/>
              </a:rPr>
              <a:t> Heap, a brilliant UK songwriter and top-selling recording artist, has participated in creating Mycelia. This is a music industry ecosystem that works together with Consensus Systems, a worldwide blockchain developer, using the </a:t>
            </a:r>
            <a:r>
              <a:rPr lang="en-US" sz="2000" dirty="0" err="1" smtClean="0">
                <a:latin typeface="Garamond" pitchFamily="18" charset="0"/>
              </a:rPr>
              <a:t>Ethereum</a:t>
            </a:r>
            <a:r>
              <a:rPr lang="en-US" sz="2000" dirty="0" smtClean="0">
                <a:latin typeface="Garamond" pitchFamily="18" charset="0"/>
              </a:rPr>
              <a:t> blockchain platform. In doing so, the author has already published her first songs on the Internet, receiving consequent economic compensation. </a:t>
            </a:r>
          </a:p>
          <a:p>
            <a:pPr marL="0" indent="0" algn="just">
              <a:buNone/>
            </a:pPr>
            <a:r>
              <a:rPr lang="en-US" sz="2000" dirty="0" smtClean="0">
                <a:latin typeface="Garamond" pitchFamily="18" charset="0"/>
              </a:rPr>
              <a:t>It is natural to expect that many artists will seriously consider this new paradigm, with compensation for the value    they create and respect for their copyrights.</a:t>
            </a:r>
          </a:p>
          <a:p>
            <a:pPr marL="0" indent="0" algn="just">
              <a:buNone/>
            </a:pPr>
            <a:r>
              <a:rPr lang="en-US" sz="2000" dirty="0" smtClean="0">
                <a:latin typeface="Garamond" pitchFamily="18" charset="0"/>
              </a:rPr>
              <a:t>It is no longer a futuristic idea.</a:t>
            </a:r>
          </a:p>
          <a:p>
            <a:pPr marL="0" indent="0" algn="just">
              <a:buNone/>
            </a:pPr>
            <a:r>
              <a:rPr lang="en-US" sz="2000" dirty="0" smtClean="0">
                <a:latin typeface="Garamond" pitchFamily="18" charset="0"/>
              </a:rPr>
              <a:t>The future is not something to predict, or to achieve; it is something to build.</a:t>
            </a:r>
          </a:p>
          <a:p>
            <a:pPr marL="0" indent="0" algn="just">
              <a:buNone/>
            </a:pPr>
            <a:r>
              <a:rPr lang="en-US" sz="2000" dirty="0" smtClean="0">
                <a:latin typeface="Garamond" pitchFamily="18" charset="0"/>
              </a:rPr>
              <a:t>It should be clear by now that this technology is revolutionary and has  vast potential to change society .</a:t>
            </a:r>
          </a:p>
          <a:p>
            <a:pPr marL="0" indent="0" algn="just">
              <a:buNone/>
            </a:pPr>
            <a:r>
              <a:rPr lang="en-US" sz="2000" dirty="0" smtClean="0">
                <a:latin typeface="Garamond" pitchFamily="18" charset="0"/>
              </a:rPr>
              <a:t>It is up to people today understand its indispensability.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WHAT COULD POSSIBLY GO WRONG? WHAT ARE THE OBSTACLES?</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Obviously, there are obstacles to making this technology work such as the enormous amount of energy it consumes.</a:t>
            </a:r>
          </a:p>
          <a:p>
            <a:pPr marL="0" indent="0" algn="just">
              <a:buNone/>
            </a:pPr>
            <a:r>
              <a:rPr lang="en-US" sz="2000" dirty="0" smtClean="0">
                <a:latin typeface="Garamond" pitchFamily="18" charset="0"/>
              </a:rPr>
              <a:t>Also, this technology will use intelligent agents, that will, in many cases, replace humans This has led some to claim that this new platform might become the ultimate job killer. But it is not so.</a:t>
            </a:r>
          </a:p>
          <a:p>
            <a:pPr marL="0" indent="0" algn="just">
              <a:buNone/>
            </a:pPr>
            <a:r>
              <a:rPr lang="en-US" sz="2000" dirty="0" smtClean="0">
                <a:latin typeface="Garamond" pitchFamily="18" charset="0"/>
              </a:rPr>
              <a:t>Rather, multiple possibilities are being opened up for new types of dedicated operators and professionals who, if properly trained, will expand segments of the labor market.</a:t>
            </a:r>
          </a:p>
          <a:p>
            <a:pPr marL="0" indent="0" algn="just">
              <a:buNone/>
            </a:pPr>
            <a:r>
              <a:rPr lang="en-US" sz="2000" dirty="0" smtClean="0">
                <a:latin typeface="Garamond" pitchFamily="18" charset="0"/>
              </a:rPr>
              <a:t>The biggest problems, however, have to do with governance.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All the controversies we have encountered so far, revolve around governance  issues.</a:t>
            </a:r>
          </a:p>
          <a:p>
            <a:pPr marL="0" indent="0" algn="just">
              <a:buNone/>
            </a:pPr>
            <a:r>
              <a:rPr lang="en-US" sz="2000" dirty="0" smtClean="0">
                <a:latin typeface="Garamond" pitchFamily="18" charset="0"/>
              </a:rPr>
              <a:t>This new community is at the beginning of its journey and, with nothing like the  Internet’s sophisticated governance ecosystem, the entire  world of blockchain and its digital currencies are stuck in the Wild West. It is a place of unconscious chaos and calamity, that could lead to failure if leadership and organizations, similar to those we already have for Internet  governance, are not found.</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fontScale="62500" lnSpcReduction="20000"/>
          </a:bodyPr>
          <a:lstStyle/>
          <a:p>
            <a:pPr marL="0" indent="0" algn="just">
              <a:buNone/>
            </a:pPr>
            <a:r>
              <a:rPr lang="en-US" sz="3800" dirty="0" smtClean="0">
                <a:latin typeface="Garamond" pitchFamily="18" charset="0"/>
              </a:rPr>
              <a:t>Right now, there is another great debate raging about "block size."</a:t>
            </a:r>
          </a:p>
          <a:p>
            <a:pPr marL="0" indent="0" algn="just">
              <a:buNone/>
            </a:pPr>
            <a:r>
              <a:rPr lang="en-US" sz="3800" dirty="0" smtClean="0">
                <a:latin typeface="Garamond" pitchFamily="18" charset="0"/>
              </a:rPr>
              <a:t>We need a larger block size to handle all the future transactions, to last longer over time, and to ensure the future-proofing of the whole system.</a:t>
            </a:r>
          </a:p>
          <a:p>
            <a:pPr marL="0" indent="0" algn="just">
              <a:buNone/>
            </a:pPr>
            <a:r>
              <a:rPr lang="en-US" sz="3800" dirty="0" smtClean="0">
                <a:latin typeface="Garamond" pitchFamily="18" charset="0"/>
              </a:rPr>
              <a:t>These are legitimate concerns because, until now, there has been no process for finding optimal solutions. There is optimism, however, since research and concrete experimentation have been moving along these lines for about ten years.</a:t>
            </a:r>
          </a:p>
          <a:p>
            <a:pPr marL="0" indent="0" algn="just">
              <a:buNone/>
            </a:pPr>
            <a:r>
              <a:rPr lang="en-US" sz="3800" dirty="0" smtClean="0">
                <a:latin typeface="Garamond" pitchFamily="18" charset="0"/>
              </a:rPr>
              <a:t>Now the time is right for blockchain; we have the smartest investors, programmers, business executives, bankers, government officials, and entrepreneurs interested, and this is a sign that something great is happening.</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fontScale="70000" lnSpcReduction="20000"/>
          </a:bodyPr>
          <a:lstStyle/>
          <a:p>
            <a:pPr marL="0" indent="0" algn="just">
              <a:buNone/>
            </a:pPr>
            <a:r>
              <a:rPr lang="en-US" sz="3800" dirty="0" smtClean="0">
                <a:latin typeface="Garamond" pitchFamily="18" charset="0"/>
              </a:rPr>
              <a:t>We are confident that the power of these new applications, of innovation for the "sake of a better humanity" will be evident to all.</a:t>
            </a:r>
          </a:p>
          <a:p>
            <a:pPr marL="0" indent="0" algn="just">
              <a:buNone/>
            </a:pPr>
            <a:r>
              <a:rPr lang="en-US" sz="3800" dirty="0" smtClean="0">
                <a:latin typeface="Garamond" pitchFamily="18" charset="0"/>
              </a:rPr>
              <a:t>Rather than simply redistributing wealth, it will be possible to change the way wealth is generated.</a:t>
            </a:r>
          </a:p>
          <a:p>
            <a:pPr marL="0" indent="0" algn="just">
              <a:buNone/>
            </a:pPr>
            <a:r>
              <a:rPr lang="en-US" sz="3800" dirty="0" smtClean="0">
                <a:latin typeface="Garamond" pitchFamily="18" charset="0"/>
              </a:rPr>
              <a:t>And then, one can imagine a world in which aid to countries in need is not consumed by governmental bureaucracy, but reaches the beneficiaries directly through smart contracts.</a:t>
            </a:r>
          </a:p>
          <a:p>
            <a:pPr marL="0" indent="0" algn="just">
              <a:buNone/>
            </a:pPr>
            <a:r>
              <a:rPr lang="en-US" sz="3800" dirty="0" smtClean="0">
                <a:latin typeface="Garamond" pitchFamily="18" charset="0"/>
              </a:rPr>
              <a:t>It is about value that goes to the creators of value, rather than the powerful forces that capture and manage it.</a:t>
            </a:r>
          </a:p>
          <a:p>
            <a:pPr marL="0" indent="0" algn="just">
              <a:buNone/>
            </a:pPr>
            <a:r>
              <a:rPr lang="en-US" sz="3800" dirty="0" smtClean="0">
                <a:latin typeface="Garamond" pitchFamily="18" charset="0"/>
              </a:rPr>
              <a:t>The blockchain can also protect our privacy.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Privacy is a fundamental human right, the foundation of a free society.</a:t>
            </a:r>
          </a:p>
          <a:p>
            <a:pPr marL="0" indent="0" algn="just">
              <a:buNone/>
            </a:pPr>
            <a:r>
              <a:rPr lang="en-US" sz="2000" dirty="0" smtClean="0">
                <a:latin typeface="Garamond" pitchFamily="18" charset="0"/>
              </a:rPr>
              <a:t>We can now imagine that each individual has his or her own identity, saved  in a "black box" on the blockchain and protected by the chain of blocks   to which it is connected.</a:t>
            </a:r>
          </a:p>
          <a:p>
            <a:pPr marL="0" indent="0" algn="just">
              <a:buNone/>
            </a:pPr>
            <a:r>
              <a:rPr lang="en-US" sz="2000" dirty="0" smtClean="0">
                <a:latin typeface="Garamond" pitchFamily="18" charset="0"/>
              </a:rPr>
              <a:t>This could be the beginning of an new era in which our fundamental right to privacy is finally protected since identity, the first  requirement of freedom, must be managed responsibly.</a:t>
            </a:r>
          </a:p>
          <a:p>
            <a:pPr marL="0" indent="0" algn="just">
              <a:buNone/>
            </a:pPr>
            <a:r>
              <a:rPr lang="en-US" sz="2000" dirty="0" smtClean="0">
                <a:latin typeface="Garamond" pitchFamily="18" charset="0"/>
              </a:rPr>
              <a:t>Of course, we have to acknowledge that humanity has never seen technology with such great potential.</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WHAT IS THE BLOCKCHAIN AND HOW DOES IT WORK?</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The blockchain is defined as an open ledger that offers decentralization to the parties. It is also an open, distributed, peer-to-peer (P2P), permanent registry that offers transparency, immutability, and security to users. </a:t>
            </a:r>
          </a:p>
          <a:p>
            <a:pPr marL="0" indent="0" algn="just">
              <a:buNone/>
            </a:pPr>
            <a:r>
              <a:rPr lang="en-US" sz="2000" dirty="0" smtClean="0">
                <a:latin typeface="Garamond" pitchFamily="18" charset="0"/>
              </a:rPr>
              <a:t>The term Blockchain was first introduced in the 2009 </a:t>
            </a:r>
            <a:r>
              <a:rPr lang="en-US" sz="2000" dirty="0" err="1" smtClean="0">
                <a:latin typeface="Garamond" pitchFamily="18" charset="0"/>
              </a:rPr>
              <a:t>Bitcoin</a:t>
            </a:r>
            <a:r>
              <a:rPr lang="en-US" sz="2000" dirty="0" smtClean="0">
                <a:latin typeface="Garamond" pitchFamily="18" charset="0"/>
              </a:rPr>
              <a:t> white paper by the unknown author (or authors), Satoshi </a:t>
            </a:r>
            <a:r>
              <a:rPr lang="en-US" sz="2000" dirty="0" err="1" smtClean="0">
                <a:latin typeface="Garamond" pitchFamily="18" charset="0"/>
              </a:rPr>
              <a:t>Nakamoto</a:t>
            </a:r>
            <a:r>
              <a:rPr lang="en-US" sz="2000" dirty="0" smtClean="0">
                <a:latin typeface="Garamond" pitchFamily="18" charset="0"/>
              </a:rPr>
              <a:t>, whose identity has remained undisclosed.</a:t>
            </a:r>
          </a:p>
          <a:p>
            <a:pPr marL="0" indent="0" algn="just">
              <a:buNone/>
            </a:pPr>
            <a:r>
              <a:rPr lang="en-US" sz="2000" dirty="0" smtClean="0">
                <a:latin typeface="Garamond" pitchFamily="18" charset="0"/>
              </a:rPr>
              <a:t>The </a:t>
            </a:r>
            <a:r>
              <a:rPr lang="en-US" sz="2000" dirty="0" err="1" smtClean="0">
                <a:latin typeface="Garamond" pitchFamily="18" charset="0"/>
              </a:rPr>
              <a:t>Bitcoin</a:t>
            </a:r>
            <a:r>
              <a:rPr lang="en-US" sz="2000" dirty="0" smtClean="0">
                <a:latin typeface="Garamond" pitchFamily="18" charset="0"/>
              </a:rPr>
              <a:t> blockchain, however, was only the first of many. How does it work?</a:t>
            </a:r>
          </a:p>
          <a:p>
            <a:pPr marL="0" indent="0" algn="just">
              <a:buNone/>
            </a:pPr>
            <a:r>
              <a:rPr lang="en-US" sz="2000" dirty="0" smtClean="0">
                <a:latin typeface="Garamond" pitchFamily="18" charset="0"/>
              </a:rPr>
              <a:t>How a blockchain works is simple.</a:t>
            </a:r>
          </a:p>
          <a:p>
            <a:pPr marL="0" indent="0" algn="just">
              <a:buNone/>
            </a:pPr>
            <a:r>
              <a:rPr lang="en-US" sz="2000" dirty="0" smtClean="0">
                <a:latin typeface="Garamond" pitchFamily="18" charset="0"/>
              </a:rPr>
              <a:t>Since it is a peer-to-peer network, it starts with a user initiating a transaction. Once this is done, a block is allocated to the transaction. This transaction block is then transmitted to the network with all nodes in the network receiving the same information. The block is then extracted and validated. Following a successful transaction, the block is added to the chain.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PUBLIC VS PRIVATE BLOCKCHAIN NETWORKS</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The main difference between public and private blockchain networks is determined by how they work.</a:t>
            </a:r>
          </a:p>
          <a:p>
            <a:pPr marL="0" indent="0" algn="just">
              <a:buNone/>
            </a:pPr>
            <a:r>
              <a:rPr lang="en-US" sz="2000" dirty="0" smtClean="0">
                <a:latin typeface="Garamond" pitchFamily="18" charset="0"/>
              </a:rPr>
              <a:t>The public blockchain network (i.e., </a:t>
            </a:r>
            <a:r>
              <a:rPr lang="en-US" sz="2000" dirty="0" err="1" smtClean="0">
                <a:latin typeface="Garamond" pitchFamily="18" charset="0"/>
              </a:rPr>
              <a:t>permissionless</a:t>
            </a:r>
            <a:r>
              <a:rPr lang="en-US" sz="2000" dirty="0" smtClean="0">
                <a:latin typeface="Garamond" pitchFamily="18" charset="0"/>
              </a:rPr>
              <a:t>) works without authorization while the private blockchain (i.e., </a:t>
            </a:r>
            <a:r>
              <a:rPr lang="en-US" sz="2000" dirty="0" err="1" smtClean="0">
                <a:latin typeface="Garamond" pitchFamily="18" charset="0"/>
              </a:rPr>
              <a:t>permissioned</a:t>
            </a:r>
            <a:r>
              <a:rPr lang="en-US" sz="2000" dirty="0" smtClean="0">
                <a:latin typeface="Garamond" pitchFamily="18" charset="0"/>
              </a:rPr>
              <a:t>) is authorized.</a:t>
            </a:r>
          </a:p>
          <a:p>
            <a:pPr marL="0" indent="0" algn="just">
              <a:buNone/>
            </a:pPr>
            <a:r>
              <a:rPr lang="en-US" sz="2000" dirty="0" smtClean="0">
                <a:latin typeface="Garamond" pitchFamily="18" charset="0"/>
              </a:rPr>
              <a:t>A public blockchain is an open network, not controlled by anyone, and accessible to all.</a:t>
            </a:r>
          </a:p>
          <a:p>
            <a:pPr marL="0" indent="0" algn="just">
              <a:buNone/>
            </a:pPr>
            <a:r>
              <a:rPr lang="en-US" sz="2000" dirty="0" smtClean="0">
                <a:latin typeface="Garamond" pitchFamily="18" charset="0"/>
              </a:rPr>
              <a:t>A private blockchain, conversely, is authorized and managed by an authority with exclusive use of the network.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CENTRALIZED VS DECENTRALIZED VS DISTRIBUTED NETWORKS: AN OVERVIEW</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There is a fundamental difference, as well, between centralized, decentralized, and distributed networks.</a:t>
            </a:r>
          </a:p>
          <a:p>
            <a:pPr marL="0" indent="0" algn="just">
              <a:buNone/>
            </a:pPr>
            <a:r>
              <a:rPr lang="en-US" sz="2000" dirty="0" smtClean="0">
                <a:latin typeface="Garamond" pitchFamily="18" charset="0"/>
              </a:rPr>
              <a:t>In a centralized system, all nodes are subject to a  single authority.</a:t>
            </a:r>
          </a:p>
          <a:p>
            <a:pPr marL="0" indent="0" algn="just">
              <a:buNone/>
            </a:pPr>
            <a:r>
              <a:rPr lang="en-US" sz="2000" dirty="0" smtClean="0">
                <a:latin typeface="Garamond" pitchFamily="18" charset="0"/>
              </a:rPr>
              <a:t>In a decentralized system, the network is open to everyone and lacks a centralized    authority.</a:t>
            </a:r>
          </a:p>
          <a:p>
            <a:pPr marL="0" indent="0" algn="just">
              <a:buNone/>
            </a:pPr>
            <a:r>
              <a:rPr lang="en-US" sz="2000" dirty="0" smtClean="0">
                <a:latin typeface="Garamond" pitchFamily="18" charset="0"/>
              </a:rPr>
              <a:t>In a distributed system, the nodes are independent   but interact with each other. Each node is, therefore, interconnected to all the other nodes in  the network.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AMONG THR TERMS OF THE BLOCKCHAIN: THE   SMART CONTRACT</a:t>
            </a: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fontScale="92500" lnSpcReduction="10000"/>
          </a:bodyPr>
          <a:lstStyle/>
          <a:p>
            <a:pPr marL="0" indent="0" algn="just">
              <a:buNone/>
            </a:pPr>
            <a:r>
              <a:rPr lang="en-US" sz="2000" dirty="0" smtClean="0">
                <a:latin typeface="Garamond" pitchFamily="18" charset="0"/>
              </a:rPr>
              <a:t>It is difficult for a beginner to understand common blockchain terminology, causing confusion and hindering research.</a:t>
            </a:r>
          </a:p>
          <a:p>
            <a:pPr marL="0" indent="0" algn="just">
              <a:buNone/>
            </a:pPr>
            <a:r>
              <a:rPr lang="en-US" sz="2000" dirty="0" smtClean="0">
                <a:latin typeface="Garamond" pitchFamily="18" charset="0"/>
              </a:rPr>
              <a:t>Among the most common expressions used in the blockchain is the INTELLIGENT or SMART CONTRACT.</a:t>
            </a:r>
          </a:p>
          <a:p>
            <a:pPr marL="0" indent="0" algn="just">
              <a:buNone/>
            </a:pPr>
            <a:r>
              <a:rPr lang="en-US" sz="2000" dirty="0" smtClean="0">
                <a:latin typeface="Garamond" pitchFamily="18" charset="0"/>
              </a:rPr>
              <a:t>Smart contracts are computer programs, similar to a legal digital document. They establish the terms and conditions between two parties which will fulfill the contract automatically.</a:t>
            </a:r>
          </a:p>
          <a:p>
            <a:pPr marL="0" indent="0" algn="just">
              <a:buNone/>
            </a:pPr>
            <a:r>
              <a:rPr lang="en-US" sz="2000" dirty="0" smtClean="0">
                <a:latin typeface="Garamond" pitchFamily="18" charset="0"/>
              </a:rPr>
              <a:t>Parties dealing with smart contracts use the ledger for archiving purposes.</a:t>
            </a:r>
          </a:p>
          <a:p>
            <a:pPr marL="0" indent="0" algn="just">
              <a:buNone/>
            </a:pPr>
            <a:r>
              <a:rPr lang="en-US" sz="2000" dirty="0" smtClean="0">
                <a:latin typeface="Garamond" pitchFamily="18" charset="0"/>
              </a:rPr>
              <a:t>Smart contracts are activated when a condition is met and are completely autonomous. They are executed according to the code that defines the preconditions for realization.</a:t>
            </a:r>
          </a:p>
          <a:p>
            <a:pPr marL="0" indent="0" algn="just">
              <a:buNone/>
            </a:pPr>
            <a:r>
              <a:rPr lang="en-US" sz="2000" dirty="0" smtClean="0">
                <a:latin typeface="Garamond" pitchFamily="18" charset="0"/>
              </a:rPr>
              <a:t>To insure they work as intended, the contracts are analyzed and managed by blockchain regulators within the network.</a:t>
            </a:r>
          </a:p>
          <a:p>
            <a:pPr marL="0" indent="0" algn="just">
              <a:buNone/>
            </a:pPr>
            <a:r>
              <a:rPr lang="en-US" sz="2000" dirty="0" smtClean="0">
                <a:latin typeface="Garamond" pitchFamily="18" charset="0"/>
              </a:rPr>
              <a:t>They are useful tools with potentially enormous applications; in market analysis, for example, they are suitable for predicting uncertainties.</a:t>
            </a:r>
          </a:p>
          <a:p>
            <a:pPr marL="0" indent="0" algn="just">
              <a:buNone/>
            </a:pPr>
            <a:r>
              <a:rPr lang="en-US" sz="2000" dirty="0" smtClean="0">
                <a:latin typeface="Garamond" pitchFamily="18" charset="0"/>
              </a:rPr>
              <a:t/>
            </a:r>
            <a:br>
              <a:rPr lang="en-US" sz="2000" dirty="0" smtClean="0">
                <a:latin typeface="Garamond" pitchFamily="18" charset="0"/>
              </a:rPr>
            </a:b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smtClean="0">
                <a:solidFill>
                  <a:srgbClr val="FF0000"/>
                </a:solidFill>
                <a:latin typeface="Garamond" pitchFamily="18" charset="0"/>
              </a:rPr>
              <a:t>HOW DOES A SMART CONTRACT WORK?</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 As previously mentioned, a smart contract is drawn up between two parties and is used to facilitate "matchmaking" between buyer and seller.</a:t>
            </a:r>
          </a:p>
          <a:p>
            <a:pPr marL="0" indent="0" algn="just">
              <a:buNone/>
            </a:pPr>
            <a:r>
              <a:rPr lang="en-US" sz="2000" dirty="0" smtClean="0">
                <a:latin typeface="Garamond" pitchFamily="18" charset="0"/>
              </a:rPr>
              <a:t>Banks and other institutions can use smart contracts in financial transactions to receive and distribute assets.</a:t>
            </a:r>
          </a:p>
          <a:p>
            <a:pPr marL="0" indent="0" algn="just">
              <a:buNone/>
            </a:pPr>
            <a:r>
              <a:rPr lang="en-US" sz="2000" dirty="0" smtClean="0">
                <a:latin typeface="Garamond" pitchFamily="18" charset="0"/>
              </a:rPr>
              <a:t>The main characteristic of a smart contract is that for their registration and  automation, a third party, in  the role of supervisory authority, is not necessary.</a:t>
            </a:r>
          </a:p>
          <a:p>
            <a:pPr marL="0" indent="0" algn="just">
              <a:buNone/>
            </a:pPr>
            <a:r>
              <a:rPr lang="en-US" sz="2000" dirty="0" smtClean="0">
                <a:latin typeface="Garamond" pitchFamily="18" charset="0"/>
              </a:rPr>
              <a:t>The advantages of smart contracts include their total transparency, the absence of superfluous documentation, and reliable and guaranteed results.</a:t>
            </a:r>
          </a:p>
          <a:p>
            <a:pPr marL="0" indent="0" algn="just">
              <a:buNone/>
            </a:pPr>
            <a:r>
              <a:rPr lang="en-US" sz="2000" dirty="0" smtClean="0">
                <a:latin typeface="Garamond" pitchFamily="18" charset="0"/>
              </a:rPr>
              <a:t>Smart contracts, however, have their disadvantages.</a:t>
            </a:r>
          </a:p>
          <a:p>
            <a:pPr marL="0" indent="0" algn="just">
              <a:buNone/>
            </a:pPr>
            <a:r>
              <a:rPr lang="en-US" sz="2000" dirty="0" smtClean="0">
                <a:latin typeface="Garamond" pitchFamily="18" charset="0"/>
              </a:rPr>
              <a:t>These comprise possible errors in their creation, breaches of confidentiality, and the presence of “rogue” contracts (in violation of laws and legal principles).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 The reason for these limitations can be quickly explained.</a:t>
            </a:r>
          </a:p>
          <a:p>
            <a:pPr marL="0" indent="0" algn="just">
              <a:buNone/>
            </a:pPr>
            <a:r>
              <a:rPr lang="en-US" sz="2000" dirty="0" smtClean="0">
                <a:latin typeface="Garamond" pitchFamily="18" charset="0"/>
              </a:rPr>
              <a:t> </a:t>
            </a:r>
          </a:p>
          <a:p>
            <a:pPr marL="457200" indent="-457200" algn="just">
              <a:buFont typeface="+mj-lt"/>
              <a:buAutoNum type="alphaLcParenR"/>
            </a:pPr>
            <a:r>
              <a:rPr lang="en-US" sz="2000" dirty="0" smtClean="0">
                <a:latin typeface="Garamond" pitchFamily="18" charset="0"/>
              </a:rPr>
              <a:t>Smart contracts are created by humans, and this makes them open to  error.</a:t>
            </a:r>
          </a:p>
          <a:p>
            <a:pPr marL="457200" indent="-457200" algn="just">
              <a:buFont typeface="+mj-lt"/>
              <a:buAutoNum type="alphaLcParenR"/>
            </a:pPr>
            <a:r>
              <a:rPr lang="en-US" sz="2000" dirty="0" smtClean="0">
                <a:latin typeface="Garamond" pitchFamily="18" charset="0"/>
              </a:rPr>
              <a:t>They are not 100% confidential and could leak sensitive information which, if read by a third party, would constitute an invasion of privacy.</a:t>
            </a:r>
          </a:p>
          <a:p>
            <a:pPr marL="0" indent="0" algn="just">
              <a:buNone/>
            </a:pPr>
            <a:r>
              <a:rPr lang="en-US" sz="2000" dirty="0" smtClean="0">
                <a:latin typeface="Garamond" pitchFamily="18" charset="0"/>
              </a:rPr>
              <a:t>There are “rogue” contracts that behave as if they were real, making cyber fraud and cyber attacks possible.</a:t>
            </a:r>
          </a:p>
          <a:p>
            <a:pPr marL="0" indent="0" algn="just">
              <a:buNone/>
            </a:pPr>
            <a:r>
              <a:rPr lang="en-US" sz="2000" dirty="0" smtClean="0">
                <a:latin typeface="Garamond" pitchFamily="18" charset="0"/>
              </a:rPr>
              <a:t>Beyond these limitations, however, there are many "use cases" for smart contracts.</a:t>
            </a:r>
          </a:p>
          <a:p>
            <a:pPr marL="0" indent="0" algn="just">
              <a:buNone/>
            </a:pPr>
            <a:r>
              <a:rPr lang="en-US" sz="2000" dirty="0" smtClean="0">
                <a:latin typeface="Garamond" pitchFamily="18" charset="0"/>
              </a:rPr>
              <a:t>They can be used by different organizations and vertical systems to make things more efficient.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Examples of use cases to date encompass commercial activities, supply chains, copyright protection, real estate management, government voting, and large corporate assemblies.</a:t>
            </a:r>
          </a:p>
          <a:p>
            <a:pPr marL="0" indent="0" algn="just">
              <a:buNone/>
            </a:pPr>
            <a:r>
              <a:rPr lang="en-US" sz="2000" dirty="0" smtClean="0">
                <a:latin typeface="Garamond" pitchFamily="18" charset="0"/>
              </a:rPr>
              <a:t>Further use cases concern the Internet-of-Things (</a:t>
            </a:r>
            <a:r>
              <a:rPr lang="en-US" sz="2000" dirty="0" err="1" smtClean="0">
                <a:latin typeface="Garamond" pitchFamily="18" charset="0"/>
              </a:rPr>
              <a:t>IoT</a:t>
            </a:r>
            <a:r>
              <a:rPr lang="en-US" sz="2000" dirty="0" smtClean="0">
                <a:latin typeface="Garamond" pitchFamily="18" charset="0"/>
              </a:rPr>
              <a:t>) where smart contracts can help protect the internal (home) network.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200" b="1" dirty="0" smtClean="0">
                <a:solidFill>
                  <a:srgbClr val="FF0000"/>
                </a:solidFill>
                <a:latin typeface="Garamond" pitchFamily="18" charset="0"/>
              </a:rPr>
              <a:t>IS THE BLOCKCHAIN OVERRATED?</a:t>
            </a:r>
            <a:br>
              <a:rPr lang="it-IT"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This is one of the biggest questions to date, and it needs to be addressed.</a:t>
            </a:r>
          </a:p>
          <a:p>
            <a:pPr marL="0" indent="0" algn="just">
              <a:buNone/>
            </a:pPr>
            <a:r>
              <a:rPr lang="en-US" sz="2000" dirty="0" smtClean="0">
                <a:latin typeface="Garamond" pitchFamily="18" charset="0"/>
              </a:rPr>
              <a:t>In general, people still do not understand what blockchain has to offer,  leading to reservations and assumptions that the blockchain is an overrated phenomenon.</a:t>
            </a:r>
          </a:p>
          <a:p>
            <a:pPr marL="0" indent="0" algn="just">
              <a:buNone/>
            </a:pPr>
            <a:r>
              <a:rPr lang="en-US" sz="2000" dirty="0" smtClean="0">
                <a:latin typeface="Garamond" pitchFamily="18" charset="0"/>
              </a:rPr>
              <a:t>True, blockchain technology is only two decades old, but having</a:t>
            </a:r>
          </a:p>
          <a:p>
            <a:pPr marL="0" indent="0" algn="just">
              <a:buNone/>
            </a:pPr>
            <a:r>
              <a:rPr lang="en-US" sz="2000" dirty="0" smtClean="0">
                <a:latin typeface="Garamond" pitchFamily="18" charset="0"/>
              </a:rPr>
              <a:t> surpassed the “disappointment phase” of some initial attempts, the blockchain is moving towards better implementation; excellence is a future promise.</a:t>
            </a:r>
          </a:p>
          <a:p>
            <a:pPr marL="0" indent="0" algn="just">
              <a:buNone/>
            </a:pPr>
            <a:r>
              <a:rPr lang="en-US" sz="2000" dirty="0" err="1" smtClean="0">
                <a:latin typeface="Garamond" pitchFamily="18" charset="0"/>
              </a:rPr>
              <a:t>Bitcoin</a:t>
            </a:r>
            <a:r>
              <a:rPr lang="en-US" sz="2000" dirty="0" smtClean="0">
                <a:latin typeface="Garamond" pitchFamily="18" charset="0"/>
              </a:rPr>
              <a:t>, for example, has seen many improvements, as have other blockchain  technologies that are innovating at a rapid pace.</a:t>
            </a:r>
          </a:p>
          <a:p>
            <a:pPr marL="0" indent="0" algn="just">
              <a:buNone/>
            </a:pPr>
            <a:r>
              <a:rPr lang="en-US" sz="2000" dirty="0" smtClean="0">
                <a:latin typeface="Garamond" pitchFamily="18" charset="0"/>
              </a:rPr>
              <a:t>Currently, the entire digital sector is undergoing a blockchain transformation, and its impact is being seen everywhere.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lnSpcReduction="10000"/>
          </a:bodyPr>
          <a:lstStyle/>
          <a:p>
            <a:pPr marL="0" indent="0" algn="just">
              <a:buNone/>
            </a:pPr>
            <a:r>
              <a:rPr lang="en-US" sz="2000" dirty="0" smtClean="0">
                <a:latin typeface="Garamond" pitchFamily="18" charset="0"/>
              </a:rPr>
              <a:t>This is why the work of digital asseveration experts must focus on the nine vertical assets of the blockchain transformation:</a:t>
            </a:r>
          </a:p>
          <a:p>
            <a:pPr marL="0" indent="0" algn="just">
              <a:buNone/>
            </a:pPr>
            <a:r>
              <a:rPr lang="en-US" sz="2000" dirty="0" smtClean="0">
                <a:latin typeface="Garamond" pitchFamily="18" charset="0"/>
              </a:rPr>
              <a:t>Technology</a:t>
            </a:r>
          </a:p>
          <a:p>
            <a:pPr marL="0" indent="0" algn="just">
              <a:buNone/>
            </a:pPr>
            <a:r>
              <a:rPr lang="en-US" sz="2000" dirty="0" smtClean="0">
                <a:latin typeface="Garamond" pitchFamily="18" charset="0"/>
              </a:rPr>
              <a:t>Law and Crime</a:t>
            </a:r>
          </a:p>
          <a:p>
            <a:pPr marL="0" indent="0" algn="just">
              <a:buNone/>
            </a:pPr>
            <a:r>
              <a:rPr lang="en-US" sz="2000" dirty="0" smtClean="0">
                <a:latin typeface="Garamond" pitchFamily="18" charset="0"/>
              </a:rPr>
              <a:t>Government Service</a:t>
            </a:r>
          </a:p>
          <a:p>
            <a:pPr marL="0" indent="0" algn="just">
              <a:buNone/>
            </a:pPr>
            <a:r>
              <a:rPr lang="en-US" sz="2000" dirty="0" smtClean="0">
                <a:latin typeface="Garamond" pitchFamily="18" charset="0"/>
              </a:rPr>
              <a:t>Finance</a:t>
            </a:r>
          </a:p>
          <a:p>
            <a:pPr marL="0" indent="0" algn="just">
              <a:buNone/>
            </a:pPr>
            <a:r>
              <a:rPr lang="en-US" sz="2000" dirty="0" smtClean="0">
                <a:latin typeface="Garamond" pitchFamily="18" charset="0"/>
              </a:rPr>
              <a:t>Human Rights</a:t>
            </a:r>
          </a:p>
          <a:p>
            <a:pPr marL="0" indent="0" algn="just">
              <a:buNone/>
            </a:pPr>
            <a:r>
              <a:rPr lang="en-US" sz="2000" dirty="0" smtClean="0">
                <a:latin typeface="Garamond" pitchFamily="18" charset="0"/>
              </a:rPr>
              <a:t>Entertainment</a:t>
            </a:r>
          </a:p>
          <a:p>
            <a:pPr marL="0" indent="0" algn="just">
              <a:buNone/>
            </a:pPr>
            <a:r>
              <a:rPr lang="en-US" sz="2000" dirty="0" smtClean="0">
                <a:latin typeface="Garamond" pitchFamily="18" charset="0"/>
              </a:rPr>
              <a:t>Media</a:t>
            </a:r>
          </a:p>
          <a:p>
            <a:pPr marL="0" indent="0" algn="just">
              <a:buNone/>
            </a:pPr>
            <a:r>
              <a:rPr lang="en-US" sz="2000" dirty="0" smtClean="0">
                <a:latin typeface="Garamond" pitchFamily="18" charset="0"/>
              </a:rPr>
              <a:t>Transportation</a:t>
            </a:r>
          </a:p>
          <a:p>
            <a:pPr marL="0" indent="0" algn="just">
              <a:buNone/>
            </a:pPr>
            <a:r>
              <a:rPr lang="en-US" sz="2000" dirty="0" smtClean="0">
                <a:latin typeface="Garamond" pitchFamily="18" charset="0"/>
              </a:rPr>
              <a:t>Contracts</a:t>
            </a:r>
          </a:p>
          <a:p>
            <a:pPr marL="0" indent="0" algn="just">
              <a:buNone/>
            </a:pPr>
            <a:r>
              <a:rPr lang="en-US" sz="2000" dirty="0" smtClean="0">
                <a:latin typeface="Garamond" pitchFamily="18" charset="0"/>
              </a:rPr>
              <a:t>Though many other sectors are now implementing blockchain technology, the two leading sectors, to date,  are </a:t>
            </a:r>
            <a:r>
              <a:rPr lang="en-US" sz="2000" dirty="0" err="1" smtClean="0">
                <a:latin typeface="Garamond" pitchFamily="18" charset="0"/>
              </a:rPr>
              <a:t>FinTech</a:t>
            </a:r>
            <a:r>
              <a:rPr lang="en-US" sz="2000" dirty="0" smtClean="0">
                <a:latin typeface="Garamond" pitchFamily="18" charset="0"/>
              </a:rPr>
              <a:t> and supply chains.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429156"/>
          </a:xfrm>
        </p:spPr>
        <p:txBody>
          <a:bodyPr>
            <a:normAutofit/>
          </a:bodyPr>
          <a:lstStyle/>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Other sectors are also slowly but steadily adopting blockchain technology, including healthcare, shipping, retail, insurance, and data mining (not just financial) applied to scientific research.</a:t>
            </a:r>
          </a:p>
          <a:p>
            <a:pPr marL="0" indent="0" algn="just">
              <a:buNone/>
            </a:pPr>
            <a:r>
              <a:rPr lang="en-US" sz="2000" dirty="0" smtClean="0">
                <a:latin typeface="Garamond" pitchFamily="18" charset="0"/>
              </a:rPr>
              <a:t>Eventually, most industries will be using some form of blockchain technology. Some fields will be better suited to implementing a blockchain than others, but all businesses are now expressing interest  in </a:t>
            </a:r>
            <a:r>
              <a:rPr lang="en-US" sz="2000" dirty="0" err="1" smtClean="0">
                <a:latin typeface="Garamond" pitchFamily="18" charset="0"/>
              </a:rPr>
              <a:t>blockchain’s</a:t>
            </a:r>
            <a:r>
              <a:rPr lang="en-US" sz="2000" dirty="0" smtClean="0">
                <a:latin typeface="Garamond" pitchFamily="18" charset="0"/>
              </a:rPr>
              <a:t> possibilities.</a:t>
            </a:r>
            <a:endParaRPr lang="en-US" sz="200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345</TotalTime>
  <Words>3014</Words>
  <Application>Microsoft Office PowerPoint</Application>
  <PresentationFormat>Presentazione su schermo (4:3)</PresentationFormat>
  <Paragraphs>211</Paragraphs>
  <Slides>30</Slides>
  <Notes>0</Notes>
  <HiddenSlides>0</HiddenSlides>
  <MMClips>0</MMClips>
  <ScaleCrop>false</ScaleCrop>
  <HeadingPairs>
    <vt:vector size="4" baseType="variant">
      <vt:variant>
        <vt:lpstr>Tema</vt:lpstr>
      </vt:variant>
      <vt:variant>
        <vt:i4>1</vt:i4>
      </vt:variant>
      <vt:variant>
        <vt:lpstr>Titoli diapositive</vt:lpstr>
      </vt:variant>
      <vt:variant>
        <vt:i4>30</vt:i4>
      </vt:variant>
    </vt:vector>
  </HeadingPairs>
  <TitlesOfParts>
    <vt:vector size="31" baseType="lpstr">
      <vt:lpstr>Tema di Office</vt:lpstr>
      <vt:lpstr>LEZIONE N. 2</vt:lpstr>
      <vt:lpstr>ECOSYSTEM </vt:lpstr>
      <vt:lpstr>Diapositiva 3</vt:lpstr>
      <vt:lpstr>WHAT IS THE BLOCKCHAIN? </vt:lpstr>
      <vt:lpstr>Diapositiva 5</vt:lpstr>
      <vt:lpstr>Diapositiva 6</vt:lpstr>
      <vt:lpstr>Diapositiva 7</vt:lpstr>
      <vt:lpstr>BLOCKCHAIN IN THE MARKETS:  FROM CAPITAL TO MUSIC </vt:lpstr>
      <vt:lpstr>Diapositiva 9</vt:lpstr>
      <vt:lpstr>Diapositiva 10</vt:lpstr>
      <vt:lpstr>Diapositiva 11</vt:lpstr>
      <vt:lpstr>Diapositiva 12</vt:lpstr>
      <vt:lpstr>Diapositiva 13</vt:lpstr>
      <vt:lpstr>Diapositiva 14</vt:lpstr>
      <vt:lpstr>Diapositiva 15</vt:lpstr>
      <vt:lpstr>WHAT COULD POSSIBLY GO WRONG? WHAT ARE THE OBSTACLES? </vt:lpstr>
      <vt:lpstr>Diapositiva 17</vt:lpstr>
      <vt:lpstr>Diapositiva 18</vt:lpstr>
      <vt:lpstr>Diapositiva 19</vt:lpstr>
      <vt:lpstr>Diapositiva 20</vt:lpstr>
      <vt:lpstr>WHAT IS THE BLOCKCHAIN AND HOW DOES IT WORK? </vt:lpstr>
      <vt:lpstr>PUBLIC VS PRIVATE BLOCKCHAIN NETWORKS </vt:lpstr>
      <vt:lpstr>CENTRALIZED VS DECENTRALIZED VS DISTRIBUTED NETWORKS: AN OVERVIEW </vt:lpstr>
      <vt:lpstr>AMONG THR TERMS OF THE BLOCKCHAIN: THE   SMART CONTRACT</vt:lpstr>
      <vt:lpstr>HOW DOES A SMART CONTRACT WORK? </vt:lpstr>
      <vt:lpstr>Diapositiva 26</vt:lpstr>
      <vt:lpstr>Diapositiva 27</vt:lpstr>
      <vt:lpstr>IS THE BLOCKCHAIN OVERRATED? </vt:lpstr>
      <vt:lpstr>Diapositiva 29</vt:lpstr>
      <vt:lpstr>Diapositiva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65</cp:revision>
  <dcterms:created xsi:type="dcterms:W3CDTF">2022-09-16T10:16:52Z</dcterms:created>
  <dcterms:modified xsi:type="dcterms:W3CDTF">2024-05-15T10:22:33Z</dcterms:modified>
</cp:coreProperties>
</file>