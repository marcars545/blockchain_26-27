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88" r:id="rId3"/>
    <p:sldId id="283" r:id="rId4"/>
    <p:sldId id="258" r:id="rId5"/>
    <p:sldId id="259" r:id="rId6"/>
    <p:sldId id="260" r:id="rId7"/>
    <p:sldId id="261" r:id="rId8"/>
    <p:sldId id="262" r:id="rId9"/>
    <p:sldId id="284" r:id="rId10"/>
    <p:sldId id="263" r:id="rId11"/>
    <p:sldId id="264" r:id="rId12"/>
    <p:sldId id="265" r:id="rId13"/>
    <p:sldId id="266" r:id="rId14"/>
    <p:sldId id="267" r:id="rId15"/>
    <p:sldId id="268" r:id="rId16"/>
    <p:sldId id="269" r:id="rId17"/>
    <p:sldId id="270" r:id="rId18"/>
    <p:sldId id="271" r:id="rId19"/>
    <p:sldId id="285" r:id="rId20"/>
    <p:sldId id="272" r:id="rId21"/>
    <p:sldId id="273" r:id="rId22"/>
    <p:sldId id="274" r:id="rId23"/>
    <p:sldId id="275" r:id="rId24"/>
    <p:sldId id="286" r:id="rId25"/>
    <p:sldId id="276" r:id="rId26"/>
    <p:sldId id="277" r:id="rId27"/>
    <p:sldId id="278" r:id="rId28"/>
    <p:sldId id="279" r:id="rId29"/>
    <p:sldId id="280" r:id="rId30"/>
    <p:sldId id="281" r:id="rId31"/>
    <p:sldId id="282" r:id="rId32"/>
    <p:sldId id="287" r:id="rId33"/>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B04D4A-BB0E-4BAE-9233-84F01C77CFFB}"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135EEC-0AA5-4231-A1E6-A5EA4473BE58}"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BA38E2EB-786B-4B81-BBF3-65004EE022EF}"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B2ADC400-F098-42AD-A9F5-BB74A60E152A}"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1B04C74D-4419-4F73-9912-FF96CB4CF272}"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0AB55AAF-455E-41C8-B6DC-C197B73E97D4}"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43F2797F-0272-4846-8025-CF70351B2BB0}"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75AD9F41-9755-4CBA-B256-0F215444B694}"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A2B2D70A-2086-4E73-AACA-663198136DD6}"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70DE8AB4-AA1C-4F09-9460-78930B6833BD}"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8A1A04CD-DE37-4AE3-B158-D7CFB209DD1A}"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2C26A0CC-5F91-42E1-9FD3-EAD63B05F47A}"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A33DE420-84E3-4342-9D9F-574338343B8C}"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C619AE-15A6-44F6-A5D9-A341CA7211A5}"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714348" y="1214423"/>
            <a:ext cx="7772400" cy="928694"/>
          </a:xfrm>
        </p:spPr>
        <p:txBody>
          <a:bodyPr>
            <a:normAutofit/>
          </a:bodyPr>
          <a:lstStyle/>
          <a:p>
            <a:r>
              <a:rPr lang="it-IT" sz="2800" dirty="0" smtClean="0">
                <a:solidFill>
                  <a:srgbClr val="FF0000"/>
                </a:solidFill>
              </a:rPr>
              <a:t>LEZIONE N. 5</a:t>
            </a:r>
            <a:endParaRPr lang="it-IT" sz="2800" dirty="0">
              <a:solidFill>
                <a:srgbClr val="FF0000"/>
              </a:solidFill>
            </a:endParaRPr>
          </a:p>
        </p:txBody>
      </p:sp>
      <p:sp>
        <p:nvSpPr>
          <p:cNvPr id="3" name="Sottotitolo 2"/>
          <p:cNvSpPr>
            <a:spLocks noGrp="1"/>
          </p:cNvSpPr>
          <p:nvPr>
            <p:ph type="subTitle" idx="1"/>
          </p:nvPr>
        </p:nvSpPr>
        <p:spPr>
          <a:xfrm>
            <a:off x="357158" y="2285992"/>
            <a:ext cx="8429684" cy="4071966"/>
          </a:xfrm>
        </p:spPr>
        <p:txBody>
          <a:bodyPr>
            <a:normAutofit/>
          </a:bodyPr>
          <a:lstStyle/>
          <a:p>
            <a:pPr marL="457200" indent="-457200" algn="just">
              <a:buFont typeface="+mj-lt"/>
              <a:buAutoNum type="arabicPeriod"/>
            </a:pPr>
            <a:r>
              <a:rPr lang="en-US" sz="2000" b="1" dirty="0" smtClean="0">
                <a:solidFill>
                  <a:schemeClr val="tx1"/>
                </a:solidFill>
                <a:latin typeface="Garamond" pitchFamily="18" charset="0"/>
              </a:rPr>
              <a:t>Blockchain and smart contracts</a:t>
            </a:r>
          </a:p>
          <a:p>
            <a:pPr marL="457200" indent="-457200" algn="just">
              <a:buFont typeface="+mj-lt"/>
              <a:buAutoNum type="arabicPeriod"/>
            </a:pPr>
            <a:r>
              <a:rPr lang="en-US" sz="2000" b="1" dirty="0" smtClean="0">
                <a:solidFill>
                  <a:schemeClr val="tx1"/>
                </a:solidFill>
                <a:latin typeface="Garamond" pitchFamily="18" charset="0"/>
              </a:rPr>
              <a:t>Introduction to the blockchain as a decentralized consensus generator</a:t>
            </a:r>
          </a:p>
          <a:p>
            <a:pPr marL="457200" indent="-457200" algn="just">
              <a:buFont typeface="+mj-lt"/>
              <a:buAutoNum type="arabicPeriod"/>
            </a:pPr>
            <a:r>
              <a:rPr lang="en-US" sz="2000" b="1" dirty="0" smtClean="0">
                <a:solidFill>
                  <a:schemeClr val="tx1"/>
                </a:solidFill>
                <a:latin typeface="Garamond" pitchFamily="18" charset="0"/>
              </a:rPr>
              <a:t>The blockchain and decentralized consensus</a:t>
            </a:r>
          </a:p>
          <a:p>
            <a:pPr marL="457200" indent="-457200" algn="just">
              <a:buFont typeface="+mj-lt"/>
              <a:buAutoNum type="arabicPeriod"/>
            </a:pPr>
            <a:r>
              <a:rPr lang="en-US" sz="2000" b="1" dirty="0" smtClean="0">
                <a:solidFill>
                  <a:schemeClr val="tx1"/>
                </a:solidFill>
                <a:latin typeface="Garamond" pitchFamily="18" charset="0"/>
              </a:rPr>
              <a:t>THE </a:t>
            </a:r>
            <a:r>
              <a:rPr lang="en-US" sz="2000" b="1" dirty="0" err="1" smtClean="0">
                <a:solidFill>
                  <a:schemeClr val="tx1"/>
                </a:solidFill>
                <a:latin typeface="Garamond" pitchFamily="18" charset="0"/>
              </a:rPr>
              <a:t>pow</a:t>
            </a:r>
            <a:r>
              <a:rPr lang="en-US" sz="2000" b="1" dirty="0" smtClean="0">
                <a:solidFill>
                  <a:schemeClr val="tx1"/>
                </a:solidFill>
                <a:latin typeface="Garamond" pitchFamily="18" charset="0"/>
              </a:rPr>
              <a:t> AND pos PROJECTS</a:t>
            </a:r>
          </a:p>
          <a:p>
            <a:pPr marL="457200" indent="-457200" algn="just">
              <a:buFont typeface="+mj-lt"/>
              <a:buAutoNum type="arabicPeriod"/>
            </a:pPr>
            <a:r>
              <a:rPr lang="en-US" sz="2000" b="1" dirty="0" smtClean="0">
                <a:solidFill>
                  <a:schemeClr val="tx1"/>
                </a:solidFill>
                <a:latin typeface="Garamond" pitchFamily="18" charset="0"/>
              </a:rPr>
              <a:t>The case: data archiving systems</a:t>
            </a:r>
          </a:p>
          <a:p>
            <a:pPr marL="457200" indent="-457200" algn="just">
              <a:buFont typeface="+mj-lt"/>
              <a:buAutoNum type="arabicPeriod"/>
            </a:pPr>
            <a:r>
              <a:rPr lang="en-US" sz="2000" b="1" dirty="0" smtClean="0">
                <a:solidFill>
                  <a:schemeClr val="tx1"/>
                </a:solidFill>
                <a:latin typeface="Garamond" pitchFamily="18" charset="0"/>
              </a:rPr>
              <a:t>The case: avionic systems</a:t>
            </a:r>
          </a:p>
          <a:p>
            <a:endParaRPr lang="it-IT" dirty="0"/>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a:solidFill>
                  <a:srgbClr val="FF0000"/>
                </a:solidFill>
                <a:latin typeface="Garamond" pitchFamily="18" charset="0"/>
              </a:rPr>
              <a:t>BLOCKCHAIN AND SMART CONTRACTS</a:t>
            </a:r>
            <a:r>
              <a:rPr lang="it-IT" sz="2400" dirty="0">
                <a:solidFill>
                  <a:srgbClr val="FF0000"/>
                </a:solidFill>
                <a:latin typeface="Garamond" pitchFamily="18" charset="0"/>
              </a:rPr>
              <a:t/>
            </a:r>
            <a:br>
              <a:rPr lang="it-IT" sz="2400" dirty="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Blockchain technology provides decentralized consensus and potentially expands the contract space, using smart, tamper-proof, algorithmically executed contracts. Meanwhile, decentralized consensus generation involves the distribution of information, which necessarily alters the information environment.</a:t>
            </a:r>
          </a:p>
          <a:p>
            <a:pPr marL="0" indent="0" algn="just">
              <a:buNone/>
            </a:pPr>
            <a:r>
              <a:rPr lang="en-US" sz="2000" dirty="0" smtClean="0">
                <a:latin typeface="Garamond" pitchFamily="18" charset="0"/>
              </a:rPr>
              <a:t>To have a precise picture of the potential of decentralized consensus, it  is necessary to see how decentralization affects consensus and how the chief characteristics of the blockchain reshape industrial organization and the competitive landscape.</a:t>
            </a:r>
          </a:p>
          <a:p>
            <a:pPr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Smart contracts can mitigate information asymmetry through greater knowledge and fair competition, thus improving both consumer welfare and consumer surplus.</a:t>
            </a:r>
          </a:p>
          <a:p>
            <a:pPr marL="0" indent="0" algn="just">
              <a:buNone/>
            </a:pPr>
            <a:r>
              <a:rPr lang="en-US" sz="2000" dirty="0" smtClean="0">
                <a:latin typeface="Garamond" pitchFamily="18" charset="0"/>
              </a:rPr>
              <a:t>In general, </a:t>
            </a:r>
            <a:r>
              <a:rPr lang="en-US" sz="2000" dirty="0" err="1" smtClean="0">
                <a:latin typeface="Garamond" pitchFamily="18" charset="0"/>
              </a:rPr>
              <a:t>blockchains</a:t>
            </a:r>
            <a:r>
              <a:rPr lang="en-US" sz="2000" dirty="0" smtClean="0">
                <a:latin typeface="Garamond" pitchFamily="18" charset="0"/>
              </a:rPr>
              <a:t> can support market equilibriums, offering with a wider range of economic outcomes. The distribution of information, during the generation of consensus, however, can encourage greater “collusion.”</a:t>
            </a:r>
          </a:p>
          <a:p>
            <a:pPr marL="0" indent="0" algn="just">
              <a:buNone/>
            </a:pPr>
            <a:endParaRPr lang="en-US" sz="2000" dirty="0" smtClean="0">
              <a:latin typeface="Garamond" pitchFamily="18" charset="0"/>
            </a:endParaRPr>
          </a:p>
          <a:p>
            <a:pPr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INTRODUCTION TO THE BLOCKCHAIN AS A DECENTRALIZED CONSENSUS GENERATOR</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85000" lnSpcReduction="1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Blockchain, as a decentralized and often autonomously managed distributed ledger technology, has been popularized as the technology behind the </a:t>
            </a:r>
            <a:r>
              <a:rPr lang="en-US" sz="2000" dirty="0" err="1" smtClean="0">
                <a:latin typeface="Garamond" pitchFamily="18" charset="0"/>
              </a:rPr>
              <a:t>Bitcoin</a:t>
            </a:r>
            <a:r>
              <a:rPr lang="en-US" sz="2000" dirty="0" smtClean="0">
                <a:latin typeface="Garamond" pitchFamily="18" charset="0"/>
              </a:rPr>
              <a:t> </a:t>
            </a:r>
            <a:r>
              <a:rPr lang="en-US" sz="2000" dirty="0" err="1" smtClean="0">
                <a:latin typeface="Garamond" pitchFamily="18" charset="0"/>
              </a:rPr>
              <a:t>cryptocurrency</a:t>
            </a:r>
            <a:r>
              <a:rPr lang="en-US" sz="2000" dirty="0" smtClean="0">
                <a:latin typeface="Garamond" pitchFamily="18" charset="0"/>
              </a:rPr>
              <a:t>.</a:t>
            </a:r>
          </a:p>
          <a:p>
            <a:pPr marL="0" indent="0" algn="just">
              <a:buNone/>
            </a:pPr>
            <a:r>
              <a:rPr lang="en-US" sz="2000" dirty="0" smtClean="0">
                <a:latin typeface="Garamond" pitchFamily="18" charset="0"/>
              </a:rPr>
              <a:t>It has since emerged in various other forms, often with the ability to store and run computer programs.</a:t>
            </a:r>
          </a:p>
          <a:p>
            <a:pPr marL="0" indent="0" algn="just">
              <a:buNone/>
            </a:pPr>
            <a:r>
              <a:rPr lang="en-US" sz="2000" dirty="0" smtClean="0">
                <a:latin typeface="Garamond" pitchFamily="18" charset="0"/>
              </a:rPr>
              <a:t>This has given rise to applications like smart contracts, with payments triggered by tamper-proof consent, contingent on the outcome.</a:t>
            </a:r>
          </a:p>
          <a:p>
            <a:pPr marL="0" indent="0" algn="just">
              <a:buNone/>
            </a:pPr>
            <a:r>
              <a:rPr lang="en-US" sz="2000" dirty="0" smtClean="0">
                <a:latin typeface="Garamond" pitchFamily="18" charset="0"/>
              </a:rPr>
              <a:t>Many industry professionals argue that blockchain technology has the potential to transform commercial and financial services, just as the internet has transformed o-line commerce.</a:t>
            </a:r>
          </a:p>
          <a:p>
            <a:pPr marL="0" indent="0" algn="just">
              <a:buNone/>
            </a:pPr>
            <a:r>
              <a:rPr lang="en-US" sz="2000" dirty="0" smtClean="0">
                <a:latin typeface="Garamond" pitchFamily="18" charset="0"/>
              </a:rPr>
              <a:t>Others remain skeptical about its genuine innovativeness, its real-world applicability, and its association with money laundering and the financing of criminal and terrorist organizations.</a:t>
            </a:r>
          </a:p>
          <a:p>
            <a:pPr marL="0" indent="0" algn="just">
              <a:buNone/>
            </a:pPr>
            <a:r>
              <a:rPr lang="en-US" sz="2000" dirty="0" smtClean="0">
                <a:latin typeface="Garamond" pitchFamily="18" charset="0"/>
              </a:rPr>
              <a:t>Google searches, however, show the increasing popularity of blockchain technology, as well as the growing number of "open source" projects related to </a:t>
            </a:r>
            <a:r>
              <a:rPr lang="en-US" sz="2000" dirty="0" err="1" smtClean="0">
                <a:latin typeface="Garamond" pitchFamily="18" charset="0"/>
              </a:rPr>
              <a:t>blockchains</a:t>
            </a:r>
            <a:r>
              <a:rPr lang="en-US" sz="2000" dirty="0" smtClean="0">
                <a:latin typeface="Garamond" pitchFamily="18" charset="0"/>
              </a:rPr>
              <a:t> and smart contracts. </a:t>
            </a:r>
          </a:p>
          <a:p>
            <a:pPr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can, of course, be argued that, despite a plethora of definitions, descriptions, and applications, blockchain technology, its decentralized ledger, and its various incarnations share a fundamental functionality: that of providing "decentralized consensus."</a:t>
            </a:r>
          </a:p>
          <a:p>
            <a:pPr marL="0" indent="0" algn="just">
              <a:buNone/>
            </a:pPr>
            <a:r>
              <a:rPr lang="en-US" sz="2000" dirty="0" smtClean="0">
                <a:latin typeface="Garamond" pitchFamily="18" charset="0"/>
              </a:rPr>
              <a:t>Decentralized consensus is a description of a situation where, for example, the goods delivered or the payments made are universally accepted by all agents of the system.</a:t>
            </a:r>
          </a:p>
          <a:p>
            <a:pPr marL="0" indent="0" algn="just">
              <a:buNone/>
            </a:pPr>
            <a:r>
              <a:rPr lang="en-US" sz="2000" dirty="0" smtClean="0">
                <a:latin typeface="Garamond" pitchFamily="18" charset="0"/>
              </a:rPr>
              <a:t>Economists have long recognized that "consensus" allows agents with divergent perspectives and incentives to interact as if they were being provided with the so-called "truth," and, therefore, has profound implications for ethics, contracts, law enforcement, and the functioning of society itself.</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1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key to blockchain technology is the decentralized way consensus is generated and maintained. Supporters of blockchain technology believe, in fact, that this modality can improve the resilience of the system and reduce the impact of centralized third parties.</a:t>
            </a:r>
          </a:p>
          <a:p>
            <a:pPr marL="0" indent="0" algn="just">
              <a:buNone/>
            </a:pPr>
            <a:r>
              <a:rPr lang="en-US" sz="2000" dirty="0" smtClean="0">
                <a:latin typeface="Garamond" pitchFamily="18" charset="0"/>
              </a:rPr>
              <a:t>For example, on the </a:t>
            </a:r>
            <a:r>
              <a:rPr lang="en-US" sz="2000" dirty="0" err="1" smtClean="0">
                <a:latin typeface="Garamond" pitchFamily="18" charset="0"/>
              </a:rPr>
              <a:t>Bitcoin</a:t>
            </a:r>
            <a:r>
              <a:rPr lang="en-US" sz="2000" dirty="0" smtClean="0">
                <a:latin typeface="Garamond" pitchFamily="18" charset="0"/>
              </a:rPr>
              <a:t> blockchain, agents can digitally check and verify transaction records to avoid the problem of "double-spending" digital currency, freeing everyone from the need for a reliable, centralized arbitrator or third party to verify and check the quality of the transactions.</a:t>
            </a:r>
          </a:p>
          <a:p>
            <a:pPr marL="0" indent="0" algn="just">
              <a:buNone/>
            </a:pPr>
            <a:r>
              <a:rPr lang="en-US" sz="2000" dirty="0" err="1" smtClean="0">
                <a:latin typeface="Garamond" pitchFamily="18" charset="0"/>
              </a:rPr>
              <a:t>Blockchains</a:t>
            </a:r>
            <a:r>
              <a:rPr lang="en-US" sz="2000" dirty="0" smtClean="0">
                <a:latin typeface="Garamond" pitchFamily="18" charset="0"/>
              </a:rPr>
              <a:t> interact with archivists scattered around the world and reach a decentralized consensus through the use of highly advanced technology.</a:t>
            </a:r>
          </a:p>
          <a:p>
            <a:pPr marL="0" indent="0" algn="just">
              <a:buNone/>
            </a:pPr>
            <a:r>
              <a:rPr lang="en-US" sz="2000" dirty="0" smtClean="0">
                <a:latin typeface="Garamond" pitchFamily="18" charset="0"/>
              </a:rPr>
              <a:t>Thanks to its automated nature, if programmable decentralized consensus is reached, contingency contracts are easier.   Achieving such consensus, however, requires the adequate distribution of information for  verification.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2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Consequently, blockchain applications typically present a fundamental tension between decentralized consensus and information distribution.</a:t>
            </a:r>
          </a:p>
          <a:p>
            <a:pPr marL="0" indent="0" algn="just">
              <a:buNone/>
            </a:pPr>
            <a:r>
              <a:rPr lang="en-US" sz="2000" dirty="0" smtClean="0">
                <a:latin typeface="Garamond" pitchFamily="18" charset="0"/>
              </a:rPr>
              <a:t>The former improves contractility and well-being, while the latter could be harmful to society if misused. </a:t>
            </a:r>
          </a:p>
          <a:p>
            <a:pPr marL="0" indent="0" algn="just">
              <a:buNone/>
            </a:pPr>
            <a:r>
              <a:rPr lang="en-US" sz="2000" dirty="0" smtClean="0">
                <a:latin typeface="Garamond" pitchFamily="18" charset="0"/>
              </a:rPr>
              <a:t>This fundamental tension has been recognized by governments, the media, and industry as of central importance in understanding the blockchain, and is, therefore, in compelling need of further analysis.</a:t>
            </a:r>
          </a:p>
          <a:p>
            <a:pPr marL="0" indent="0" algn="just">
              <a:buNone/>
            </a:pPr>
            <a:r>
              <a:rPr lang="en-US" sz="2000" dirty="0" smtClean="0">
                <a:latin typeface="Garamond" pitchFamily="18" charset="0"/>
              </a:rPr>
              <a:t>In this regard, there are two economically relevant research areas regarding blockchain technology:</a:t>
            </a:r>
          </a:p>
          <a:p>
            <a:pPr marL="0" indent="0" algn="just">
              <a:buNone/>
            </a:pPr>
            <a:r>
              <a:rPr lang="en-US" sz="2000" dirty="0" smtClean="0">
                <a:latin typeface="Garamond" pitchFamily="18" charset="0"/>
              </a:rPr>
              <a:t>The first regards blockchain mechanisms used to generate and maintain  decentralized consensus;</a:t>
            </a:r>
          </a:p>
          <a:p>
            <a:pPr marL="0" indent="0" algn="just">
              <a:buNone/>
            </a:pPr>
            <a:r>
              <a:rPr lang="en-US" sz="2000" dirty="0" smtClean="0">
                <a:latin typeface="Garamond" pitchFamily="18" charset="0"/>
              </a:rPr>
              <a:t>The second focuses on the real world implications provided by blockchain functionality.</a:t>
            </a:r>
          </a:p>
          <a:p>
            <a:pPr marL="0" indent="0" algn="just">
              <a:buNone/>
            </a:pPr>
            <a:r>
              <a:rPr lang="en-US" sz="2000" dirty="0" smtClean="0">
                <a:latin typeface="Garamond" pitchFamily="18" charset="0"/>
              </a:rPr>
              <a:t>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Such research will enhance broader knowledge on both fronts, highlighting a new universal compromise. Instead of analyzing the strategic mining games specific to the </a:t>
            </a:r>
            <a:r>
              <a:rPr lang="en-US" sz="2000" dirty="0" err="1" smtClean="0">
                <a:latin typeface="Garamond" pitchFamily="18" charset="0"/>
              </a:rPr>
              <a:t>Bitcoin</a:t>
            </a:r>
            <a:r>
              <a:rPr lang="en-US" sz="2000" dirty="0" smtClean="0">
                <a:latin typeface="Garamond" pitchFamily="18" charset="0"/>
              </a:rPr>
              <a:t> protocol, which is only a small and maybe less relevant part within of the whole new technological system, the goal is to study the technology’s impact on industrial and governmental organizations. In thinking about how to achieve decentralized consensus in applying blockchain technology to commercial finance, one can begin to imagine a simple structure.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Most </a:t>
            </a:r>
            <a:r>
              <a:rPr lang="en-US" sz="2000" dirty="0" err="1" smtClean="0">
                <a:latin typeface="Garamond" pitchFamily="18" charset="0"/>
              </a:rPr>
              <a:t>blockchains</a:t>
            </a:r>
            <a:r>
              <a:rPr lang="en-US" sz="2000" dirty="0" smtClean="0">
                <a:latin typeface="Garamond" pitchFamily="18" charset="0"/>
              </a:rPr>
              <a:t> have overlapping communities of registrars and users. Similar to third party arbitrators in the real world, they receive signals about the true state of the world and can be maliciously incentivized to  misreport (so-called tampering or manipulation).</a:t>
            </a:r>
          </a:p>
          <a:p>
            <a:pPr marL="0" indent="0" algn="just">
              <a:buNone/>
            </a:pPr>
            <a:r>
              <a:rPr lang="en-US" sz="2000" dirty="0" smtClean="0">
                <a:latin typeface="Garamond" pitchFamily="18" charset="0"/>
              </a:rPr>
              <a:t>With the help of rapidly developing real-time communication technologies among decentralized custodians, a carefully designed protocol on </a:t>
            </a:r>
            <a:r>
              <a:rPr lang="en-US" sz="2000" dirty="0" err="1" smtClean="0">
                <a:latin typeface="Garamond" pitchFamily="18" charset="0"/>
              </a:rPr>
              <a:t>blockchains</a:t>
            </a:r>
            <a:r>
              <a:rPr lang="en-US" sz="2000" dirty="0" smtClean="0">
                <a:latin typeface="Garamond" pitchFamily="18" charset="0"/>
              </a:rPr>
              <a:t> can reduce an individual's incentive to manipulate and report incorrect information, enabling the more efficient aggregation of information. </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Compared to traditional bargaining, </a:t>
            </a:r>
            <a:r>
              <a:rPr lang="en-US" sz="2000" dirty="0" err="1" smtClean="0">
                <a:latin typeface="Garamond" pitchFamily="18" charset="0"/>
              </a:rPr>
              <a:t>blockchains</a:t>
            </a:r>
            <a:r>
              <a:rPr lang="en-US" sz="2000" dirty="0" smtClean="0">
                <a:latin typeface="Garamond" pitchFamily="18" charset="0"/>
              </a:rPr>
              <a:t> have the potential to produce a consensus, which better reflects the "truth" of contingencies and thus highly relevant to business operations and improved bargaining.</a:t>
            </a:r>
          </a:p>
          <a:p>
            <a:pPr marL="0" indent="0" algn="just">
              <a:buNone/>
            </a:pPr>
            <a:r>
              <a:rPr lang="en-US" sz="2000" dirty="0" smtClean="0">
                <a:latin typeface="Garamond" pitchFamily="18" charset="0"/>
              </a:rPr>
              <a:t>However, generating a more effective consensus (i.e., a consensus closer to the truth) relies on receiving more information from decentralized archivists.</a:t>
            </a:r>
          </a:p>
          <a:p>
            <a:pPr marL="0" indent="0" algn="just">
              <a:buNone/>
            </a:pPr>
            <a:r>
              <a:rPr lang="en-US" sz="2000" dirty="0" smtClean="0">
                <a:latin typeface="Garamond" pitchFamily="18" charset="0"/>
              </a:rPr>
              <a:t>Importantly, the information distribution process changes the information environment and, concomitantly, the economic behaviors of  blockchain participants.</a:t>
            </a:r>
          </a:p>
          <a:p>
            <a:pPr marL="0" indent="0" algn="just">
              <a:buNone/>
            </a:pPr>
            <a:r>
              <a:rPr lang="en-US" sz="2000" dirty="0" smtClean="0">
                <a:latin typeface="Garamond" pitchFamily="18" charset="0"/>
              </a:rPr>
              <a:t>Strengthened by this intuition, the impact of blockchain technology on competition and industrial organization, as well as on state governments, must be further analyzed.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particular, the example to best explain this situation presents two sellers, known to be authentic, and a competitor,   who has only a certain probability of being authentic. Genuine sellers always deliver the goods while fraudulent ones cannot. Each seller observes their customers but does not observe the prices or customers of the other sellers.</a:t>
            </a:r>
          </a:p>
          <a:p>
            <a:pPr marL="0" indent="0" algn="just">
              <a:buNone/>
            </a:pPr>
            <a:r>
              <a:rPr lang="en-US" sz="2000" dirty="0" smtClean="0">
                <a:latin typeface="Garamond" pitchFamily="18" charset="0"/>
              </a:rPr>
              <a:t>We call this economic environment the "traditional world," where it is impossible to communicate information between agents (in the spirit of what Green and Porter noted, as early as 1984).</a:t>
            </a:r>
          </a:p>
          <a:p>
            <a:pPr marL="0" indent="0" algn="just">
              <a:buNone/>
            </a:pPr>
            <a:r>
              <a:rPr lang="en-US" sz="2000" dirty="0" smtClean="0">
                <a:latin typeface="Garamond" pitchFamily="18" charset="0"/>
              </a:rPr>
              <a:t>In this traditional world, due to the incompleteness of the contract, sellers cannot offer prices based on the successful delivery of the goods.</a:t>
            </a:r>
          </a:p>
          <a:p>
            <a:pPr marL="0" indent="0" algn="just">
              <a:buNone/>
            </a:pPr>
            <a:r>
              <a:rPr lang="en-US" sz="2000" dirty="0" smtClean="0">
                <a:latin typeface="Garamond" pitchFamily="18" charset="0"/>
              </a:rPr>
              <a:t>Conversely, </a:t>
            </a:r>
            <a:r>
              <a:rPr lang="en-US" sz="2000" dirty="0" err="1" smtClean="0">
                <a:latin typeface="Garamond" pitchFamily="18" charset="0"/>
              </a:rPr>
              <a:t>blockchains</a:t>
            </a:r>
            <a:r>
              <a:rPr lang="en-US" sz="2000" dirty="0" smtClean="0">
                <a:latin typeface="Garamond" pitchFamily="18" charset="0"/>
              </a:rPr>
              <a:t>, via decentralized consensus, allow agents to bargain on delivery results and automate contingent transfers.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fontScale="92500" lnSpcReduction="2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Thus, the authentic seller, participating in a blockchain, is able to fully report his or her authenticity.</a:t>
            </a:r>
          </a:p>
          <a:p>
            <a:pPr marL="0" indent="0" algn="just">
              <a:buNone/>
            </a:pPr>
            <a:r>
              <a:rPr lang="en-US" sz="2000" dirty="0" smtClean="0">
                <a:latin typeface="Garamond" pitchFamily="18" charset="0"/>
              </a:rPr>
              <a:t>This eliminates information asymmetry as a barrier to entry and better competition, improving consumer welfare and consumer surplus in the "blockchain world."</a:t>
            </a:r>
          </a:p>
          <a:p>
            <a:pPr marL="0" indent="0" algn="just">
              <a:buNone/>
            </a:pPr>
            <a:r>
              <a:rPr lang="en-US" sz="2000" dirty="0" smtClean="0">
                <a:latin typeface="Garamond" pitchFamily="18" charset="0"/>
              </a:rPr>
              <a:t>However, as previously mentioned, the generation of decentralized consensus inevitably leads to a greater knowledge of aggregate business conditions on the blockchain, which can favor tacit collusion between sellers.</a:t>
            </a:r>
          </a:p>
          <a:p>
            <a:pPr marL="0" indent="0" algn="just">
              <a:buNone/>
            </a:pPr>
            <a:r>
              <a:rPr lang="en-US" sz="2000" dirty="0" smtClean="0">
                <a:latin typeface="Garamond" pitchFamily="18" charset="0"/>
              </a:rPr>
              <a:t>Contrary to the traditional world, where vendors do not observe each other's business activities, on the blockchain everyone can  infer aggregate business conditions and, acting as archivists, are able to detect deviations in any collusive balance. More generally, with the blockchain (accessible to both historic operators and new entrants) and smart contracts, a dynamic equilibrium expands, bringing social surplus and well-being to the consumer, far superior to that of the traditional world.</a:t>
            </a:r>
          </a:p>
          <a:p>
            <a:pPr marL="0" indent="0" algn="just">
              <a:buNone/>
            </a:pPr>
            <a:r>
              <a:rPr lang="en-US" sz="2000" dirty="0" smtClean="0">
                <a:latin typeface="Garamond" pitchFamily="18" charset="0"/>
              </a:rPr>
              <a:t>Yet the blockchain can also seriously compromise market competitiveness.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This becomes particularly relevant for licensed </a:t>
            </a:r>
            <a:r>
              <a:rPr lang="en-US" sz="2000" dirty="0" err="1" smtClean="0">
                <a:latin typeface="Garamond" pitchFamily="18" charset="0"/>
              </a:rPr>
              <a:t>blockchains</a:t>
            </a:r>
            <a:r>
              <a:rPr lang="en-US" sz="2000" dirty="0" smtClean="0">
                <a:latin typeface="Garamond" pitchFamily="18" charset="0"/>
              </a:rPr>
              <a:t>, with powerful financial institutions as the exclusive and most advantageous members.</a:t>
            </a:r>
          </a:p>
          <a:p>
            <a:pPr marL="0" indent="0" algn="just">
              <a:buNone/>
            </a:pPr>
            <a:r>
              <a:rPr lang="en-US" sz="2000" dirty="0" smtClean="0">
                <a:latin typeface="Garamond" pitchFamily="18" charset="0"/>
              </a:rPr>
              <a:t>The main objective, therefore, is to highlight a “salient” economic mechanism and explore the political implications of this model.</a:t>
            </a:r>
          </a:p>
          <a:p>
            <a:pPr marL="0" indent="0" algn="just">
              <a:buNone/>
            </a:pPr>
            <a:r>
              <a:rPr lang="en-US" sz="2000" dirty="0" smtClean="0">
                <a:latin typeface="Garamond" pitchFamily="18" charset="0"/>
              </a:rPr>
              <a:t>By providing a conceptual description of the blockchain and smart contracts from an economic perspective, the analysis of the phenomena aims to demonstrate that </a:t>
            </a:r>
            <a:r>
              <a:rPr lang="en-US" sz="2000" dirty="0" err="1" smtClean="0">
                <a:latin typeface="Garamond" pitchFamily="18" charset="0"/>
              </a:rPr>
              <a:t>blockchains</a:t>
            </a:r>
            <a:r>
              <a:rPr lang="en-US" sz="2000" dirty="0" smtClean="0">
                <a:latin typeface="Garamond" pitchFamily="18" charset="0"/>
              </a:rPr>
              <a:t> are not simply database technologies, which reduce storage costs or allow data sharing. Rather, the design of a blockchain can have profound economic implications on the generation of consensus, on industrial organization, on the design of smart contracts, and on antitrust policy, as well as offering better services to citizens of the most digitized states.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As anticipated, there are two areas of economically relevant research on the blockchain: research on blockchain mechanisms used to generate and maintain decentralized consensus, and research on the implications in the real world, given blockchain functionality.</a:t>
            </a:r>
          </a:p>
          <a:p>
            <a:pPr marL="0" indent="0" algn="just">
              <a:buNone/>
            </a:pPr>
            <a:r>
              <a:rPr lang="en-US" sz="2000" dirty="0" smtClean="0">
                <a:latin typeface="Garamond" pitchFamily="18" charset="0"/>
              </a:rPr>
              <a:t>The first area can be further divided into studies that analyze the general consensus-generating process for most </a:t>
            </a:r>
            <a:r>
              <a:rPr lang="en-US" sz="2000" dirty="0" err="1" smtClean="0">
                <a:latin typeface="Garamond" pitchFamily="18" charset="0"/>
              </a:rPr>
              <a:t>blockchains</a:t>
            </a:r>
            <a:r>
              <a:rPr lang="en-US" sz="2000" dirty="0" smtClean="0">
                <a:latin typeface="Garamond" pitchFamily="18" charset="0"/>
              </a:rPr>
              <a:t>, highlighting the trade-offs of decentralization, and studies that explore the theoretical arguments of the game, including provisions on incentives and the microstructure of the market. This approach takes as a starting point a particular blockchain protocol, for example, the mining protocols in </a:t>
            </a:r>
            <a:r>
              <a:rPr lang="en-US" sz="2000" dirty="0" err="1" smtClean="0">
                <a:latin typeface="Garamond" pitchFamily="18" charset="0"/>
              </a:rPr>
              <a:t>Bitcoin</a:t>
            </a:r>
            <a:r>
              <a:rPr lang="en-US" sz="2000" dirty="0" smtClean="0">
                <a:latin typeface="Garamond" pitchFamily="18" charset="0"/>
              </a:rPr>
              <a:t>, and analyzes the impact  technology has on the real economy.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Among the studies on the application and economic impact of the technology, Harvey (2016) and </a:t>
            </a:r>
            <a:r>
              <a:rPr lang="en-US" sz="2000" dirty="0" err="1" smtClean="0">
                <a:latin typeface="Garamond" pitchFamily="18" charset="0"/>
              </a:rPr>
              <a:t>Yermack</a:t>
            </a:r>
            <a:r>
              <a:rPr lang="en-US" sz="2000" dirty="0" smtClean="0">
                <a:latin typeface="Garamond" pitchFamily="18" charset="0"/>
              </a:rPr>
              <a:t> (2017) examined the mechanisms and applications of crypto-finance - in particular </a:t>
            </a:r>
            <a:r>
              <a:rPr lang="en-US" sz="2000" dirty="0" err="1" smtClean="0">
                <a:latin typeface="Garamond" pitchFamily="18" charset="0"/>
              </a:rPr>
              <a:t>Bitcoin</a:t>
            </a:r>
            <a:r>
              <a:rPr lang="en-US" sz="2000" dirty="0" smtClean="0">
                <a:latin typeface="Garamond" pitchFamily="18" charset="0"/>
              </a:rPr>
              <a:t> - assessing the potential effects of blockchain technology on corporate governance.</a:t>
            </a:r>
          </a:p>
          <a:p>
            <a:pPr marL="0" indent="0" algn="just">
              <a:buNone/>
            </a:pPr>
            <a:r>
              <a:rPr lang="en-US" sz="2000" dirty="0" smtClean="0">
                <a:latin typeface="Garamond" pitchFamily="18" charset="0"/>
              </a:rPr>
              <a:t>To complement the discussion on the optimizing potential of smart contracts, </a:t>
            </a:r>
            <a:r>
              <a:rPr lang="en-US" sz="2000" dirty="0" err="1" smtClean="0">
                <a:latin typeface="Garamond" pitchFamily="18" charset="0"/>
              </a:rPr>
              <a:t>Bartoletti</a:t>
            </a:r>
            <a:r>
              <a:rPr lang="en-US" sz="2000" dirty="0" smtClean="0">
                <a:latin typeface="Garamond" pitchFamily="18" charset="0"/>
              </a:rPr>
              <a:t> and </a:t>
            </a:r>
            <a:r>
              <a:rPr lang="en-US" sz="2000" dirty="0" err="1" smtClean="0">
                <a:latin typeface="Garamond" pitchFamily="18" charset="0"/>
              </a:rPr>
              <a:t>Pompianu</a:t>
            </a:r>
            <a:r>
              <a:rPr lang="en-US" sz="2000" dirty="0" smtClean="0">
                <a:latin typeface="Garamond" pitchFamily="18" charset="0"/>
              </a:rPr>
              <a:t> (2017) document how these contracts are interpreted and programmed on various blockchain platforms.</a:t>
            </a:r>
          </a:p>
          <a:p>
            <a:pPr marL="0" indent="0" algn="just">
              <a:buNone/>
            </a:pPr>
            <a:r>
              <a:rPr lang="en-US" sz="2000" dirty="0" smtClean="0">
                <a:latin typeface="Garamond" pitchFamily="18" charset="0"/>
              </a:rPr>
              <a:t>Also regarding the analysis of the underlying mechanism used to generate decentralized consensus, there are studies on </a:t>
            </a:r>
            <a:r>
              <a:rPr lang="en-US" sz="2000" dirty="0" err="1" smtClean="0">
                <a:latin typeface="Garamond" pitchFamily="18" charset="0"/>
              </a:rPr>
              <a:t>Bitcoin</a:t>
            </a:r>
            <a:r>
              <a:rPr lang="en-US" sz="2000" dirty="0" smtClean="0">
                <a:latin typeface="Garamond" pitchFamily="18" charset="0"/>
              </a:rPr>
              <a:t> mining games.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r>
              <a:rPr lang="en-US" sz="2000" dirty="0" smtClean="0">
                <a:latin typeface="Garamond" pitchFamily="18" charset="0"/>
              </a:rPr>
              <a:t>Other authors, Kroll, Davey, and </a:t>
            </a:r>
            <a:r>
              <a:rPr lang="en-US" sz="2000" dirty="0" err="1" smtClean="0">
                <a:latin typeface="Garamond" pitchFamily="18" charset="0"/>
              </a:rPr>
              <a:t>Felten</a:t>
            </a:r>
            <a:r>
              <a:rPr lang="en-US" sz="2000" dirty="0" smtClean="0">
                <a:latin typeface="Garamond" pitchFamily="18" charset="0"/>
              </a:rPr>
              <a:t>, for example, have observed that miners who follow the "longest chain rule," should always be in a Nash (network) equilibrium.</a:t>
            </a:r>
          </a:p>
          <a:p>
            <a:pPr marL="0" indent="0" algn="just">
              <a:buNone/>
            </a:pPr>
            <a:r>
              <a:rPr lang="en-US" sz="2000" dirty="0" err="1" smtClean="0">
                <a:latin typeface="Garamond" pitchFamily="18" charset="0"/>
              </a:rPr>
              <a:t>Biais</a:t>
            </a:r>
            <a:r>
              <a:rPr lang="en-US" sz="2000" dirty="0" smtClean="0">
                <a:latin typeface="Garamond" pitchFamily="18" charset="0"/>
              </a:rPr>
              <a:t>, </a:t>
            </a:r>
            <a:r>
              <a:rPr lang="en-US" sz="2000" dirty="0" err="1" smtClean="0">
                <a:latin typeface="Garamond" pitchFamily="18" charset="0"/>
              </a:rPr>
              <a:t>Bisiere</a:t>
            </a:r>
            <a:r>
              <a:rPr lang="en-US" sz="2000" dirty="0" smtClean="0">
                <a:latin typeface="Garamond" pitchFamily="18" charset="0"/>
              </a:rPr>
              <a:t>, </a:t>
            </a:r>
            <a:r>
              <a:rPr lang="en-US" sz="2000" dirty="0" err="1" smtClean="0">
                <a:latin typeface="Garamond" pitchFamily="18" charset="0"/>
              </a:rPr>
              <a:t>Bouvard</a:t>
            </a:r>
            <a:r>
              <a:rPr lang="en-US" sz="2000" dirty="0" smtClean="0">
                <a:latin typeface="Garamond" pitchFamily="18" charset="0"/>
              </a:rPr>
              <a:t> and </a:t>
            </a:r>
            <a:r>
              <a:rPr lang="en-US" sz="2000" dirty="0" err="1" smtClean="0">
                <a:latin typeface="Garamond" pitchFamily="18" charset="0"/>
              </a:rPr>
              <a:t>Casamatta</a:t>
            </a:r>
            <a:r>
              <a:rPr lang="en-US" sz="2000" dirty="0" smtClean="0">
                <a:latin typeface="Garamond" pitchFamily="18" charset="0"/>
              </a:rPr>
              <a:t>, more recently (2018), formalize the mining game and discuss multiple equilibriums.</a:t>
            </a:r>
          </a:p>
          <a:p>
            <a:pPr marL="0" indent="0" algn="just">
              <a:buNone/>
            </a:pPr>
            <a:r>
              <a:rPr lang="en-US" sz="2000" dirty="0" smtClean="0">
                <a:latin typeface="Garamond" pitchFamily="18" charset="0"/>
              </a:rPr>
              <a:t>Instead of taking specific blockchain protocols such as </a:t>
            </a:r>
            <a:r>
              <a:rPr lang="en-US" sz="2000" dirty="0" err="1" smtClean="0">
                <a:latin typeface="Garamond" pitchFamily="18" charset="0"/>
              </a:rPr>
              <a:t>Bitcoin</a:t>
            </a:r>
            <a:r>
              <a:rPr lang="en-US" sz="2000" dirty="0" smtClean="0">
                <a:latin typeface="Garamond" pitchFamily="18" charset="0"/>
              </a:rPr>
              <a:t> as data and analyzing the strategic behaviors of miners or the microstructure of the market, it is useful to adopt a holistic approach. This will allow us to examine the universal characteristics of </a:t>
            </a:r>
            <a:r>
              <a:rPr lang="en-US" sz="2000" dirty="0" err="1" smtClean="0">
                <a:latin typeface="Garamond" pitchFamily="18" charset="0"/>
              </a:rPr>
              <a:t>blockchains</a:t>
            </a:r>
            <a:r>
              <a:rPr lang="en-US" sz="2000" dirty="0" smtClean="0">
                <a:latin typeface="Garamond" pitchFamily="18" charset="0"/>
              </a:rPr>
              <a:t>, with a direct focus on how distribution information, which derives from decentralization, interacts   with the quality of consensus generation.</a:t>
            </a:r>
          </a:p>
          <a:p>
            <a:pPr marL="0" indent="0" algn="just">
              <a:buNone/>
            </a:pPr>
            <a:r>
              <a:rPr lang="en-US" sz="2000" dirty="0" smtClean="0">
                <a:latin typeface="Garamond" pitchFamily="18" charset="0"/>
              </a:rPr>
              <a:t>Importantly, the fundamental concept of decentralization technology has both pros and cons.</a:t>
            </a:r>
          </a:p>
          <a:p>
            <a:pPr marL="0" indent="0" algn="just">
              <a:buNone/>
            </a:pPr>
            <a:r>
              <a:rPr lang="en-US" sz="2000" dirty="0" smtClean="0">
                <a:latin typeface="Garamond" pitchFamily="18" charset="0"/>
              </a:rPr>
              <a:t>Remaining centralized in a supposedly decentralized system naturally leads to concerns about information distribution.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is commonly recognized that </a:t>
            </a:r>
            <a:r>
              <a:rPr lang="en-US" sz="2000" dirty="0" err="1" smtClean="0">
                <a:latin typeface="Garamond" pitchFamily="18" charset="0"/>
              </a:rPr>
              <a:t>blockchains</a:t>
            </a:r>
            <a:r>
              <a:rPr lang="en-US" sz="2000" dirty="0" smtClean="0">
                <a:latin typeface="Garamond" pitchFamily="18" charset="0"/>
              </a:rPr>
              <a:t> perform many functions, such as distributed data storage, anonymity, data obfuscation, shared ledgers, and so on.</a:t>
            </a:r>
          </a:p>
          <a:p>
            <a:pPr marL="0" indent="0" algn="just">
              <a:buNone/>
            </a:pPr>
            <a:r>
              <a:rPr lang="en-US" sz="2000" dirty="0" smtClean="0">
                <a:latin typeface="Garamond" pitchFamily="18" charset="0"/>
              </a:rPr>
              <a:t>Since the solutions to these problems are well known, outside the blockchain space, the impact of the blockchain along these dimensions, although material, is somewhat incidental.</a:t>
            </a:r>
          </a:p>
          <a:p>
            <a:pPr marL="0" indent="0" algn="just">
              <a:buNone/>
            </a:pPr>
            <a:r>
              <a:rPr lang="en-US" sz="2000" dirty="0" smtClean="0">
                <a:latin typeface="Garamond" pitchFamily="18" charset="0"/>
              </a:rPr>
              <a:t>We need to focus, therefore, on its main functionality: providing decentralized consensus.</a:t>
            </a:r>
          </a:p>
          <a:p>
            <a:pPr marL="0" indent="0" algn="just">
              <a:buNone/>
            </a:pPr>
            <a:r>
              <a:rPr lang="en-US" sz="2000" dirty="0" smtClean="0">
                <a:latin typeface="Garamond" pitchFamily="18" charset="0"/>
              </a:rPr>
              <a:t>In other words, rather than analyzing the technical details of the various protocols or the additional benefits of the technology, it is important to emphasize the economic implications of decentralized consensus and the accompanying natural process of “information distribution due to decentralization.”</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THE BLOCKCHAIN AND DECENTRALIZED CONSENSUS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Work on the blockchain dates back to 1991 and belongs to Stuart Haber and W. Scott </a:t>
            </a:r>
            <a:r>
              <a:rPr lang="en-US" sz="2000" dirty="0" err="1" smtClean="0">
                <a:latin typeface="Garamond" pitchFamily="18" charset="0"/>
              </a:rPr>
              <a:t>Stornetta</a:t>
            </a:r>
            <a:r>
              <a:rPr lang="en-US" sz="2000" dirty="0" smtClean="0">
                <a:latin typeface="Garamond" pitchFamily="18" charset="0"/>
              </a:rPr>
              <a:t>, but it is only in 2008 that the blockchain was conceptualized by Satoshi </a:t>
            </a:r>
            <a:r>
              <a:rPr lang="en-US" sz="2000" dirty="0" err="1" smtClean="0">
                <a:latin typeface="Garamond" pitchFamily="18" charset="0"/>
              </a:rPr>
              <a:t>Nakamoto</a:t>
            </a:r>
            <a:r>
              <a:rPr lang="en-US" sz="2000" dirty="0" smtClean="0">
                <a:latin typeface="Garamond" pitchFamily="18" charset="0"/>
              </a:rPr>
              <a:t>.</a:t>
            </a:r>
          </a:p>
          <a:p>
            <a:pPr marL="0" indent="0" algn="just">
              <a:buNone/>
            </a:pPr>
            <a:r>
              <a:rPr lang="en-US" sz="2000" dirty="0" err="1" smtClean="0">
                <a:latin typeface="Garamond" pitchFamily="18" charset="0"/>
              </a:rPr>
              <a:t>Nakamoto</a:t>
            </a:r>
            <a:r>
              <a:rPr lang="en-US" sz="2000" dirty="0" smtClean="0">
                <a:latin typeface="Garamond" pitchFamily="18" charset="0"/>
              </a:rPr>
              <a:t> (who we know is a pseudonym of unknown author (s)), implemented and popularized the blockchain, through the </a:t>
            </a:r>
            <a:r>
              <a:rPr lang="en-US" sz="2000" dirty="0" err="1" smtClean="0">
                <a:latin typeface="Garamond" pitchFamily="18" charset="0"/>
              </a:rPr>
              <a:t>cryptocurrency</a:t>
            </a:r>
            <a:r>
              <a:rPr lang="en-US" sz="2000" dirty="0" smtClean="0">
                <a:latin typeface="Garamond" pitchFamily="18" charset="0"/>
              </a:rPr>
              <a:t> </a:t>
            </a:r>
            <a:r>
              <a:rPr lang="en-US" sz="2000" dirty="0" err="1" smtClean="0">
                <a:latin typeface="Garamond" pitchFamily="18" charset="0"/>
              </a:rPr>
              <a:t>Bitcoin</a:t>
            </a:r>
            <a:r>
              <a:rPr lang="en-US" sz="2000" dirty="0" smtClean="0">
                <a:latin typeface="Garamond" pitchFamily="18" charset="0"/>
              </a:rPr>
              <a:t>, discussing it for the first time in his white paper.</a:t>
            </a:r>
          </a:p>
          <a:p>
            <a:pPr marL="0" indent="0" algn="just">
              <a:buNone/>
            </a:pPr>
            <a:r>
              <a:rPr lang="en-US" sz="2000" dirty="0" smtClean="0">
                <a:latin typeface="Garamond" pitchFamily="18" charset="0"/>
              </a:rPr>
              <a:t>Its simplest form is a distributed database, which autonomously maintains an ever-growing list of public transaction records linked in units of "blocks," safe from tampering and revision.</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Each block contains a “timestamp” and a link to a previous block.</a:t>
            </a:r>
          </a:p>
          <a:p>
            <a:pPr marL="0" indent="0" algn="just">
              <a:buNone/>
            </a:pPr>
            <a:r>
              <a:rPr lang="en-US" sz="2000" dirty="0" smtClean="0">
                <a:latin typeface="Garamond" pitchFamily="18" charset="0"/>
              </a:rPr>
              <a:t>Only later, other forms of blockchain emerged, with different designs for exclusivity, transparency, and record keeping.</a:t>
            </a:r>
          </a:p>
          <a:p>
            <a:pPr marL="0" indent="0" algn="just">
              <a:buNone/>
            </a:pPr>
            <a:r>
              <a:rPr lang="en-US" sz="2000" dirty="0" smtClean="0">
                <a:latin typeface="Garamond" pitchFamily="18" charset="0"/>
              </a:rPr>
              <a:t>But all levels of the blockchain aim to create a database system, which the parties can maintain and modify jointly in a decentralized way, without any single party exercising central control.</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distinctive feature of blockchain architecture is, therefore, its ability  to maintain, relatively effectively, a uniform view of the state of affairs and the order of those having consensus.</a:t>
            </a:r>
          </a:p>
          <a:p>
            <a:pPr marL="0" indent="0" algn="just">
              <a:buNone/>
            </a:pPr>
            <a:r>
              <a:rPr lang="en-US" sz="2000" dirty="0" smtClean="0">
                <a:latin typeface="Garamond" pitchFamily="18" charset="0"/>
              </a:rPr>
              <a:t>Since consensus is essential for many economic and social functions, the benefits and empowerment for all who share and trust the same ledger  are clear.</a:t>
            </a:r>
          </a:p>
          <a:p>
            <a:pPr marL="0" indent="0" algn="just">
              <a:buNone/>
            </a:pPr>
            <a:r>
              <a:rPr lang="en-US" sz="2000" dirty="0" smtClean="0">
                <a:latin typeface="Garamond" pitchFamily="18" charset="0"/>
              </a:rPr>
              <a:t>Settlements will not take as long, asymmetric information and fraud will be mitigated, and the list of benefits will continue to grow. One only need look at the results of the organizations that have adopted the new data transaction process to understand, and these findings are likely to influence the ex ante incentives of economic actors.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Traditionally, courts, governments, notary agencies, etc…, provide such consensus, but at times that has been deemed not only labor-intensive and time-consuming, but also subject to tampering and monopoly power.</a:t>
            </a:r>
          </a:p>
          <a:p>
            <a:pPr marL="0" indent="0" algn="just">
              <a:buNone/>
            </a:pPr>
            <a:r>
              <a:rPr lang="en-US" sz="2000" dirty="0" smtClean="0">
                <a:latin typeface="Garamond" pitchFamily="18" charset="0"/>
              </a:rPr>
              <a:t>In this regard, advocates of the technology believe that the blockchain will disrupt many sectors of the economy by providing consensus in a decentralized, albeit potentially costly, way in terms of energy consumption and information concerns.</a:t>
            </a:r>
          </a:p>
          <a:p>
            <a:pPr marL="0" indent="0" algn="just">
              <a:buNone/>
            </a:pPr>
            <a:r>
              <a:rPr lang="en-US" sz="2000" dirty="0" smtClean="0">
                <a:latin typeface="Garamond" pitchFamily="18" charset="0"/>
              </a:rPr>
              <a:t>To produce and maintain decentralized consensus, without a centralized authority to govern it, blockchain protocols are designed to incentivize responsible and accurate record keeping by a community of "dispersed” record holders, who typically work in a competitive way. This is conceived to help reduce manipulation and tampering.</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a sense, all decentralized consensus must come to some form of "majority" voting, although algorithms can vary significantly between projects and applications.</a:t>
            </a:r>
          </a:p>
          <a:p>
            <a:pPr marL="0" indent="0" algn="just">
              <a:buNone/>
            </a:pPr>
            <a:r>
              <a:rPr lang="en-US" sz="2000" dirty="0" smtClean="0">
                <a:latin typeface="Garamond" pitchFamily="18" charset="0"/>
              </a:rPr>
              <a:t>Two widely discussed projects designed to maintain decentralized consensus are  proof-of-work (</a:t>
            </a:r>
            <a:r>
              <a:rPr lang="en-US" sz="2000" dirty="0" err="1" smtClean="0">
                <a:latin typeface="Garamond" pitchFamily="18" charset="0"/>
              </a:rPr>
              <a:t>PoW</a:t>
            </a:r>
            <a:r>
              <a:rPr lang="en-US" sz="2000" dirty="0" smtClean="0">
                <a:latin typeface="Garamond" pitchFamily="18" charset="0"/>
              </a:rPr>
              <a:t>) and proof-of-stake (</a:t>
            </a:r>
            <a:r>
              <a:rPr lang="en-US" sz="2000" dirty="0" err="1" smtClean="0">
                <a:latin typeface="Garamond" pitchFamily="18" charset="0"/>
              </a:rPr>
              <a:t>PoS</a:t>
            </a:r>
            <a:r>
              <a:rPr lang="en-US" sz="2000" dirty="0" smtClean="0">
                <a:latin typeface="Garamond" pitchFamily="18" charset="0"/>
              </a:rPr>
              <a: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THE </a:t>
            </a:r>
            <a:r>
              <a:rPr lang="en-US" sz="2400" b="1" dirty="0" err="1" smtClean="0">
                <a:solidFill>
                  <a:srgbClr val="FF0000"/>
                </a:solidFill>
                <a:latin typeface="Garamond" pitchFamily="18" charset="0"/>
              </a:rPr>
              <a:t>PoW</a:t>
            </a:r>
            <a:r>
              <a:rPr lang="en-US" sz="2400" b="1" dirty="0" smtClean="0">
                <a:solidFill>
                  <a:srgbClr val="FF0000"/>
                </a:solidFill>
                <a:latin typeface="Garamond" pitchFamily="18" charset="0"/>
              </a:rPr>
              <a:t> AND </a:t>
            </a:r>
            <a:r>
              <a:rPr lang="en-US" sz="2400" b="1" dirty="0" err="1" smtClean="0">
                <a:solidFill>
                  <a:srgbClr val="FF0000"/>
                </a:solidFill>
                <a:latin typeface="Garamond" pitchFamily="18" charset="0"/>
              </a:rPr>
              <a:t>PoS</a:t>
            </a:r>
            <a:r>
              <a:rPr lang="en-US" sz="2400" b="1" dirty="0" smtClean="0">
                <a:solidFill>
                  <a:srgbClr val="FF0000"/>
                </a:solidFill>
                <a:latin typeface="Garamond" pitchFamily="18" charset="0"/>
              </a:rPr>
              <a:t> PROJECTS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a:t>
            </a:r>
            <a:r>
              <a:rPr lang="en-US" sz="2000" dirty="0" err="1" smtClean="0">
                <a:latin typeface="Garamond" pitchFamily="18" charset="0"/>
              </a:rPr>
              <a:t>PoW</a:t>
            </a:r>
            <a:r>
              <a:rPr lang="en-US" sz="2000" dirty="0" smtClean="0">
                <a:latin typeface="Garamond" pitchFamily="18" charset="0"/>
              </a:rPr>
              <a:t> system rewards record holders who solve complicated cryptographic puzzles, in order to validate transactions and create new blocks (e.g. mining).</a:t>
            </a:r>
          </a:p>
          <a:p>
            <a:pPr marL="0" indent="0" algn="just">
              <a:buNone/>
            </a:pPr>
            <a:r>
              <a:rPr lang="en-US" sz="2000" dirty="0" smtClean="0">
                <a:latin typeface="Garamond" pitchFamily="18" charset="0"/>
              </a:rPr>
              <a:t>It is a system that prevents attacks like denial-of-service (</a:t>
            </a:r>
            <a:r>
              <a:rPr lang="en-US" sz="2000" dirty="0" err="1" smtClean="0">
                <a:latin typeface="Garamond" pitchFamily="18" charset="0"/>
              </a:rPr>
              <a:t>DoS</a:t>
            </a:r>
            <a:r>
              <a:rPr lang="en-US" sz="2000" dirty="0" smtClean="0">
                <a:latin typeface="Garamond" pitchFamily="18" charset="0"/>
              </a:rPr>
              <a:t> attack) and ensures that once a valid state of the ledger is observed, transactions that have a certain maturity, cannot be denied, as that would require a "malicious" entity with computing power capable of competing with the entire network.</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As a result, </a:t>
            </a:r>
            <a:r>
              <a:rPr lang="en-US" sz="2000" dirty="0" err="1" smtClean="0">
                <a:latin typeface="Garamond" pitchFamily="18" charset="0"/>
              </a:rPr>
              <a:t>blockchains</a:t>
            </a:r>
            <a:r>
              <a:rPr lang="en-US" sz="2000" dirty="0" smtClean="0">
                <a:latin typeface="Garamond" pitchFamily="18" charset="0"/>
              </a:rPr>
              <a:t> obtain a tamper-proof consensus on the validity of these transactions.</a:t>
            </a:r>
          </a:p>
          <a:p>
            <a:pPr marL="0" indent="0" algn="just">
              <a:buNone/>
            </a:pPr>
            <a:r>
              <a:rPr lang="en-US" sz="2000" dirty="0" smtClean="0">
                <a:latin typeface="Garamond" pitchFamily="18" charset="0"/>
              </a:rPr>
              <a:t>Unlike the </a:t>
            </a:r>
            <a:r>
              <a:rPr lang="en-US" sz="2000" dirty="0" err="1" smtClean="0">
                <a:latin typeface="Garamond" pitchFamily="18" charset="0"/>
              </a:rPr>
              <a:t>PoW</a:t>
            </a:r>
            <a:r>
              <a:rPr lang="en-US" sz="2000" dirty="0" smtClean="0">
                <a:latin typeface="Garamond" pitchFamily="18" charset="0"/>
              </a:rPr>
              <a:t>, in the </a:t>
            </a:r>
            <a:r>
              <a:rPr lang="en-US" sz="2000" dirty="0" err="1" smtClean="0">
                <a:latin typeface="Garamond" pitchFamily="18" charset="0"/>
              </a:rPr>
              <a:t>PoS</a:t>
            </a:r>
            <a:r>
              <a:rPr lang="en-US" sz="2000" dirty="0" smtClean="0">
                <a:latin typeface="Garamond" pitchFamily="18" charset="0"/>
              </a:rPr>
              <a:t> (Proof of Stake) system, the creator of the next block is chosen in a deterministic way and the possibility that an agent will be chosen depends on "wealth" (i.e., the stakes and his or her qualified participation).</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r>
              <a:rPr lang="en-US" sz="2000" dirty="0" smtClean="0">
                <a:latin typeface="Garamond" pitchFamily="18" charset="0"/>
              </a:rPr>
              <a:t>Other prominent projects include the Byzantine fault tolerance algorithm (PBFT) and the delegated proof-of-stake algorithm (</a:t>
            </a:r>
            <a:r>
              <a:rPr lang="en-US" sz="2000" dirty="0" err="1" smtClean="0">
                <a:latin typeface="Garamond" pitchFamily="18" charset="0"/>
              </a:rPr>
              <a:t>DPoS</a:t>
            </a:r>
            <a:r>
              <a:rPr lang="en-US" sz="2000" dirty="0" smtClean="0">
                <a:latin typeface="Garamond" pitchFamily="18" charset="0"/>
              </a:rPr>
              <a:t>).</a:t>
            </a:r>
          </a:p>
          <a:p>
            <a:pPr marL="0" indent="0" algn="just">
              <a:buNone/>
            </a:pPr>
            <a:r>
              <a:rPr lang="en-US" sz="2000" dirty="0" smtClean="0">
                <a:latin typeface="Garamond" pitchFamily="18" charset="0"/>
              </a:rPr>
              <a:t>Byzantine fault tolerance, or BFT, is one of the most important concepts in blockchain computing and perhaps one of the least known. Without it, blockchain technology as we know it, would not  be possible.</a:t>
            </a:r>
          </a:p>
          <a:p>
            <a:pPr marL="0" indent="0" algn="just">
              <a:buNone/>
            </a:pPr>
            <a:r>
              <a:rPr lang="en-US" sz="2000" dirty="0" smtClean="0">
                <a:latin typeface="Garamond" pitchFamily="18" charset="0"/>
              </a:rPr>
              <a:t>THE term Byzantine guilt is derived from the Byzantine generals’ problem (PGB). This logical problem presupposes that stakeholders must agree on a concerted strategy to avoid catastrophic system failures. But there is the possibility that there are actors, within the system, who may not be reliable. Given this, the system must create mechanisms and provide remedies to ensure that malicious persons cannot cause the operation to fail. </a:t>
            </a: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creation of these mechanisms is precisely what gives tolerance to Byzantine defects.</a:t>
            </a:r>
          </a:p>
          <a:p>
            <a:pPr marL="0" indent="0" algn="just">
              <a:buNone/>
            </a:pPr>
            <a:r>
              <a:rPr lang="en-US" sz="2000" dirty="0" smtClean="0">
                <a:latin typeface="Garamond" pitchFamily="18" charset="0"/>
              </a:rPr>
              <a:t>It may seem simple, but the reality is very different.</a:t>
            </a:r>
          </a:p>
          <a:p>
            <a:pPr marL="0" indent="0" algn="just">
              <a:buNone/>
            </a:pPr>
            <a:r>
              <a:rPr lang="en-US" sz="2000" dirty="0" smtClean="0">
                <a:latin typeface="Garamond" pitchFamily="18" charset="0"/>
              </a:rPr>
              <a:t>Achieving Byzantine fault tolerance is one of the most difficult challenges in computing. In fact, the first project to satisfactorily solve the problem was Satoshi </a:t>
            </a:r>
            <a:r>
              <a:rPr lang="en-US" sz="2000" dirty="0" err="1" smtClean="0">
                <a:latin typeface="Garamond" pitchFamily="18" charset="0"/>
              </a:rPr>
              <a:t>Nakamoto’s</a:t>
            </a:r>
            <a:r>
              <a:rPr lang="en-US" sz="2000" dirty="0" smtClean="0">
                <a:latin typeface="Garamond" pitchFamily="18" charset="0"/>
              </a:rPr>
              <a:t> </a:t>
            </a:r>
            <a:r>
              <a:rPr lang="en-US" sz="2000" dirty="0" err="1" smtClean="0">
                <a:latin typeface="Garamond" pitchFamily="18" charset="0"/>
              </a:rPr>
              <a:t>Bitcoin</a:t>
            </a:r>
            <a:r>
              <a:rPr lang="en-US" sz="2000" dirty="0" smtClean="0">
                <a:latin typeface="Garamond" pitchFamily="18" charset="0"/>
              </a:rPr>
              <a:t>, marking a milestone, which has accompanied blockchain technology ever since.</a:t>
            </a:r>
          </a:p>
          <a:p>
            <a:pPr marL="0" indent="0" algn="just">
              <a:buNone/>
            </a:pPr>
            <a:r>
              <a:rPr lang="en-US" sz="2000" dirty="0" smtClean="0">
                <a:latin typeface="Garamond" pitchFamily="18" charset="0"/>
              </a:rPr>
              <a:t>Byzantine Error Tolerance is the ability of a distributed computer system to resist Byzantine defects.</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ctr">
              <a:buNone/>
            </a:pPr>
            <a:r>
              <a:rPr lang="en-US" sz="2000" b="1" dirty="0" smtClean="0">
                <a:latin typeface="Garamond" pitchFamily="18" charset="0"/>
              </a:rPr>
              <a:t>POTENTIAL DEFECTS INCLUDE:</a:t>
            </a:r>
          </a:p>
          <a:p>
            <a:pPr marL="0" indent="0" algn="just">
              <a:buNone/>
            </a:pPr>
            <a:r>
              <a:rPr lang="en-US" sz="2000" dirty="0" smtClean="0">
                <a:latin typeface="Garamond" pitchFamily="18" charset="0"/>
              </a:rPr>
              <a:t> </a:t>
            </a:r>
          </a:p>
          <a:p>
            <a:pPr marL="0" indent="0" algn="just">
              <a:buFont typeface="Wingdings" pitchFamily="2" charset="2"/>
              <a:buChar char="Ø"/>
            </a:pPr>
            <a:r>
              <a:rPr lang="en-US" sz="2000" dirty="0" smtClean="0">
                <a:latin typeface="Garamond" pitchFamily="18" charset="0"/>
              </a:rPr>
              <a:t>Failures of consent.</a:t>
            </a:r>
          </a:p>
          <a:p>
            <a:pPr marL="0" indent="0" algn="just">
              <a:buFont typeface="Wingdings" pitchFamily="2" charset="2"/>
              <a:buChar char="Ø"/>
            </a:pPr>
            <a:r>
              <a:rPr lang="en-US" sz="2000" dirty="0" smtClean="0">
                <a:latin typeface="Garamond" pitchFamily="18" charset="0"/>
              </a:rPr>
              <a:t>Failed validation.</a:t>
            </a:r>
          </a:p>
          <a:p>
            <a:pPr marL="0" indent="0" algn="just">
              <a:buFont typeface="Wingdings" pitchFamily="2" charset="2"/>
              <a:buChar char="Ø"/>
            </a:pPr>
            <a:r>
              <a:rPr lang="en-US" sz="2000" dirty="0" smtClean="0">
                <a:latin typeface="Garamond" pitchFamily="18" charset="0"/>
              </a:rPr>
              <a:t>Failure to verify data.</a:t>
            </a:r>
          </a:p>
          <a:p>
            <a:pPr marL="0" indent="0" algn="just">
              <a:buFont typeface="Wingdings" pitchFamily="2" charset="2"/>
              <a:buChar char="Ø"/>
            </a:pPr>
            <a:r>
              <a:rPr lang="en-US" sz="2000" dirty="0" smtClean="0">
                <a:latin typeface="Garamond" pitchFamily="18" charset="0"/>
              </a:rPr>
              <a:t>Errors in the  response protocol in the face of network system failures.</a:t>
            </a:r>
          </a:p>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This tolerance is related to the capacity of the network, as a whole, to create a consensus mechanism. The purpose is to give a coherent response to a system failure.</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Byzantine fault tolerance works by defining a set of rules that can solve the Byzantine generals’ problem in a satisfactory way. Achieving this goal is complex, as these classes of error do not imply restrictions. Although the problem is complex and difficult to solve, many computer systems need this tolerance.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THE CASE: DATA ARCHIVING SYSTEMS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use case of Byzantine fault tolerance applies the Data Storage Systems extension.</a:t>
            </a:r>
          </a:p>
          <a:p>
            <a:pPr marL="0" indent="0" algn="just">
              <a:buNone/>
            </a:pPr>
            <a:r>
              <a:rPr lang="en-US" sz="2000" dirty="0" smtClean="0">
                <a:latin typeface="Garamond" pitchFamily="18" charset="0"/>
              </a:rPr>
              <a:t>Many database systems and even file systems implement this to improve the reliability of stored data. An example of this is the ZFS file system. This archiving system is capable of replicating advanced  hashing, replication, </a:t>
            </a:r>
            <a:r>
              <a:rPr lang="en-US" sz="2000" dirty="0" err="1" smtClean="0">
                <a:latin typeface="Garamond" pitchFamily="18" charset="0"/>
              </a:rPr>
              <a:t>deduplication</a:t>
            </a:r>
            <a:r>
              <a:rPr lang="en-US" sz="2000" dirty="0" smtClean="0">
                <a:latin typeface="Garamond" pitchFamily="18" charset="0"/>
              </a:rPr>
              <a:t>, error correction, handling, and archiving of large amounts of data.</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To accomplish this, ZFS makes use of Byzantine fault tolerance schemes to ensure:</a:t>
            </a:r>
          </a:p>
          <a:p>
            <a:pPr marL="0" indent="0" algn="just">
              <a:buFont typeface="Wingdings" pitchFamily="2" charset="2"/>
              <a:buChar char="Ø"/>
            </a:pPr>
            <a:r>
              <a:rPr lang="en-US" sz="2000" dirty="0" smtClean="0">
                <a:latin typeface="Garamond" pitchFamily="18" charset="0"/>
              </a:rPr>
              <a:t>The no omission of elementary processes for the data being stored in the file system: for example, hashing data and metadata, and compressing, correcting, or </a:t>
            </a:r>
            <a:r>
              <a:rPr lang="en-US" sz="2000" dirty="0" err="1" smtClean="0">
                <a:latin typeface="Garamond" pitchFamily="18" charset="0"/>
              </a:rPr>
              <a:t>deduplicating</a:t>
            </a:r>
            <a:r>
              <a:rPr lang="en-US" sz="2000" dirty="0" smtClean="0">
                <a:latin typeface="Garamond" pitchFamily="18" charset="0"/>
              </a:rPr>
              <a:t> errors.</a:t>
            </a:r>
          </a:p>
          <a:p>
            <a:pPr marL="0" indent="0" algn="just">
              <a:buFont typeface="Wingdings" pitchFamily="2" charset="2"/>
              <a:buChar char="Ø"/>
            </a:pPr>
            <a:r>
              <a:rPr lang="en-US" sz="2000" dirty="0" smtClean="0">
                <a:latin typeface="Garamond" pitchFamily="18" charset="0"/>
              </a:rPr>
              <a:t>That no unwanted actions are taken in data processing, such as </a:t>
            </a:r>
            <a:r>
              <a:rPr lang="en-US" sz="2000" dirty="0" err="1" smtClean="0">
                <a:latin typeface="Garamond" pitchFamily="18" charset="0"/>
              </a:rPr>
              <a:t>deduplication</a:t>
            </a:r>
            <a:r>
              <a:rPr lang="en-US" sz="2000" dirty="0" smtClean="0">
                <a:latin typeface="Garamond" pitchFamily="18" charset="0"/>
              </a:rPr>
              <a:t> which leads to data loss in the system or a bug fix which damages information.</a:t>
            </a:r>
          </a:p>
          <a:p>
            <a:pPr marL="0" indent="0" algn="just">
              <a:buFont typeface="Wingdings" pitchFamily="2" charset="2"/>
              <a:buChar char="Ø"/>
            </a:pPr>
            <a:r>
              <a:rPr lang="en-US" sz="2000" dirty="0" smtClean="0">
                <a:latin typeface="Garamond" pitchFamily="18" charset="0"/>
              </a:rPr>
              <a:t>The create, read, and write processes in nested ZFS structures,  which are techniques used to ensure consistency at all times.</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Thanks to all this, ZFS keeps the data stored in its structure secure;  it is known as the most secure and advanced file system in the computer world.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THE CASE: AVIONIC SYSTEMS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Avionic Systems is an aircraft information management system that that works in real time and tolerates Byzantine defects.</a:t>
            </a:r>
          </a:p>
          <a:p>
            <a:pPr marL="0" indent="0" algn="just">
              <a:buNone/>
            </a:pPr>
            <a:r>
              <a:rPr lang="en-US" sz="2000" dirty="0" smtClean="0">
                <a:latin typeface="Garamond" pitchFamily="18" charset="0"/>
              </a:rPr>
              <a:t>Each of the aircraft's sensors communicate with the command and control systems, providing information in real time. A sensor failure should never mean catastrophic failure for the aircraft. To achieve this, Byzantine fault tolerance is used to compensate for damage to sensor data or to systems and keep the aircraft safe.</a:t>
            </a: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Applying Byzantine fault tolerance at this point is a real challenge, </a:t>
            </a:r>
          </a:p>
          <a:p>
            <a:pPr marL="0" indent="0" algn="just">
              <a:buNone/>
            </a:pPr>
            <a:r>
              <a:rPr lang="en-US" sz="2000" dirty="0" smtClean="0">
                <a:latin typeface="Garamond" pitchFamily="18" charset="0"/>
              </a:rPr>
              <a:t>due to the number of systems and the different scenarios to manage. Avionics must take into account reconfiguration,  duplication, failure of entire systems and still offer resistance to these  types of failures. Although 100% resistance is impossible to maintain today, engineers and programmers are doing an extraordinary job.</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32</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429</TotalTime>
  <Words>2964</Words>
  <Application>Microsoft Office PowerPoint</Application>
  <PresentationFormat>Presentazione su schermo (4:3)</PresentationFormat>
  <Paragraphs>205</Paragraphs>
  <Slides>32</Slides>
  <Notes>0</Notes>
  <HiddenSlides>0</HiddenSlides>
  <MMClips>0</MMClips>
  <ScaleCrop>false</ScaleCrop>
  <HeadingPairs>
    <vt:vector size="4" baseType="variant">
      <vt:variant>
        <vt:lpstr>Tema</vt:lpstr>
      </vt:variant>
      <vt:variant>
        <vt:i4>1</vt:i4>
      </vt:variant>
      <vt:variant>
        <vt:lpstr>Titoli diapositive</vt:lpstr>
      </vt:variant>
      <vt:variant>
        <vt:i4>32</vt:i4>
      </vt:variant>
    </vt:vector>
  </HeadingPairs>
  <TitlesOfParts>
    <vt:vector size="33" baseType="lpstr">
      <vt:lpstr>Tema di Office</vt:lpstr>
      <vt:lpstr>LEZIONE N. 5</vt:lpstr>
      <vt:lpstr>BLOCKCHAIN AND SMART CONTRACTS </vt:lpstr>
      <vt:lpstr>Diapositiva 3</vt:lpstr>
      <vt:lpstr>INTRODUCTION TO THE BLOCKCHAIN AS A DECENTRALIZED CONSENSUS GENERATOR </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THE BLOCKCHAIN AND DECENTRALIZED CONSENSUS </vt:lpstr>
      <vt:lpstr>Diapositiva 19</vt:lpstr>
      <vt:lpstr>Diapositiva 20</vt:lpstr>
      <vt:lpstr>Diapositiva 21</vt:lpstr>
      <vt:lpstr>Diapositiva 22</vt:lpstr>
      <vt:lpstr>THE PoW AND PoS PROJECTS </vt:lpstr>
      <vt:lpstr>Diapositiva 24</vt:lpstr>
      <vt:lpstr>Diapositiva 25</vt:lpstr>
      <vt:lpstr>Diapositiva 26</vt:lpstr>
      <vt:lpstr>Diapositiva 27</vt:lpstr>
      <vt:lpstr>Diapositiva 28</vt:lpstr>
      <vt:lpstr>THE CASE: DATA ARCHIVING SYSTEMS </vt:lpstr>
      <vt:lpstr>Diapositiva 30</vt:lpstr>
      <vt:lpstr>THE CASE: AVIONIC SYSTEMS </vt:lpstr>
      <vt:lpstr>Diapositiva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117</cp:revision>
  <dcterms:created xsi:type="dcterms:W3CDTF">2022-09-16T10:16:52Z</dcterms:created>
  <dcterms:modified xsi:type="dcterms:W3CDTF">2024-05-15T10:40:29Z</dcterms:modified>
</cp:coreProperties>
</file>