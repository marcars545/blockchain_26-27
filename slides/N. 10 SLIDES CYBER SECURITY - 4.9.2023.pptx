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4" r:id="rId2"/>
    <p:sldId id="285" r:id="rId3"/>
    <p:sldId id="257" r:id="rId4"/>
    <p:sldId id="258" r:id="rId5"/>
    <p:sldId id="259" r:id="rId6"/>
    <p:sldId id="260" r:id="rId7"/>
    <p:sldId id="261" r:id="rId8"/>
    <p:sldId id="286"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80" r:id="rId27"/>
    <p:sldId id="281" r:id="rId28"/>
    <p:sldId id="282" r:id="rId29"/>
    <p:sldId id="283" r:id="rId30"/>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2E0837-B2C0-483D-82CD-4242A0A7B9A1}" type="datetimeFigureOut">
              <a:rPr lang="it-IT" smtClean="0"/>
              <a:pPr/>
              <a:t>15/09/2023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1090ED-3E58-4635-8DFD-677E39EEC22F}"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29</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F914B06E-DEA4-4352-8E09-D461E34E1BA9}"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86C639-6623-42A8-9021-D81007624C32}" type="datetimeFigureOut">
              <a:rPr lang="it-IT" smtClean="0"/>
              <a:pPr/>
              <a:t>15/09/2023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14B06E-DEA4-4352-8E09-D461E34E1BA9}"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9" name="Titolo 8"/>
          <p:cNvSpPr>
            <a:spLocks noGrp="1"/>
          </p:cNvSpPr>
          <p:nvPr>
            <p:ph type="ctrTitle"/>
          </p:nvPr>
        </p:nvSpPr>
        <p:spPr/>
        <p:txBody>
          <a:bodyPr>
            <a:normAutofit fontScale="90000"/>
          </a:bodyPr>
          <a:lstStyle/>
          <a:p>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BLOCKCHAIN, DISRUPTION AND CYBERLAW</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N. 10</a:t>
            </a:r>
            <a:endParaRPr lang="it-IT" sz="2800" b="1" dirty="0">
              <a:solidFill>
                <a:srgbClr val="FF0000"/>
              </a:solidFill>
              <a:latin typeface="Garamond" pitchFamily="18" charset="0"/>
            </a:endParaRPr>
          </a:p>
        </p:txBody>
      </p:sp>
      <p:sp>
        <p:nvSpPr>
          <p:cNvPr id="11" name="CasellaDiTesto 8"/>
          <p:cNvSpPr txBox="1">
            <a:spLocks noChangeArrowheads="1"/>
          </p:cNvSpPr>
          <p:nvPr/>
        </p:nvSpPr>
        <p:spPr bwMode="auto">
          <a:xfrm>
            <a:off x="2024584" y="6182766"/>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628680" y="1714488"/>
            <a:ext cx="8229600" cy="4714908"/>
          </a:xfrm>
        </p:spPr>
        <p:txBody>
          <a:bodyPr>
            <a:normAutofit/>
          </a:bodyPr>
          <a:lstStyle/>
          <a:p>
            <a:pPr marL="457200" indent="-457200" algn="just">
              <a:buFont typeface="+mj-lt"/>
              <a:buAutoNum type="arabicPeriod"/>
            </a:pPr>
            <a:endParaRPr lang="en-US" sz="2000" b="1" dirty="0" smtClean="0">
              <a:latin typeface="Garamond" pitchFamily="18" charset="0"/>
            </a:endParaRPr>
          </a:p>
          <a:p>
            <a:pPr marL="457200" indent="-457200" algn="just">
              <a:buFont typeface="+mj-lt"/>
              <a:buAutoNum type="arabicPeriod"/>
            </a:pPr>
            <a:r>
              <a:rPr lang="en-US" sz="2000" b="1" dirty="0" smtClean="0">
                <a:latin typeface="Garamond" pitchFamily="18" charset="0"/>
              </a:rPr>
              <a:t>Device Security on the Internet of Things (</a:t>
            </a:r>
            <a:r>
              <a:rPr lang="en-US" sz="2000" b="1" dirty="0" err="1" smtClean="0">
                <a:latin typeface="Garamond" pitchFamily="18" charset="0"/>
              </a:rPr>
              <a:t>IoT</a:t>
            </a:r>
            <a:r>
              <a:rPr lang="en-US" sz="2000" b="1" dirty="0" smtClean="0">
                <a:latin typeface="Garamond" pitchFamily="18" charset="0"/>
              </a:rPr>
              <a:t>)</a:t>
            </a:r>
          </a:p>
          <a:p>
            <a:pPr marL="457200" indent="-457200" algn="just">
              <a:buFont typeface="+mj-lt"/>
              <a:buAutoNum type="arabicPeriod"/>
            </a:pPr>
            <a:r>
              <a:rPr lang="en-US" sz="2000" b="1" dirty="0" smtClean="0">
                <a:latin typeface="Garamond" pitchFamily="18" charset="0"/>
              </a:rPr>
              <a:t>Security of Personal Data through DLT </a:t>
            </a:r>
          </a:p>
          <a:p>
            <a:pPr marL="457200" indent="-457200" algn="just">
              <a:buFont typeface="+mj-lt"/>
              <a:buAutoNum type="arabicPeriod"/>
            </a:pPr>
            <a:r>
              <a:rPr lang="en-US" sz="2000" b="1" dirty="0" smtClean="0">
                <a:latin typeface="Garamond" pitchFamily="18" charset="0"/>
              </a:rPr>
              <a:t>Government Response</a:t>
            </a:r>
          </a:p>
          <a:p>
            <a:pPr marL="457200" indent="-457200" algn="just">
              <a:buFont typeface="+mj-lt"/>
              <a:buAutoNum type="arabicPeriod"/>
            </a:pPr>
            <a:r>
              <a:rPr lang="en-US" sz="2000" b="1" dirty="0" smtClean="0">
                <a:latin typeface="Garamond" pitchFamily="18" charset="0"/>
              </a:rPr>
              <a:t>Innovations</a:t>
            </a:r>
          </a:p>
          <a:p>
            <a:pPr marL="457200" indent="-457200" algn="just">
              <a:buFont typeface="+mj-lt"/>
              <a:buAutoNum type="arabicPeriod"/>
            </a:pPr>
            <a:r>
              <a:rPr lang="en-US" sz="2000" b="1" dirty="0" smtClean="0">
                <a:latin typeface="Garamond" pitchFamily="18" charset="0"/>
              </a:rPr>
              <a:t>Meanwhile, the Future is </a:t>
            </a:r>
            <a:r>
              <a:rPr lang="en-US" sz="2000" b="1" dirty="0" err="1" smtClean="0">
                <a:latin typeface="Garamond" pitchFamily="18" charset="0"/>
              </a:rPr>
              <a:t>Passwordless</a:t>
            </a:r>
            <a:endParaRPr lang="en-US" sz="2000" b="1" dirty="0" smtClean="0">
              <a:latin typeface="Garamond" pitchFamily="18" charset="0"/>
            </a:endParaRPr>
          </a:p>
          <a:p>
            <a:pPr marL="457200" indent="-457200" algn="just">
              <a:buFont typeface="+mj-lt"/>
              <a:buAutoNum type="arabicPeriod"/>
            </a:pPr>
            <a:r>
              <a:rPr lang="en-US" sz="2000" b="1" dirty="0" smtClean="0">
                <a:latin typeface="Garamond" pitchFamily="18" charset="0"/>
              </a:rPr>
              <a:t>How it Should/Could Be </a:t>
            </a:r>
          </a:p>
          <a:p>
            <a:pPr marL="457200" indent="-457200" algn="just">
              <a:buFont typeface="+mj-lt"/>
              <a:buAutoNum type="arabicPeriod"/>
            </a:pPr>
            <a:r>
              <a:rPr lang="en-US" sz="2000" b="1" dirty="0" smtClean="0">
                <a:latin typeface="Garamond" pitchFamily="18" charset="0"/>
              </a:rPr>
              <a:t>Noteworthy </a:t>
            </a:r>
            <a:r>
              <a:rPr lang="en-US" sz="2000" b="1" dirty="0" err="1" smtClean="0">
                <a:latin typeface="Garamond" pitchFamily="18" charset="0"/>
              </a:rPr>
              <a:t>Cybersecurity</a:t>
            </a:r>
            <a:r>
              <a:rPr lang="en-US" sz="2000" b="1" dirty="0" smtClean="0">
                <a:latin typeface="Garamond" pitchFamily="18" charset="0"/>
              </a:rPr>
              <a:t> Trends and Statistics </a:t>
            </a:r>
          </a:p>
          <a:p>
            <a:pPr marL="457200" indent="-457200" algn="just">
              <a:buFont typeface="+mj-lt"/>
              <a:buAutoNum type="arabicPeriod"/>
            </a:pPr>
            <a:r>
              <a:rPr lang="en-US" sz="2000" b="1" dirty="0" smtClean="0">
                <a:latin typeface="Garamond" pitchFamily="18" charset="0"/>
              </a:rPr>
              <a:t>Blockchain Use Cases for </a:t>
            </a:r>
            <a:r>
              <a:rPr lang="en-US" sz="2000" b="1" dirty="0" err="1" smtClean="0">
                <a:latin typeface="Garamond" pitchFamily="18" charset="0"/>
              </a:rPr>
              <a:t>Cybersecurity</a:t>
            </a:r>
            <a:r>
              <a:rPr lang="en-US" sz="2000" b="1" dirty="0" smtClean="0">
                <a:latin typeface="Garamond" pitchFamily="18" charset="0"/>
              </a:rPr>
              <a:t> </a:t>
            </a:r>
          </a:p>
          <a:p>
            <a:pPr marL="457200" indent="-457200" algn="just">
              <a:buFont typeface="+mj-lt"/>
              <a:buAutoNum type="arabicPeriod"/>
            </a:pPr>
            <a:r>
              <a:rPr lang="en-US" sz="2000" b="1" dirty="0" smtClean="0">
                <a:latin typeface="Garamond" pitchFamily="18" charset="0"/>
              </a:rPr>
              <a:t>3.17. Initial Conclusions </a:t>
            </a:r>
            <a:endParaRPr lang="it-IT" sz="2000" b="1"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9" name="CasellaDiTesto 8"/>
          <p:cNvSpPr txBox="1">
            <a:spLocks noChangeArrowheads="1"/>
          </p:cNvSpPr>
          <p:nvPr/>
        </p:nvSpPr>
        <p:spPr bwMode="auto">
          <a:xfrm>
            <a:off x="2071670" y="6215082"/>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928662" y="1000108"/>
            <a:ext cx="7572428" cy="1000132"/>
          </a:xfrm>
        </p:spPr>
        <p:txBody>
          <a:bodyPr>
            <a:normAutofit/>
          </a:bodyPr>
          <a:lstStyle/>
          <a:p>
            <a:r>
              <a:rPr lang="en-US" sz="1900" b="1" dirty="0" smtClean="0">
                <a:solidFill>
                  <a:srgbClr val="FF0000"/>
                </a:solidFill>
                <a:latin typeface="Garamond" pitchFamily="18" charset="0"/>
              </a:rPr>
              <a:t>BLOCKCHAIN ​​SOLUTIONS TO INCREASE IT SECURITY</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lnSpcReduction="10000"/>
          </a:bodyPr>
          <a:lstStyle/>
          <a:p>
            <a:pPr marL="0" indent="0" algn="ctr">
              <a:buNone/>
            </a:pPr>
            <a:r>
              <a:rPr lang="en-US" sz="2000" dirty="0" smtClean="0">
                <a:latin typeface="Garamond" pitchFamily="18" charset="0"/>
              </a:rPr>
              <a:t>Even today the "Domain Name System" (DNS) is largely centralized.</a:t>
            </a:r>
          </a:p>
          <a:p>
            <a:pPr marL="0" indent="0" algn="ctr">
              <a:buNone/>
            </a:pPr>
            <a:r>
              <a:rPr lang="en-US" sz="2000" dirty="0" smtClean="0">
                <a:latin typeface="Garamond" pitchFamily="18" charset="0"/>
              </a:rPr>
              <a:t>This makes it easy for hackers to enter your system and establish a connection via websites and IP addresses, then crashing the system, stealing data, or redirecting it to scam websites.</a:t>
            </a:r>
          </a:p>
          <a:p>
            <a:pPr marL="0" indent="0" algn="ctr">
              <a:buNone/>
            </a:pPr>
            <a:r>
              <a:rPr lang="en-US" sz="2000" dirty="0" smtClean="0">
                <a:latin typeface="Garamond" pitchFamily="18" charset="0"/>
              </a:rPr>
              <a:t>However, a blockchain system can create a higher “level of security.”It is a decentralized system, making it more difficult for hackers to find an exact hacking spot.</a:t>
            </a:r>
          </a:p>
          <a:p>
            <a:pPr marL="0" indent="0" algn="ctr">
              <a:buNone/>
            </a:pPr>
            <a:r>
              <a:rPr lang="en-US" sz="2000" dirty="0" smtClean="0">
                <a:latin typeface="Garamond" pitchFamily="18" charset="0"/>
              </a:rPr>
              <a:t>In the blockchain, all data and information about the domains are archived in an immutable register, safeguarded by powerful smart contracts, and distributed in the terrestrial space.</a:t>
            </a:r>
          </a:p>
          <a:p>
            <a:pPr marL="0" indent="0" algn="ctr">
              <a:buNone/>
            </a:pPr>
            <a:r>
              <a:rPr lang="en-US" sz="2000" dirty="0" smtClean="0">
                <a:latin typeface="Garamond" pitchFamily="18" charset="0"/>
              </a:rPr>
              <a:t>This has given rise to decentralized storage solutions, increasing data security and efficiency, which has been a real problem for organizations and individuals around the world.</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928802"/>
            <a:ext cx="8572560" cy="4197361"/>
          </a:xfrm>
        </p:spPr>
        <p:txBody>
          <a:bodyPr>
            <a:normAutofit/>
          </a:bodyPr>
          <a:lstStyle/>
          <a:p>
            <a:pPr marL="0" indent="0" algn="ctr">
              <a:buNone/>
            </a:pPr>
            <a:r>
              <a:rPr lang="en-US" sz="2000" b="1" u="sng" dirty="0" smtClean="0">
                <a:latin typeface="Garamond" pitchFamily="18" charset="0"/>
              </a:rPr>
              <a:t>Storing data is not a problem, but keeping it safe is the biggest challenge today. Centralized storage is always vulnerable to security breaches, </a:t>
            </a:r>
            <a:r>
              <a:rPr lang="en-US" sz="2000" dirty="0" smtClean="0">
                <a:latin typeface="Garamond" pitchFamily="18" charset="0"/>
              </a:rPr>
              <a:t>making it unsuitable for data security today. </a:t>
            </a:r>
            <a:r>
              <a:rPr lang="en-US" sz="2000" b="1" u="sng" dirty="0" smtClean="0">
                <a:latin typeface="Garamond" pitchFamily="18" charset="0"/>
              </a:rPr>
              <a:t>The blockchain is an ideal solution for archiving data.</a:t>
            </a:r>
            <a:r>
              <a:rPr lang="en-US" sz="2000" dirty="0" smtClean="0">
                <a:latin typeface="Garamond" pitchFamily="18" charset="0"/>
              </a:rPr>
              <a:t>  With its distributed ledger technology, the blockchain is much more secure because it uses a modern encryption hashing algorithm to store and protect data.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1900" b="1" dirty="0" smtClean="0">
                <a:solidFill>
                  <a:srgbClr val="FF0000"/>
                </a:solidFill>
                <a:latin typeface="Garamond" pitchFamily="18" charset="0"/>
              </a:rPr>
              <a:t>SECURITY OF DEVICES ON THE INTERNET OF THINGS (</a:t>
            </a:r>
            <a:r>
              <a:rPr lang="en-US" sz="1900" b="1" dirty="0" err="1" smtClean="0">
                <a:solidFill>
                  <a:srgbClr val="FF0000"/>
                </a:solidFill>
                <a:latin typeface="Garamond" pitchFamily="18" charset="0"/>
              </a:rPr>
              <a:t>IoT</a:t>
            </a:r>
            <a:r>
              <a:rPr lang="en-US" sz="1900" b="1" dirty="0" smtClean="0">
                <a:solidFill>
                  <a:srgbClr val="FF0000"/>
                </a:solidFill>
                <a:latin typeface="Garamond" pitchFamily="18" charset="0"/>
              </a:rPr>
              <a:t>)</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r>
              <a:rPr lang="en-US" sz="2000" dirty="0" err="1" smtClean="0">
                <a:latin typeface="Garamond" pitchFamily="18" charset="0"/>
              </a:rPr>
              <a:t>IoT</a:t>
            </a:r>
            <a:r>
              <a:rPr lang="en-US" sz="2000" dirty="0" smtClean="0">
                <a:latin typeface="Garamond" pitchFamily="18" charset="0"/>
              </a:rPr>
              <a:t> security deals with the protection of the tools at our disposal, even at home, and provides network security to devices connected to the Internet and to each </a:t>
            </a:r>
            <a:r>
              <a:rPr lang="en-US" sz="2000" dirty="0" err="1" smtClean="0">
                <a:latin typeface="Garamond" pitchFamily="18" charset="0"/>
              </a:rPr>
              <a:t>other.IoT</a:t>
            </a:r>
            <a:r>
              <a:rPr lang="en-US" sz="2000" dirty="0" smtClean="0">
                <a:latin typeface="Garamond" pitchFamily="18" charset="0"/>
              </a:rPr>
              <a:t> devices help hardware devices connect to the network and transfer data to improve the performance of the device itself.</a:t>
            </a:r>
          </a:p>
          <a:p>
            <a:pPr marL="0" indent="0" algn="ctr">
              <a:buNone/>
            </a:pPr>
            <a:r>
              <a:rPr lang="en-US" sz="2000" u="sng" dirty="0" smtClean="0">
                <a:latin typeface="Garamond" pitchFamily="18" charset="0"/>
              </a:rPr>
              <a:t>By connecting to the Internet, devices could connect to vulnerable centralized systems, leading to serious attacks </a:t>
            </a:r>
            <a:r>
              <a:rPr lang="en-US" sz="2000" dirty="0" smtClean="0">
                <a:latin typeface="Garamond" pitchFamily="18" charset="0"/>
              </a:rPr>
              <a:t>if the device is not properly maintained or secured.</a:t>
            </a:r>
          </a:p>
          <a:p>
            <a:pPr marL="0" indent="0" algn="ctr">
              <a:buNone/>
            </a:pPr>
            <a:r>
              <a:rPr lang="en-US" sz="2000" dirty="0" smtClean="0">
                <a:latin typeface="Garamond" pitchFamily="18" charset="0"/>
              </a:rPr>
              <a:t>Instead, </a:t>
            </a:r>
            <a:r>
              <a:rPr lang="en-US" sz="2000" u="sng" dirty="0" smtClean="0">
                <a:latin typeface="Garamond" pitchFamily="18" charset="0"/>
              </a:rPr>
              <a:t>distributed ledger technology can be used to protect </a:t>
            </a:r>
            <a:r>
              <a:rPr lang="en-US" sz="2000" u="sng" dirty="0" err="1" smtClean="0">
                <a:latin typeface="Garamond" pitchFamily="18" charset="0"/>
              </a:rPr>
              <a:t>IoT</a:t>
            </a:r>
            <a:r>
              <a:rPr lang="en-US" sz="2000" u="sng" dirty="0" smtClean="0">
                <a:latin typeface="Garamond" pitchFamily="18" charset="0"/>
              </a:rPr>
              <a:t> from attackers</a:t>
            </a:r>
            <a:r>
              <a:rPr lang="en-US" sz="2000" dirty="0" smtClean="0">
                <a:latin typeface="Garamond" pitchFamily="18" charset="0"/>
              </a:rPr>
              <a:t>.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14282" y="1500174"/>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For example, if devices are part of a group, a common consensus on how the network should transfer data is created. </a:t>
            </a:r>
            <a:r>
              <a:rPr lang="en-US" sz="2000" u="sng" dirty="0" smtClean="0">
                <a:latin typeface="Garamond" pitchFamily="18" charset="0"/>
              </a:rPr>
              <a:t>If something suspicious happens or a node is working against the consensus, the device would block ore remove it from the network. </a:t>
            </a:r>
          </a:p>
          <a:p>
            <a:pPr marL="0" indent="0" algn="ctr">
              <a:buNone/>
            </a:pPr>
            <a:r>
              <a:rPr lang="en-US" sz="2000" dirty="0" smtClean="0">
                <a:latin typeface="Garamond" pitchFamily="18" charset="0"/>
              </a:rPr>
              <a:t>By keeping the </a:t>
            </a:r>
            <a:r>
              <a:rPr lang="en-US" sz="2000" dirty="0" err="1" smtClean="0">
                <a:latin typeface="Garamond" pitchFamily="18" charset="0"/>
              </a:rPr>
              <a:t>IoT</a:t>
            </a:r>
            <a:r>
              <a:rPr lang="en-US" sz="2000" dirty="0" smtClean="0">
                <a:latin typeface="Garamond" pitchFamily="18" charset="0"/>
              </a:rPr>
              <a:t> device in the blockchain, it is possible for the device to obtain real-time data transfer and communication from any device, anywhere, and, in the presence of malicious interference, that communication will promptly block the data transfer.</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928678"/>
            <a:ext cx="8229600" cy="1143000"/>
          </a:xfrm>
        </p:spPr>
        <p:txBody>
          <a:bodyPr>
            <a:normAutofit/>
          </a:bodyPr>
          <a:lstStyle/>
          <a:p>
            <a:r>
              <a:rPr lang="en-US" sz="1900" b="1" dirty="0" smtClean="0">
                <a:solidFill>
                  <a:srgbClr val="FF0000"/>
                </a:solidFill>
                <a:latin typeface="Garamond" pitchFamily="18" charset="0"/>
              </a:rPr>
              <a:t>SECURITY OF PERSONAL DATA THROUGH DLT</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amount of data and metadata, collected by users during every type of transaction is growing enormously. For example, assuming a customer uses social media and shares "likes" for a product, the real-time data will be looked at by the managers, who are able to track and use the data for their own advantage, economic or otherwise. Hence, </a:t>
            </a:r>
            <a:r>
              <a:rPr lang="en-US" sz="2000" u="sng" dirty="0" smtClean="0">
                <a:latin typeface="Garamond" pitchFamily="18" charset="0"/>
              </a:rPr>
              <a:t>many social media outlets have started using end-to-end encryption to secure the data transferred and entered into the social platform by their users.</a:t>
            </a:r>
            <a:r>
              <a:rPr lang="en-US" sz="2000" dirty="0" smtClean="0">
                <a:latin typeface="Garamond" pitchFamily="18" charset="0"/>
              </a:rPr>
              <a:t> Currently, most social apps and messaging services lack a standard set of security protocols.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928678"/>
            <a:ext cx="8229600" cy="1143000"/>
          </a:xfrm>
        </p:spPr>
        <p:txBody>
          <a:bodyPr>
            <a:normAutofit/>
          </a:bodyPr>
          <a:lstStyle/>
          <a:p>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By using the blockchain for communication, however, the transmission of messages takes place through the creation of a unified ecosystem, the result of blocks dispersed throughout the network. The key factor in using blocks in </a:t>
            </a:r>
            <a:r>
              <a:rPr lang="en-US" sz="2000" dirty="0" err="1" smtClean="0">
                <a:latin typeface="Garamond" pitchFamily="18" charset="0"/>
              </a:rPr>
              <a:t>cybersecurity</a:t>
            </a:r>
            <a:r>
              <a:rPr lang="en-US" sz="2000" dirty="0" smtClean="0">
                <a:latin typeface="Garamond" pitchFamily="18" charset="0"/>
              </a:rPr>
              <a:t> is to provide a secure decentralized platform.</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357298"/>
            <a:ext cx="8572560" cy="4197361"/>
          </a:xfrm>
        </p:spPr>
        <p:txBody>
          <a:bodyPr>
            <a:normAutofit/>
          </a:bodyPr>
          <a:lstStyle/>
          <a:p>
            <a:pPr marL="0" indent="0" algn="ctr">
              <a:buNone/>
            </a:pPr>
            <a:r>
              <a:rPr lang="en-US" sz="2000" u="sng" dirty="0" smtClean="0">
                <a:latin typeface="Garamond" pitchFamily="18" charset="0"/>
              </a:rPr>
              <a:t>When data no longer comes from a single point and is protected by consent and encryption, it makes it more difficult for cyber criminals to track it. </a:t>
            </a:r>
            <a:r>
              <a:rPr lang="en-US" sz="2000" dirty="0" smtClean="0">
                <a:latin typeface="Garamond" pitchFamily="18" charset="0"/>
              </a:rPr>
              <a:t>Today, the economic threat of crime is evident. At the risk of oversimplifying, the question to be asked is “Who pays for economic cybercrime?” The concise and clear answer: We all do. Its impacts can be seen at all levels: individuals, communities, organizations and businesses, governments, and our societies and economies at large.</a:t>
            </a:r>
          </a:p>
          <a:p>
            <a:pPr marL="0" indent="0" algn="ctr">
              <a:buNone/>
            </a:pPr>
            <a:r>
              <a:rPr lang="en-US" sz="2000" dirty="0" smtClean="0">
                <a:latin typeface="Garamond" pitchFamily="18" charset="0"/>
              </a:rPr>
              <a:t> We also know that the threat of economic cybercrime is constantly evolving, with criminals ready to exploit every available opportunity. The Covid-19 pandemic has provided a striking example and clear evidence that criminals have adapted quickly to new circumstances.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7161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When it comes to fraud, behavioral changes like the increase in online shopping and banking as a result of working from home, have created new opportunities for criminals to commit crime online and to expand their victim base.</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While this provides only a partial snapshot of the scale of this threat, it does indicate the pressing need to make sure there is no safe space for cyber criminals.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285720" y="1142992"/>
            <a:ext cx="8229600" cy="1143000"/>
          </a:xfrm>
        </p:spPr>
        <p:txBody>
          <a:bodyPr>
            <a:normAutofit/>
          </a:bodyPr>
          <a:lstStyle/>
          <a:p>
            <a:r>
              <a:rPr lang="it-IT" sz="1900" b="1" dirty="0" smtClean="0">
                <a:solidFill>
                  <a:srgbClr val="FF0000"/>
                </a:solidFill>
                <a:latin typeface="Garamond" pitchFamily="18" charset="0"/>
              </a:rPr>
              <a:t>THE RESPONSE OF GOVERNMENTS</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This leads to the next question: "Who should pay for cybercrime? </a:t>
            </a:r>
          </a:p>
          <a:p>
            <a:pPr marL="0" indent="0" algn="ctr">
              <a:buNone/>
            </a:pPr>
            <a:r>
              <a:rPr lang="en-US" sz="2000" dirty="0" smtClean="0">
                <a:latin typeface="Garamond" pitchFamily="18" charset="0"/>
              </a:rPr>
              <a:t>It is the entire system working together – governments, regulatory bodies, corporations, financial institutions, law enforcement agencies, and other operating partners – which should also be held accountable in fighting the threat. As part of efforts to prioritize the fight against fraud, through the design and delivery of a comprehensive Anti-Fraud Action Plan, specialist knowledge and expertise are being drawn upon, to make improvements in the development and application of tools for the protection of victims. </a:t>
            </a:r>
          </a:p>
          <a:p>
            <a:pPr marL="0" indent="0" algn="ctr">
              <a:buNone/>
            </a:pPr>
            <a:r>
              <a:rPr lang="en-US" sz="2000" dirty="0" smtClean="0">
                <a:latin typeface="Garamond" pitchFamily="18" charset="0"/>
              </a:rPr>
              <a:t>These are obviously complex questions, with much more nuanced answers, than are emerging today. </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357298"/>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However, </a:t>
            </a:r>
            <a:r>
              <a:rPr lang="en-US" sz="2000" u="sng" dirty="0" smtClean="0">
                <a:latin typeface="Garamond" pitchFamily="18" charset="0"/>
              </a:rPr>
              <a:t>there is general agreement that the costs of economic cybercrime are paid for by the whole community </a:t>
            </a:r>
            <a:r>
              <a:rPr lang="en-US" sz="2000" dirty="0" smtClean="0">
                <a:latin typeface="Garamond" pitchFamily="18" charset="0"/>
              </a:rPr>
              <a:t>and that these costs are felt most by the most vulnerable in our society. Moreover, while criminals must be held accountable for their actions</a:t>
            </a:r>
            <a:r>
              <a:rPr lang="en-US" sz="2000" u="sng" dirty="0" smtClean="0">
                <a:latin typeface="Garamond" pitchFamily="18" charset="0"/>
              </a:rPr>
              <a:t>, it is the collectivity that has the greater responsibility to work together to address the continuing threat.</a:t>
            </a:r>
          </a:p>
          <a:p>
            <a:pPr marL="0" indent="0" algn="ctr">
              <a:buNone/>
            </a:pPr>
            <a:r>
              <a:rPr lang="en-US" sz="2000" dirty="0" smtClean="0">
                <a:latin typeface="Garamond" pitchFamily="18" charset="0"/>
              </a:rPr>
              <a:t>Careful, effective regulation and flexibility in reacting to the signs of change must be the response of governments, all in the name of a </a:t>
            </a:r>
            <a:r>
              <a:rPr lang="en-US" sz="2000" u="sng" dirty="0" smtClean="0">
                <a:latin typeface="Garamond" pitchFamily="18" charset="0"/>
              </a:rPr>
              <a:t>tenacious diffusion of a culture of security.</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214282" y="1000108"/>
            <a:ext cx="8229600" cy="1143000"/>
          </a:xfrm>
        </p:spPr>
        <p:txBody>
          <a:bodyPr>
            <a:normAutofit/>
          </a:bodyPr>
          <a:lstStyle/>
          <a:p>
            <a:r>
              <a:rPr lang="it-IT" sz="1900" b="1" dirty="0" smtClean="0">
                <a:solidFill>
                  <a:srgbClr val="FF0000"/>
                </a:solidFill>
                <a:latin typeface="Garamond" pitchFamily="18" charset="0"/>
              </a:rPr>
              <a:t>INNOVATION IN CRIME</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There are many disparate cases of computer crime, but the following example will illustrate the seriousness of the danger. A man admits to stealing photos from </a:t>
            </a:r>
            <a:r>
              <a:rPr lang="en-US" sz="2000" dirty="0" err="1" smtClean="0">
                <a:latin typeface="Garamond" pitchFamily="18" charset="0"/>
              </a:rPr>
              <a:t>iCloud</a:t>
            </a:r>
            <a:r>
              <a:rPr lang="en-US" sz="2000" dirty="0" smtClean="0">
                <a:latin typeface="Garamond" pitchFamily="18" charset="0"/>
              </a:rPr>
              <a:t> accounts. This story from August 25, 2021 appeared in an American newspaper.</a:t>
            </a:r>
          </a:p>
          <a:p>
            <a:pPr marL="0" indent="0" algn="ctr">
              <a:buNone/>
            </a:pPr>
            <a:r>
              <a:rPr lang="en-US" sz="2000" dirty="0" smtClean="0">
                <a:latin typeface="Garamond" pitchFamily="18" charset="0"/>
              </a:rPr>
              <a:t>A 40-year-old man agreed to plead guilty to charges in a US court to hacking into thousands of Apple </a:t>
            </a:r>
            <a:r>
              <a:rPr lang="en-US" sz="2000" dirty="0" err="1" smtClean="0">
                <a:latin typeface="Garamond" pitchFamily="18" charset="0"/>
              </a:rPr>
              <a:t>iCloud</a:t>
            </a:r>
            <a:r>
              <a:rPr lang="en-US" sz="2000" dirty="0" smtClean="0">
                <a:latin typeface="Garamond" pitchFamily="18" charset="0"/>
              </a:rPr>
              <a:t> accounts and stealing hundreds of thousands of pictures and videos of young women.</a:t>
            </a:r>
          </a:p>
          <a:p>
            <a:pPr marL="0" indent="0" algn="ctr">
              <a:buNone/>
            </a:pPr>
            <a:r>
              <a:rPr lang="en-US" sz="2000" dirty="0" smtClean="0">
                <a:latin typeface="Garamond" pitchFamily="18" charset="0"/>
              </a:rPr>
              <a:t>According to court documents, the man, from La Puente, California, had collected more than 620,000 private photos and videos from his unsuspecting victims after advertising his services online. </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357298"/>
            <a:ext cx="8572560" cy="4197361"/>
          </a:xfrm>
        </p:spPr>
        <p:txBody>
          <a:bodyPr>
            <a:normAutofit lnSpcReduction="10000"/>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Investigators discovered that the </a:t>
            </a:r>
            <a:r>
              <a:rPr lang="en-US" sz="2000" dirty="0" err="1" smtClean="0">
                <a:latin typeface="Garamond" pitchFamily="18" charset="0"/>
              </a:rPr>
              <a:t>iCloud</a:t>
            </a:r>
            <a:r>
              <a:rPr lang="en-US" sz="2000" dirty="0" smtClean="0">
                <a:latin typeface="Garamond" pitchFamily="18" charset="0"/>
              </a:rPr>
              <a:t> accounts of the victims were accessed from an IP address linked to the man's home in La Puente.</a:t>
            </a:r>
          </a:p>
          <a:p>
            <a:pPr marL="0" indent="0" algn="just">
              <a:buNone/>
            </a:pPr>
            <a:r>
              <a:rPr lang="en-US" sz="2000" dirty="0" smtClean="0">
                <a:latin typeface="Garamond" pitchFamily="18" charset="0"/>
              </a:rPr>
              <a:t>The man expressed remorse for his actions and agreed to plead guilty to four charges, including conspiracy to gain unauthorized access to several computers. He was sentenced to up to five years in prison for each of the four crimes.</a:t>
            </a:r>
          </a:p>
          <a:p>
            <a:pPr marL="0" indent="0" algn="just">
              <a:buNone/>
            </a:pPr>
            <a:r>
              <a:rPr lang="en-US" sz="2000" dirty="0" smtClean="0">
                <a:latin typeface="Garamond" pitchFamily="18" charset="0"/>
              </a:rPr>
              <a:t>Such cases are not isolated, and falling into the network of "profile capturers" for criminal purposes is easier than you think.</a:t>
            </a:r>
          </a:p>
          <a:p>
            <a:pPr marL="0" indent="0" algn="just">
              <a:buNone/>
            </a:pPr>
            <a:r>
              <a:rPr lang="en-US" sz="2000" dirty="0" smtClean="0">
                <a:latin typeface="Garamond" pitchFamily="18" charset="0"/>
              </a:rPr>
              <a:t>This is why today we talk not only about </a:t>
            </a:r>
            <a:r>
              <a:rPr lang="en-US" sz="2000" dirty="0" err="1" smtClean="0">
                <a:latin typeface="Garamond" pitchFamily="18" charset="0"/>
              </a:rPr>
              <a:t>cybersecurity</a:t>
            </a:r>
            <a:r>
              <a:rPr lang="en-US" sz="2000" dirty="0" smtClean="0">
                <a:latin typeface="Garamond" pitchFamily="18" charset="0"/>
              </a:rPr>
              <a:t> as a remedy for online crime, but also about </a:t>
            </a:r>
            <a:r>
              <a:rPr lang="en-US" sz="2000" u="sng" dirty="0" smtClean="0">
                <a:latin typeface="Garamond" pitchFamily="18" charset="0"/>
              </a:rPr>
              <a:t>security awareness of the risks of becoming a victim of computer fraud or computer crime.</a:t>
            </a:r>
          </a:p>
          <a:p>
            <a:pPr marL="0" indent="0" algn="just">
              <a:buNone/>
            </a:pPr>
            <a:r>
              <a:rPr lang="en-US" sz="2000" u="sng" dirty="0" smtClean="0">
                <a:latin typeface="Garamond" pitchFamily="18" charset="0"/>
              </a:rPr>
              <a:t>Culture and awareness must become widespread and be aimed at prevention.</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142992"/>
            <a:ext cx="8229600" cy="1143000"/>
          </a:xfrm>
        </p:spPr>
        <p:txBody>
          <a:bodyPr>
            <a:normAutofit/>
          </a:bodyPr>
          <a:lstStyle/>
          <a:p>
            <a:r>
              <a:rPr lang="en-US" sz="1900" b="1" dirty="0" smtClean="0">
                <a:solidFill>
                  <a:srgbClr val="FF0000"/>
                </a:solidFill>
                <a:latin typeface="Garamond" pitchFamily="18" charset="0"/>
              </a:rPr>
              <a:t>MEANWHILE, THE FUTURE IS PASSWORDLESS</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Meanwhile, </a:t>
            </a:r>
            <a:r>
              <a:rPr lang="en-US" sz="2000" u="sng" dirty="0" smtClean="0">
                <a:latin typeface="Garamond" pitchFamily="18" charset="0"/>
              </a:rPr>
              <a:t>big digital companies promise cyber awareness and a </a:t>
            </a:r>
            <a:r>
              <a:rPr lang="en-US" sz="2000" u="sng" dirty="0" err="1" smtClean="0">
                <a:latin typeface="Garamond" pitchFamily="18" charset="0"/>
              </a:rPr>
              <a:t>passwordless</a:t>
            </a:r>
            <a:r>
              <a:rPr lang="en-US" sz="2000" u="sng" dirty="0" smtClean="0">
                <a:latin typeface="Garamond" pitchFamily="18" charset="0"/>
              </a:rPr>
              <a:t> future. Microsoft</a:t>
            </a:r>
            <a:r>
              <a:rPr lang="en-US" sz="2000" dirty="0" smtClean="0">
                <a:latin typeface="Garamond" pitchFamily="18" charset="0"/>
              </a:rPr>
              <a:t>, in fact, has recently stated that it is now possible to access all its accounts without a password. This means that users will be able to log in online, using a combination of fingerprint and facial recognition or </a:t>
            </a:r>
            <a:r>
              <a:rPr lang="en-US" sz="2000" dirty="0" err="1" smtClean="0">
                <a:latin typeface="Garamond" pitchFamily="18" charset="0"/>
              </a:rPr>
              <a:t>multisig</a:t>
            </a:r>
            <a:r>
              <a:rPr lang="en-US" sz="2000" dirty="0" smtClean="0">
                <a:latin typeface="Garamond" pitchFamily="18" charset="0"/>
              </a:rPr>
              <a:t> keys equipped with several elements to function. In fact, the Microsoft authentication app offers a dual access key: a biometric index and a verification code, sent by e-mail or by mobile text message. </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142984"/>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Since 2018, according to the company, more than 200 million users have chosen to live a password less life. Other tech giants, like </a:t>
            </a:r>
            <a:r>
              <a:rPr lang="en-US" sz="2000" u="sng" dirty="0" smtClean="0">
                <a:latin typeface="Garamond" pitchFamily="18" charset="0"/>
              </a:rPr>
              <a:t>Google</a:t>
            </a:r>
            <a:r>
              <a:rPr lang="en-US" sz="2000" dirty="0" smtClean="0">
                <a:latin typeface="Garamond" pitchFamily="18" charset="0"/>
              </a:rPr>
              <a:t> and </a:t>
            </a:r>
            <a:r>
              <a:rPr lang="en-US" sz="2000" u="sng" dirty="0" smtClean="0">
                <a:latin typeface="Garamond" pitchFamily="18" charset="0"/>
              </a:rPr>
              <a:t>Apple</a:t>
            </a:r>
            <a:r>
              <a:rPr lang="en-US" sz="2000" dirty="0" smtClean="0">
                <a:latin typeface="Garamond" pitchFamily="18" charset="0"/>
              </a:rPr>
              <a:t>, have also been working on password less authentication to bolster the security of their accounts because, not only is it cheaper to scan your finger to access email, it is also more secure. </a:t>
            </a:r>
          </a:p>
          <a:p>
            <a:pPr marL="0" indent="0" algn="ctr">
              <a:buNone/>
            </a:pPr>
            <a:r>
              <a:rPr lang="en-US" sz="2000" dirty="0" smtClean="0">
                <a:latin typeface="Garamond" pitchFamily="18" charset="0"/>
              </a:rPr>
              <a:t>It is much more difficult for a hacker to fake a user's fingerprint or a code sent directly to a phone. How this is possible also depends on the </a:t>
            </a:r>
            <a:r>
              <a:rPr lang="en-US" sz="2000" u="sng" dirty="0" smtClean="0">
                <a:latin typeface="Garamond" pitchFamily="18" charset="0"/>
              </a:rPr>
              <a:t>implementation of a blockchain, which could receive and store users' personal data, verify them automatically, and allow access. </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1900" b="1" dirty="0" smtClean="0">
                <a:solidFill>
                  <a:srgbClr val="FF0000"/>
                </a:solidFill>
                <a:latin typeface="Garamond" pitchFamily="18" charset="0"/>
              </a:rPr>
              <a:t>HOW IT SHOULD / COULD BE</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57161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The blockchain makes it nearly impossible for a hacker to corrupt or mutate data and documentation related to the platform. Every transaction can be automated, via smart contracts, and the blockchain can improve data mapping, strengthen authentication, and secure edge computing with authentication</a:t>
            </a:r>
            <a:r>
              <a:rPr lang="en-US" sz="2000" dirty="0" smtClean="0">
                <a:latin typeface="Garamond" pitchFamily="18" charset="0"/>
              </a:rPr>
              <a:t>.</a:t>
            </a:r>
          </a:p>
          <a:p>
            <a:pPr marL="0" indent="0" algn="ctr">
              <a:buNone/>
            </a:pPr>
            <a:r>
              <a:rPr lang="en-US" sz="2000" dirty="0" smtClean="0">
                <a:latin typeface="Garamond" pitchFamily="18" charset="0"/>
              </a:rPr>
              <a:t>The "edge" architecture allows for faster data processing, reducing slowness and delays, which can provide an opportunity for malicious parties to enter the system. There are several ways the blockchain can contribute to </a:t>
            </a:r>
            <a:r>
              <a:rPr lang="en-US" sz="2000" dirty="0" err="1" smtClean="0">
                <a:latin typeface="Garamond" pitchFamily="18" charset="0"/>
              </a:rPr>
              <a:t>cybersecurity</a:t>
            </a:r>
            <a:r>
              <a:rPr lang="en-US" sz="2000" dirty="0" smtClean="0">
                <a:latin typeface="Garamond" pitchFamily="18" charset="0"/>
              </a:rPr>
              <a:t>.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 </a:t>
            </a:r>
            <a:r>
              <a:rPr lang="en-US" sz="2000" u="sng" dirty="0" smtClean="0">
                <a:latin typeface="Garamond" pitchFamily="18" charset="0"/>
              </a:rPr>
              <a:t>The blockchain, like Distributed Ledger Technology (DLT), focuses on building trust in an untrustworthy ecosystem, making it, potentially, a very strong component of </a:t>
            </a:r>
            <a:r>
              <a:rPr lang="en-US" sz="2000" u="sng" dirty="0" err="1" smtClean="0">
                <a:latin typeface="Garamond" pitchFamily="18" charset="0"/>
              </a:rPr>
              <a:t>cybersecurity</a:t>
            </a:r>
            <a:r>
              <a:rPr lang="en-US" sz="2000" u="sng" dirty="0" smtClean="0">
                <a:latin typeface="Garamond" pitchFamily="18" charset="0"/>
              </a:rPr>
              <a:t> technology. Data breaches </a:t>
            </a:r>
            <a:r>
              <a:rPr lang="en-US" sz="2000" dirty="0" smtClean="0">
                <a:latin typeface="Garamond" pitchFamily="18" charset="0"/>
              </a:rPr>
              <a:t>not only cause </a:t>
            </a:r>
            <a:r>
              <a:rPr lang="en-US" sz="2000" u="sng" dirty="0" smtClean="0">
                <a:latin typeface="Garamond" pitchFamily="18" charset="0"/>
              </a:rPr>
              <a:t>significant financial losses</a:t>
            </a:r>
            <a:r>
              <a:rPr lang="en-US" sz="2000" dirty="0" smtClean="0">
                <a:latin typeface="Garamond" pitchFamily="18" charset="0"/>
              </a:rPr>
              <a:t>, they are also the leading cause of the </a:t>
            </a:r>
            <a:r>
              <a:rPr lang="en-US" sz="2000" u="sng" dirty="0" smtClean="0">
                <a:latin typeface="Garamond" pitchFamily="18" charset="0"/>
              </a:rPr>
              <a:t>bad reputation </a:t>
            </a:r>
            <a:r>
              <a:rPr lang="en-US" sz="2000" dirty="0" smtClean="0">
                <a:latin typeface="Garamond" pitchFamily="18" charset="0"/>
              </a:rPr>
              <a:t>a victimized company will get. The blockchain, which began as the underlying technology of </a:t>
            </a:r>
            <a:r>
              <a:rPr lang="en-US" sz="2000" dirty="0" err="1" smtClean="0">
                <a:latin typeface="Garamond" pitchFamily="18" charset="0"/>
              </a:rPr>
              <a:t>Bitcoin</a:t>
            </a:r>
            <a:r>
              <a:rPr lang="en-US" sz="2000" dirty="0" smtClean="0">
                <a:latin typeface="Garamond" pitchFamily="18" charset="0"/>
              </a:rPr>
              <a:t>, has risen in popularity as a promising </a:t>
            </a:r>
            <a:r>
              <a:rPr lang="en-US" sz="2000" dirty="0" err="1" smtClean="0">
                <a:latin typeface="Garamond" pitchFamily="18" charset="0"/>
              </a:rPr>
              <a:t>cybersecurity</a:t>
            </a:r>
            <a:r>
              <a:rPr lang="en-US" sz="2000" dirty="0" smtClean="0">
                <a:latin typeface="Garamond" pitchFamily="18" charset="0"/>
              </a:rPr>
              <a:t> mitigation technology. </a:t>
            </a:r>
          </a:p>
          <a:p>
            <a:pPr marL="0" indent="0" algn="ctr">
              <a:buNone/>
            </a:pPr>
            <a:r>
              <a:rPr lang="en-US" sz="2000" dirty="0" smtClean="0">
                <a:latin typeface="Garamond" pitchFamily="18" charset="0"/>
              </a:rPr>
              <a:t>Cyber attacks and breaches continue to haunt online activities, at ever more sophisticated and malicious levels. As this nightmare continues to grow, it is not only </a:t>
            </a:r>
            <a:r>
              <a:rPr lang="en-US" sz="2000" u="sng" dirty="0" smtClean="0">
                <a:latin typeface="Garamond" pitchFamily="18" charset="0"/>
              </a:rPr>
              <a:t>small businesses </a:t>
            </a:r>
            <a:r>
              <a:rPr lang="en-US" sz="2000" dirty="0" smtClean="0">
                <a:latin typeface="Garamond" pitchFamily="18" charset="0"/>
              </a:rPr>
              <a:t>that fall prey to attacks, but also </a:t>
            </a:r>
            <a:r>
              <a:rPr lang="en-US" sz="2000" u="sng" dirty="0" smtClean="0">
                <a:latin typeface="Garamond" pitchFamily="18" charset="0"/>
              </a:rPr>
              <a:t>large IT companies like </a:t>
            </a:r>
            <a:r>
              <a:rPr lang="en-US" sz="2000" u="sng" dirty="0" err="1" smtClean="0">
                <a:latin typeface="Garamond" pitchFamily="18" charset="0"/>
              </a:rPr>
              <a:t>Facebook</a:t>
            </a:r>
            <a:r>
              <a:rPr lang="en-US" sz="2000" dirty="0" smtClean="0">
                <a:latin typeface="Garamond" pitchFamily="18" charset="0"/>
              </a:rPr>
              <a:t>, Yahoo, and Microsoft, just to name a few. </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071546"/>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Even government sites are not safe from these at</a:t>
            </a:r>
            <a:r>
              <a:rPr lang="en-US" sz="2000" dirty="0" smtClean="0">
                <a:latin typeface="Garamond" pitchFamily="18" charset="0"/>
              </a:rPr>
              <a:t>tacks. Therefore, </a:t>
            </a:r>
            <a:r>
              <a:rPr lang="en-US" sz="2000" dirty="0" err="1" smtClean="0">
                <a:latin typeface="Garamond" pitchFamily="18" charset="0"/>
              </a:rPr>
              <a:t>cybersecurity</a:t>
            </a:r>
            <a:r>
              <a:rPr lang="en-US" sz="2000" dirty="0" smtClean="0">
                <a:latin typeface="Garamond" pitchFamily="18" charset="0"/>
              </a:rPr>
              <a:t> is no longer a problem only for companies; it has also become a problem for governments and other institutions as well. </a:t>
            </a:r>
          </a:p>
          <a:p>
            <a:pPr marL="0" indent="0" algn="ctr">
              <a:buNone/>
            </a:pPr>
            <a:r>
              <a:rPr lang="en-US" sz="2000" dirty="0" smtClean="0">
                <a:latin typeface="Garamond" pitchFamily="18" charset="0"/>
              </a:rPr>
              <a:t>With a huge financial impact, </a:t>
            </a:r>
            <a:r>
              <a:rPr lang="en-US" sz="2000" u="sng" dirty="0" smtClean="0">
                <a:latin typeface="Garamond" pitchFamily="18" charset="0"/>
              </a:rPr>
              <a:t>companies and nations continue to increase their investments in </a:t>
            </a:r>
            <a:r>
              <a:rPr lang="en-US" sz="2000" u="sng" dirty="0" err="1" smtClean="0">
                <a:latin typeface="Garamond" pitchFamily="18" charset="0"/>
              </a:rPr>
              <a:t>cybersecurity</a:t>
            </a:r>
            <a:r>
              <a:rPr lang="en-US" sz="2000" u="sng" dirty="0" smtClean="0">
                <a:latin typeface="Garamond" pitchFamily="18" charset="0"/>
              </a:rPr>
              <a:t>, and blockchain technology is one of the best solutions </a:t>
            </a:r>
            <a:r>
              <a:rPr lang="en-US" sz="2000" dirty="0" smtClean="0">
                <a:latin typeface="Garamond" pitchFamily="18" charset="0"/>
              </a:rPr>
              <a:t>available today.</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71554"/>
            <a:ext cx="8229600" cy="1143000"/>
          </a:xfrm>
        </p:spPr>
        <p:txBody>
          <a:bodyPr>
            <a:normAutofit/>
          </a:bodyPr>
          <a:lstStyle/>
          <a:p>
            <a:r>
              <a:rPr lang="en-US" sz="1900" b="1" dirty="0" smtClean="0">
                <a:solidFill>
                  <a:srgbClr val="FF0000"/>
                </a:solidFill>
                <a:latin typeface="Garamond" pitchFamily="18" charset="0"/>
              </a:rPr>
              <a:t>NOTEWORTHY CYBERSECURITY TRENDS AND STATISTICS</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660531"/>
            <a:ext cx="8572560" cy="4197361"/>
          </a:xfrm>
        </p:spPr>
        <p:txBody>
          <a:bodyPr>
            <a:normAutofit fontScale="92500"/>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Though </a:t>
            </a:r>
            <a:r>
              <a:rPr lang="en-US" sz="2000" u="sng" dirty="0" smtClean="0">
                <a:latin typeface="Garamond" pitchFamily="18" charset="0"/>
              </a:rPr>
              <a:t>small businesses </a:t>
            </a:r>
            <a:r>
              <a:rPr lang="en-US" sz="2000" dirty="0" smtClean="0">
                <a:latin typeface="Garamond" pitchFamily="18" charset="0"/>
              </a:rPr>
              <a:t>are the primary targets of cyber attacks, they </a:t>
            </a:r>
            <a:r>
              <a:rPr lang="en-US" sz="2000" u="sng" dirty="0" smtClean="0">
                <a:latin typeface="Garamond" pitchFamily="18" charset="0"/>
              </a:rPr>
              <a:t>continue to be the smallest investors in </a:t>
            </a:r>
            <a:r>
              <a:rPr lang="en-US" sz="2000" u="sng" dirty="0" err="1" smtClean="0">
                <a:latin typeface="Garamond" pitchFamily="18" charset="0"/>
              </a:rPr>
              <a:t>cybersecurity</a:t>
            </a:r>
            <a:r>
              <a:rPr lang="en-US" sz="2000" u="sng" dirty="0" smtClean="0">
                <a:latin typeface="Garamond" pitchFamily="18" charset="0"/>
              </a:rPr>
              <a:t>.</a:t>
            </a:r>
            <a:r>
              <a:rPr lang="en-US" sz="2000" dirty="0" smtClean="0">
                <a:latin typeface="Garamond" pitchFamily="18" charset="0"/>
              </a:rPr>
              <a:t> The failure to cope with today's rapid technological progress offers fertile territory to increasingly sophisticated cyber attacks. </a:t>
            </a:r>
          </a:p>
          <a:p>
            <a:pPr marL="0" indent="0" algn="ctr">
              <a:buNone/>
            </a:pPr>
            <a:r>
              <a:rPr lang="en-US" sz="2000" dirty="0" smtClean="0">
                <a:latin typeface="Garamond" pitchFamily="18" charset="0"/>
              </a:rPr>
              <a:t>How the blockchain can be useful? </a:t>
            </a:r>
          </a:p>
          <a:p>
            <a:pPr marL="0" indent="0" algn="ctr">
              <a:buNone/>
            </a:pPr>
            <a:r>
              <a:rPr lang="en-US" sz="2000" dirty="0" smtClean="0">
                <a:latin typeface="Garamond" pitchFamily="18" charset="0"/>
              </a:rPr>
              <a:t>As a distributed and decentralized archiving system, capable of recording transactions between multiple computers, it is the answer to sophisticated malware.</a:t>
            </a:r>
          </a:p>
          <a:p>
            <a:pPr marL="0" indent="0" algn="ctr">
              <a:buNone/>
            </a:pPr>
            <a:r>
              <a:rPr lang="en-US" sz="2000" dirty="0" smtClean="0">
                <a:latin typeface="Garamond" pitchFamily="18" charset="0"/>
              </a:rPr>
              <a:t>T his new technology is </a:t>
            </a:r>
            <a:r>
              <a:rPr lang="en-US" sz="2000" u="sng" dirty="0" smtClean="0">
                <a:latin typeface="Garamond" pitchFamily="18" charset="0"/>
              </a:rPr>
              <a:t>considered a reliable </a:t>
            </a:r>
            <a:r>
              <a:rPr lang="en-US" sz="2000" u="sng" dirty="0" err="1" smtClean="0">
                <a:latin typeface="Garamond" pitchFamily="18" charset="0"/>
              </a:rPr>
              <a:t>cybersecurity</a:t>
            </a:r>
            <a:r>
              <a:rPr lang="en-US" sz="2000" u="sng" dirty="0" smtClean="0">
                <a:latin typeface="Garamond" pitchFamily="18" charset="0"/>
              </a:rPr>
              <a:t> protocol</a:t>
            </a:r>
            <a:r>
              <a:rPr lang="en-US" sz="2000" dirty="0" smtClean="0">
                <a:latin typeface="Garamond" pitchFamily="18" charset="0"/>
              </a:rPr>
              <a:t>, due to its ability to detect foul play in the chain and provide certainty about the integrity of transactions. </a:t>
            </a:r>
            <a:r>
              <a:rPr lang="en-US" sz="2000" u="sng" dirty="0" smtClean="0">
                <a:latin typeface="Garamond" pitchFamily="18" charset="0"/>
              </a:rPr>
              <a:t>Blockchain technology is designed to be transparent, to offer trust</a:t>
            </a:r>
            <a:r>
              <a:rPr lang="en-US" sz="2000" dirty="0" smtClean="0">
                <a:latin typeface="Garamond" pitchFamily="18" charset="0"/>
              </a:rPr>
              <a:t> where there is no trust, and to use only certain data essential for the conclusion of the information transmission process, in security and with verification at every step.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00116"/>
            <a:ext cx="8229600" cy="1143000"/>
          </a:xfrm>
        </p:spPr>
        <p:txBody>
          <a:bodyPr>
            <a:normAutofit/>
          </a:bodyPr>
          <a:lstStyle/>
          <a:p>
            <a:r>
              <a:rPr lang="en-US" sz="2000" b="1" dirty="0" smtClean="0">
                <a:solidFill>
                  <a:srgbClr val="FF0000"/>
                </a:solidFill>
                <a:latin typeface="Garamond" pitchFamily="18" charset="0"/>
              </a:rPr>
              <a:t>BLOCKCHAIN ​​USE </a:t>
            </a:r>
            <a:r>
              <a:rPr lang="en-US" sz="2000" b="1" dirty="0" smtClean="0">
                <a:solidFill>
                  <a:srgbClr val="FF0000"/>
                </a:solidFill>
                <a:latin typeface="Garamond" pitchFamily="18" charset="0"/>
              </a:rPr>
              <a:t>FOR </a:t>
            </a:r>
            <a:r>
              <a:rPr lang="en-US" sz="2000" b="1" dirty="0" smtClean="0">
                <a:solidFill>
                  <a:srgbClr val="FF0000"/>
                </a:solidFill>
                <a:latin typeface="Garamond" pitchFamily="18" charset="0"/>
              </a:rPr>
              <a:t>CYBERSECURITY</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2000240"/>
            <a:ext cx="8572560" cy="4214842"/>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While no system is "</a:t>
            </a:r>
            <a:r>
              <a:rPr lang="en-US" sz="2000" dirty="0" err="1" smtClean="0">
                <a:latin typeface="Garamond" pitchFamily="18" charset="0"/>
              </a:rPr>
              <a:t>unhackable</a:t>
            </a:r>
            <a:r>
              <a:rPr lang="en-US" sz="2000" dirty="0" smtClean="0">
                <a:latin typeface="Garamond" pitchFamily="18" charset="0"/>
              </a:rPr>
              <a:t>," the simple blockchain topology is the most secure in the industry today. It can, however, still be violated if attacked. </a:t>
            </a:r>
          </a:p>
          <a:p>
            <a:pPr marL="0" indent="0" algn="ctr">
              <a:buNone/>
            </a:pPr>
            <a:r>
              <a:rPr lang="en-US" sz="2000" u="sng" dirty="0" smtClean="0">
                <a:latin typeface="Garamond" pitchFamily="18" charset="0"/>
              </a:rPr>
              <a:t>A 51% attack on a blockchain</a:t>
            </a:r>
            <a:r>
              <a:rPr lang="en-US" sz="2000" dirty="0" smtClean="0">
                <a:latin typeface="Garamond" pitchFamily="18" charset="0"/>
              </a:rPr>
              <a:t>, i.e., an attack by a bad actor gaining control of the majority of blocks, is always possible, even if unlikely. </a:t>
            </a:r>
            <a:r>
              <a:rPr lang="en-US" sz="2000" u="sng" dirty="0" smtClean="0">
                <a:latin typeface="Garamond" pitchFamily="18" charset="0"/>
              </a:rPr>
              <a:t>Such attacks are generally limited to smaller </a:t>
            </a:r>
            <a:r>
              <a:rPr lang="en-US" sz="2000" u="sng" dirty="0" err="1" smtClean="0">
                <a:latin typeface="Garamond" pitchFamily="18" charset="0"/>
              </a:rPr>
              <a:t>blockchains</a:t>
            </a:r>
            <a:r>
              <a:rPr lang="en-US" sz="2000" u="sng" dirty="0" smtClean="0">
                <a:latin typeface="Garamond" pitchFamily="18" charset="0"/>
              </a:rPr>
              <a:t> with fewer nodes </a:t>
            </a:r>
            <a:r>
              <a:rPr lang="en-US" sz="2000" dirty="0" smtClean="0">
                <a:latin typeface="Garamond" pitchFamily="18" charset="0"/>
              </a:rPr>
              <a:t>because they are more susceptible to a single unit taking over. But, fortunately, as intentionally designed, the technology guarantees information integrity. If used well, then, there are many sectors that can take advantage of the data security this technology offers. Private Messaging Security More and more people are joining social media for commercial uses.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2000240"/>
            <a:ext cx="8572560" cy="4214842"/>
          </a:xfrm>
        </p:spPr>
        <p:txBody>
          <a:bodyPr>
            <a:normAutofit/>
          </a:bodyPr>
          <a:lstStyle/>
          <a:p>
            <a:pPr marL="0" indent="0" algn="just">
              <a:buNone/>
            </a:pPr>
            <a:r>
              <a:rPr lang="en-US" sz="2000" dirty="0" smtClean="0">
                <a:latin typeface="Garamond" pitchFamily="18" charset="0"/>
              </a:rPr>
              <a:t>As a superior option to the current end-to-end encryption, </a:t>
            </a:r>
            <a:r>
              <a:rPr lang="en-US" sz="2000" u="sng" dirty="0" smtClean="0">
                <a:latin typeface="Garamond" pitchFamily="18" charset="0"/>
              </a:rPr>
              <a:t>most online businesses are turning to the blockchain to protect user data</a:t>
            </a:r>
            <a:r>
              <a:rPr lang="en-US" sz="2000" dirty="0" smtClean="0">
                <a:latin typeface="Garamond" pitchFamily="18" charset="0"/>
              </a:rPr>
              <a:t>. The blockchain can be used to create a standard security protocol. In the recent past, numerous attacks have been carried out on social media platforms, including </a:t>
            </a:r>
            <a:r>
              <a:rPr lang="en-US" sz="2000" u="sng" dirty="0" smtClean="0">
                <a:latin typeface="Garamond" pitchFamily="18" charset="0"/>
              </a:rPr>
              <a:t>Twitter and </a:t>
            </a:r>
            <a:r>
              <a:rPr lang="en-US" sz="2000" u="sng" dirty="0" err="1" smtClean="0">
                <a:latin typeface="Garamond" pitchFamily="18" charset="0"/>
              </a:rPr>
              <a:t>Facebook</a:t>
            </a:r>
            <a:r>
              <a:rPr lang="en-US" sz="2000" dirty="0" smtClean="0">
                <a:latin typeface="Garamond" pitchFamily="18" charset="0"/>
              </a:rPr>
              <a:t>. </a:t>
            </a:r>
            <a:r>
              <a:rPr lang="en-US" sz="2000" u="sng" dirty="0" smtClean="0">
                <a:latin typeface="Garamond" pitchFamily="18" charset="0"/>
              </a:rPr>
              <a:t>Blockchain</a:t>
            </a:r>
            <a:r>
              <a:rPr lang="en-US" sz="2000" dirty="0" smtClean="0">
                <a:latin typeface="Garamond" pitchFamily="18" charset="0"/>
              </a:rPr>
              <a:t> technologies, if </a:t>
            </a:r>
            <a:r>
              <a:rPr lang="en-US" sz="2000" u="sng" dirty="0" smtClean="0">
                <a:latin typeface="Garamond" pitchFamily="18" charset="0"/>
              </a:rPr>
              <a:t>well implemented in these messaging systems, could prevent future cyber attacks, blocking the intrusion as it is happening, on the first node.</a:t>
            </a:r>
          </a:p>
          <a:p>
            <a:pPr marL="0" indent="0" algn="just">
              <a:buNone/>
            </a:pPr>
            <a:r>
              <a:rPr lang="en-US" sz="2000" b="1" u="sng" dirty="0" smtClean="0">
                <a:latin typeface="Garamond" pitchFamily="18" charset="0"/>
              </a:rPr>
              <a:t>Given the current obsession with artificial intelligence (AI), it has become easier for hackers to access general systems like home </a:t>
            </a:r>
            <a:r>
              <a:rPr lang="en-US" sz="2000" b="1" u="sng" smtClean="0">
                <a:latin typeface="Garamond" pitchFamily="18" charset="0"/>
              </a:rPr>
              <a:t>automation </a:t>
            </a:r>
            <a:r>
              <a:rPr lang="en-US" sz="2000" b="1" u="sng" smtClean="0">
                <a:latin typeface="Garamond" pitchFamily="18" charset="0"/>
              </a:rPr>
              <a:t>(IOT</a:t>
            </a:r>
            <a:r>
              <a:rPr lang="en-US" sz="2000" b="1" u="sng" dirty="0" smtClean="0">
                <a:latin typeface="Garamond" pitchFamily="18" charset="0"/>
              </a:rPr>
              <a:t>). </a:t>
            </a:r>
            <a:r>
              <a:rPr lang="en-US" sz="2000" dirty="0" smtClean="0">
                <a:latin typeface="Garamond" pitchFamily="18" charset="0"/>
              </a:rPr>
              <a:t>In this case, a blockchain can be used to secure such general systems or devices, decentralizing their administration.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214842"/>
          </a:xfrm>
        </p:spPr>
        <p:txBody>
          <a:bodyPr>
            <a:normAutofit/>
          </a:bodyPr>
          <a:lstStyle/>
          <a:p>
            <a:pPr marL="0" indent="0" algn="ctr">
              <a:buNone/>
            </a:pPr>
            <a:r>
              <a:rPr lang="en-US" sz="2000" u="sng" dirty="0" smtClean="0">
                <a:latin typeface="Garamond" pitchFamily="18" charset="0"/>
              </a:rPr>
              <a:t>By decentralizing the device authority modes, the blockchain ensures that such attacks are more difficult to execute </a:t>
            </a:r>
            <a:r>
              <a:rPr lang="en-US" sz="2000" dirty="0" smtClean="0">
                <a:latin typeface="Garamond" pitchFamily="18" charset="0"/>
              </a:rPr>
              <a:t>(although, still always possible).The blockchain offers protection against Distributed Denial of Service (</a:t>
            </a:r>
            <a:r>
              <a:rPr lang="en-US" sz="2000" dirty="0" err="1" smtClean="0">
                <a:latin typeface="Garamond" pitchFamily="18" charset="0"/>
              </a:rPr>
              <a:t>DDoS</a:t>
            </a:r>
            <a:r>
              <a:rPr lang="en-US" sz="2000" dirty="0" smtClean="0">
                <a:latin typeface="Garamond" pitchFamily="18" charset="0"/>
              </a:rPr>
              <a:t>) attacks, which occur when users of a target resource, such as a network, server, or website are denied access or service to the resource itself (e.g., hacker attacks on institutional sites).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blockchain can be used to reduce this type of attack by </a:t>
            </a:r>
            <a:r>
              <a:rPr lang="en-US" sz="2000" u="sng" dirty="0" smtClean="0">
                <a:latin typeface="Garamond" pitchFamily="18" charset="0"/>
              </a:rPr>
              <a:t>applying decentralized governance solutions</a:t>
            </a:r>
            <a:r>
              <a:rPr lang="en-US" sz="2000" dirty="0" smtClean="0">
                <a:latin typeface="Garamond" pitchFamily="18" charset="0"/>
              </a:rPr>
              <a:t> to the creation, management, and archiving of nodes.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Most </a:t>
            </a:r>
            <a:r>
              <a:rPr lang="en-US" sz="2000" u="sng" dirty="0" smtClean="0">
                <a:latin typeface="Garamond" pitchFamily="18" charset="0"/>
              </a:rPr>
              <a:t>companies still use a centralized storage medium.</a:t>
            </a:r>
            <a:r>
              <a:rPr lang="en-US" sz="2000" dirty="0" smtClean="0">
                <a:latin typeface="Garamond" pitchFamily="18" charset="0"/>
              </a:rPr>
              <a:t> To access all the data stored in these systems, a hacker can easily exploit a single point of vulnerability. Nothing is easier.</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428736"/>
            <a:ext cx="8572560" cy="4214842"/>
          </a:xfrm>
        </p:spPr>
        <p:txBody>
          <a:bodyPr>
            <a:normAutofit/>
          </a:bodyPr>
          <a:lstStyle/>
          <a:p>
            <a:pPr marL="0" indent="0" algn="ctr">
              <a:buNone/>
            </a:pPr>
            <a:r>
              <a:rPr lang="en-US" sz="2000" dirty="0" smtClean="0">
                <a:latin typeface="Garamond" pitchFamily="18" charset="0"/>
              </a:rPr>
              <a:t>By using the blockchain, however, sensitive data can be protected, ensuring a decentralized form of data storage. </a:t>
            </a:r>
            <a:r>
              <a:rPr lang="en-US" sz="2000" u="sng" dirty="0" smtClean="0">
                <a:latin typeface="Garamond" pitchFamily="18" charset="0"/>
              </a:rPr>
              <a:t>This method</a:t>
            </a:r>
            <a:r>
              <a:rPr lang="en-US" sz="2000" dirty="0" smtClean="0">
                <a:latin typeface="Garamond" pitchFamily="18" charset="0"/>
              </a:rPr>
              <a:t> of mitigating attacks </a:t>
            </a:r>
            <a:r>
              <a:rPr lang="en-US" sz="2000" u="sng" dirty="0" smtClean="0">
                <a:latin typeface="Garamond" pitchFamily="18" charset="0"/>
              </a:rPr>
              <a:t>would make attacks onerous, in terms of time and costs</a:t>
            </a:r>
            <a:r>
              <a:rPr lang="en-US" sz="2000" dirty="0" smtClean="0">
                <a:latin typeface="Garamond" pitchFamily="18" charset="0"/>
              </a:rPr>
              <a:t>, and, therefore, more difficult if not impossible for hackers to penetrate data storage systems. </a:t>
            </a: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The blockchain can also be used to ensure the integrity of software downloads and prevent outside intrusion. </a:t>
            </a:r>
            <a:r>
              <a:rPr lang="en-US" sz="2000" dirty="0" smtClean="0">
                <a:latin typeface="Garamond" pitchFamily="18" charset="0"/>
              </a:rPr>
              <a:t>In the case of blockchain technology, hashes are recorded permanently in the blockchain chain. The blockchain can efficiently verify the integrity of the downloaded software by comparing it with the hashes registered on the blockchain and, in case of a mismatch, prevent the download, thereby avoiding the intrusion.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214842"/>
          </a:xfrm>
        </p:spPr>
        <p:txBody>
          <a:bodyPr>
            <a:normAutofit/>
          </a:bodyPr>
          <a:lstStyle/>
          <a:p>
            <a:pPr marL="0" indent="0" algn="ctr">
              <a:buNone/>
            </a:pPr>
            <a:r>
              <a:rPr lang="en-US" sz="2000" b="1" dirty="0" smtClean="0">
                <a:latin typeface="Garamond" pitchFamily="18" charset="0"/>
              </a:rPr>
              <a:t>Protection of Data Transmission.</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blockchain will eventually be used to prevent unauthorized access to data in transit.</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Using full encryption functionality, data transmission can be secured to prevent access by malicious parties who will not be able to decrypt the data in transit, thus enabling transmission integrity as well as the authenticity of its origin.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2000240"/>
            <a:ext cx="8572560" cy="4214842"/>
          </a:xfrm>
        </p:spPr>
        <p:txBody>
          <a:bodyPr>
            <a:normAutofit/>
          </a:bodyPr>
          <a:lstStyle/>
          <a:p>
            <a:pPr marL="0" indent="0" algn="ctr">
              <a:buNone/>
            </a:pPr>
            <a:r>
              <a:rPr lang="en-US" sz="2000" u="sng" dirty="0" smtClean="0">
                <a:latin typeface="Garamond" pitchFamily="18" charset="0"/>
              </a:rPr>
              <a:t>Blockchain technology, as a distributed ledger, can play an important role </a:t>
            </a:r>
            <a:r>
              <a:rPr lang="en-US" sz="2000" dirty="0" smtClean="0">
                <a:latin typeface="Garamond" pitchFamily="18" charset="0"/>
              </a:rPr>
              <a:t>in providing transparency, trust, immutability, integrity, and traceability of data to all components of the food chain. In this way, the quality and certainty of origin of the products are guaranteed. In this sector, certainly, </a:t>
            </a:r>
            <a:r>
              <a:rPr lang="en-US" sz="2000" u="sng" dirty="0" smtClean="0">
                <a:latin typeface="Garamond" pitchFamily="18" charset="0"/>
              </a:rPr>
              <a:t>research is also looking into interdisciplinary, technological approaches</a:t>
            </a:r>
            <a:r>
              <a:rPr lang="en-US" sz="2000" dirty="0" smtClean="0">
                <a:latin typeface="Garamond" pitchFamily="18" charset="0"/>
              </a:rPr>
              <a:t>; the results to date show how blockchain technology needs other technologies - advanced ICT and the Internet of Things (</a:t>
            </a:r>
            <a:r>
              <a:rPr lang="en-US" sz="2000" dirty="0" err="1" smtClean="0">
                <a:latin typeface="Garamond" pitchFamily="18" charset="0"/>
              </a:rPr>
              <a:t>IoT</a:t>
            </a:r>
            <a:r>
              <a:rPr lang="en-US" sz="2000" dirty="0" smtClean="0">
                <a:latin typeface="Garamond" pitchFamily="18" charset="0"/>
              </a:rPr>
              <a:t>), for better traceability, security, and transparency of the products and services offered, as well as suitable, shared regulations and laws.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214842"/>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u="sng" dirty="0" smtClean="0">
              <a:latin typeface="Garamond" pitchFamily="18" charset="0"/>
            </a:endParaRPr>
          </a:p>
          <a:p>
            <a:pPr marL="0" indent="0" algn="ctr">
              <a:buNone/>
            </a:pPr>
            <a:r>
              <a:rPr lang="en-US" sz="2000" u="sng" dirty="0" smtClean="0">
                <a:latin typeface="Garamond" pitchFamily="18" charset="0"/>
              </a:rPr>
              <a:t>Future research directions are continually being proposed regarding the applications of blockchain technology, including the management of cyber risks</a:t>
            </a:r>
            <a:r>
              <a:rPr lang="en-US" sz="2000" dirty="0" smtClean="0">
                <a:latin typeface="Garamond" pitchFamily="18" charset="0"/>
              </a:rPr>
              <a:t>, for example, in the entire commercial supply chain.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2000240"/>
            <a:ext cx="8572560" cy="4214842"/>
          </a:xfrm>
        </p:spPr>
        <p:txBody>
          <a:bodyPr>
            <a:normAutofit/>
          </a:bodyPr>
          <a:lstStyle/>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The blockchain, </a:t>
            </a:r>
            <a:r>
              <a:rPr lang="en-US" sz="2000" dirty="0" smtClean="0">
                <a:latin typeface="Garamond" pitchFamily="18" charset="0"/>
              </a:rPr>
              <a:t>as it has been understood up to now, though </a:t>
            </a:r>
            <a:r>
              <a:rPr lang="en-US" sz="2000" u="sng" dirty="0" smtClean="0">
                <a:latin typeface="Garamond" pitchFamily="18" charset="0"/>
              </a:rPr>
              <a:t>certainly perfectible, is the best resource available for secure and fast data transmission</a:t>
            </a:r>
            <a:r>
              <a:rPr lang="en-US" sz="2000" dirty="0" smtClean="0">
                <a:latin typeface="Garamond" pitchFamily="18" charset="0"/>
              </a:rPr>
              <a:t>. The promise of efficient digitization is based on making the blockchain as free as possible from pollution and threats, and depends on the culture of security that will be built around </a:t>
            </a:r>
            <a:r>
              <a:rPr lang="en-US" sz="2000" dirty="0" err="1" smtClean="0">
                <a:latin typeface="Garamond" pitchFamily="18" charset="0"/>
              </a:rPr>
              <a:t>it.If</a:t>
            </a:r>
            <a:r>
              <a:rPr lang="en-US" sz="2000" dirty="0" smtClean="0">
                <a:latin typeface="Garamond" pitchFamily="18" charset="0"/>
              </a:rPr>
              <a:t> the tool is evolving, as promised, then protecting its use must also evolve, starting with the design of architecturally secure IT environments.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29</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3008</Words>
  <Application>Microsoft Office PowerPoint</Application>
  <PresentationFormat>Presentazione su schermo (4:3)</PresentationFormat>
  <Paragraphs>230</Paragraphs>
  <Slides>29</Slides>
  <Notes>29</Notes>
  <HiddenSlides>0</HiddenSlides>
  <MMClips>0</MMClips>
  <ScaleCrop>false</ScaleCrop>
  <HeadingPairs>
    <vt:vector size="4" baseType="variant">
      <vt:variant>
        <vt:lpstr>Tema</vt:lpstr>
      </vt:variant>
      <vt:variant>
        <vt:i4>1</vt:i4>
      </vt:variant>
      <vt:variant>
        <vt:lpstr>Titoli diapositive</vt:lpstr>
      </vt:variant>
      <vt:variant>
        <vt:i4>29</vt:i4>
      </vt:variant>
    </vt:vector>
  </HeadingPairs>
  <TitlesOfParts>
    <vt:vector size="30" baseType="lpstr">
      <vt:lpstr>Tema di Office</vt:lpstr>
      <vt:lpstr>  CORSO DI CYBERSECURITY AWARENESS       BLOCKCHAIN, DISRUPTION AND CYBERLAW  N. 10</vt:lpstr>
      <vt:lpstr>INDEX</vt:lpstr>
      <vt:lpstr>BLOCKCHAIN ​​SOLUTIONS TO INCREASE IT SECURITY</vt:lpstr>
      <vt:lpstr>Diapositiva 4</vt:lpstr>
      <vt:lpstr>SECURITY OF DEVICES ON THE INTERNET OF THINGS (IoT)</vt:lpstr>
      <vt:lpstr>Diapositiva 6</vt:lpstr>
      <vt:lpstr>SECURITY OF PERSONAL DATA THROUGH DLT</vt:lpstr>
      <vt:lpstr>Diapositiva 8</vt:lpstr>
      <vt:lpstr>Diapositiva 9</vt:lpstr>
      <vt:lpstr>Diapositiva 10</vt:lpstr>
      <vt:lpstr>THE RESPONSE OF GOVERNMENTS</vt:lpstr>
      <vt:lpstr>Diapositiva 12</vt:lpstr>
      <vt:lpstr>INNOVATION IN CRIME</vt:lpstr>
      <vt:lpstr>Diapositiva 14</vt:lpstr>
      <vt:lpstr>MEANWHILE, THE FUTURE IS PASSWORDLESS</vt:lpstr>
      <vt:lpstr>Diapositiva 16</vt:lpstr>
      <vt:lpstr>HOW IT SHOULD / COULD BE</vt:lpstr>
      <vt:lpstr>Diapositiva 18</vt:lpstr>
      <vt:lpstr>Diapositiva 19</vt:lpstr>
      <vt:lpstr>NOTEWORTHY CYBERSECURITY TRENDS AND STATISTICS</vt:lpstr>
      <vt:lpstr>BLOCKCHAIN ​​USE FOR CYBERSECURITY</vt:lpstr>
      <vt:lpstr>Diapositiva 22</vt:lpstr>
      <vt:lpstr>Diapositiva 23</vt:lpstr>
      <vt:lpstr>Diapositiva 24</vt:lpstr>
      <vt:lpstr>Diapositiva 25</vt:lpstr>
      <vt:lpstr>Diapositiva 26</vt:lpstr>
      <vt:lpstr>Diapositiva 27</vt:lpstr>
      <vt:lpstr>Diapositiva 28</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28</cp:revision>
  <dcterms:created xsi:type="dcterms:W3CDTF">2023-05-29T15:30:50Z</dcterms:created>
  <dcterms:modified xsi:type="dcterms:W3CDTF">2023-09-15T16:01:41Z</dcterms:modified>
</cp:coreProperties>
</file>