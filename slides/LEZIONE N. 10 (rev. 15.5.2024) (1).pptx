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8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797675" cy="9926638"/>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0B5D3808-BE7C-4598-A105-00E9F681DCD5}" type="datetimeFigureOut">
              <a:rPr lang="it-IT" smtClean="0"/>
              <a:pPr/>
              <a:t>15/05/2024</a:t>
            </a:fld>
            <a:endParaRPr lang="it-IT"/>
          </a:p>
        </p:txBody>
      </p:sp>
      <p:sp>
        <p:nvSpPr>
          <p:cNvPr id="4" name="Segnaposto immagine diapositiva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FBF512FA-1271-4109-ACA6-964970EED86A}"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DB9E173F-6784-48F8-A3B1-BD428100ED89}"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8687187A-5350-4539-8448-17C882162DA7}"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3F286034-C03E-4347-AD43-B7FC5AD98FCD}"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48678E48-D459-413F-9D48-CF6CFD01F2FA}"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24937240-4A1D-4087-9F34-1D5F22E27ED1}" type="datetime1">
              <a:rPr lang="it-IT" smtClean="0"/>
              <a:pPr/>
              <a:t>15/05/2024</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6607F7BD-2932-405F-A8DE-AE9A39A049B9}" type="datetime1">
              <a:rPr lang="it-IT" smtClean="0"/>
              <a:pPr/>
              <a:t>15/05/2024</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D11186E4-7559-4C67-86F9-C331F2A1BD25}" type="datetime1">
              <a:rPr lang="it-IT" smtClean="0"/>
              <a:pPr/>
              <a:t>15/05/2024</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DC27B154-8DAF-4BF4-B9FD-40263A63FF39}"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F3AC374B-812A-4557-BFB3-8278A0264BD9}"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F8CA228B-D199-43DF-990B-F516B1E22FE2}"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194F6208-66F0-4A56-8ED5-86B40282DB38}"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1C3477-CA52-42C2-8287-3303F62D6761}" type="datetime1">
              <a:rPr lang="it-IT" smtClean="0"/>
              <a:pPr/>
              <a:t>15/05/2024</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037524-BE4B-42AE-9CE2-18539AD13956}"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642910" y="1071546"/>
            <a:ext cx="7772400" cy="1470025"/>
          </a:xfrm>
        </p:spPr>
        <p:txBody>
          <a:bodyPr>
            <a:normAutofit fontScale="90000"/>
          </a:bodyPr>
          <a:lstStyle/>
          <a:p>
            <a:r>
              <a:rPr lang="it-IT" sz="3100" dirty="0" smtClean="0">
                <a:solidFill>
                  <a:srgbClr val="FF0000"/>
                </a:solidFill>
              </a:rPr>
              <a:t>LEZIONE N. </a:t>
            </a:r>
            <a:r>
              <a:rPr lang="it-IT" sz="3100" dirty="0" smtClean="0">
                <a:solidFill>
                  <a:srgbClr val="FF0000"/>
                </a:solidFill>
              </a:rPr>
              <a:t>10</a:t>
            </a:r>
            <a:br>
              <a:rPr lang="it-IT" sz="3100" dirty="0" smtClean="0">
                <a:solidFill>
                  <a:srgbClr val="FF0000"/>
                </a:solidFill>
              </a:rPr>
            </a:br>
            <a:r>
              <a:rPr lang="it-IT" sz="3100" dirty="0" smtClean="0">
                <a:solidFill>
                  <a:srgbClr val="FF0000"/>
                </a:solidFill>
              </a:rPr>
              <a:t>AND RECAP </a:t>
            </a:r>
            <a:r>
              <a:rPr lang="it-IT" dirty="0" smtClean="0">
                <a:solidFill>
                  <a:srgbClr val="FF0000"/>
                </a:solidFill>
              </a:rPr>
              <a:t/>
            </a:r>
            <a:br>
              <a:rPr lang="it-IT" dirty="0" smtClean="0">
                <a:solidFill>
                  <a:srgbClr val="FF0000"/>
                </a:solidFill>
              </a:rPr>
            </a:br>
            <a:endParaRPr lang="it-IT" dirty="0">
              <a:solidFill>
                <a:srgbClr val="FF0000"/>
              </a:solidFill>
            </a:endParaRPr>
          </a:p>
        </p:txBody>
      </p:sp>
      <p:sp>
        <p:nvSpPr>
          <p:cNvPr id="3" name="Sottotitolo 2"/>
          <p:cNvSpPr>
            <a:spLocks noGrp="1"/>
          </p:cNvSpPr>
          <p:nvPr>
            <p:ph type="subTitle" idx="1"/>
          </p:nvPr>
        </p:nvSpPr>
        <p:spPr>
          <a:xfrm>
            <a:off x="500034" y="2143116"/>
            <a:ext cx="8001056" cy="4000528"/>
          </a:xfrm>
        </p:spPr>
        <p:txBody>
          <a:bodyPr>
            <a:normAutofit fontScale="62500" lnSpcReduction="20000"/>
          </a:bodyPr>
          <a:lstStyle/>
          <a:p>
            <a:pPr marL="457200" indent="-457200" algn="just">
              <a:buFont typeface="+mj-lt"/>
              <a:buAutoNum type="arabicPeriod"/>
            </a:pPr>
            <a:r>
              <a:rPr lang="en-US" b="1" dirty="0" smtClean="0">
                <a:solidFill>
                  <a:schemeClr val="tx1"/>
                </a:solidFill>
                <a:latin typeface="Garamond" pitchFamily="18" charset="0"/>
              </a:rPr>
              <a:t>Smart contracts: elements of definition</a:t>
            </a:r>
          </a:p>
          <a:p>
            <a:pPr marL="457200" indent="-457200" algn="just">
              <a:buFont typeface="+mj-lt"/>
              <a:buAutoNum type="arabicPeriod"/>
            </a:pPr>
            <a:r>
              <a:rPr lang="en-US" b="1" dirty="0" smtClean="0">
                <a:solidFill>
                  <a:schemeClr val="tx1"/>
                </a:solidFill>
                <a:latin typeface="Garamond" pitchFamily="18" charset="0"/>
              </a:rPr>
              <a:t>Elements of the definition</a:t>
            </a:r>
          </a:p>
          <a:p>
            <a:pPr marL="457200" indent="-457200" algn="just">
              <a:buFont typeface="+mj-lt"/>
              <a:buAutoNum type="arabicPeriod"/>
            </a:pPr>
            <a:r>
              <a:rPr lang="en-US" b="1" dirty="0" smtClean="0">
                <a:solidFill>
                  <a:schemeClr val="tx1"/>
                </a:solidFill>
                <a:latin typeface="Garamond" pitchFamily="18" charset="0"/>
              </a:rPr>
              <a:t>Smart contracts: what they are and how they work</a:t>
            </a:r>
          </a:p>
          <a:p>
            <a:pPr marL="457200" indent="-457200" algn="just">
              <a:buFont typeface="+mj-lt"/>
              <a:buAutoNum type="arabicPeriod"/>
            </a:pPr>
            <a:r>
              <a:rPr lang="en-US" b="1" dirty="0" smtClean="0">
                <a:solidFill>
                  <a:schemeClr val="tx1"/>
                </a:solidFill>
                <a:latin typeface="Garamond" pitchFamily="18" charset="0"/>
              </a:rPr>
              <a:t>A history of smart contracts</a:t>
            </a:r>
          </a:p>
          <a:p>
            <a:pPr marL="457200" indent="-457200" algn="just">
              <a:buFont typeface="+mj-lt"/>
              <a:buAutoNum type="arabicPeriod"/>
            </a:pPr>
            <a:r>
              <a:rPr lang="en-US" b="1" dirty="0" smtClean="0">
                <a:solidFill>
                  <a:schemeClr val="tx1"/>
                </a:solidFill>
                <a:latin typeface="Garamond" pitchFamily="18" charset="0"/>
              </a:rPr>
              <a:t>Therefore, the shared definition of smart contract is as follows:</a:t>
            </a:r>
          </a:p>
          <a:p>
            <a:pPr marL="457200" indent="-457200" algn="just">
              <a:buFont typeface="+mj-lt"/>
              <a:buAutoNum type="arabicPeriod"/>
            </a:pPr>
            <a:r>
              <a:rPr lang="en-US" b="1" dirty="0" err="1" smtClean="0">
                <a:solidFill>
                  <a:schemeClr val="tx1"/>
                </a:solidFill>
                <a:latin typeface="Garamond" pitchFamily="18" charset="0"/>
              </a:rPr>
              <a:t>Vitalik</a:t>
            </a:r>
            <a:r>
              <a:rPr lang="en-US" b="1" dirty="0" smtClean="0">
                <a:solidFill>
                  <a:schemeClr val="tx1"/>
                </a:solidFill>
                <a:latin typeface="Garamond" pitchFamily="18" charset="0"/>
              </a:rPr>
              <a:t> </a:t>
            </a:r>
            <a:r>
              <a:rPr lang="en-US" b="1" dirty="0" err="1" smtClean="0">
                <a:solidFill>
                  <a:schemeClr val="tx1"/>
                </a:solidFill>
                <a:latin typeface="Garamond" pitchFamily="18" charset="0"/>
              </a:rPr>
              <a:t>buterin</a:t>
            </a:r>
            <a:r>
              <a:rPr lang="en-US" b="1" dirty="0" smtClean="0">
                <a:solidFill>
                  <a:schemeClr val="tx1"/>
                </a:solidFill>
                <a:latin typeface="Garamond" pitchFamily="18" charset="0"/>
              </a:rPr>
              <a:t> and smart contracts</a:t>
            </a:r>
          </a:p>
          <a:p>
            <a:pPr marL="457200" indent="-457200" algn="just">
              <a:buFont typeface="+mj-lt"/>
              <a:buAutoNum type="arabicPeriod"/>
            </a:pPr>
            <a:r>
              <a:rPr lang="en-US" b="1" dirty="0" err="1" smtClean="0">
                <a:solidFill>
                  <a:schemeClr val="tx1"/>
                </a:solidFill>
                <a:latin typeface="Garamond" pitchFamily="18" charset="0"/>
              </a:rPr>
              <a:t>Ethereum:cryptocurrency</a:t>
            </a:r>
            <a:r>
              <a:rPr lang="en-US" b="1" dirty="0" smtClean="0">
                <a:solidFill>
                  <a:schemeClr val="tx1"/>
                </a:solidFill>
                <a:latin typeface="Garamond" pitchFamily="18" charset="0"/>
              </a:rPr>
              <a:t> with smart contracts</a:t>
            </a:r>
          </a:p>
          <a:p>
            <a:pPr marL="457200" indent="-457200" algn="just">
              <a:buFont typeface="+mj-lt"/>
              <a:buAutoNum type="arabicPeriod"/>
            </a:pPr>
            <a:r>
              <a:rPr lang="en-US" b="1" dirty="0" smtClean="0">
                <a:solidFill>
                  <a:schemeClr val="tx1"/>
                </a:solidFill>
                <a:latin typeface="Garamond" pitchFamily="18" charset="0"/>
              </a:rPr>
              <a:t>Example</a:t>
            </a:r>
          </a:p>
          <a:p>
            <a:pPr marL="457200" indent="-457200" algn="just">
              <a:buFont typeface="+mj-lt"/>
              <a:buAutoNum type="arabicPeriod"/>
            </a:pPr>
            <a:r>
              <a:rPr lang="en-US" b="1" dirty="0" smtClean="0">
                <a:solidFill>
                  <a:schemeClr val="tx1"/>
                </a:solidFill>
                <a:latin typeface="Garamond" pitchFamily="18" charset="0"/>
              </a:rPr>
              <a:t>Companies that use smart contracts</a:t>
            </a:r>
          </a:p>
          <a:p>
            <a:pPr marL="457200" indent="-457200" algn="just">
              <a:buFont typeface="+mj-lt"/>
              <a:buAutoNum type="arabicPeriod"/>
            </a:pPr>
            <a:r>
              <a:rPr lang="en-US" b="1" dirty="0" smtClean="0">
                <a:solidFill>
                  <a:schemeClr val="tx1"/>
                </a:solidFill>
                <a:latin typeface="Garamond" pitchFamily="18" charset="0"/>
              </a:rPr>
              <a:t>Scams: briefly mentioned</a:t>
            </a:r>
          </a:p>
          <a:p>
            <a:pPr marL="457200" indent="-457200" algn="just">
              <a:buFont typeface="+mj-lt"/>
              <a:buAutoNum type="arabicPeriod"/>
            </a:pPr>
            <a:r>
              <a:rPr lang="en-US" b="1" dirty="0" smtClean="0">
                <a:solidFill>
                  <a:schemeClr val="tx1"/>
                </a:solidFill>
                <a:latin typeface="Garamond" pitchFamily="18" charset="0"/>
              </a:rPr>
              <a:t>The </a:t>
            </a:r>
            <a:r>
              <a:rPr lang="en-US" b="1" dirty="0" err="1" smtClean="0">
                <a:solidFill>
                  <a:schemeClr val="tx1"/>
                </a:solidFill>
                <a:latin typeface="Garamond" pitchFamily="18" charset="0"/>
              </a:rPr>
              <a:t>dao</a:t>
            </a:r>
            <a:r>
              <a:rPr lang="en-US" b="1" dirty="0" smtClean="0">
                <a:solidFill>
                  <a:schemeClr val="tx1"/>
                </a:solidFill>
                <a:latin typeface="Garamond" pitchFamily="18" charset="0"/>
              </a:rPr>
              <a:t> case</a:t>
            </a:r>
          </a:p>
          <a:p>
            <a:pPr marL="457200" indent="-457200" algn="just">
              <a:buFont typeface="+mj-lt"/>
              <a:buAutoNum type="arabicPeriod"/>
            </a:pPr>
            <a:r>
              <a:rPr lang="en-US" b="1" dirty="0" smtClean="0">
                <a:solidFill>
                  <a:schemeClr val="tx1"/>
                </a:solidFill>
                <a:latin typeface="Garamond" pitchFamily="18" charset="0"/>
              </a:rPr>
              <a:t>Final considerations</a:t>
            </a:r>
          </a:p>
          <a:p>
            <a:endParaRPr lang="it-IT" dirty="0"/>
          </a:p>
        </p:txBody>
      </p:sp>
      <p:sp>
        <p:nvSpPr>
          <p:cNvPr id="4" name="CasellaDiTesto 3"/>
          <p:cNvSpPr txBox="1"/>
          <p:nvPr/>
        </p:nvSpPr>
        <p:spPr>
          <a:xfrm>
            <a:off x="3000364" y="416462"/>
            <a:ext cx="3071834" cy="369332"/>
          </a:xfrm>
          <a:prstGeom prst="rect">
            <a:avLst/>
          </a:prstGeom>
          <a:noFill/>
        </p:spPr>
        <p:txBody>
          <a:bodyPr wrap="square" rtlCol="0">
            <a:spAutoFit/>
          </a:bodyPr>
          <a:lstStyle/>
          <a:p>
            <a:pPr algn="ctr"/>
            <a:r>
              <a:rPr lang="it-IT" b="1" dirty="0" smtClean="0">
                <a:latin typeface="Garamond" pitchFamily="18" charset="0"/>
              </a:rPr>
              <a:t>Prof. Maria </a:t>
            </a:r>
            <a:r>
              <a:rPr lang="it-IT" b="1" dirty="0" err="1" smtClean="0">
                <a:latin typeface="Garamond" pitchFamily="18" charset="0"/>
              </a:rPr>
              <a:t>Bruccoleri</a:t>
            </a:r>
            <a:r>
              <a:rPr lang="it-IT" b="1" dirty="0" smtClean="0">
                <a:latin typeface="Garamond" pitchFamily="18" charset="0"/>
              </a:rPr>
              <a:t> </a:t>
            </a:r>
            <a:endParaRPr lang="it-IT" b="1" dirty="0">
              <a:latin typeface="Garamond" pitchFamily="18" charset="0"/>
            </a:endParaRPr>
          </a:p>
        </p:txBody>
      </p:sp>
      <p:sp>
        <p:nvSpPr>
          <p:cNvPr id="5" name="Segnaposto numero diapositiva 4"/>
          <p:cNvSpPr>
            <a:spLocks noGrp="1"/>
          </p:cNvSpPr>
          <p:nvPr>
            <p:ph type="sldNum" sz="quarter" idx="12"/>
          </p:nvPr>
        </p:nvSpPr>
        <p:spPr/>
        <p:txBody>
          <a:bodyPr/>
          <a:lstStyle/>
          <a:p>
            <a:fld id="{6A037524-BE4B-42AE-9CE2-18539AD13956}" type="slidenum">
              <a:rPr lang="it-IT" smtClean="0"/>
              <a:pPr/>
              <a:t>1</a:t>
            </a:fld>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400" b="1" dirty="0" smtClean="0">
                <a:solidFill>
                  <a:srgbClr val="FF0000"/>
                </a:solidFill>
                <a:latin typeface="Garamond" pitchFamily="18" charset="0"/>
              </a:rPr>
              <a:t>SMART CONTRACTS: ELEMENTS OF DEFINITION </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Once the blockchain has been defined, we can outline, in summary, the framework of a smart contract.</a:t>
            </a:r>
          </a:p>
          <a:p>
            <a:pPr marL="0" indent="0" algn="just">
              <a:buNone/>
            </a:pPr>
            <a:r>
              <a:rPr lang="en-US" sz="2000" dirty="0" smtClean="0">
                <a:latin typeface="Garamond" pitchFamily="18" charset="0"/>
              </a:rPr>
              <a:t>It is a “computer program that operates on technologies based on distributed ledgers whose execution automatically binds two or more parts based on their predefined effects."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ELEMENTS OF THE DEFINITION</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Italian legislation recognizes, first of all, the need for a written form of a smart contract, with the requirements having been set by the </a:t>
            </a:r>
            <a:r>
              <a:rPr lang="en-US" sz="2000" dirty="0" err="1" smtClean="0">
                <a:latin typeface="Garamond" pitchFamily="18" charset="0"/>
              </a:rPr>
              <a:t>AgID</a:t>
            </a:r>
            <a:r>
              <a:rPr lang="en-US" sz="2000" dirty="0" smtClean="0">
                <a:latin typeface="Garamond" pitchFamily="18" charset="0"/>
              </a:rPr>
              <a:t> guidelines.</a:t>
            </a:r>
          </a:p>
          <a:p>
            <a:pPr marL="0" indent="0" algn="just">
              <a:buNone/>
            </a:pPr>
            <a:r>
              <a:rPr lang="en-US" sz="2000" dirty="0" smtClean="0">
                <a:latin typeface="Garamond" pitchFamily="18" charset="0"/>
              </a:rPr>
              <a:t>A smart contract is an electronic document, containing the computerized representation of legally relevant deeds, facts, or data, while also satisfying the requirement of the written form for purposes  of proof.</a:t>
            </a:r>
          </a:p>
          <a:p>
            <a:pPr marL="0" indent="0" algn="just">
              <a:buNone/>
            </a:pPr>
            <a:r>
              <a:rPr lang="en-US" sz="2000" dirty="0" smtClean="0">
                <a:latin typeface="Garamond" pitchFamily="18" charset="0"/>
              </a:rPr>
              <a:t>The legislator traces its effectiveness on the basis of the provisions of art. 2702 cc (validity of private writing), when the smart contract is formed through the process that respects the requirements set by the </a:t>
            </a:r>
            <a:r>
              <a:rPr lang="en-US" sz="2000" dirty="0" err="1" smtClean="0">
                <a:latin typeface="Garamond" pitchFamily="18" charset="0"/>
              </a:rPr>
              <a:t>AgID</a:t>
            </a:r>
            <a:r>
              <a:rPr lang="en-US" sz="2000" dirty="0" smtClean="0">
                <a:latin typeface="Garamond" pitchFamily="18" charset="0"/>
              </a:rPr>
              <a:t>. In this way, the security, integrity, and immutability of the document itself is guaranteed, as well as its traceability to the author.</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 few more limits include:</a:t>
            </a:r>
          </a:p>
          <a:p>
            <a:pPr marL="0" indent="0" algn="just">
              <a:buNone/>
            </a:pPr>
            <a:r>
              <a:rPr lang="en-US" sz="2000" dirty="0" smtClean="0">
                <a:latin typeface="Garamond" pitchFamily="18" charset="0"/>
              </a:rPr>
              <a:t>The Simplification Decree does not, however, indicate the ways in which the smart contract can achieve, in addition to the written form, the status of private writing pursuant to art. 2702 of the Italian Civil Code.</a:t>
            </a:r>
          </a:p>
          <a:p>
            <a:pPr marL="0" indent="0" algn="just">
              <a:buNone/>
            </a:pPr>
            <a:r>
              <a:rPr lang="en-US" sz="2000" dirty="0" smtClean="0">
                <a:latin typeface="Garamond" pitchFamily="18" charset="0"/>
              </a:rPr>
              <a:t>Without this clarification, the smart contract could have a written form without, however, being considered a private deeds, with the consequence that its probative value would be "freely assessable in court," in relation to the characteristics of security, integrity, and immutability.</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the event of a negative evaluation by the judge, the paradoxical result would have the smart contract confined to the unsigned documents, which have no "formal legal value and do not produce substantial and evidential effects.” (See Court of Cassation, sentence no. 30948/2018.)</a:t>
            </a:r>
          </a:p>
          <a:p>
            <a:pPr marL="0" indent="0" algn="just">
              <a:buNone/>
            </a:pPr>
            <a:r>
              <a:rPr lang="en-US" sz="2000" dirty="0" smtClean="0">
                <a:latin typeface="Garamond" pitchFamily="18" charset="0"/>
              </a:rPr>
              <a:t/>
            </a:r>
            <a:br>
              <a:rPr lang="en-US" sz="2000" dirty="0" smtClean="0">
                <a:latin typeface="Garamond" pitchFamily="18" charset="0"/>
              </a:rPr>
            </a:b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SMART CONTRACTS: WHAT THEY ARE AND HOW      THEY WORK</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643050"/>
            <a:ext cx="8715436" cy="4286280"/>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r>
            <a:br>
              <a:rPr lang="en-US" sz="2000" dirty="0" smtClean="0">
                <a:latin typeface="Garamond" pitchFamily="18" charset="0"/>
              </a:rPr>
            </a:br>
            <a:r>
              <a:rPr lang="en-US" sz="2000" dirty="0" smtClean="0">
                <a:latin typeface="Garamond" pitchFamily="18" charset="0"/>
              </a:rPr>
              <a:t>The smart contract is an IT protocol, used to facilitate, apply, or digitally verify the exchange or execution of a contract and allows transactions to be made without the use of intermediaries or third parties.</a:t>
            </a:r>
          </a:p>
          <a:p>
            <a:pPr marL="0" indent="0" algn="just">
              <a:buNone/>
            </a:pPr>
            <a:r>
              <a:rPr lang="en-US" sz="2000" dirty="0" smtClean="0">
                <a:latin typeface="Garamond" pitchFamily="18" charset="0"/>
              </a:rPr>
              <a:t>The smart contract uses blockchain technology.</a:t>
            </a:r>
          </a:p>
          <a:p>
            <a:pPr marL="0" indent="0" algn="just">
              <a:buNone/>
            </a:pPr>
            <a:r>
              <a:rPr lang="en-US" sz="2000" dirty="0" smtClean="0">
                <a:latin typeface="Garamond" pitchFamily="18" charset="0"/>
              </a:rPr>
              <a:t>One of the most important aspects of the blockchain is the decentralized network between the authorized parties, without the need to pay intermediaries, thus saving time by avoiding conflicts. Though some areas still need work, blockchain technology, overall, is considered faster, cheaper, and safer than traditional systems.</a:t>
            </a:r>
          </a:p>
          <a:p>
            <a:pPr marL="0" indent="0" algn="just">
              <a:buNone/>
            </a:pPr>
            <a:r>
              <a:rPr lang="en-US" sz="2000" dirty="0" smtClean="0">
                <a:latin typeface="Garamond" pitchFamily="18" charset="0"/>
              </a:rPr>
              <a:t>This is one reason why more and more banks and governments are gradually beginning to embrace this technology, regulating, as much as possible, its secure use, without stifling innovation.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400" b="1" dirty="0" smtClean="0">
                <a:solidFill>
                  <a:srgbClr val="FF0000"/>
                </a:solidFill>
                <a:latin typeface="Garamond" pitchFamily="18" charset="0"/>
              </a:rPr>
              <a:t>A HISTORY OF SMART CONTRACTS</a:t>
            </a: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lnSpcReduction="10000"/>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r>
            <a:br>
              <a:rPr lang="en-US" sz="2000" dirty="0" smtClean="0">
                <a:latin typeface="Garamond" pitchFamily="18" charset="0"/>
              </a:rPr>
            </a:br>
            <a:endParaRPr lang="en-US" sz="2000" dirty="0" smtClean="0">
              <a:latin typeface="Garamond" pitchFamily="18" charset="0"/>
            </a:endParaRPr>
          </a:p>
          <a:p>
            <a:pPr marL="0" indent="0" algn="just">
              <a:buNone/>
            </a:pPr>
            <a:r>
              <a:rPr lang="en-US" sz="2000" dirty="0" smtClean="0">
                <a:latin typeface="Garamond" pitchFamily="18" charset="0"/>
              </a:rPr>
              <a:t>In 1994, cryptographer and lawyer Nick </a:t>
            </a:r>
            <a:r>
              <a:rPr lang="en-US" sz="2000" dirty="0" err="1" smtClean="0">
                <a:latin typeface="Garamond" pitchFamily="18" charset="0"/>
              </a:rPr>
              <a:t>Szabo</a:t>
            </a:r>
            <a:r>
              <a:rPr lang="en-US" sz="2000" dirty="0" smtClean="0">
                <a:latin typeface="Garamond" pitchFamily="18" charset="0"/>
              </a:rPr>
              <a:t> discovered that the decentralized ledger could be used for smart contracts. These types of contracts were at the time called self-executing contracts or digital contracts. In this way, the contracts could be translated into programming code, stored, and replicated on the system, and supervised by the computer network running the blockchain .</a:t>
            </a:r>
          </a:p>
          <a:p>
            <a:pPr marL="0" indent="0" algn="just">
              <a:buNone/>
            </a:pPr>
            <a:r>
              <a:rPr lang="en-US" sz="2000" dirty="0" smtClean="0">
                <a:latin typeface="Garamond" pitchFamily="18" charset="0"/>
              </a:rPr>
              <a:t>This allowed "feedback" from the ledger such as the transfer of money and  receipt of a product or service.  In 2018, a United States Senate report stated:</a:t>
            </a:r>
          </a:p>
          <a:p>
            <a:pPr marL="0" indent="0" algn="just">
              <a:buNone/>
            </a:pPr>
            <a:r>
              <a:rPr lang="en-US" sz="2000" dirty="0" smtClean="0">
                <a:latin typeface="Garamond" pitchFamily="18" charset="0"/>
              </a:rPr>
              <a:t>“While smart contracts may seem new, the concept is rooted in basic contract law. Usually, the judicial system judges contractual disputes and enforces terms, but it is also common to have another method of arbitration, particularly for international transactions. With smart contracts, a program applies the contract built into the code. "</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
            </a:r>
            <a:br>
              <a:rPr lang="en-US" sz="2400" b="1" dirty="0" smtClean="0">
                <a:solidFill>
                  <a:srgbClr val="FF0000"/>
                </a:solidFill>
                <a:latin typeface="Garamond" pitchFamily="18" charset="0"/>
              </a:rPr>
            </a:br>
            <a:r>
              <a:rPr lang="en-US" sz="2400" b="1" dirty="0" smtClean="0">
                <a:solidFill>
                  <a:srgbClr val="FF0000"/>
                </a:solidFill>
                <a:latin typeface="Garamond" pitchFamily="18" charset="0"/>
              </a:rPr>
              <a:t>THEREFORE, THE SHARED DEFINITION OF SMART CONTRACT IS AS FOLLOWS:</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r>
              <a:rPr lang="en-US" sz="2000" dirty="0" smtClean="0">
                <a:latin typeface="Garamond" pitchFamily="18" charset="0"/>
              </a:rPr>
              <a:t> </a:t>
            </a:r>
          </a:p>
          <a:p>
            <a:pPr marL="0" indent="0" algn="just">
              <a:buNone/>
            </a:pPr>
            <a:r>
              <a:rPr lang="en-US" sz="2000" dirty="0" smtClean="0">
                <a:latin typeface="Garamond" pitchFamily="18" charset="0"/>
              </a:rPr>
              <a:t>The main function of the smart contract is exchanging money, shares, or  type of goods  in a transparent way without the use of an intermediary.</a:t>
            </a:r>
          </a:p>
          <a:p>
            <a:pPr marL="0" indent="0" algn="just">
              <a:buNone/>
            </a:pPr>
            <a:r>
              <a:rPr lang="en-US" sz="2000" dirty="0" smtClean="0">
                <a:latin typeface="Garamond" pitchFamily="18" charset="0"/>
              </a:rPr>
              <a:t>Currently, the best way to explain how smart contracts work is to take the example of an automatic document distributor. To obtain documents, one must go to an accountant, pay, and then wait for the documents to be delivered. With a smart contract, one only need make a </a:t>
            </a:r>
            <a:r>
              <a:rPr lang="en-US" sz="2000" dirty="0" err="1" smtClean="0">
                <a:latin typeface="Garamond" pitchFamily="18" charset="0"/>
              </a:rPr>
              <a:t>cryptocurrency</a:t>
            </a:r>
            <a:r>
              <a:rPr lang="en-US" sz="2000" dirty="0" smtClean="0">
                <a:latin typeface="Garamond" pitchFamily="18" charset="0"/>
              </a:rPr>
              <a:t> payment to the distributor and the document will be instantly transferred to the account. The benefits of smart contracts do not end here. These contracts are not only able to define the rules and possible penalties of an agreement (just as in a classic contract) but they automatically apply those rules.</a:t>
            </a:r>
          </a:p>
          <a:p>
            <a:pPr marL="0" indent="0" algn="just">
              <a:buNone/>
            </a:pPr>
            <a:r>
              <a:rPr lang="en-US" sz="2000" dirty="0" smtClean="0">
                <a:latin typeface="Garamond" pitchFamily="18" charset="0"/>
              </a:rPr>
              <a:t/>
            </a:r>
            <a:br>
              <a:rPr lang="en-US" sz="2000" dirty="0" smtClean="0">
                <a:latin typeface="Garamond" pitchFamily="18" charset="0"/>
              </a:rPr>
            </a:b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400" b="1" dirty="0" smtClean="0">
                <a:solidFill>
                  <a:srgbClr val="FF0000"/>
                </a:solidFill>
                <a:latin typeface="Garamond" pitchFamily="18" charset="0"/>
              </a:rPr>
              <a:t>VITALIK BUTERIN AND SMART CONTRACTS</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err="1" smtClean="0">
                <a:latin typeface="Garamond" pitchFamily="18" charset="0"/>
              </a:rPr>
              <a:t>Vitalik</a:t>
            </a:r>
            <a:r>
              <a:rPr lang="en-US" sz="2000" dirty="0" smtClean="0">
                <a:latin typeface="Garamond" pitchFamily="18" charset="0"/>
              </a:rPr>
              <a:t> </a:t>
            </a:r>
            <a:r>
              <a:rPr lang="en-US" sz="2000" dirty="0" err="1" smtClean="0">
                <a:latin typeface="Garamond" pitchFamily="18" charset="0"/>
              </a:rPr>
              <a:t>Buterin</a:t>
            </a:r>
            <a:r>
              <a:rPr lang="en-US" sz="2000" dirty="0" smtClean="0">
                <a:latin typeface="Garamond" pitchFamily="18" charset="0"/>
              </a:rPr>
              <a:t>, the inventor of </a:t>
            </a:r>
            <a:r>
              <a:rPr lang="en-US" sz="2000" dirty="0" err="1" smtClean="0">
                <a:latin typeface="Garamond" pitchFamily="18" charset="0"/>
              </a:rPr>
              <a:t>Ethereum</a:t>
            </a:r>
            <a:r>
              <a:rPr lang="en-US" sz="2000" dirty="0" smtClean="0">
                <a:latin typeface="Garamond" pitchFamily="18" charset="0"/>
              </a:rPr>
              <a:t>, coined and  popularized the term Smart Contract, an expression that is often used as a synonym for </a:t>
            </a:r>
            <a:r>
              <a:rPr lang="en-US" sz="2000" dirty="0" err="1" smtClean="0">
                <a:latin typeface="Garamond" pitchFamily="18" charset="0"/>
              </a:rPr>
              <a:t>cryptocurrencies</a:t>
            </a:r>
            <a:r>
              <a:rPr lang="en-US" sz="2000" dirty="0" smtClean="0">
                <a:latin typeface="Garamond" pitchFamily="18" charset="0"/>
              </a:rPr>
              <a:t> like </a:t>
            </a:r>
            <a:r>
              <a:rPr lang="en-US" sz="2000" dirty="0" err="1" smtClean="0">
                <a:latin typeface="Garamond" pitchFamily="18" charset="0"/>
              </a:rPr>
              <a:t>Ethereum</a:t>
            </a:r>
            <a:r>
              <a:rPr lang="en-US" sz="2000" dirty="0" smtClean="0">
                <a:latin typeface="Garamond" pitchFamily="18" charset="0"/>
              </a:rPr>
              <a:t>.</a:t>
            </a:r>
          </a:p>
          <a:p>
            <a:pPr marL="0" indent="0" algn="just">
              <a:buNone/>
            </a:pPr>
            <a:r>
              <a:rPr lang="en-US" sz="2000" dirty="0" smtClean="0">
                <a:latin typeface="Garamond" pitchFamily="18" charset="0"/>
              </a:rPr>
              <a:t>"A smart contract is a computer program that directly controls a digital asset .... The smart contract approach is that a legal contract immediately transfers the digital asset into a program, the program will then automatically execute the code, validate a condition, and determine whether the asset should go to one person or return to the other person, or whether it should be immediately refunded to the person who sent it, or a combination thereof.”</a:t>
            </a:r>
          </a:p>
          <a:p>
            <a:pPr marL="0" indent="0" algn="just">
              <a:buNone/>
            </a:pPr>
            <a:r>
              <a:rPr lang="en-US" sz="2000" dirty="0" smtClean="0">
                <a:latin typeface="Garamond" pitchFamily="18" charset="0"/>
              </a:rPr>
              <a:t>This was the idea (</a:t>
            </a:r>
            <a:r>
              <a:rPr lang="en-US" sz="2000" dirty="0" err="1" smtClean="0">
                <a:latin typeface="Garamond" pitchFamily="18" charset="0"/>
              </a:rPr>
              <a:t>Vitalik</a:t>
            </a:r>
            <a:r>
              <a:rPr lang="en-US" sz="2000" dirty="0" smtClean="0">
                <a:latin typeface="Garamond" pitchFamily="18" charset="0"/>
              </a:rPr>
              <a:t> </a:t>
            </a:r>
            <a:r>
              <a:rPr lang="en-US" sz="2000" dirty="0" err="1" smtClean="0">
                <a:latin typeface="Garamond" pitchFamily="18" charset="0"/>
              </a:rPr>
              <a:t>Buterin</a:t>
            </a:r>
            <a:r>
              <a:rPr lang="en-US" sz="2000" dirty="0" smtClean="0">
                <a:latin typeface="Garamond" pitchFamily="18" charset="0"/>
              </a:rPr>
              <a:t>).</a:t>
            </a:r>
          </a:p>
          <a:p>
            <a:pPr marL="0" indent="0" algn="just">
              <a:buNone/>
            </a:pPr>
            <a:r>
              <a:rPr lang="en-US" sz="2000" dirty="0" smtClean="0">
                <a:latin typeface="Garamond" pitchFamily="18" charset="0"/>
              </a:rPr>
              <a:t/>
            </a:r>
            <a:br>
              <a:rPr lang="en-US" sz="2000" dirty="0" smtClean="0">
                <a:latin typeface="Garamond" pitchFamily="18" charset="0"/>
              </a:rPr>
            </a:b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
            </a:r>
            <a:br>
              <a:rPr lang="en-US" sz="2000" dirty="0" smtClean="0">
                <a:latin typeface="Garamond" pitchFamily="18" charset="0"/>
              </a:rPr>
            </a:br>
            <a:r>
              <a:rPr lang="en-US" sz="2000" dirty="0" smtClean="0">
                <a:latin typeface="Garamond" pitchFamily="18" charset="0"/>
              </a:rPr>
              <a:t> Further, regarding the </a:t>
            </a:r>
            <a:r>
              <a:rPr lang="en-US" sz="2000" dirty="0" err="1" smtClean="0">
                <a:latin typeface="Garamond" pitchFamily="18" charset="0"/>
              </a:rPr>
              <a:t>Ethereum</a:t>
            </a:r>
            <a:r>
              <a:rPr lang="en-US" sz="2000" dirty="0" smtClean="0">
                <a:latin typeface="Garamond" pitchFamily="18" charset="0"/>
              </a:rPr>
              <a:t> project, </a:t>
            </a:r>
            <a:r>
              <a:rPr lang="en-US" sz="2000" dirty="0" err="1" smtClean="0">
                <a:latin typeface="Garamond" pitchFamily="18" charset="0"/>
              </a:rPr>
              <a:t>Buterin</a:t>
            </a:r>
            <a:r>
              <a:rPr lang="en-US" sz="2000" dirty="0" smtClean="0">
                <a:latin typeface="Garamond" pitchFamily="18" charset="0"/>
              </a:rPr>
              <a:t> declared:</a:t>
            </a:r>
          </a:p>
          <a:p>
            <a:pPr marL="0" indent="0" algn="just">
              <a:buNone/>
            </a:pPr>
            <a:r>
              <a:rPr lang="en-US" sz="2000" dirty="0" smtClean="0">
                <a:latin typeface="Garamond" pitchFamily="18" charset="0"/>
              </a:rPr>
              <a:t>"I am truly grateful to have the opportunity to work in such an interesting and interdisciplinary industrial area, where I have the opportunity to interact with leading cryptographers, mathematicians, and economists in their fields, to help build software and tools that already interest tens of thousands of people around the world and to work on advanced problems in computer science, economics, and philosophy every week.”</a:t>
            </a:r>
          </a:p>
          <a:p>
            <a:pPr marL="0" indent="0" algn="just">
              <a:buNone/>
            </a:pPr>
            <a:r>
              <a:rPr lang="en-US" sz="2000" dirty="0" smtClean="0">
                <a:latin typeface="Garamond" pitchFamily="18" charset="0"/>
              </a:rPr>
              <a:t>In the light of what has been mentioned so far, the multidisciplinary aspect of the phenomenon emerges, with the collaboration of numerous scientific areas, in the study and development of blockchain technologies and their applications.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400" b="1" dirty="0" smtClean="0">
                <a:solidFill>
                  <a:srgbClr val="FF0000"/>
                </a:solidFill>
                <a:latin typeface="Garamond" pitchFamily="18" charset="0"/>
              </a:rPr>
              <a:t>ETHEREUM:	CRYPTOCURRENCY WITH	SMART CONTRACTS</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most famous </a:t>
            </a:r>
            <a:r>
              <a:rPr lang="en-US" sz="2000" dirty="0" err="1" smtClean="0">
                <a:latin typeface="Garamond" pitchFamily="18" charset="0"/>
              </a:rPr>
              <a:t>cryptocurrency</a:t>
            </a:r>
            <a:r>
              <a:rPr lang="en-US" sz="2000" dirty="0" smtClean="0">
                <a:latin typeface="Garamond" pitchFamily="18" charset="0"/>
              </a:rPr>
              <a:t> using a full version of a smart contract is </a:t>
            </a:r>
            <a:r>
              <a:rPr lang="en-US" sz="2000" dirty="0" err="1" smtClean="0">
                <a:latin typeface="Garamond" pitchFamily="18" charset="0"/>
              </a:rPr>
              <a:t>Ethereum</a:t>
            </a:r>
            <a:r>
              <a:rPr lang="en-US" sz="2000" dirty="0" smtClean="0">
                <a:latin typeface="Garamond" pitchFamily="18" charset="0"/>
              </a:rPr>
              <a:t>.</a:t>
            </a:r>
          </a:p>
          <a:p>
            <a:pPr marL="0" indent="0" algn="just">
              <a:buNone/>
            </a:pPr>
            <a:r>
              <a:rPr lang="en-US" sz="2000" dirty="0" err="1" smtClean="0">
                <a:latin typeface="Garamond" pitchFamily="18" charset="0"/>
              </a:rPr>
              <a:t>Vitalik</a:t>
            </a:r>
            <a:r>
              <a:rPr lang="en-US" sz="2000" dirty="0" smtClean="0">
                <a:latin typeface="Garamond" pitchFamily="18" charset="0"/>
              </a:rPr>
              <a:t> </a:t>
            </a:r>
            <a:r>
              <a:rPr lang="en-US" sz="2000" dirty="0" err="1" smtClean="0">
                <a:latin typeface="Garamond" pitchFamily="18" charset="0"/>
              </a:rPr>
              <a:t>Buterin</a:t>
            </a:r>
            <a:r>
              <a:rPr lang="en-US" sz="2000" dirty="0" smtClean="0">
                <a:latin typeface="Garamond" pitchFamily="18" charset="0"/>
              </a:rPr>
              <a:t> proposed this </a:t>
            </a:r>
            <a:r>
              <a:rPr lang="en-US" sz="2000" dirty="0" err="1" smtClean="0">
                <a:latin typeface="Garamond" pitchFamily="18" charset="0"/>
              </a:rPr>
              <a:t>cryptocurrency</a:t>
            </a:r>
            <a:r>
              <a:rPr lang="en-US" sz="2000" dirty="0" smtClean="0">
                <a:latin typeface="Garamond" pitchFamily="18" charset="0"/>
              </a:rPr>
              <a:t> in 2013 as "a blockchain designed specifically for smart contracts." </a:t>
            </a:r>
          </a:p>
          <a:p>
            <a:pPr marL="0" indent="0" algn="just">
              <a:buNone/>
            </a:pPr>
            <a:r>
              <a:rPr lang="en-US" sz="2000" dirty="0" err="1" smtClean="0">
                <a:latin typeface="Garamond" pitchFamily="18" charset="0"/>
              </a:rPr>
              <a:t>Ethereum</a:t>
            </a:r>
            <a:r>
              <a:rPr lang="en-US" sz="2000" dirty="0" smtClean="0">
                <a:latin typeface="Garamond" pitchFamily="18" charset="0"/>
              </a:rPr>
              <a:t> is a computer network that enforces, executes, and validates smart contracts.</a:t>
            </a:r>
          </a:p>
          <a:p>
            <a:pPr marL="0" indent="0" algn="just">
              <a:buNone/>
            </a:pPr>
            <a:r>
              <a:rPr lang="en-US" sz="2000" dirty="0" smtClean="0">
                <a:latin typeface="Garamond" pitchFamily="18" charset="0"/>
              </a:rPr>
              <a:t>Transaction validation is achieved through a decentralized network of thousands upon thousands of </a:t>
            </a:r>
            <a:r>
              <a:rPr lang="en-US" sz="2000" dirty="0" err="1" smtClean="0">
                <a:latin typeface="Garamond" pitchFamily="18" charset="0"/>
              </a:rPr>
              <a:t>Ethereum</a:t>
            </a:r>
            <a:r>
              <a:rPr lang="en-US" sz="2000" dirty="0" smtClean="0">
                <a:latin typeface="Garamond" pitchFamily="18" charset="0"/>
              </a:rPr>
              <a:t> nodes, scattered all over the world.</a:t>
            </a:r>
          </a:p>
          <a:p>
            <a:pPr marL="0" indent="0" algn="just">
              <a:buNone/>
            </a:pPr>
            <a:r>
              <a:rPr lang="en-US" sz="2000" dirty="0" smtClean="0">
                <a:latin typeface="Garamond" pitchFamily="18" charset="0"/>
              </a:rPr>
              <a:t>The network structure allows decentralized applications (so-called </a:t>
            </a:r>
            <a:r>
              <a:rPr lang="en-US" sz="2000" dirty="0" err="1" smtClean="0">
                <a:latin typeface="Garamond" pitchFamily="18" charset="0"/>
              </a:rPr>
              <a:t>DApps</a:t>
            </a:r>
            <a:r>
              <a:rPr lang="en-US" sz="2000" dirty="0" smtClean="0">
                <a:latin typeface="Garamond" pitchFamily="18" charset="0"/>
              </a:rPr>
              <a:t> ) to be executed without obstacles, inefficiencies, censorship, or  interference from third parties.</a:t>
            </a:r>
          </a:p>
          <a:p>
            <a:pPr marL="0" indent="0" algn="just">
              <a:buNone/>
            </a:pPr>
            <a:r>
              <a:rPr lang="en-US" sz="2000" dirty="0" smtClean="0">
                <a:latin typeface="Garamond" pitchFamily="18" charset="0"/>
              </a:rPr>
              <a:t/>
            </a:r>
            <a:br>
              <a:rPr lang="en-US" sz="2000" dirty="0" smtClean="0">
                <a:latin typeface="Garamond" pitchFamily="18" charset="0"/>
              </a:rPr>
            </a:b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r>
              <a:rPr lang="en-US" sz="2000" dirty="0" smtClean="0">
                <a:latin typeface="Garamond" pitchFamily="18" charset="0"/>
              </a:rPr>
              <a:t/>
            </a:r>
            <a:br>
              <a:rPr lang="en-US" sz="2000" dirty="0" smtClean="0">
                <a:latin typeface="Garamond" pitchFamily="18" charset="0"/>
              </a:rPr>
            </a:br>
            <a:r>
              <a:rPr lang="en-US" sz="2000" dirty="0" smtClean="0">
                <a:latin typeface="Garamond" pitchFamily="18" charset="0"/>
              </a:rPr>
              <a:t> This makes the applications running on this technology immutable and hack-proof.</a:t>
            </a:r>
          </a:p>
          <a:p>
            <a:pPr marL="0" indent="0" algn="just">
              <a:buNone/>
            </a:pPr>
            <a:r>
              <a:rPr lang="en-US" sz="2000" dirty="0" err="1" smtClean="0">
                <a:latin typeface="Garamond" pitchFamily="18" charset="0"/>
              </a:rPr>
              <a:t>Ethereum</a:t>
            </a:r>
            <a:r>
              <a:rPr lang="en-US" sz="2000" dirty="0" smtClean="0">
                <a:latin typeface="Garamond" pitchFamily="18" charset="0"/>
              </a:rPr>
              <a:t>, for example, can be used to create a decentralized </a:t>
            </a:r>
            <a:r>
              <a:rPr lang="en-US" sz="2000" dirty="0" err="1" smtClean="0">
                <a:latin typeface="Garamond" pitchFamily="18" charset="0"/>
              </a:rPr>
              <a:t>crowdfunding</a:t>
            </a:r>
            <a:r>
              <a:rPr lang="en-US" sz="2000" dirty="0" smtClean="0">
                <a:latin typeface="Garamond" pitchFamily="18" charset="0"/>
              </a:rPr>
              <a:t> website without intermediaries, such as the </a:t>
            </a:r>
            <a:r>
              <a:rPr lang="en-US" sz="2000" dirty="0" err="1" smtClean="0">
                <a:latin typeface="Garamond" pitchFamily="18" charset="0"/>
              </a:rPr>
              <a:t>IndieGoGo</a:t>
            </a:r>
            <a:r>
              <a:rPr lang="en-US" sz="2000" dirty="0" smtClean="0">
                <a:latin typeface="Garamond" pitchFamily="18" charset="0"/>
              </a:rPr>
              <a:t> platform.</a:t>
            </a:r>
          </a:p>
          <a:p>
            <a:pPr marL="0" indent="0" algn="just">
              <a:buNone/>
            </a:pPr>
            <a:r>
              <a:rPr lang="en-US" sz="2000" dirty="0" err="1" smtClean="0">
                <a:latin typeface="Garamond" pitchFamily="18" charset="0"/>
              </a:rPr>
              <a:t>Ethereum</a:t>
            </a:r>
            <a:r>
              <a:rPr lang="en-US" sz="2000" dirty="0" smtClean="0">
                <a:latin typeface="Garamond" pitchFamily="18" charset="0"/>
              </a:rPr>
              <a:t> users can invest in a business idea by sending money to an </a:t>
            </a:r>
            <a:r>
              <a:rPr lang="en-US" sz="2000" dirty="0" err="1" smtClean="0">
                <a:latin typeface="Garamond" pitchFamily="18" charset="0"/>
              </a:rPr>
              <a:t>Ethereum</a:t>
            </a:r>
            <a:r>
              <a:rPr lang="en-US" sz="2000" dirty="0" smtClean="0">
                <a:latin typeface="Garamond" pitchFamily="18" charset="0"/>
              </a:rPr>
              <a:t> smart wallet address, with the assurance that if the entrepreneur is unable to raise a certain amount of funding, within a certain period of time, the smart contract can automatically return all investors their money.</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EXAMPLE :</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Instead of paying 5% to </a:t>
            </a:r>
            <a:r>
              <a:rPr lang="en-US" sz="2000" dirty="0" err="1" smtClean="0">
                <a:latin typeface="Garamond" pitchFamily="18" charset="0"/>
              </a:rPr>
              <a:t>IndieGoGo</a:t>
            </a:r>
            <a:r>
              <a:rPr lang="en-US" sz="2000" dirty="0" smtClean="0">
                <a:latin typeface="Garamond" pitchFamily="18" charset="0"/>
              </a:rPr>
              <a:t>, investors will only pay a  5 cents  fee to the </a:t>
            </a:r>
            <a:r>
              <a:rPr lang="en-US" sz="2000" dirty="0" err="1" smtClean="0">
                <a:latin typeface="Garamond" pitchFamily="18" charset="0"/>
              </a:rPr>
              <a:t>Ethereum</a:t>
            </a:r>
            <a:r>
              <a:rPr lang="en-US" sz="2000" dirty="0" smtClean="0">
                <a:latin typeface="Garamond" pitchFamily="18" charset="0"/>
              </a:rPr>
              <a:t> network to process the transaction through a smart contract. If the company that launches the </a:t>
            </a:r>
            <a:r>
              <a:rPr lang="en-US" sz="2000" dirty="0" err="1" smtClean="0">
                <a:latin typeface="Garamond" pitchFamily="18" charset="0"/>
              </a:rPr>
              <a:t>crowdfunding</a:t>
            </a:r>
            <a:r>
              <a:rPr lang="en-US" sz="2000" dirty="0" smtClean="0">
                <a:latin typeface="Garamond" pitchFamily="18" charset="0"/>
              </a:rPr>
              <a:t> project collects the amount established with </a:t>
            </a:r>
            <a:r>
              <a:rPr lang="en-US" sz="2000" dirty="0" err="1" smtClean="0">
                <a:latin typeface="Garamond" pitchFamily="18" charset="0"/>
              </a:rPr>
              <a:t>Ethereum</a:t>
            </a:r>
            <a:r>
              <a:rPr lang="en-US" sz="2000" dirty="0" smtClean="0">
                <a:latin typeface="Garamond" pitchFamily="18" charset="0"/>
              </a:rPr>
              <a:t> (let's imagine 10 million </a:t>
            </a:r>
            <a:r>
              <a:rPr lang="en-US" sz="2000" dirty="0" err="1" smtClean="0">
                <a:latin typeface="Garamond" pitchFamily="18" charset="0"/>
              </a:rPr>
              <a:t>euros</a:t>
            </a:r>
            <a:r>
              <a:rPr lang="en-US" sz="2000" dirty="0" smtClean="0">
                <a:latin typeface="Garamond" pitchFamily="18" charset="0"/>
              </a:rPr>
              <a:t>), it will be able to save half a million </a:t>
            </a:r>
            <a:r>
              <a:rPr lang="en-US" sz="2000" dirty="0" err="1" smtClean="0">
                <a:latin typeface="Garamond" pitchFamily="18" charset="0"/>
              </a:rPr>
              <a:t>euros</a:t>
            </a:r>
            <a:r>
              <a:rPr lang="en-US" sz="2000" dirty="0" smtClean="0">
                <a:latin typeface="Garamond" pitchFamily="18" charset="0"/>
              </a:rPr>
              <a:t> in commissions.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400" b="1" dirty="0" smtClean="0">
                <a:solidFill>
                  <a:srgbClr val="FF0000"/>
                </a:solidFill>
                <a:latin typeface="Garamond" pitchFamily="18" charset="0"/>
              </a:rPr>
              <a:t>COMPANIES THAT USE SMART CONTRACTS</a:t>
            </a:r>
            <a:br>
              <a:rPr lang="en-US"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 web search will reveal numerous projects implementing smart contracts through the blockchain.</a:t>
            </a:r>
          </a:p>
          <a:p>
            <a:pPr marL="0" indent="0" algn="just">
              <a:buNone/>
            </a:pPr>
            <a:r>
              <a:rPr lang="en-US" sz="2000" dirty="0" err="1" smtClean="0">
                <a:latin typeface="Garamond" pitchFamily="18" charset="0"/>
              </a:rPr>
              <a:t>Ethereum</a:t>
            </a:r>
            <a:r>
              <a:rPr lang="en-US" sz="2000" dirty="0" smtClean="0">
                <a:latin typeface="Garamond" pitchFamily="18" charset="0"/>
              </a:rPr>
              <a:t> is one of the better-known examples, but there are many  other companies that are exploiting the power of automatic digital contracts in the best possible way. These include: Dash, </a:t>
            </a:r>
            <a:r>
              <a:rPr lang="en-US" sz="2000" dirty="0" err="1" smtClean="0">
                <a:latin typeface="Garamond" pitchFamily="18" charset="0"/>
              </a:rPr>
              <a:t>Dfinity</a:t>
            </a:r>
            <a:r>
              <a:rPr lang="en-US" sz="2000" dirty="0" smtClean="0">
                <a:latin typeface="Garamond" pitchFamily="18" charset="0"/>
              </a:rPr>
              <a:t>, </a:t>
            </a:r>
            <a:r>
              <a:rPr lang="en-US" sz="2000" dirty="0" err="1" smtClean="0">
                <a:latin typeface="Garamond" pitchFamily="18" charset="0"/>
              </a:rPr>
              <a:t>Etherisc</a:t>
            </a:r>
            <a:r>
              <a:rPr lang="en-US" sz="2000" dirty="0" smtClean="0">
                <a:latin typeface="Garamond" pitchFamily="18" charset="0"/>
              </a:rPr>
              <a:t>, EOS, and </a:t>
            </a:r>
            <a:r>
              <a:rPr lang="en-US" sz="2000" dirty="0" err="1" smtClean="0">
                <a:latin typeface="Garamond" pitchFamily="18" charset="0"/>
              </a:rPr>
              <a:t>Polkadot</a:t>
            </a:r>
            <a:r>
              <a:rPr lang="en-US" sz="2000" dirty="0" smtClean="0">
                <a:latin typeface="Garamond" pitchFamily="18" charset="0"/>
              </a:rPr>
              <a:t>, just to name a few.</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SCAMS: BRIEFLY MENTIONED</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r>
              <a:rPr lang="en-US" sz="2000" dirty="0" smtClean="0">
                <a:latin typeface="Garamond" pitchFamily="18" charset="0"/>
              </a:rPr>
              <a:t>As expected, there have been several scams to the detriment of users in the blockchain world.</a:t>
            </a:r>
          </a:p>
          <a:p>
            <a:pPr marL="0" indent="0" algn="just">
              <a:buNone/>
            </a:pPr>
            <a:r>
              <a:rPr lang="en-US" sz="2000" dirty="0" smtClean="0">
                <a:latin typeface="Garamond" pitchFamily="18" charset="0"/>
              </a:rPr>
              <a:t>Since the introduction of this technology, it is estimated that over 2 billion </a:t>
            </a:r>
            <a:r>
              <a:rPr lang="en-US" sz="2000" dirty="0" err="1" smtClean="0">
                <a:latin typeface="Garamond" pitchFamily="18" charset="0"/>
              </a:rPr>
              <a:t>euros</a:t>
            </a:r>
            <a:r>
              <a:rPr lang="en-US" sz="2000" dirty="0" smtClean="0">
                <a:latin typeface="Garamond" pitchFamily="18" charset="0"/>
              </a:rPr>
              <a:t> have been frozen, stolen, destroyed, or otherwise compromised due to cyber attacks.</a:t>
            </a:r>
          </a:p>
          <a:p>
            <a:pPr marL="0" indent="0" algn="just">
              <a:buNone/>
            </a:pPr>
            <a:r>
              <a:rPr lang="en-US" sz="2000" dirty="0" smtClean="0">
                <a:latin typeface="Garamond" pitchFamily="18" charset="0"/>
              </a:rPr>
              <a:t>The two largest </a:t>
            </a:r>
            <a:r>
              <a:rPr lang="en-US" sz="2000" dirty="0" err="1" smtClean="0">
                <a:latin typeface="Garamond" pitchFamily="18" charset="0"/>
              </a:rPr>
              <a:t>cryptocurrencies</a:t>
            </a:r>
            <a:r>
              <a:rPr lang="en-US" sz="2000" dirty="0" smtClean="0">
                <a:latin typeface="Garamond" pitchFamily="18" charset="0"/>
              </a:rPr>
              <a:t> (</a:t>
            </a:r>
            <a:r>
              <a:rPr lang="en-US" sz="2000" dirty="0" err="1" smtClean="0">
                <a:latin typeface="Garamond" pitchFamily="18" charset="0"/>
              </a:rPr>
              <a:t>Bitcoin</a:t>
            </a:r>
            <a:r>
              <a:rPr lang="en-US" sz="2000" dirty="0" smtClean="0">
                <a:latin typeface="Garamond" pitchFamily="18" charset="0"/>
              </a:rPr>
              <a:t> and </a:t>
            </a:r>
            <a:r>
              <a:rPr lang="en-US" sz="2000" dirty="0" err="1" smtClean="0">
                <a:latin typeface="Garamond" pitchFamily="18" charset="0"/>
              </a:rPr>
              <a:t>Ethereum</a:t>
            </a:r>
            <a:r>
              <a:rPr lang="en-US" sz="2000" dirty="0" smtClean="0">
                <a:latin typeface="Garamond" pitchFamily="18" charset="0"/>
              </a:rPr>
              <a:t>), in terms of market capitalization, have recorded losses of around 2 million BTC and 5 million ETH over the past seven years.</a:t>
            </a:r>
          </a:p>
          <a:p>
            <a:pPr marL="0" indent="0" algn="just">
              <a:buNone/>
            </a:pPr>
            <a:r>
              <a:rPr lang="en-US" sz="2000" dirty="0" smtClean="0">
                <a:latin typeface="Garamond" pitchFamily="18" charset="0"/>
              </a:rPr>
              <a:t>Among the biggest mistakes in the </a:t>
            </a:r>
            <a:r>
              <a:rPr lang="en-US" sz="2000" dirty="0" err="1" smtClean="0">
                <a:latin typeface="Garamond" pitchFamily="18" charset="0"/>
              </a:rPr>
              <a:t>Ethereum</a:t>
            </a:r>
            <a:r>
              <a:rPr lang="en-US" sz="2000" dirty="0" smtClean="0">
                <a:latin typeface="Garamond" pitchFamily="18" charset="0"/>
              </a:rPr>
              <a:t> ecosystem, the case of the hack on DAO deserves mention.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THE DAO CASE</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DAO was a smart contract, launched on the </a:t>
            </a:r>
            <a:r>
              <a:rPr lang="en-US" sz="2000" dirty="0" err="1" smtClean="0">
                <a:latin typeface="Garamond" pitchFamily="18" charset="0"/>
              </a:rPr>
              <a:t>Ethereum</a:t>
            </a:r>
            <a:r>
              <a:rPr lang="en-US" sz="2000" dirty="0" smtClean="0">
                <a:latin typeface="Garamond" pitchFamily="18" charset="0"/>
              </a:rPr>
              <a:t> network in May 2016. With the equivalent of over $162 million in Ether, it  became the largest </a:t>
            </a:r>
            <a:r>
              <a:rPr lang="en-US" sz="2000" dirty="0" err="1" smtClean="0">
                <a:latin typeface="Garamond" pitchFamily="18" charset="0"/>
              </a:rPr>
              <a:t>crowdfunding</a:t>
            </a:r>
            <a:r>
              <a:rPr lang="en-US" sz="2000" dirty="0" smtClean="0">
                <a:latin typeface="Garamond" pitchFamily="18" charset="0"/>
              </a:rPr>
              <a:t> project ever in the world of </a:t>
            </a:r>
            <a:r>
              <a:rPr lang="en-US" sz="2000" dirty="0" err="1" smtClean="0">
                <a:latin typeface="Garamond" pitchFamily="18" charset="0"/>
              </a:rPr>
              <a:t>cryptocurrencies</a:t>
            </a:r>
            <a:r>
              <a:rPr lang="en-US" sz="2000" dirty="0" smtClean="0">
                <a:latin typeface="Garamond" pitchFamily="18" charset="0"/>
              </a:rPr>
              <a:t>. However, on June 17, 2016, a hacker managed to break into the DAO  network, exploiting a bug in its software. This allowed him to steal funds from the </a:t>
            </a:r>
            <a:r>
              <a:rPr lang="en-US" sz="2000" dirty="0" err="1" smtClean="0">
                <a:latin typeface="Garamond" pitchFamily="18" charset="0"/>
              </a:rPr>
              <a:t>Ethereum</a:t>
            </a:r>
            <a:r>
              <a:rPr lang="en-US" sz="2000" dirty="0" smtClean="0">
                <a:latin typeface="Garamond" pitchFamily="18" charset="0"/>
              </a:rPr>
              <a:t> token pool owned by the DAO network. In the first two hours of the  attack, 3.6 million ETH tokens were stolen.</a:t>
            </a:r>
          </a:p>
          <a:p>
            <a:pPr marL="0" indent="0" algn="just">
              <a:buNone/>
            </a:pPr>
            <a:r>
              <a:rPr lang="en-US" sz="2000" dirty="0" smtClean="0">
                <a:latin typeface="Garamond" pitchFamily="18" charset="0"/>
              </a:rPr>
              <a:t>The team and community behind </a:t>
            </a:r>
            <a:r>
              <a:rPr lang="en-US" sz="2000" dirty="0" err="1" smtClean="0">
                <a:latin typeface="Garamond" pitchFamily="18" charset="0"/>
              </a:rPr>
              <a:t>Ethereum</a:t>
            </a:r>
            <a:r>
              <a:rPr lang="en-US" sz="2000" dirty="0" smtClean="0">
                <a:latin typeface="Garamond" pitchFamily="18" charset="0"/>
              </a:rPr>
              <a:t> rushed to fix the bug and responded quickly, presenting multiple proposals on how to deal with the attack.</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Due to the architecture of the DAO, the stolen </a:t>
            </a:r>
            <a:r>
              <a:rPr lang="en-US" sz="2000" dirty="0" err="1" smtClean="0">
                <a:latin typeface="Garamond" pitchFamily="18" charset="0"/>
              </a:rPr>
              <a:t>Ethereum</a:t>
            </a:r>
            <a:r>
              <a:rPr lang="en-US" sz="2000" dirty="0" smtClean="0">
                <a:latin typeface="Garamond" pitchFamily="18" charset="0"/>
              </a:rPr>
              <a:t> funds were segregated into another DAO (Child DAO), with an additional smart contract, which required a holding period of 28 days, before the hacker could withdraw and launder all funds.</a:t>
            </a:r>
          </a:p>
          <a:p>
            <a:pPr marL="0" indent="0" algn="just">
              <a:buNone/>
            </a:pPr>
            <a:r>
              <a:rPr lang="en-US" sz="2000" dirty="0" smtClean="0">
                <a:latin typeface="Garamond" pitchFamily="18" charset="0"/>
              </a:rPr>
              <a:t>This gave the </a:t>
            </a:r>
            <a:r>
              <a:rPr lang="en-US" sz="2000" dirty="0" err="1" smtClean="0">
                <a:latin typeface="Garamond" pitchFamily="18" charset="0"/>
              </a:rPr>
              <a:t>Ethereum</a:t>
            </a:r>
            <a:r>
              <a:rPr lang="en-US" sz="2000" dirty="0" smtClean="0">
                <a:latin typeface="Garamond" pitchFamily="18" charset="0"/>
              </a:rPr>
              <a:t> team enough time to decide how to move.</a:t>
            </a:r>
          </a:p>
          <a:p>
            <a:pPr marL="0" indent="0" algn="just">
              <a:buNone/>
            </a:pPr>
            <a:r>
              <a:rPr lang="en-US" sz="2000" dirty="0" err="1" smtClean="0">
                <a:latin typeface="Garamond" pitchFamily="18" charset="0"/>
              </a:rPr>
              <a:t>Vitalik</a:t>
            </a:r>
            <a:r>
              <a:rPr lang="en-US" sz="2000" dirty="0" smtClean="0">
                <a:latin typeface="Garamond" pitchFamily="18" charset="0"/>
              </a:rPr>
              <a:t> </a:t>
            </a:r>
            <a:r>
              <a:rPr lang="en-US" sz="2000" dirty="0" err="1" smtClean="0">
                <a:latin typeface="Garamond" pitchFamily="18" charset="0"/>
              </a:rPr>
              <a:t>Buterin</a:t>
            </a:r>
            <a:r>
              <a:rPr lang="en-US" sz="2000" dirty="0" smtClean="0">
                <a:latin typeface="Garamond" pitchFamily="18" charset="0"/>
              </a:rPr>
              <a:t>, creator of </a:t>
            </a:r>
            <a:r>
              <a:rPr lang="en-US" sz="2000" dirty="0" err="1" smtClean="0">
                <a:latin typeface="Garamond" pitchFamily="18" charset="0"/>
              </a:rPr>
              <a:t>Ethereum</a:t>
            </a:r>
            <a:r>
              <a:rPr lang="en-US" sz="2000" dirty="0" smtClean="0">
                <a:latin typeface="Garamond" pitchFamily="18" charset="0"/>
              </a:rPr>
              <a:t>, realized the gravity of the breach and released a statement assuring investors that their funds were currently safe.</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a:t>
            </a:r>
            <a:r>
              <a:rPr lang="en-US" sz="2000" dirty="0" err="1" smtClean="0">
                <a:latin typeface="Garamond" pitchFamily="18" charset="0"/>
              </a:rPr>
              <a:t>Ethereum</a:t>
            </a:r>
            <a:r>
              <a:rPr lang="en-US" sz="2000" dirty="0" smtClean="0">
                <a:latin typeface="Garamond" pitchFamily="18" charset="0"/>
              </a:rPr>
              <a:t> community then decided to "render" any transaction coming from the attacker’s account with an invalid hash, making withdrawal of the funds impossible, even after the 28 day detention period.</a:t>
            </a:r>
          </a:p>
          <a:p>
            <a:pPr marL="0" indent="0" algn="just">
              <a:buNone/>
            </a:pPr>
            <a:r>
              <a:rPr lang="en-US" sz="2000" dirty="0" smtClean="0">
                <a:latin typeface="Garamond" pitchFamily="18" charset="0"/>
              </a:rPr>
              <a:t>A new </a:t>
            </a:r>
            <a:r>
              <a:rPr lang="en-US" sz="2000" dirty="0" err="1" smtClean="0">
                <a:latin typeface="Garamond" pitchFamily="18" charset="0"/>
              </a:rPr>
              <a:t>Ethereum</a:t>
            </a:r>
            <a:r>
              <a:rPr lang="en-US" sz="2000" dirty="0" smtClean="0">
                <a:latin typeface="Garamond" pitchFamily="18" charset="0"/>
              </a:rPr>
              <a:t> platform was also created where all valid operations were run, while the hacked transaction took on the name </a:t>
            </a:r>
            <a:r>
              <a:rPr lang="en-US" sz="2000" dirty="0" err="1" smtClean="0">
                <a:latin typeface="Garamond" pitchFamily="18" charset="0"/>
              </a:rPr>
              <a:t>Ethereum</a:t>
            </a:r>
            <a:r>
              <a:rPr lang="en-US" sz="2000" dirty="0" smtClean="0">
                <a:latin typeface="Garamond" pitchFamily="18" charset="0"/>
              </a:rPr>
              <a:t> Classic, a suspended, non-functioning platform still present in the network.</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At this point, it is legitimate to demand that investing in </a:t>
            </a:r>
            <a:r>
              <a:rPr lang="en-US" sz="2000" dirty="0" err="1" smtClean="0">
                <a:latin typeface="Garamond" pitchFamily="18" charset="0"/>
              </a:rPr>
              <a:t>cryptocurrencies</a:t>
            </a:r>
            <a:r>
              <a:rPr lang="en-US" sz="2000" dirty="0" smtClean="0">
                <a:latin typeface="Garamond" pitchFamily="18" charset="0"/>
              </a:rPr>
              <a:t> be without scams.</a:t>
            </a:r>
          </a:p>
          <a:p>
            <a:pPr marL="0" indent="0" algn="just">
              <a:buNone/>
            </a:pPr>
            <a:r>
              <a:rPr lang="en-US" sz="2000" dirty="0" smtClean="0">
                <a:latin typeface="Garamond" pitchFamily="18" charset="0"/>
              </a:rPr>
              <a:t>With the success of </a:t>
            </a:r>
            <a:r>
              <a:rPr lang="en-US" sz="2000" dirty="0" err="1" smtClean="0">
                <a:latin typeface="Garamond" pitchFamily="18" charset="0"/>
              </a:rPr>
              <a:t>cryptocurrencies</a:t>
            </a:r>
            <a:r>
              <a:rPr lang="en-US" sz="2000" dirty="0" smtClean="0">
                <a:latin typeface="Garamond" pitchFamily="18" charset="0"/>
              </a:rPr>
              <a:t>, many opportunities for profit have arisen for investors. But, as we have seen, the </a:t>
            </a:r>
            <a:r>
              <a:rPr lang="en-US" sz="2000" dirty="0" err="1" smtClean="0">
                <a:latin typeface="Garamond" pitchFamily="18" charset="0"/>
              </a:rPr>
              <a:t>cryptocurrencies</a:t>
            </a:r>
            <a:r>
              <a:rPr lang="en-US" sz="2000" dirty="0" smtClean="0">
                <a:latin typeface="Garamond" pitchFamily="18" charset="0"/>
              </a:rPr>
              <a:t> universe has been marked by of all kinds scams and hacking in recent years.</a:t>
            </a:r>
          </a:p>
          <a:p>
            <a:pPr marL="0" indent="0" algn="just">
              <a:buNone/>
            </a:pPr>
            <a:r>
              <a:rPr lang="en-US" sz="2000" dirty="0" smtClean="0">
                <a:latin typeface="Garamond" pitchFamily="18" charset="0"/>
              </a:rPr>
              <a:t>Moreover, this asset, born as a completely decentralized financial instrument, does not yet have a shared governing body, organized for its protection.</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fact, there is no central authority able to supervise the work of the platforms and networks, facilitating the work of scammers.</a:t>
            </a:r>
          </a:p>
          <a:p>
            <a:pPr marL="0" indent="0" algn="just">
              <a:buNone/>
            </a:pPr>
            <a:r>
              <a:rPr lang="en-US" sz="2000" dirty="0" smtClean="0">
                <a:latin typeface="Garamond" pitchFamily="18" charset="0"/>
              </a:rPr>
              <a:t>During the past few years, criminal enterprises have sprung up to exploit and copy the popularity of mature currencies, misleading capital investors. Platforms like </a:t>
            </a:r>
            <a:r>
              <a:rPr lang="en-US" sz="2000" dirty="0" err="1" smtClean="0">
                <a:latin typeface="Garamond" pitchFamily="18" charset="0"/>
              </a:rPr>
              <a:t>Bitcoin</a:t>
            </a:r>
            <a:r>
              <a:rPr lang="en-US" sz="2000" dirty="0" smtClean="0">
                <a:latin typeface="Garamond" pitchFamily="18" charset="0"/>
              </a:rPr>
              <a:t> Future, </a:t>
            </a:r>
            <a:r>
              <a:rPr lang="en-US" sz="2000" dirty="0" err="1" smtClean="0">
                <a:latin typeface="Garamond" pitchFamily="18" charset="0"/>
              </a:rPr>
              <a:t>Bitcoin</a:t>
            </a:r>
            <a:r>
              <a:rPr lang="en-US" sz="2000" dirty="0" smtClean="0">
                <a:latin typeface="Garamond" pitchFamily="18" charset="0"/>
              </a:rPr>
              <a:t> Code, and </a:t>
            </a:r>
            <a:r>
              <a:rPr lang="en-US" sz="2000" dirty="0" err="1" smtClean="0">
                <a:latin typeface="Garamond" pitchFamily="18" charset="0"/>
              </a:rPr>
              <a:t>Bitcoin</a:t>
            </a:r>
            <a:r>
              <a:rPr lang="en-US" sz="2000" dirty="0" smtClean="0">
                <a:latin typeface="Garamond" pitchFamily="18" charset="0"/>
              </a:rPr>
              <a:t> Evolution promise easy money with </a:t>
            </a:r>
            <a:r>
              <a:rPr lang="en-US" sz="2000" dirty="0" err="1" smtClean="0">
                <a:latin typeface="Garamond" pitchFamily="18" charset="0"/>
              </a:rPr>
              <a:t>cryptocurrencies</a:t>
            </a:r>
            <a:r>
              <a:rPr lang="en-US" sz="2000" dirty="0" smtClean="0">
                <a:latin typeface="Garamond" pitchFamily="18" charset="0"/>
              </a:rPr>
              <a:t>, without any real underlying project. None of these systems work and all funds invested in them will be irretrievably lost.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Does this mean that investing in </a:t>
            </a:r>
            <a:r>
              <a:rPr lang="en-US" sz="2000" dirty="0" err="1" smtClean="0">
                <a:latin typeface="Garamond" pitchFamily="18" charset="0"/>
              </a:rPr>
              <a:t>cryptocurrencies</a:t>
            </a:r>
            <a:r>
              <a:rPr lang="en-US" sz="2000" dirty="0" smtClean="0">
                <a:latin typeface="Garamond" pitchFamily="18" charset="0"/>
              </a:rPr>
              <a:t> is dangerous? Absolutely not, but to operate safely in this sector it is important to use secure    platforms and understand which projects they finance.</a:t>
            </a:r>
          </a:p>
          <a:p>
            <a:pPr marL="0" indent="0" algn="just">
              <a:buNone/>
            </a:pPr>
            <a:r>
              <a:rPr lang="en-US" sz="2000" dirty="0" smtClean="0">
                <a:latin typeface="Garamond" pitchFamily="18" charset="0"/>
              </a:rPr>
              <a:t>In addition to being safe, these platforms must be regulated and authorized.</a:t>
            </a:r>
          </a:p>
          <a:p>
            <a:pPr marL="0" indent="0" algn="just">
              <a:buNone/>
            </a:pPr>
            <a:r>
              <a:rPr lang="en-US" sz="2000" dirty="0" smtClean="0">
                <a:latin typeface="Garamond" pitchFamily="18" charset="0"/>
              </a:rPr>
              <a:t>In fact, the best platforms comply with the various regulations for the protection of investors, such as the European Union directive 2004/39 / EC, the so-called MIFID. This directive protects deposits up to 20,000 </a:t>
            </a:r>
            <a:r>
              <a:rPr lang="en-US" sz="2000" dirty="0" err="1" smtClean="0">
                <a:latin typeface="Garamond" pitchFamily="18" charset="0"/>
              </a:rPr>
              <a:t>euros</a:t>
            </a:r>
            <a:r>
              <a:rPr lang="en-US" sz="2000" dirty="0" smtClean="0">
                <a:latin typeface="Garamond" pitchFamily="18" charset="0"/>
              </a:rPr>
              <a:t> and is helping build an integrated, effective, and competitive financial market in the European Union. This is a rule of general principles and was followed by the second level directives 2006/73 / EC and by the implementing regulation 1287/2006 / EC. These contain the technical measures aimed at operationally implementing what was defined by the MIFID.</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lnSpcReduction="10000"/>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It should be clear that this financial area needs experts, researchers, and legislators to take a position concerning the improper use of the blockchain and smart contracts since the </a:t>
            </a:r>
            <a:r>
              <a:rPr lang="en-US" sz="2000" dirty="0" err="1" smtClean="0">
                <a:latin typeface="Garamond" pitchFamily="18" charset="0"/>
              </a:rPr>
              <a:t>criminogenic</a:t>
            </a:r>
            <a:r>
              <a:rPr lang="en-US" sz="2000" dirty="0" smtClean="0">
                <a:latin typeface="Garamond" pitchFamily="18" charset="0"/>
              </a:rPr>
              <a:t> potential, mentioned above,  hinders the safe and widespread adoption of smart contracts and the blockchain technology on which they move.</a:t>
            </a:r>
          </a:p>
          <a:p>
            <a:pPr marL="0" indent="0" algn="just">
              <a:buNone/>
            </a:pPr>
            <a:r>
              <a:rPr lang="en-US" sz="2000" dirty="0" smtClean="0">
                <a:latin typeface="Garamond" pitchFamily="18" charset="0"/>
              </a:rPr>
              <a:t>The anonymity of the transaction is what makes smart contracts and </a:t>
            </a:r>
            <a:r>
              <a:rPr lang="en-US" sz="2000" dirty="0" err="1" smtClean="0">
                <a:latin typeface="Garamond" pitchFamily="18" charset="0"/>
              </a:rPr>
              <a:t>blockchains</a:t>
            </a:r>
            <a:r>
              <a:rPr lang="en-US" sz="2000" dirty="0" smtClean="0">
                <a:latin typeface="Garamond" pitchFamily="18" charset="0"/>
              </a:rPr>
              <a:t> attractive to the criminally-minded.</a:t>
            </a:r>
          </a:p>
          <a:p>
            <a:pPr marL="0" indent="0" algn="just">
              <a:buNone/>
            </a:pPr>
            <a:r>
              <a:rPr lang="en-US" sz="2000" dirty="0" smtClean="0">
                <a:latin typeface="Garamond" pitchFamily="18" charset="0"/>
              </a:rPr>
              <a:t>In the blockchain, the traceability of individual operations does not reveal the real identity of the operators. In each operation, the user is identified by a public and a private key consisting of codes.</a:t>
            </a:r>
          </a:p>
          <a:p>
            <a:pPr marL="0" indent="0" algn="just">
              <a:buNone/>
            </a:pPr>
            <a:r>
              <a:rPr lang="en-US" sz="2000" dirty="0" smtClean="0">
                <a:latin typeface="Garamond" pitchFamily="18" charset="0"/>
              </a:rPr>
              <a:t>The blockchain records the public key of its author, while the private key is available only to its owner. In general, the actual physical identity of the parties to the contract remain unknown. </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Such a situation makes it impossible to identify "the perpetrators of  crime who, after having conceived of the crime and transformed it into a code for a smart contract, remain anonymous and remove  themselves from the contract itself."</a:t>
            </a:r>
          </a:p>
          <a:p>
            <a:pPr marL="0" indent="0" algn="just">
              <a:buNone/>
            </a:pPr>
            <a:r>
              <a:rPr lang="en-US" sz="2000" dirty="0" smtClean="0">
                <a:latin typeface="Garamond" pitchFamily="18" charset="0"/>
              </a:rPr>
              <a:t>In this case, these "criminal smart contracts" and "vulnerable smart contracts," are smart contracts that facilitate the commission of crimes through </a:t>
            </a:r>
            <a:r>
              <a:rPr lang="en-US" sz="2000" dirty="0" err="1" smtClean="0">
                <a:latin typeface="Garamond" pitchFamily="18" charset="0"/>
              </a:rPr>
              <a:t>cryptocurrencies</a:t>
            </a:r>
            <a:r>
              <a:rPr lang="en-US" sz="2000" dirty="0" smtClean="0">
                <a:latin typeface="Garamond" pitchFamily="18" charset="0"/>
              </a:rPr>
              <a:t> in distributed systems.</a:t>
            </a:r>
          </a:p>
          <a:p>
            <a:pPr marL="0" indent="0" algn="just">
              <a:buNone/>
            </a:pPr>
            <a:r>
              <a:rPr lang="en-US" sz="2000" dirty="0" smtClean="0">
                <a:latin typeface="Garamond" pitchFamily="18" charset="0"/>
              </a:rPr>
              <a:t>An example of a criminal smart contract is the "key compromise criminal smart contract" which is aimed at the theft of computer keys. This contract provides for the automatic transfer of </a:t>
            </a:r>
            <a:r>
              <a:rPr lang="en-US" sz="2000" dirty="0" err="1" smtClean="0">
                <a:latin typeface="Garamond" pitchFamily="18" charset="0"/>
              </a:rPr>
              <a:t>cryptocurrency</a:t>
            </a:r>
            <a:r>
              <a:rPr lang="en-US" sz="2000" dirty="0" smtClean="0">
                <a:latin typeface="Garamond" pitchFamily="18" charset="0"/>
              </a:rPr>
              <a:t> to the person who communicates the correct private key to the smart contract.</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It is just an example of how smart contracts lend themselves to providing tools to organized crime either to finance themselves, or worse,  to commit crimes.</a:t>
            </a:r>
          </a:p>
          <a:p>
            <a:pPr marL="0" indent="0" algn="just">
              <a:buNone/>
            </a:pPr>
            <a:r>
              <a:rPr lang="en-US" sz="2000" dirty="0" smtClean="0">
                <a:latin typeface="Garamond" pitchFamily="18" charset="0"/>
              </a:rPr>
              <a:t>Even in the face of this danger, criminal law is still inadequate in tracking down the principals and prosecuting them. This is certainly a field of study that needs to work vigilantly on improving legislation.</a:t>
            </a:r>
          </a:p>
          <a:p>
            <a:pPr marL="0" indent="0" algn="just">
              <a:buNone/>
            </a:pPr>
            <a:r>
              <a:rPr lang="en-US" sz="2000" dirty="0" smtClean="0">
                <a:latin typeface="Garamond" pitchFamily="18" charset="0"/>
              </a:rPr>
              <a:t>The use of public </a:t>
            </a:r>
            <a:r>
              <a:rPr lang="en-US" sz="2000" dirty="0" err="1" smtClean="0">
                <a:latin typeface="Garamond" pitchFamily="18" charset="0"/>
              </a:rPr>
              <a:t>blockchains</a:t>
            </a:r>
            <a:r>
              <a:rPr lang="en-US" sz="2000" dirty="0" smtClean="0">
                <a:latin typeface="Garamond" pitchFamily="18" charset="0"/>
              </a:rPr>
              <a:t>, which have a completely decentralized  structure and maximum access restrictions, risks becoming an opportunity for malicious actors, and it will be the responsibility of the States with their legal authority, and in collaboration with each other, to create regimes of suitable surveillance.</a:t>
            </a:r>
          </a:p>
          <a:p>
            <a:pPr marL="0" indent="0" algn="just">
              <a:buNone/>
            </a:pPr>
            <a:r>
              <a:rPr lang="en-US" sz="2000" dirty="0" smtClean="0">
                <a:latin typeface="Garamond" pitchFamily="18" charset="0"/>
              </a:rPr>
              <a:t>The technological process needs responsible regulation to prevent crime without stifling the innovation, while simultaneously minimizing the  risk of degeneration that technology can bring.</a:t>
            </a:r>
          </a:p>
          <a:p>
            <a:pPr marL="0" indent="0" algn="just">
              <a:buNone/>
            </a:pPr>
            <a:endParaRPr lang="en-US" sz="2000" dirty="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it-IT" sz="2400" b="1" dirty="0" smtClean="0">
                <a:solidFill>
                  <a:srgbClr val="FF0000"/>
                </a:solidFill>
                <a:latin typeface="Garamond" pitchFamily="18" charset="0"/>
              </a:rPr>
              <a:t>FINAL CONSIDERATIONS</a:t>
            </a:r>
            <a:br>
              <a:rPr lang="it-IT" sz="2400" b="1" dirty="0" smtClean="0">
                <a:solidFill>
                  <a:srgbClr val="FF0000"/>
                </a:solidFill>
                <a:latin typeface="Garamond" pitchFamily="18" charset="0"/>
              </a:rPr>
            </a:br>
            <a:endParaRPr lang="it-IT" sz="2400" b="1" dirty="0">
              <a:solidFill>
                <a:srgbClr val="FF0000"/>
              </a:solidFill>
              <a:latin typeface="Garamond" pitchFamily="18" charset="0"/>
            </a:endParaRPr>
          </a:p>
        </p:txBody>
      </p:sp>
      <p:sp>
        <p:nvSpPr>
          <p:cNvPr id="3" name="Segnaposto contenuto 2"/>
          <p:cNvSpPr>
            <a:spLocks noGrp="1"/>
          </p:cNvSpPr>
          <p:nvPr>
            <p:ph idx="1"/>
          </p:nvPr>
        </p:nvSpPr>
        <p:spPr>
          <a:xfrm>
            <a:off x="214282" y="1428736"/>
            <a:ext cx="8786874" cy="4500594"/>
          </a:xfrm>
        </p:spPr>
        <p:txBody>
          <a:bodyPr>
            <a:normAutofit lnSpcReduction="10000"/>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function and innovative importance of smart contracts passes through the analysis of their potential, their complexity, and the general need for knowledge.</a:t>
            </a:r>
          </a:p>
          <a:p>
            <a:pPr marL="0" indent="0" algn="just">
              <a:buNone/>
            </a:pPr>
            <a:r>
              <a:rPr lang="en-US" sz="2000" dirty="0" smtClean="0">
                <a:latin typeface="Garamond" pitchFamily="18" charset="0"/>
              </a:rPr>
              <a:t>This technology has the potential to change the way business is done forever, since by using it, governments, companies, and citizens can decrease their transaction costs, automate the execution of a contract, and receive a verifiable trace of every operation performed.</a:t>
            </a:r>
          </a:p>
          <a:p>
            <a:pPr marL="0" indent="0" algn="just">
              <a:buNone/>
            </a:pPr>
            <a:r>
              <a:rPr lang="en-US" sz="2000" dirty="0" smtClean="0">
                <a:latin typeface="Garamond" pitchFamily="18" charset="0"/>
              </a:rPr>
              <a:t>Everything that has been presented up to now is only starting point for both future research and the future awareness that what has happened with the introduction of the blockchain, in addition to it being a powerful, new way of understanding the relationship between individuals and between individuals and institutions, also has all the characteristics of a revolutionary innovation from which and for which -  if properly interpreted - there is no turning back.</a:t>
            </a:r>
            <a:endParaRPr lang="en-US" sz="2000" smtClean="0">
              <a:latin typeface="Garamond" pitchFamily="18" charset="0"/>
            </a:endParaRP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25</a:t>
            </a:fld>
            <a:endParaRPr lang="it-IT"/>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556</TotalTime>
  <Words>2084</Words>
  <Application>Microsoft Office PowerPoint</Application>
  <PresentationFormat>Presentazione su schermo (4:3)</PresentationFormat>
  <Paragraphs>154</Paragraphs>
  <Slides>25</Slides>
  <Notes>0</Notes>
  <HiddenSlides>0</HiddenSlides>
  <MMClips>0</MMClips>
  <ScaleCrop>false</ScaleCrop>
  <HeadingPairs>
    <vt:vector size="4" baseType="variant">
      <vt:variant>
        <vt:lpstr>Tema</vt:lpstr>
      </vt:variant>
      <vt:variant>
        <vt:i4>1</vt:i4>
      </vt:variant>
      <vt:variant>
        <vt:lpstr>Titoli diapositive</vt:lpstr>
      </vt:variant>
      <vt:variant>
        <vt:i4>25</vt:i4>
      </vt:variant>
    </vt:vector>
  </HeadingPairs>
  <TitlesOfParts>
    <vt:vector size="26" baseType="lpstr">
      <vt:lpstr>Tema di Office</vt:lpstr>
      <vt:lpstr>LEZIONE N. 10 AND RECAP  </vt:lpstr>
      <vt:lpstr>SMART CONTRACTS: ELEMENTS OF DEFINITION  </vt:lpstr>
      <vt:lpstr>ELEMENTS OF THE DEFINITION </vt:lpstr>
      <vt:lpstr>Diapositiva 4</vt:lpstr>
      <vt:lpstr>Diapositiva 5</vt:lpstr>
      <vt:lpstr>SMART CONTRACTS: WHAT THEY ARE AND HOW      THEY WORK </vt:lpstr>
      <vt:lpstr>A HISTORY OF SMART CONTRACTS</vt:lpstr>
      <vt:lpstr> THEREFORE, THE SHARED DEFINITION OF SMART CONTRACT IS AS FOLLOWS: </vt:lpstr>
      <vt:lpstr>VITALIK BUTERIN AND SMART CONTRACTS </vt:lpstr>
      <vt:lpstr>Diapositiva 10</vt:lpstr>
      <vt:lpstr>ETHEREUM: CRYPTOCURRENCY WITH SMART CONTRACTS </vt:lpstr>
      <vt:lpstr>Diapositiva 12</vt:lpstr>
      <vt:lpstr>EXAMPLE : </vt:lpstr>
      <vt:lpstr>COMPANIES THAT USE SMART CONTRACTS </vt:lpstr>
      <vt:lpstr>SCAMS: BRIEFLY MENTIONED </vt:lpstr>
      <vt:lpstr>THE DAO CASE </vt:lpstr>
      <vt:lpstr>Diapositiva 17</vt:lpstr>
      <vt:lpstr>Diapositiva 18</vt:lpstr>
      <vt:lpstr>Diapositiva 19</vt:lpstr>
      <vt:lpstr>Diapositiva 20</vt:lpstr>
      <vt:lpstr>Diapositiva 21</vt:lpstr>
      <vt:lpstr>Diapositiva 22</vt:lpstr>
      <vt:lpstr>Diapositiva 23</vt:lpstr>
      <vt:lpstr>Diapositiva 24</vt:lpstr>
      <vt:lpstr>FINAL CONSIDERATIONS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177</cp:revision>
  <dcterms:created xsi:type="dcterms:W3CDTF">2022-09-16T10:16:52Z</dcterms:created>
  <dcterms:modified xsi:type="dcterms:W3CDTF">2024-05-15T10:47:26Z</dcterms:modified>
</cp:coreProperties>
</file>