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4"/>
  </p:notesMasterIdLst>
  <p:sldIdLst>
    <p:sldId id="257" r:id="rId2"/>
    <p:sldId id="303" r:id="rId3"/>
    <p:sldId id="324" r:id="rId4"/>
    <p:sldId id="304" r:id="rId5"/>
    <p:sldId id="305" r:id="rId6"/>
    <p:sldId id="306" r:id="rId7"/>
    <p:sldId id="325" r:id="rId8"/>
    <p:sldId id="307" r:id="rId9"/>
    <p:sldId id="308" r:id="rId10"/>
    <p:sldId id="309" r:id="rId11"/>
    <p:sldId id="316" r:id="rId12"/>
    <p:sldId id="317" r:id="rId13"/>
    <p:sldId id="318" r:id="rId14"/>
    <p:sldId id="319" r:id="rId15"/>
    <p:sldId id="320" r:id="rId16"/>
    <p:sldId id="321" r:id="rId17"/>
    <p:sldId id="326" r:id="rId18"/>
    <p:sldId id="322" r:id="rId19"/>
    <p:sldId id="327" r:id="rId20"/>
    <p:sldId id="323" r:id="rId21"/>
    <p:sldId id="328" r:id="rId22"/>
    <p:sldId id="302" r:id="rId23"/>
  </p:sldIdLst>
  <p:sldSz cx="9144000" cy="6858000" type="screen4x3"/>
  <p:notesSz cx="6797675" cy="99266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7001" autoAdjust="0"/>
    <p:restoredTop sz="94671"/>
  </p:normalViewPr>
  <p:slideViewPr>
    <p:cSldViewPr>
      <p:cViewPr varScale="1">
        <p:scale>
          <a:sx n="82" d="100"/>
          <a:sy n="82" d="100"/>
        </p:scale>
        <p:origin x="-146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1"/>
            <a:ext cx="2945659" cy="496332"/>
          </a:xfrm>
          <a:prstGeom prst="rect">
            <a:avLst/>
          </a:prstGeom>
        </p:spPr>
        <p:txBody>
          <a:bodyPr vert="horz" lIns="95562" tIns="47781" rIns="95562" bIns="47781" rtlCol="0"/>
          <a:lstStyle>
            <a:lvl1pPr algn="l">
              <a:defRPr sz="1300"/>
            </a:lvl1pPr>
          </a:lstStyle>
          <a:p>
            <a:endParaRPr lang="it-IT"/>
          </a:p>
        </p:txBody>
      </p:sp>
      <p:sp>
        <p:nvSpPr>
          <p:cNvPr id="3" name="Segnaposto data 2"/>
          <p:cNvSpPr>
            <a:spLocks noGrp="1"/>
          </p:cNvSpPr>
          <p:nvPr>
            <p:ph type="dt" idx="1"/>
          </p:nvPr>
        </p:nvSpPr>
        <p:spPr>
          <a:xfrm>
            <a:off x="3850443" y="1"/>
            <a:ext cx="2945659" cy="496332"/>
          </a:xfrm>
          <a:prstGeom prst="rect">
            <a:avLst/>
          </a:prstGeom>
        </p:spPr>
        <p:txBody>
          <a:bodyPr vert="horz" lIns="95562" tIns="47781" rIns="95562" bIns="47781" rtlCol="0"/>
          <a:lstStyle>
            <a:lvl1pPr algn="r">
              <a:defRPr sz="1300"/>
            </a:lvl1pPr>
          </a:lstStyle>
          <a:p>
            <a:fld id="{68E94025-8EA9-47ED-89F2-4A4A51FFF833}" type="datetimeFigureOut">
              <a:rPr lang="it-IT" smtClean="0"/>
              <a:pPr/>
              <a:t>07/09/2023</a:t>
            </a:fld>
            <a:endParaRPr lang="it-IT"/>
          </a:p>
        </p:txBody>
      </p:sp>
      <p:sp>
        <p:nvSpPr>
          <p:cNvPr id="4" name="Segnaposto immagine diapositiva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5562" tIns="47781" rIns="95562" bIns="47781" rtlCol="0" anchor="ctr"/>
          <a:lstStyle/>
          <a:p>
            <a:endParaRPr lang="it-IT"/>
          </a:p>
        </p:txBody>
      </p:sp>
      <p:sp>
        <p:nvSpPr>
          <p:cNvPr id="5" name="Segnaposto note 4"/>
          <p:cNvSpPr>
            <a:spLocks noGrp="1"/>
          </p:cNvSpPr>
          <p:nvPr>
            <p:ph type="body" sz="quarter" idx="3"/>
          </p:nvPr>
        </p:nvSpPr>
        <p:spPr>
          <a:xfrm>
            <a:off x="679768" y="4715153"/>
            <a:ext cx="5438140" cy="4466987"/>
          </a:xfrm>
          <a:prstGeom prst="rect">
            <a:avLst/>
          </a:prstGeom>
        </p:spPr>
        <p:txBody>
          <a:bodyPr vert="horz" lIns="95562" tIns="47781" rIns="95562" bIns="47781"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9428584"/>
            <a:ext cx="2945659" cy="496332"/>
          </a:xfrm>
          <a:prstGeom prst="rect">
            <a:avLst/>
          </a:prstGeom>
        </p:spPr>
        <p:txBody>
          <a:bodyPr vert="horz" lIns="95562" tIns="47781" rIns="95562" bIns="47781" rtlCol="0" anchor="b"/>
          <a:lstStyle>
            <a:lvl1pPr algn="l">
              <a:defRPr sz="1300"/>
            </a:lvl1pPr>
          </a:lstStyle>
          <a:p>
            <a:endParaRPr lang="it-IT"/>
          </a:p>
        </p:txBody>
      </p:sp>
      <p:sp>
        <p:nvSpPr>
          <p:cNvPr id="7" name="Segnaposto numero diapositiva 6"/>
          <p:cNvSpPr>
            <a:spLocks noGrp="1"/>
          </p:cNvSpPr>
          <p:nvPr>
            <p:ph type="sldNum" sz="quarter" idx="5"/>
          </p:nvPr>
        </p:nvSpPr>
        <p:spPr>
          <a:xfrm>
            <a:off x="3850443" y="9428584"/>
            <a:ext cx="2945659" cy="496332"/>
          </a:xfrm>
          <a:prstGeom prst="rect">
            <a:avLst/>
          </a:prstGeom>
        </p:spPr>
        <p:txBody>
          <a:bodyPr vert="horz" lIns="95562" tIns="47781" rIns="95562" bIns="47781" rtlCol="0" anchor="b"/>
          <a:lstStyle>
            <a:lvl1pPr algn="r">
              <a:defRPr sz="1300"/>
            </a:lvl1pPr>
          </a:lstStyle>
          <a:p>
            <a:fld id="{4F667EAE-DD3D-4991-B8B5-E941BC1D7838}"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extLst>
      <p:ext uri="{BB962C8B-B14F-4D97-AF65-F5344CB8AC3E}">
        <p14:creationId xmlns:p14="http://schemas.microsoft.com/office/powerpoint/2010/main" xmlns=""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en-GB"/>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en-GB"/>
          </a:p>
        </p:txBody>
      </p:sp>
      <p:sp>
        <p:nvSpPr>
          <p:cNvPr id="4" name="Segnaposto data 3"/>
          <p:cNvSpPr>
            <a:spLocks noGrp="1"/>
          </p:cNvSpPr>
          <p:nvPr>
            <p:ph type="dt" sz="half" idx="10"/>
          </p:nvPr>
        </p:nvSpPr>
        <p:spPr/>
        <p:txBody>
          <a:bodyPr/>
          <a:lstStyle/>
          <a:p>
            <a:fld id="{859FAD97-6220-46BC-A04D-EC7B5463F261}" type="datetime1">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41D63920-911E-434C-B882-1720AD541A1A}" type="datetime1">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en-GB"/>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F74EED18-8494-4E70-B8C5-3709F52B965A}" type="datetime1">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5" name="Segnaposto data 4"/>
          <p:cNvSpPr>
            <a:spLocks noGrp="1"/>
          </p:cNvSpPr>
          <p:nvPr>
            <p:ph type="dt" sz="half" idx="10"/>
          </p:nvPr>
        </p:nvSpPr>
        <p:spPr/>
        <p:txBody>
          <a:bodyPr/>
          <a:lstStyle/>
          <a:p>
            <a:fld id="{43451C66-7764-482E-97EB-13BDE4361050}" type="datetime1">
              <a:rPr lang="it-IT" smtClean="0"/>
              <a:pPr/>
              <a:t>07/09/2023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en-GB"/>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7" name="Segnaposto data 6"/>
          <p:cNvSpPr>
            <a:spLocks noGrp="1"/>
          </p:cNvSpPr>
          <p:nvPr>
            <p:ph type="dt" sz="half" idx="10"/>
          </p:nvPr>
        </p:nvSpPr>
        <p:spPr/>
        <p:txBody>
          <a:bodyPr/>
          <a:lstStyle/>
          <a:p>
            <a:fld id="{C6980AF3-3558-4353-9A1B-97783ECB2356}" type="datetime1">
              <a:rPr lang="it-IT" smtClean="0"/>
              <a:pPr/>
              <a:t>07/09/2023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data 2"/>
          <p:cNvSpPr>
            <a:spLocks noGrp="1"/>
          </p:cNvSpPr>
          <p:nvPr>
            <p:ph type="dt" sz="half" idx="10"/>
          </p:nvPr>
        </p:nvSpPr>
        <p:spPr/>
        <p:txBody>
          <a:bodyPr/>
          <a:lstStyle/>
          <a:p>
            <a:fld id="{E7DB4C6C-038D-439D-A0D3-93BA37D603F3}" type="datetime1">
              <a:rPr lang="it-IT" smtClean="0"/>
              <a:pPr/>
              <a:t>07/09/2023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78851C53-2349-49BF-A59A-3ECD309B579D}" type="datetime1">
              <a:rPr lang="it-IT" smtClean="0"/>
              <a:pPr/>
              <a:t>07/09/2023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en-GB"/>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76C0DD49-8EB9-469A-AC15-74E1587308F3}" type="datetime1">
              <a:rPr lang="it-IT" smtClean="0"/>
              <a:pPr/>
              <a:t>07/09/2023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en-GB"/>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A8AB0DF-42E6-4245-A2AC-CBE029DDFEE3}" type="datetime1">
              <a:rPr lang="it-IT" smtClean="0"/>
              <a:pPr/>
              <a:t>07/09/2023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1B84F504-8FE4-46EC-8D42-C4557046C9D4}" type="datetime1">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en-GB"/>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52443764-E5AA-408D-91E9-74FDD4D477B0}" type="datetime1">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en-GB"/>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43764-E5AA-408D-91E9-74FDD4D477B0}" type="datetime1">
              <a:rPr lang="it-IT" smtClean="0"/>
              <a:pPr/>
              <a:t>07/09/2023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83E0D9-6B5A-4763-BA47-795144931228}"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a:xfrm>
            <a:off x="685800" y="1857364"/>
            <a:ext cx="7772400" cy="2028838"/>
          </a:xfrm>
        </p:spPr>
        <p:txBody>
          <a:bodyPr>
            <a:normAutofit fontScale="90000"/>
          </a:bodyPr>
          <a:lstStyle/>
          <a:p>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GOVERNMENTS AND CYBER REGULATIONS</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U.S. CASE AND EUROPEAN UNION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N. 2</a:t>
            </a:r>
            <a:endParaRPr lang="it-IT" sz="2800" b="1" dirty="0">
              <a:solidFill>
                <a:srgbClr val="FF0000"/>
              </a:solidFill>
              <a:latin typeface="Garamond" pitchFamily="18" charset="0"/>
            </a:endParaRP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285720" y="1071554"/>
            <a:ext cx="8229600" cy="1143000"/>
          </a:xfrm>
        </p:spPr>
        <p:txBody>
          <a:bodyPr>
            <a:normAutofit/>
          </a:bodyPr>
          <a:lstStyle/>
          <a:p>
            <a:r>
              <a:rPr lang="en-US" sz="2300" b="1" dirty="0" smtClean="0">
                <a:solidFill>
                  <a:srgbClr val="FF0000"/>
                </a:solidFill>
                <a:latin typeface="Garamond" pitchFamily="18" charset="0"/>
              </a:rPr>
              <a:t>INDEX</a:t>
            </a:r>
            <a:endParaRPr lang="it-IT" sz="2300" b="1" dirty="0">
              <a:solidFill>
                <a:srgbClr val="FF0000"/>
              </a:solidFill>
              <a:latin typeface="Garamond" pitchFamily="18" charset="0"/>
            </a:endParaRPr>
          </a:p>
        </p:txBody>
      </p:sp>
      <p:sp>
        <p:nvSpPr>
          <p:cNvPr id="12" name="Segnaposto contenuto 11"/>
          <p:cNvSpPr>
            <a:spLocks noGrp="1"/>
          </p:cNvSpPr>
          <p:nvPr>
            <p:ph idx="1"/>
          </p:nvPr>
        </p:nvSpPr>
        <p:spPr>
          <a:xfrm>
            <a:off x="1071538" y="2643182"/>
            <a:ext cx="7500990" cy="3500462"/>
          </a:xfrm>
        </p:spPr>
        <p:txBody>
          <a:bodyPr>
            <a:normAutofit/>
          </a:bodyPr>
          <a:lstStyle/>
          <a:p>
            <a:pPr marL="457200" indent="-457200" algn="just">
              <a:buFont typeface="+mj-lt"/>
              <a:buAutoNum type="arabicPeriod"/>
            </a:pPr>
            <a:r>
              <a:rPr lang="en-US" sz="2000" b="1" dirty="0" smtClean="0">
                <a:latin typeface="Garamond" pitchFamily="18" charset="0"/>
              </a:rPr>
              <a:t>Legal Issues and the Need for Common Regulation </a:t>
            </a:r>
          </a:p>
          <a:p>
            <a:pPr marL="457200" indent="-457200" algn="just">
              <a:buFont typeface="+mj-lt"/>
              <a:buAutoNum type="arabicPeriod"/>
            </a:pPr>
            <a:r>
              <a:rPr lang="en-US" sz="2000" b="1" dirty="0" smtClean="0">
                <a:latin typeface="Garamond" pitchFamily="18" charset="0"/>
              </a:rPr>
              <a:t>Role of Governments </a:t>
            </a:r>
          </a:p>
          <a:p>
            <a:pPr marL="457200" indent="-457200" algn="just">
              <a:buFont typeface="+mj-lt"/>
              <a:buAutoNum type="arabicPeriod"/>
            </a:pPr>
            <a:r>
              <a:rPr lang="en-US" sz="2000" b="1" dirty="0" smtClean="0">
                <a:latin typeface="Garamond" pitchFamily="18" charset="0"/>
              </a:rPr>
              <a:t>International Organizations </a:t>
            </a:r>
          </a:p>
          <a:p>
            <a:pPr marL="457200" indent="-457200" algn="just">
              <a:buFont typeface="+mj-lt"/>
              <a:buAutoNum type="arabicPeriod"/>
            </a:pPr>
            <a:r>
              <a:rPr lang="en-US" sz="2000" b="1" dirty="0" smtClean="0">
                <a:latin typeface="Garamond" pitchFamily="18" charset="0"/>
              </a:rPr>
              <a:t>The European Union</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214430"/>
            <a:ext cx="8229600" cy="1143000"/>
          </a:xfrm>
        </p:spPr>
        <p:txBody>
          <a:bodyPr>
            <a:normAutofit/>
          </a:bodyPr>
          <a:lstStyle/>
          <a:p>
            <a:r>
              <a:rPr lang="en-US" sz="2200" b="1" dirty="0" smtClean="0">
                <a:solidFill>
                  <a:srgbClr val="FF0000"/>
                </a:solidFill>
                <a:latin typeface="Garamond" pitchFamily="18" charset="0"/>
              </a:rPr>
              <a:t>LEGAL ISSUES AND THE NEED FOR COMMON REGULATION</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2374911"/>
            <a:ext cx="8229600" cy="4197361"/>
          </a:xfrm>
        </p:spPr>
        <p:txBody>
          <a:bodyPr>
            <a:normAutofit/>
          </a:bodyPr>
          <a:lstStyle/>
          <a:p>
            <a:pPr marL="0" indent="0" algn="just">
              <a:buNone/>
            </a:pPr>
            <a:r>
              <a:rPr lang="en-US" sz="2000" u="sng" dirty="0" smtClean="0">
                <a:latin typeface="Garamond" pitchFamily="18" charset="0"/>
              </a:rPr>
              <a:t>The international legal issues surrounding cyber attacks are complex in nature. There is no global basis of common legislation</a:t>
            </a:r>
            <a:r>
              <a:rPr lang="en-US" sz="2000" dirty="0" smtClean="0">
                <a:latin typeface="Garamond" pitchFamily="18" charset="0"/>
              </a:rPr>
              <a:t> for judging and possibly punishing cybercrimes and cybercriminals – and where companies or security agencies identify the cybercriminal, behind the creation of a particular malware or form of cyber-attack, local authorities are often unable to initiate legal proceedings due to a lack of laws. </a:t>
            </a:r>
            <a:r>
              <a:rPr lang="en-US" sz="2000" u="sng" dirty="0" smtClean="0">
                <a:latin typeface="Garamond" pitchFamily="18" charset="0"/>
              </a:rPr>
              <a:t>Trying to prove attribution of cybercrimes and cyber attacks is</a:t>
            </a:r>
            <a:r>
              <a:rPr lang="en-US" sz="2000" dirty="0" smtClean="0">
                <a:latin typeface="Garamond" pitchFamily="18" charset="0"/>
              </a:rPr>
              <a:t> also </a:t>
            </a:r>
            <a:r>
              <a:rPr lang="en-US" sz="2000" u="sng" dirty="0" smtClean="0">
                <a:latin typeface="Garamond" pitchFamily="18" charset="0"/>
              </a:rPr>
              <a:t>a huge problem </a:t>
            </a:r>
            <a:r>
              <a:rPr lang="en-US" sz="2000" dirty="0" smtClean="0">
                <a:latin typeface="Garamond" pitchFamily="18" charset="0"/>
              </a:rPr>
              <a:t>for all law enforcement agencies. Cybercriminals jump from one country to another, from one jurisdiction to another, moving around the world, exploiting the fact that there is no way to control, globally, operations like these.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endParaRPr lang="it-IT" sz="24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Techniques such as DNS, a dynamic, fast-flowing cyber attack with a bulletproof server, increase the difficulty of investigation and enforcement. This is why cooperation alone at the level of the central organizations among States is not and can no longer be enough, but rather that of </a:t>
            </a:r>
            <a:r>
              <a:rPr lang="en-US" sz="2000" u="sng" dirty="0" smtClean="0">
                <a:latin typeface="Garamond" pitchFamily="18" charset="0"/>
              </a:rPr>
              <a:t>providing for common regulation</a:t>
            </a:r>
            <a:r>
              <a:rPr lang="en-US" sz="2000" dirty="0" smtClean="0">
                <a:latin typeface="Garamond" pitchFamily="18" charset="0"/>
              </a:rPr>
              <a:t>, specific to preventing and punishing cybercrime, and applicable in a majority of States, should be the goal.</a:t>
            </a:r>
          </a:p>
          <a:p>
            <a:pPr marL="0" indent="0" algn="just">
              <a:buNone/>
            </a:pPr>
            <a:r>
              <a:rPr lang="en-US" sz="2000" dirty="0" smtClean="0">
                <a:latin typeface="Garamond" pitchFamily="18" charset="0"/>
              </a:rPr>
              <a:t>This is not easily achievable.  </a:t>
            </a:r>
          </a:p>
          <a:p>
            <a:pPr marL="0" indent="0" algn="just">
              <a:buNone/>
            </a:pPr>
            <a:r>
              <a:rPr lang="en-US" sz="2000" dirty="0" smtClean="0">
                <a:latin typeface="Garamond" pitchFamily="18" charset="0"/>
              </a:rPr>
              <a:t> </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it-IT" sz="2400" b="1" dirty="0" smtClean="0">
                <a:solidFill>
                  <a:srgbClr val="FF0000"/>
                </a:solidFill>
                <a:latin typeface="Garamond" pitchFamily="18" charset="0"/>
              </a:rPr>
              <a:t>THE ROLE OF GOVERNMENTS</a:t>
            </a:r>
            <a:endParaRPr lang="it-IT" sz="2400" b="1" dirty="0">
              <a:solidFill>
                <a:srgbClr val="FF0000"/>
              </a:solidFill>
              <a:latin typeface="Garamond" pitchFamily="18" charset="0"/>
            </a:endParaRPr>
          </a:p>
        </p:txBody>
      </p:sp>
      <p:sp>
        <p:nvSpPr>
          <p:cNvPr id="12" name="Segnaposto contenuto 11"/>
          <p:cNvSpPr>
            <a:spLocks noGrp="1"/>
          </p:cNvSpPr>
          <p:nvPr>
            <p:ph idx="1"/>
          </p:nvPr>
        </p:nvSpPr>
        <p:spPr>
          <a:xfrm>
            <a:off x="457200" y="1643050"/>
            <a:ext cx="8229600" cy="4197361"/>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objective of governments is, therefore, not only to issue regulations to force companies and organizations to protect their systems, infrastructures, and information from possible cyber attacks, but also to protect their national infrastructure including the electricity grid, air transport systems, etc….The legislative role of governments in cyberspace is also quite complicated. For some, cyberspace is seen as a virtual space, which must remain free from government intervention. </a:t>
            </a:r>
          </a:p>
          <a:p>
            <a:pPr marL="0" indent="0" algn="just">
              <a:buNone/>
            </a:pPr>
            <a:r>
              <a:rPr lang="en-US" sz="2000" dirty="0" smtClean="0">
                <a:latin typeface="Garamond" pitchFamily="18" charset="0"/>
              </a:rPr>
              <a:t>Instead, many government officials and experts believe that governments should do more and that there is a critical need for better common regulation.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357298"/>
            <a:ext cx="8229600" cy="464347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Instead the industry responds only when regulation is threatened!!.</a:t>
            </a:r>
          </a:p>
          <a:p>
            <a:pPr marL="0" indent="0" algn="just">
              <a:buNone/>
            </a:pPr>
            <a:r>
              <a:rPr lang="en-US" sz="2000" dirty="0" smtClean="0">
                <a:latin typeface="Garamond" pitchFamily="18" charset="0"/>
              </a:rPr>
              <a:t>This is to say that to obtain compliance, laws aimed at security must be imposed on the industrial sector. On the other hand, private sector executives agree that improvements are needed, but fear that government intervention would affect their ability to innovate efficiently and autonomously.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357298"/>
            <a:ext cx="8229600" cy="464347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On May 22, 2020, the United Nations Security Council held its second Informal Meeting on Cyber ​​Security, to focus on cyber challenges to international peace and, according to the Secretary General of the United Nations, new technologies are too often used to violate rights, rather than to protect them.</a:t>
            </a:r>
          </a:p>
          <a:p>
            <a:pPr marL="0" indent="0" algn="just">
              <a:buNone/>
            </a:pPr>
            <a:r>
              <a:rPr lang="en-US" sz="2000" dirty="0" smtClean="0">
                <a:latin typeface="Garamond" pitchFamily="18" charset="0"/>
              </a:rPr>
              <a:t>The road is still long.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285720" y="1071546"/>
            <a:ext cx="8229600" cy="571504"/>
          </a:xfrm>
        </p:spPr>
        <p:txBody>
          <a:bodyPr>
            <a:normAutofit/>
          </a:bodyPr>
          <a:lstStyle/>
          <a:p>
            <a:r>
              <a:rPr lang="it-IT" sz="2200" b="1" dirty="0" smtClean="0">
                <a:solidFill>
                  <a:srgbClr val="FF0000"/>
                </a:solidFill>
                <a:latin typeface="Garamond" pitchFamily="18" charset="0"/>
              </a:rPr>
              <a:t>INTERNATIONAL ORGANIZATIONS</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28596" y="1785926"/>
            <a:ext cx="8229600" cy="4643470"/>
          </a:xfrm>
        </p:spPr>
        <p:txBody>
          <a:bodyPr>
            <a:normAutofit/>
          </a:bodyPr>
          <a:lstStyle/>
          <a:p>
            <a:pPr marL="0" indent="0" algn="just">
              <a:buNone/>
            </a:pPr>
            <a:r>
              <a:rPr lang="en-US" sz="1900" dirty="0" smtClean="0">
                <a:latin typeface="Garamond" pitchFamily="18" charset="0"/>
              </a:rPr>
              <a:t>There are many different organizations, dealing with </a:t>
            </a:r>
            <a:r>
              <a:rPr lang="en-US" sz="1900" dirty="0" err="1" smtClean="0">
                <a:latin typeface="Garamond" pitchFamily="18" charset="0"/>
              </a:rPr>
              <a:t>cybersecurity</a:t>
            </a:r>
            <a:r>
              <a:rPr lang="en-US" sz="1900" dirty="0" smtClean="0">
                <a:latin typeface="Garamond" pitchFamily="18" charset="0"/>
              </a:rPr>
              <a:t> internationally. Among these, some of the most representative include: </a:t>
            </a:r>
          </a:p>
          <a:p>
            <a:pPr marL="0" indent="0" algn="just">
              <a:buNone/>
            </a:pPr>
            <a:endParaRPr lang="en-US" sz="1900" dirty="0" smtClean="0">
              <a:latin typeface="Garamond" pitchFamily="18" charset="0"/>
            </a:endParaRPr>
          </a:p>
          <a:p>
            <a:pPr marL="0" indent="0" algn="ctr">
              <a:buNone/>
            </a:pPr>
            <a:r>
              <a:rPr lang="en-US" sz="1900" u="sng" dirty="0" smtClean="0">
                <a:latin typeface="Garamond" pitchFamily="18" charset="0"/>
              </a:rPr>
              <a:t>The Forum of Incident Response and Security Teams</a:t>
            </a:r>
            <a:r>
              <a:rPr lang="en-US" sz="1900" dirty="0" smtClean="0">
                <a:latin typeface="Garamond" pitchFamily="18" charset="0"/>
              </a:rPr>
              <a:t> (FIRST), which is the global association of CSIRTs. US-CERT, AT&amp;T, Apple, Cisco, McAfee, and Microsoft are all members of this international team.</a:t>
            </a:r>
          </a:p>
          <a:p>
            <a:pPr marL="0" indent="0" algn="ctr">
              <a:buNone/>
            </a:pPr>
            <a:r>
              <a:rPr lang="en-US" sz="1900" u="sng" dirty="0" smtClean="0">
                <a:latin typeface="Garamond" pitchFamily="18" charset="0"/>
              </a:rPr>
              <a:t>The Council of Europe</a:t>
            </a:r>
            <a:r>
              <a:rPr lang="en-US" sz="1900" dirty="0" smtClean="0">
                <a:latin typeface="Garamond" pitchFamily="18" charset="0"/>
              </a:rPr>
              <a:t> is helping to protect societies, worldwide, from the threat of cybercrime, through the Cybercrime Convention.</a:t>
            </a:r>
          </a:p>
          <a:p>
            <a:pPr marL="0" indent="0" algn="ctr">
              <a:buNone/>
            </a:pPr>
            <a:endParaRPr lang="en-US" sz="1900" dirty="0" smtClean="0">
              <a:latin typeface="Garamond" pitchFamily="18" charset="0"/>
            </a:endParaRPr>
          </a:p>
          <a:p>
            <a:pPr marL="0" indent="0" algn="ctr">
              <a:buNone/>
            </a:pPr>
            <a:r>
              <a:rPr lang="en-US" sz="1900" dirty="0" smtClean="0">
                <a:latin typeface="Garamond" pitchFamily="18" charset="0"/>
              </a:rPr>
              <a:t>The purpose of the </a:t>
            </a:r>
            <a:r>
              <a:rPr lang="en-US" sz="1900" u="sng" dirty="0" smtClean="0">
                <a:latin typeface="Garamond" pitchFamily="18" charset="0"/>
              </a:rPr>
              <a:t>Messaging Anti-Abuse Working Group</a:t>
            </a:r>
            <a:r>
              <a:rPr lang="en-US" sz="1900" dirty="0" smtClean="0">
                <a:latin typeface="Garamond" pitchFamily="18" charset="0"/>
              </a:rPr>
              <a:t> (MAAWG) is to bring the messaging industry together to work collaboratively to address messaging abuse like spam, viruses, denial-of-service attacks, and other messaging exploits. France Telecom, </a:t>
            </a:r>
            <a:r>
              <a:rPr lang="en-US" sz="1900" dirty="0" err="1" smtClean="0">
                <a:latin typeface="Garamond" pitchFamily="18" charset="0"/>
              </a:rPr>
              <a:t>Facebook</a:t>
            </a:r>
            <a:r>
              <a:rPr lang="en-US" sz="1900" dirty="0" smtClean="0">
                <a:latin typeface="Garamond" pitchFamily="18" charset="0"/>
              </a:rPr>
              <a:t>, AT&amp;T, Apple, Cisco, and Sprint are some of the members of the MAAWG.</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928670"/>
            <a:ext cx="8229600" cy="571504"/>
          </a:xfrm>
        </p:spPr>
        <p:txBody>
          <a:bodyPr>
            <a:normAutofit/>
          </a:bodyPr>
          <a:lstStyle/>
          <a:p>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28596" y="1785926"/>
            <a:ext cx="8229600" cy="464347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u="sng" dirty="0" smtClean="0">
                <a:latin typeface="Garamond" pitchFamily="18" charset="0"/>
              </a:rPr>
              <a:t>The European Network and Information Security Agency</a:t>
            </a:r>
            <a:r>
              <a:rPr lang="en-US" sz="2000" dirty="0" smtClean="0">
                <a:latin typeface="Garamond" pitchFamily="18" charset="0"/>
              </a:rPr>
              <a:t> (ENISA), of the European Union, aims to improve network and information security in the European Union. As is now known, on 14 April 2016, the European Parliament and the Council of the European Union adopted the </a:t>
            </a:r>
            <a:r>
              <a:rPr lang="en-US" sz="2000" u="sng" dirty="0" smtClean="0">
                <a:latin typeface="Garamond" pitchFamily="18" charset="0"/>
              </a:rPr>
              <a:t>General Regulation on Data Protection (GDPR)</a:t>
            </a:r>
            <a:r>
              <a:rPr lang="en-US" sz="2000" dirty="0" smtClean="0">
                <a:latin typeface="Garamond" pitchFamily="18" charset="0"/>
              </a:rPr>
              <a:t> (EU) 2016/679.The GDPR, which came into effect on May 25, 2018, provides data protection and privacy for all individuals within the European Union (EU) and the European Economic Area (EEA).</a:t>
            </a:r>
          </a:p>
          <a:p>
            <a:pPr marL="0" indent="0" algn="just">
              <a:buNone/>
            </a:pPr>
            <a:r>
              <a:rPr lang="en-US" sz="2000" dirty="0" smtClean="0">
                <a:latin typeface="Garamond" pitchFamily="18" charset="0"/>
              </a:rPr>
              <a:t>The GDPR requires businesses which handle personal data to have data protection, by design and by default, and also to appoint a </a:t>
            </a:r>
            <a:r>
              <a:rPr lang="en-US" sz="2000" u="sng" dirty="0" smtClean="0">
                <a:latin typeface="Garamond" pitchFamily="18" charset="0"/>
              </a:rPr>
              <a:t>data protection officer (DPO).</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928670"/>
            <a:ext cx="8229600" cy="571504"/>
          </a:xfrm>
        </p:spPr>
        <p:txBody>
          <a:bodyPr>
            <a:normAutofit/>
          </a:bodyPr>
          <a:lstStyle/>
          <a:p>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28596" y="1785926"/>
            <a:ext cx="8229600" cy="464347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At varying levels, computer emergency response teams are set up to respond to computer attacks, limiting the damage and facilitating the recovery of the pre-attack situation.</a:t>
            </a:r>
          </a:p>
          <a:p>
            <a:pPr marL="0" indent="0" algn="just">
              <a:buNone/>
            </a:pPr>
            <a:r>
              <a:rPr lang="en-US" sz="2000" dirty="0" err="1" smtClean="0">
                <a:latin typeface="Garamond" pitchFamily="18" charset="0"/>
              </a:rPr>
              <a:t>Iit</a:t>
            </a:r>
            <a:r>
              <a:rPr lang="en-US" sz="2000" dirty="0" smtClean="0">
                <a:latin typeface="Garamond" pitchFamily="18" charset="0"/>
              </a:rPr>
              <a:t> is clear that attention to cyber crimes is a global priority.</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571612"/>
            <a:ext cx="8229600" cy="4643470"/>
          </a:xfrm>
        </p:spPr>
        <p:txBody>
          <a:bodyPr>
            <a:normAutofit/>
          </a:bodyPr>
          <a:lstStyle/>
          <a:p>
            <a:pPr marL="0" indent="0" algn="ctr">
              <a:buNone/>
            </a:pPr>
            <a:r>
              <a:rPr lang="en-US" sz="2000" b="1" u="sng" dirty="0" smtClean="0">
                <a:solidFill>
                  <a:srgbClr val="FF0000"/>
                </a:solidFill>
                <a:latin typeface="Garamond" pitchFamily="18" charset="0"/>
              </a:rPr>
              <a:t>UNITED STATES LAW</a:t>
            </a:r>
          </a:p>
          <a:p>
            <a:pPr marL="0" indent="0" algn="ctr">
              <a:buNone/>
            </a:pPr>
            <a:endParaRPr lang="en-US" sz="2000" u="sng" dirty="0" smtClean="0">
              <a:latin typeface="Garamond" pitchFamily="18" charset="0"/>
            </a:endParaRPr>
          </a:p>
          <a:p>
            <a:pPr marL="0" indent="0" algn="ctr">
              <a:buNone/>
            </a:pPr>
            <a:r>
              <a:rPr lang="en-US" sz="2000" u="sng" dirty="0" smtClean="0">
                <a:latin typeface="Garamond" pitchFamily="18" charset="0"/>
              </a:rPr>
              <a:t>Since 1986</a:t>
            </a:r>
            <a:r>
              <a:rPr lang="en-US" sz="2000" dirty="0" smtClean="0">
                <a:latin typeface="Garamond" pitchFamily="18" charset="0"/>
              </a:rPr>
              <a:t>, the Computer Fraud and Abuse Act has been the key legislation in the United States, prohibiting unauthorized access to or damage to "protected computers."While other measures had been proposed, none had succeeded until Executive </a:t>
            </a:r>
            <a:r>
              <a:rPr lang="en-US" sz="2000" u="sng" dirty="0" smtClean="0">
                <a:latin typeface="Garamond" pitchFamily="18" charset="0"/>
              </a:rPr>
              <a:t>Order 13636 </a:t>
            </a:r>
            <a:r>
              <a:rPr lang="en-US" sz="2000" dirty="0" smtClean="0">
                <a:latin typeface="Garamond" pitchFamily="18" charset="0"/>
              </a:rPr>
              <a:t>(Improving Critical Infrastructure </a:t>
            </a:r>
            <a:r>
              <a:rPr lang="en-US" sz="2000" dirty="0" err="1" smtClean="0">
                <a:latin typeface="Garamond" pitchFamily="18" charset="0"/>
              </a:rPr>
              <a:t>Cybersecurity</a:t>
            </a:r>
            <a:r>
              <a:rPr lang="en-US" sz="2000" dirty="0" smtClean="0">
                <a:latin typeface="Garamond" pitchFamily="18" charset="0"/>
              </a:rPr>
              <a:t>), was signed in 2013. This led to the creation of the NIST </a:t>
            </a:r>
            <a:r>
              <a:rPr lang="en-US" sz="2000" u="sng" dirty="0" err="1" smtClean="0">
                <a:latin typeface="Garamond" pitchFamily="18" charset="0"/>
              </a:rPr>
              <a:t>Cybersecurity</a:t>
            </a:r>
            <a:r>
              <a:rPr lang="en-US" sz="2000" u="sng" dirty="0" smtClean="0">
                <a:latin typeface="Garamond" pitchFamily="18" charset="0"/>
              </a:rPr>
              <a:t> Framework</a:t>
            </a:r>
            <a:r>
              <a:rPr lang="en-US" sz="2000" dirty="0" smtClean="0">
                <a:latin typeface="Garamond" pitchFamily="18" charset="0"/>
              </a:rPr>
              <a:t>. In response to the Colonial Pipeline </a:t>
            </a:r>
            <a:r>
              <a:rPr lang="en-US" sz="2000" dirty="0" err="1" smtClean="0">
                <a:latin typeface="Garamond" pitchFamily="18" charset="0"/>
              </a:rPr>
              <a:t>ransomware</a:t>
            </a:r>
            <a:r>
              <a:rPr lang="en-US" sz="2000" dirty="0" smtClean="0">
                <a:latin typeface="Garamond" pitchFamily="18" charset="0"/>
              </a:rPr>
              <a:t> attack, on May 12, 2021, President Joe Biden signed Executive </a:t>
            </a:r>
            <a:r>
              <a:rPr lang="en-US" sz="2000" u="sng" dirty="0" smtClean="0">
                <a:latin typeface="Garamond" pitchFamily="18" charset="0"/>
              </a:rPr>
              <a:t>Order 14028</a:t>
            </a:r>
            <a:r>
              <a:rPr lang="en-US" sz="2000" dirty="0" smtClean="0">
                <a:latin typeface="Garamond" pitchFamily="18" charset="0"/>
              </a:rPr>
              <a:t>, to raise software security standards for government sales, strengthen detection and security on existing systems, improve information sharing and employee training, establish a </a:t>
            </a:r>
            <a:r>
              <a:rPr lang="en-US" sz="2000" u="sng" dirty="0" err="1" smtClean="0">
                <a:latin typeface="Garamond" pitchFamily="18" charset="0"/>
              </a:rPr>
              <a:t>Cybersecurity</a:t>
            </a:r>
            <a:r>
              <a:rPr lang="en-US" sz="2000" u="sng" dirty="0" smtClean="0">
                <a:latin typeface="Garamond" pitchFamily="18" charset="0"/>
              </a:rPr>
              <a:t> Review Board</a:t>
            </a:r>
            <a:r>
              <a:rPr lang="en-US" sz="2000" dirty="0" smtClean="0">
                <a:latin typeface="Garamond" pitchFamily="18" charset="0"/>
              </a:rPr>
              <a:t>, and </a:t>
            </a:r>
            <a:r>
              <a:rPr lang="en-US" sz="2000" u="sng" dirty="0" smtClean="0">
                <a:latin typeface="Garamond" pitchFamily="18" charset="0"/>
              </a:rPr>
              <a:t>improve incident response</a:t>
            </a:r>
            <a:r>
              <a:rPr lang="en-US" sz="2000" dirty="0" smtClean="0">
                <a:latin typeface="Garamond" pitchFamily="18" charset="0"/>
              </a:rPr>
              <a:t>.</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2071678"/>
            <a:ext cx="8229600" cy="3714776"/>
          </a:xfrm>
        </p:spPr>
        <p:txBody>
          <a:bodyPr>
            <a:normAutofit/>
          </a:bodyPr>
          <a:lstStyle/>
          <a:p>
            <a:pPr marL="0" indent="0" algn="ctr">
              <a:buNone/>
            </a:pPr>
            <a:r>
              <a:rPr lang="en-US" sz="2000" b="1" dirty="0" smtClean="0">
                <a:solidFill>
                  <a:srgbClr val="FF0000"/>
                </a:solidFill>
                <a:latin typeface="Garamond" pitchFamily="18" charset="0"/>
              </a:rPr>
              <a:t>US GOVERNMENT STANDARDIZED TESTING SERVICES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a:t>
            </a:r>
            <a:r>
              <a:rPr lang="en-US" sz="2000" u="sng" dirty="0" smtClean="0">
                <a:latin typeface="Garamond" pitchFamily="18" charset="0"/>
              </a:rPr>
              <a:t>General Services Administration</a:t>
            </a:r>
            <a:r>
              <a:rPr lang="en-US" sz="2000" dirty="0" smtClean="0">
                <a:latin typeface="Garamond" pitchFamily="18" charset="0"/>
              </a:rPr>
              <a:t> (GSA) has standardized the </a:t>
            </a:r>
            <a:r>
              <a:rPr lang="en-US" sz="2000" u="sng" dirty="0" smtClean="0">
                <a:latin typeface="Garamond" pitchFamily="18" charset="0"/>
              </a:rPr>
              <a:t>"penetration testing" service,</a:t>
            </a:r>
            <a:r>
              <a:rPr lang="en-US" sz="2000" dirty="0" smtClean="0">
                <a:latin typeface="Garamond" pitchFamily="18" charset="0"/>
              </a:rPr>
              <a:t> as a pre-screened support service, to quickly address potential vulnerabilities and stop adversaries, before they impact the federal, state, and local governments of the United States.</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571612"/>
            <a:ext cx="8229600" cy="4643470"/>
          </a:xfrm>
        </p:spPr>
        <p:txBody>
          <a:bodyPr>
            <a:normAutofit/>
          </a:bodyPr>
          <a:lstStyle/>
          <a:p>
            <a:pPr marL="0" indent="0" algn="ctr">
              <a:buNone/>
            </a:pPr>
            <a:r>
              <a:rPr lang="en-US" sz="2000" b="1" dirty="0" smtClean="0">
                <a:solidFill>
                  <a:srgbClr val="FF0000"/>
                </a:solidFill>
                <a:latin typeface="Garamond" pitchFamily="18" charset="0"/>
              </a:rPr>
              <a:t>SOME US AGENCIES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Department of Homeland Security has a division called the </a:t>
            </a:r>
            <a:r>
              <a:rPr lang="en-US" sz="2000" u="sng" dirty="0" smtClean="0">
                <a:latin typeface="Garamond" pitchFamily="18" charset="0"/>
              </a:rPr>
              <a:t>National Cyber ​​Security Division,</a:t>
            </a:r>
            <a:r>
              <a:rPr lang="en-US" sz="2000" dirty="0" smtClean="0">
                <a:latin typeface="Garamond" pitchFamily="18" charset="0"/>
              </a:rPr>
              <a:t> responsible for the response system, the risk management program, and the requirements for </a:t>
            </a:r>
            <a:r>
              <a:rPr lang="en-US" sz="2000" dirty="0" err="1" smtClean="0">
                <a:latin typeface="Garamond" pitchFamily="18" charset="0"/>
              </a:rPr>
              <a:t>cybersecurity</a:t>
            </a:r>
            <a:r>
              <a:rPr lang="en-US" sz="2000" dirty="0" smtClean="0">
                <a:latin typeface="Garamond" pitchFamily="18" charset="0"/>
              </a:rPr>
              <a:t> in the United States. The </a:t>
            </a:r>
            <a:r>
              <a:rPr lang="en-US" sz="2000" u="sng" dirty="0" smtClean="0">
                <a:latin typeface="Garamond" pitchFamily="18" charset="0"/>
              </a:rPr>
              <a:t>National </a:t>
            </a:r>
            <a:r>
              <a:rPr lang="en-US" sz="2000" u="sng" dirty="0" err="1" smtClean="0">
                <a:latin typeface="Garamond" pitchFamily="18" charset="0"/>
              </a:rPr>
              <a:t>Cybersecurity</a:t>
            </a:r>
            <a:r>
              <a:rPr lang="en-US" sz="2000" u="sng" dirty="0" smtClean="0">
                <a:latin typeface="Garamond" pitchFamily="18" charset="0"/>
              </a:rPr>
              <a:t> and Communications Integration Center</a:t>
            </a:r>
            <a:r>
              <a:rPr lang="en-US" sz="2000" dirty="0" smtClean="0">
                <a:latin typeface="Garamond" pitchFamily="18" charset="0"/>
              </a:rPr>
              <a:t> brings together government organizations responsible for protecting computer networks and network infrastructure. The</a:t>
            </a:r>
            <a:r>
              <a:rPr lang="en-US" sz="2000" u="sng" dirty="0" smtClean="0">
                <a:latin typeface="Garamond" pitchFamily="18" charset="0"/>
              </a:rPr>
              <a:t> Federal Bureau of Investigation's</a:t>
            </a:r>
            <a:r>
              <a:rPr lang="en-US" sz="2000" dirty="0" smtClean="0">
                <a:latin typeface="Garamond" pitchFamily="18" charset="0"/>
              </a:rPr>
              <a:t> (FBI) third priority is: "Protecting the United States against Cyber Attacks and High-Tech Crimes.”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15206" y="5643578"/>
            <a:ext cx="97840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571612"/>
            <a:ext cx="8229600" cy="4643470"/>
          </a:xfrm>
        </p:spPr>
        <p:txBody>
          <a:bodyPr>
            <a:normAutofit/>
          </a:bodyPr>
          <a:lstStyle/>
          <a:p>
            <a:pPr marL="0" indent="0" algn="ctr">
              <a:buNone/>
            </a:pPr>
            <a:r>
              <a:rPr lang="en-US" sz="2000" dirty="0" smtClean="0">
                <a:latin typeface="Garamond" pitchFamily="18" charset="0"/>
              </a:rPr>
              <a:t>The </a:t>
            </a:r>
            <a:r>
              <a:rPr lang="en-US" sz="2000" u="sng" dirty="0" smtClean="0">
                <a:latin typeface="Garamond" pitchFamily="18" charset="0"/>
              </a:rPr>
              <a:t>Computer Crime and Intellectual Property Section</a:t>
            </a:r>
            <a:r>
              <a:rPr lang="en-US" sz="2000" dirty="0" smtClean="0">
                <a:latin typeface="Garamond" pitchFamily="18" charset="0"/>
              </a:rPr>
              <a:t> (CCIPS) operates in the Criminal Division of the United States Department of </a:t>
            </a:r>
            <a:r>
              <a:rPr lang="en-US" sz="2000" dirty="0" err="1" smtClean="0">
                <a:latin typeface="Garamond" pitchFamily="18" charset="0"/>
              </a:rPr>
              <a:t>Justice.The</a:t>
            </a:r>
            <a:r>
              <a:rPr lang="en-US" sz="2000" dirty="0" smtClean="0">
                <a:latin typeface="Garamond" pitchFamily="18" charset="0"/>
              </a:rPr>
              <a:t> CCIPS is charged with investigating computer and intellectual property crimes and specializes in the search for and seizure of digital evidence in computers and networks. In 2017, CCIPS released “A Framework for a Vulnerability Disclosure Program for Online Systems” to help organizations “clearly describe authorized vulnerability disclosures” and learn what to do upon discovery.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000892" y="5143512"/>
            <a:ext cx="97840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571612"/>
            <a:ext cx="8229600" cy="4643470"/>
          </a:xfrm>
        </p:spPr>
        <p:txBody>
          <a:bodyPr>
            <a:normAutofit/>
          </a:bodyPr>
          <a:lstStyle/>
          <a:p>
            <a:pPr marL="0" indent="0" algn="ctr">
              <a:buNone/>
            </a:pPr>
            <a:r>
              <a:rPr lang="en-US" sz="2000" dirty="0" smtClean="0">
                <a:latin typeface="Garamond" pitchFamily="18" charset="0"/>
              </a:rPr>
              <a:t>The </a:t>
            </a:r>
            <a:r>
              <a:rPr lang="en-US" sz="2000" u="sng" dirty="0" smtClean="0">
                <a:latin typeface="Garamond" pitchFamily="18" charset="0"/>
              </a:rPr>
              <a:t>United States Cyber ​​Command</a:t>
            </a:r>
            <a:r>
              <a:rPr lang="en-US" sz="2000" dirty="0" smtClean="0">
                <a:latin typeface="Garamond" pitchFamily="18" charset="0"/>
              </a:rPr>
              <a:t>, also known as USCYBERCOM, has the mission to direct, synchronize, and coordinate cyberspace planning and operations, and to defend and advance national interests, in collaboration with domestic and international partners. </a:t>
            </a:r>
          </a:p>
          <a:p>
            <a:pPr marL="0" indent="0" algn="ctr">
              <a:buNone/>
            </a:pPr>
            <a:r>
              <a:rPr lang="en-US" sz="2000" dirty="0" smtClean="0">
                <a:latin typeface="Garamond" pitchFamily="18" charset="0"/>
              </a:rPr>
              <a:t>The role of the US </a:t>
            </a:r>
            <a:r>
              <a:rPr lang="en-US" sz="2000" u="sng" dirty="0" smtClean="0">
                <a:latin typeface="Garamond" pitchFamily="18" charset="0"/>
              </a:rPr>
              <a:t>Federal Communications Commission in </a:t>
            </a:r>
            <a:r>
              <a:rPr lang="en-US" sz="2000" u="sng" dirty="0" err="1" smtClean="0">
                <a:latin typeface="Garamond" pitchFamily="18" charset="0"/>
              </a:rPr>
              <a:t>cybersecurity</a:t>
            </a:r>
            <a:r>
              <a:rPr lang="en-US" sz="2000" dirty="0" smtClean="0">
                <a:latin typeface="Garamond" pitchFamily="18" charset="0"/>
              </a:rPr>
              <a:t> is to enhance the protection of critical communications infrastructure, help maintain network reliability during disasters, facilitate rapid recovery after attacks are over, and ensure that first responders have access to effective communication services.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15206" y="5643578"/>
            <a:ext cx="97840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285860"/>
            <a:ext cx="8229600" cy="4643470"/>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a:t>
            </a:r>
            <a:r>
              <a:rPr lang="en-US" sz="2000" u="sng" dirty="0" smtClean="0">
                <a:latin typeface="Garamond" pitchFamily="18" charset="0"/>
              </a:rPr>
              <a:t>Food and Drug Administration</a:t>
            </a:r>
            <a:r>
              <a:rPr lang="en-US" sz="2000" dirty="0" smtClean="0">
                <a:latin typeface="Garamond" pitchFamily="18" charset="0"/>
              </a:rPr>
              <a:t> has released attack prevention guidance for internet-connected medical devices, and the </a:t>
            </a:r>
            <a:r>
              <a:rPr lang="en-US" sz="2000" u="sng" dirty="0" smtClean="0">
                <a:latin typeface="Garamond" pitchFamily="18" charset="0"/>
              </a:rPr>
              <a:t>National Highway Traffic Safety Administration</a:t>
            </a:r>
            <a:r>
              <a:rPr lang="en-US" sz="2000" dirty="0" smtClean="0">
                <a:latin typeface="Garamond" pitchFamily="18" charset="0"/>
              </a:rPr>
              <a:t> addresses automotive </a:t>
            </a:r>
            <a:r>
              <a:rPr lang="en-US" sz="2000" dirty="0" err="1" smtClean="0">
                <a:latin typeface="Garamond" pitchFamily="18" charset="0"/>
              </a:rPr>
              <a:t>cybersecurity</a:t>
            </a:r>
            <a:r>
              <a:rPr lang="en-US" sz="2000" dirty="0" smtClean="0">
                <a:latin typeface="Garamond" pitchFamily="18" charset="0"/>
              </a:rPr>
              <a:t>. </a:t>
            </a:r>
          </a:p>
          <a:p>
            <a:pPr marL="0" indent="0" algn="ctr">
              <a:buNone/>
            </a:pPr>
            <a:r>
              <a:rPr lang="en-US" sz="2000" dirty="0" smtClean="0">
                <a:latin typeface="Garamond" pitchFamily="18" charset="0"/>
              </a:rPr>
              <a:t>The Federal Aviation Administration has allocated funds to protect the systems on board the planes of private manufacturers and the communication and signaling systems of aircrafts.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15206" y="5643578"/>
            <a:ext cx="97840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214422"/>
            <a:ext cx="8229600" cy="4643470"/>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a:t>
            </a:r>
            <a:r>
              <a:rPr lang="en-US" sz="2000" u="sng" dirty="0" smtClean="0">
                <a:latin typeface="Garamond" pitchFamily="18" charset="0"/>
              </a:rPr>
              <a:t>"Computer Emergency Response Team"</a:t>
            </a:r>
            <a:r>
              <a:rPr lang="en-US" sz="2000" dirty="0" smtClean="0">
                <a:latin typeface="Garamond" pitchFamily="18" charset="0"/>
              </a:rPr>
              <a:t> is the name given to groups of experts who handle computer security incidents. In the United States, there are two distinct organizations that work closely together: </a:t>
            </a:r>
          </a:p>
          <a:p>
            <a:pPr marL="0" indent="0" algn="ctr">
              <a:buNone/>
            </a:pPr>
            <a:r>
              <a:rPr lang="en-US" sz="2000" u="sng" dirty="0" smtClean="0">
                <a:latin typeface="Garamond" pitchFamily="18" charset="0"/>
              </a:rPr>
              <a:t>US-CERT</a:t>
            </a:r>
            <a:r>
              <a:rPr lang="en-US" sz="2000" dirty="0" smtClean="0">
                <a:latin typeface="Garamond" pitchFamily="18" charset="0"/>
              </a:rPr>
              <a:t>: part of the National Cyber ​​Security Division of the United States Department of Homeland Security.</a:t>
            </a:r>
          </a:p>
          <a:p>
            <a:pPr marL="0" indent="0" algn="ctr">
              <a:buNone/>
            </a:pPr>
            <a:r>
              <a:rPr lang="en-US" sz="2000" dirty="0" smtClean="0">
                <a:latin typeface="Garamond" pitchFamily="18" charset="0"/>
              </a:rPr>
              <a:t>CERT/CC: created by the Defense Advanced Research Projects Agency (DARPA) and maintained by the Software Engineering Institute (SEI).</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15206" y="5643578"/>
            <a:ext cx="97840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928670"/>
            <a:ext cx="8229600" cy="571504"/>
          </a:xfrm>
        </p:spPr>
        <p:txBody>
          <a:bodyPr>
            <a:normAutofit/>
          </a:bodyPr>
          <a:lstStyle/>
          <a:p>
            <a:r>
              <a:rPr lang="it-IT" sz="2200" b="1" dirty="0" smtClean="0">
                <a:solidFill>
                  <a:srgbClr val="FF0000"/>
                </a:solidFill>
                <a:latin typeface="Garamond" pitchFamily="18" charset="0"/>
              </a:rPr>
              <a:t>THE EUROPEAN UNION</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28596" y="1571612"/>
            <a:ext cx="8229600" cy="4643470"/>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a:t>
            </a:r>
            <a:r>
              <a:rPr lang="en-US" sz="2000" u="sng" dirty="0" smtClean="0">
                <a:latin typeface="Garamond" pitchFamily="18" charset="0"/>
              </a:rPr>
              <a:t>European Commission</a:t>
            </a:r>
            <a:r>
              <a:rPr lang="en-US" sz="2000" dirty="0" smtClean="0">
                <a:latin typeface="Garamond" pitchFamily="18" charset="0"/>
              </a:rPr>
              <a:t> has proposed a declaration of digital rights and principles for the EU. </a:t>
            </a:r>
            <a:r>
              <a:rPr lang="en-US" sz="2000" u="sng" dirty="0" smtClean="0">
                <a:latin typeface="Garamond" pitchFamily="18" charset="0"/>
              </a:rPr>
              <a:t>On 26 January 2022</a:t>
            </a:r>
            <a:r>
              <a:rPr lang="en-US" sz="2000" dirty="0" smtClean="0">
                <a:latin typeface="Garamond" pitchFamily="18" charset="0"/>
              </a:rPr>
              <a:t>, the Commission instructed the Parliament and the Council to sign a declaration of the rights and principles that will guide digital transformation in the EU. </a:t>
            </a:r>
            <a:r>
              <a:rPr lang="en-US" sz="2000" u="sng" dirty="0" smtClean="0">
                <a:latin typeface="Garamond" pitchFamily="18" charset="0"/>
              </a:rPr>
              <a:t>The draft declaration addresses fundamental rights and principles for digital transformation, placing people and their rights at its center</a:t>
            </a:r>
            <a:r>
              <a:rPr lang="en-US" sz="2000" dirty="0" smtClean="0">
                <a:latin typeface="Garamond" pitchFamily="18" charset="0"/>
              </a:rPr>
              <a:t>, advocating solidarity and inclusion, ensuring freedom of choice online, promoting participation in the digital public space, increasing the security, autonomy and responsibility of people, and developing a sustainable digital future.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571612"/>
            <a:ext cx="8229600" cy="4643470"/>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On 27 January 2022</a:t>
            </a:r>
            <a:r>
              <a:rPr lang="en-US" sz="2000" dirty="0" smtClean="0">
                <a:latin typeface="Garamond" pitchFamily="18" charset="0"/>
              </a:rPr>
              <a:t>, the three European Supervisory Authorities (EBA, EIOPA and ESMA, together with ESAs) issued the declarations concerning the </a:t>
            </a:r>
            <a:r>
              <a:rPr lang="en-US" sz="2000" u="sng" dirty="0" smtClean="0">
                <a:latin typeface="Garamond" pitchFamily="18" charset="0"/>
              </a:rPr>
              <a:t>recommendations given by the European Systemic Risk Board (ESRB) regarding systematic cyber risk</a:t>
            </a:r>
            <a:r>
              <a:rPr lang="en-US" sz="2000" dirty="0" smtClean="0">
                <a:latin typeface="Garamond" pitchFamily="18" charset="0"/>
              </a:rPr>
              <a:t>. </a:t>
            </a:r>
          </a:p>
          <a:p>
            <a:pPr marL="0" indent="0" algn="ctr">
              <a:buNone/>
            </a:pPr>
            <a:r>
              <a:rPr lang="en-US" sz="2000" dirty="0" smtClean="0">
                <a:latin typeface="Garamond" pitchFamily="18" charset="0"/>
              </a:rPr>
              <a:t>The plan is to gradually develop a pan-European framework to coordinate an effective EU-wide response to major cross-border cyber incidents that could threaten the financial situation of the EU.</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571612"/>
            <a:ext cx="8229600" cy="4643470"/>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On 1 February 2022</a:t>
            </a:r>
            <a:r>
              <a:rPr lang="en-US" sz="2000" dirty="0" smtClean="0">
                <a:latin typeface="Garamond" pitchFamily="18" charset="0"/>
              </a:rPr>
              <a:t>, a provisional agreement was signed between the presidency of the Council and the European Parliament regarding a new mandate for technological investigation. </a:t>
            </a:r>
          </a:p>
          <a:p>
            <a:pPr marL="0" indent="0" algn="ctr">
              <a:buNone/>
            </a:pPr>
            <a:r>
              <a:rPr lang="en-US" sz="2000" dirty="0" smtClean="0">
                <a:latin typeface="Garamond" pitchFamily="18" charset="0"/>
              </a:rPr>
              <a:t>The agreement concerns changes to be made to Europol regulations to strengthen the means at its disposal in supporting Member States in the use of emerging technologies for investigative </a:t>
            </a:r>
            <a:r>
              <a:rPr lang="en-US" sz="2000" dirty="0" err="1" smtClean="0">
                <a:latin typeface="Garamond" pitchFamily="18" charset="0"/>
              </a:rPr>
              <a:t>purposes.As</a:t>
            </a:r>
            <a:r>
              <a:rPr lang="en-US" sz="2000" dirty="0" smtClean="0">
                <a:latin typeface="Garamond" pitchFamily="18" charset="0"/>
              </a:rPr>
              <a:t> part of the European data strategy, which aims to position the EU as a leader in our data-driven society, a proposal for a regulation of fair access to data was submitted by the Commission on 23 February 2022.</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571612"/>
            <a:ext cx="8229600" cy="4643470"/>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resulting Data Act defines who can create value using data and is integrated with GDPR regulation. </a:t>
            </a:r>
            <a:r>
              <a:rPr lang="en-US" sz="2000" u="sng" dirty="0" smtClean="0">
                <a:latin typeface="Garamond" pitchFamily="18" charset="0"/>
              </a:rPr>
              <a:t>On 26.1.2022</a:t>
            </a:r>
            <a:r>
              <a:rPr lang="en-US" sz="2000" dirty="0" smtClean="0">
                <a:latin typeface="Garamond" pitchFamily="18" charset="0"/>
              </a:rPr>
              <a:t>, in fact, the two-year Memorandum of Intent was signed between the </a:t>
            </a:r>
            <a:r>
              <a:rPr lang="en-US" sz="2000" u="sng" dirty="0" smtClean="0">
                <a:latin typeface="Garamond" pitchFamily="18" charset="0"/>
              </a:rPr>
              <a:t>Privacy Guarantor </a:t>
            </a:r>
            <a:r>
              <a:rPr lang="en-US" sz="2000" dirty="0" smtClean="0">
                <a:latin typeface="Garamond" pitchFamily="18" charset="0"/>
              </a:rPr>
              <a:t>and the </a:t>
            </a:r>
            <a:r>
              <a:rPr lang="en-US" sz="2000" u="sng" dirty="0" smtClean="0">
                <a:latin typeface="Garamond" pitchFamily="18" charset="0"/>
              </a:rPr>
              <a:t>National </a:t>
            </a:r>
            <a:r>
              <a:rPr lang="en-US" sz="2000" u="sng" dirty="0" err="1" smtClean="0">
                <a:latin typeface="Garamond" pitchFamily="18" charset="0"/>
              </a:rPr>
              <a:t>Cybersecurity</a:t>
            </a:r>
            <a:r>
              <a:rPr lang="en-US" sz="2000" u="sng" dirty="0" smtClean="0">
                <a:latin typeface="Garamond" pitchFamily="18" charset="0"/>
              </a:rPr>
              <a:t> Agency</a:t>
            </a:r>
            <a:r>
              <a:rPr lang="en-US" sz="2000" dirty="0" smtClean="0">
                <a:latin typeface="Garamond" pitchFamily="18" charset="0"/>
              </a:rPr>
              <a:t> with the aim of </a:t>
            </a:r>
            <a:r>
              <a:rPr lang="en-US" sz="2000" u="sng" dirty="0" smtClean="0">
                <a:latin typeface="Garamond" pitchFamily="18" charset="0"/>
              </a:rPr>
              <a:t>facilitating communication between the two</a:t>
            </a:r>
            <a:r>
              <a:rPr lang="en-US" sz="2000" dirty="0" smtClean="0">
                <a:latin typeface="Garamond" pitchFamily="18" charset="0"/>
              </a:rPr>
              <a:t>, in order to guarantee both the rights of citizens and the protection of national security in the cyber space.</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p14="http://schemas.microsoft.com/office/powerpoint/2010/main" xmlns=""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4174</TotalTime>
  <Words>1845</Words>
  <Application>Microsoft Macintosh PowerPoint</Application>
  <PresentationFormat>Presentazione su schermo (4:3)</PresentationFormat>
  <Paragraphs>168</Paragraphs>
  <Slides>22</Slides>
  <Notes>22</Notes>
  <HiddenSlides>0</HiddenSlides>
  <MMClips>0</MMClips>
  <ScaleCrop>false</ScaleCrop>
  <HeadingPairs>
    <vt:vector size="4" baseType="variant">
      <vt:variant>
        <vt:lpstr>Tema</vt:lpstr>
      </vt:variant>
      <vt:variant>
        <vt:i4>1</vt:i4>
      </vt:variant>
      <vt:variant>
        <vt:lpstr>Titoli diapositive</vt:lpstr>
      </vt:variant>
      <vt:variant>
        <vt:i4>22</vt:i4>
      </vt:variant>
    </vt:vector>
  </HeadingPairs>
  <TitlesOfParts>
    <vt:vector size="23" baseType="lpstr">
      <vt:lpstr>Tema di Office</vt:lpstr>
      <vt:lpstr>    CORSO DI CYBERSECURITY AWARENESS     GOVERNMENTS AND CYBER REGULATIONS U.S. CASE AND EUROPEAN UNION   N. 2</vt:lpstr>
      <vt:lpstr>INDEX</vt:lpstr>
      <vt:lpstr>LEGAL ISSUES AND THE NEED FOR COMMON REGULATION</vt:lpstr>
      <vt:lpstr>Diapositiva 4</vt:lpstr>
      <vt:lpstr>THE ROLE OF GOVERNMENTS</vt:lpstr>
      <vt:lpstr>Diapositiva 6</vt:lpstr>
      <vt:lpstr>Diapositiva 7</vt:lpstr>
      <vt:lpstr>INTERNATIONAL ORGANIZATIONS</vt:lpstr>
      <vt:lpstr>Diapositiva 9</vt:lpstr>
      <vt:lpstr>Diapositiva 10</vt:lpstr>
      <vt:lpstr>Diapositiva 11</vt:lpstr>
      <vt:lpstr>Diapositiva 12</vt:lpstr>
      <vt:lpstr>Diapositiva 13</vt:lpstr>
      <vt:lpstr>Diapositiva 14</vt:lpstr>
      <vt:lpstr>Diapositiva 15</vt:lpstr>
      <vt:lpstr>Diapositiva 16</vt:lpstr>
      <vt:lpstr>Diapositiva 17</vt:lpstr>
      <vt:lpstr>THE EUROPEAN UNION</vt:lpstr>
      <vt:lpstr>Diapositiva 19</vt:lpstr>
      <vt:lpstr>Diapositiva 20</vt:lpstr>
      <vt:lpstr>Diapositiva 21</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REVISIONE DEL SISTEMA SANZIONATORIO PENALE TRIBUTARIO</dc:title>
  <dc:creator>Utente</dc:creator>
  <cp:lastModifiedBy>Alessandro</cp:lastModifiedBy>
  <cp:revision>383</cp:revision>
  <dcterms:created xsi:type="dcterms:W3CDTF">2017-03-21T08:05:44Z</dcterms:created>
  <dcterms:modified xsi:type="dcterms:W3CDTF">2023-09-07T07:33:11Z</dcterms:modified>
</cp:coreProperties>
</file>