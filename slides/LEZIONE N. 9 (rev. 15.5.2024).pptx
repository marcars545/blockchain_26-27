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93" r:id="rId3"/>
    <p:sldId id="258" r:id="rId4"/>
    <p:sldId id="259" r:id="rId5"/>
    <p:sldId id="260" r:id="rId6"/>
    <p:sldId id="290" r:id="rId7"/>
    <p:sldId id="261" r:id="rId8"/>
    <p:sldId id="262" r:id="rId9"/>
    <p:sldId id="291"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92"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23D933-604A-4EC1-9D81-172BC44D92DD}" type="datetimeFigureOut">
              <a:rPr lang="it-IT" smtClean="0"/>
              <a:pPr/>
              <a:t>15/05/2024</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AB87D70-C5C9-4832-9BD7-03C94149766E}"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9981A34F-63CD-4276-A7CD-BF3BBBD08F78}"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735365A3-0F99-4048-A1E0-89DDF8673828}"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5D666B40-5458-409A-AB92-F4C09D6B1E5B}"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CB6434E7-AA8A-42EC-943E-168B4056C123}"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6CFA0F00-D19E-4DFD-ABCA-BE084D2732CD}" type="datetime1">
              <a:rPr lang="it-IT" smtClean="0"/>
              <a:pPr/>
              <a:t>15/05/2024</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F2473B9F-2DB2-4AF3-8692-FAF7D8B7EA63}" type="datetime1">
              <a:rPr lang="it-IT" smtClean="0"/>
              <a:pPr/>
              <a:t>15/05/2024</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0F61C2C2-713D-4F53-A229-EC2ABF644DD6}" type="datetime1">
              <a:rPr lang="it-IT" smtClean="0"/>
              <a:pPr/>
              <a:t>15/05/2024</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CDB7E252-24E6-4262-B3A1-3958491D2B03}"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D512C8F6-D2E9-4BCE-9393-192B40F6AB1C}"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522921A7-6607-4997-B5C8-61BBE7A0FB95}"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227ED216-1305-4E85-A366-ADD765B9A9FD}"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094336-E694-400D-8892-A2AB623A4403}" type="datetime1">
              <a:rPr lang="it-IT" smtClean="0"/>
              <a:pPr/>
              <a:t>15/05/2024</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037524-BE4B-42AE-9CE2-18539AD13956}"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642910" y="1000108"/>
            <a:ext cx="7772400" cy="1470025"/>
          </a:xfrm>
        </p:spPr>
        <p:txBody>
          <a:bodyPr>
            <a:normAutofit fontScale="90000"/>
          </a:bodyPr>
          <a:lstStyle/>
          <a:p>
            <a:r>
              <a:rPr lang="it-IT" sz="3100" dirty="0" smtClean="0">
                <a:solidFill>
                  <a:srgbClr val="FF0000"/>
                </a:solidFill>
              </a:rPr>
              <a:t>LEZIONE N. </a:t>
            </a:r>
            <a:r>
              <a:rPr lang="it-IT" sz="3100" dirty="0" smtClean="0">
                <a:solidFill>
                  <a:srgbClr val="FF0000"/>
                </a:solidFill>
              </a:rPr>
              <a:t>9</a:t>
            </a:r>
            <a:br>
              <a:rPr lang="it-IT" sz="3100" dirty="0" smtClean="0">
                <a:solidFill>
                  <a:srgbClr val="FF0000"/>
                </a:solidFill>
              </a:rPr>
            </a:br>
            <a:r>
              <a:rPr lang="it-IT" sz="3100" dirty="0" smtClean="0">
                <a:solidFill>
                  <a:srgbClr val="FF0000"/>
                </a:solidFill>
              </a:rPr>
              <a:t>AND RECAP </a:t>
            </a:r>
            <a:r>
              <a:rPr lang="it-IT" dirty="0" smtClean="0">
                <a:solidFill>
                  <a:srgbClr val="FF0000"/>
                </a:solidFill>
              </a:rPr>
              <a:t/>
            </a:r>
            <a:br>
              <a:rPr lang="it-IT" dirty="0" smtClean="0">
                <a:solidFill>
                  <a:srgbClr val="FF0000"/>
                </a:solidFill>
              </a:rPr>
            </a:br>
            <a:endParaRPr lang="it-IT" dirty="0">
              <a:solidFill>
                <a:srgbClr val="FF0000"/>
              </a:solidFill>
            </a:endParaRPr>
          </a:p>
        </p:txBody>
      </p:sp>
      <p:sp>
        <p:nvSpPr>
          <p:cNvPr id="3" name="Sottotitolo 2"/>
          <p:cNvSpPr>
            <a:spLocks noGrp="1"/>
          </p:cNvSpPr>
          <p:nvPr>
            <p:ph type="subTitle" idx="1"/>
          </p:nvPr>
        </p:nvSpPr>
        <p:spPr>
          <a:xfrm>
            <a:off x="428596" y="2143116"/>
            <a:ext cx="8215370" cy="3495684"/>
          </a:xfrm>
        </p:spPr>
        <p:txBody>
          <a:bodyPr>
            <a:normAutofit/>
          </a:bodyPr>
          <a:lstStyle/>
          <a:p>
            <a:pPr marL="457200" indent="-457200" algn="just">
              <a:buFont typeface="+mj-lt"/>
              <a:buAutoNum type="arabicPeriod"/>
            </a:pPr>
            <a:r>
              <a:rPr lang="en-US" sz="2000" b="1" dirty="0" smtClean="0">
                <a:solidFill>
                  <a:schemeClr val="tx1"/>
                </a:solidFill>
                <a:latin typeface="Garamond" pitchFamily="18" charset="0"/>
              </a:rPr>
              <a:t>Improving  the functioning of governance</a:t>
            </a:r>
          </a:p>
          <a:p>
            <a:pPr marL="457200" indent="-457200" algn="just">
              <a:buFont typeface="+mj-lt"/>
              <a:buAutoNum type="arabicPeriod"/>
            </a:pPr>
            <a:r>
              <a:rPr lang="en-US" sz="2000" b="1" dirty="0" smtClean="0">
                <a:solidFill>
                  <a:schemeClr val="tx1"/>
                </a:solidFill>
                <a:latin typeface="Garamond" pitchFamily="18" charset="0"/>
              </a:rPr>
              <a:t>Limitations  of </a:t>
            </a:r>
            <a:r>
              <a:rPr lang="en-US" sz="2000" b="1" dirty="0" err="1" smtClean="0">
                <a:solidFill>
                  <a:schemeClr val="tx1"/>
                </a:solidFill>
                <a:latin typeface="Garamond" pitchFamily="18" charset="0"/>
              </a:rPr>
              <a:t>tce</a:t>
            </a:r>
            <a:r>
              <a:rPr lang="en-US" sz="2000" b="1" dirty="0" smtClean="0">
                <a:solidFill>
                  <a:schemeClr val="tx1"/>
                </a:solidFill>
                <a:latin typeface="Garamond" pitchFamily="18" charset="0"/>
              </a:rPr>
              <a:t> theory in the adoption of smart contracts</a:t>
            </a:r>
          </a:p>
          <a:p>
            <a:pPr marL="457200" indent="-457200" algn="just">
              <a:buFont typeface="+mj-lt"/>
              <a:buAutoNum type="arabicPeriod"/>
            </a:pPr>
            <a:r>
              <a:rPr lang="en-US" sz="2000" b="1" dirty="0" smtClean="0">
                <a:solidFill>
                  <a:schemeClr val="tx1"/>
                </a:solidFill>
                <a:latin typeface="Garamond" pitchFamily="18" charset="0"/>
              </a:rPr>
              <a:t>Areas for future research</a:t>
            </a:r>
          </a:p>
          <a:p>
            <a:pPr marL="457200" indent="-457200" algn="just">
              <a:buFont typeface="+mj-lt"/>
              <a:buAutoNum type="arabicPeriod"/>
            </a:pPr>
            <a:r>
              <a:rPr lang="en-US" sz="2000" b="1" dirty="0" smtClean="0">
                <a:solidFill>
                  <a:schemeClr val="tx1"/>
                </a:solidFill>
                <a:latin typeface="Garamond" pitchFamily="18" charset="0"/>
              </a:rPr>
              <a:t>Final considerations</a:t>
            </a:r>
          </a:p>
          <a:p>
            <a:pPr marL="457200" indent="-457200" algn="just">
              <a:buFont typeface="+mj-lt"/>
              <a:buAutoNum type="arabicPeriod"/>
            </a:pPr>
            <a:r>
              <a:rPr lang="en-US" sz="2000" b="1" dirty="0" smtClean="0">
                <a:solidFill>
                  <a:schemeClr val="tx1"/>
                </a:solidFill>
                <a:latin typeface="Garamond" pitchFamily="18" charset="0"/>
              </a:rPr>
              <a:t>What is the blockchain</a:t>
            </a:r>
          </a:p>
          <a:p>
            <a:pPr marL="457200" indent="-457200" algn="just">
              <a:buFont typeface="+mj-lt"/>
              <a:buAutoNum type="arabicPeriod"/>
            </a:pPr>
            <a:r>
              <a:rPr lang="en-US" sz="2000" b="1" dirty="0" smtClean="0">
                <a:solidFill>
                  <a:schemeClr val="tx1"/>
                </a:solidFill>
                <a:latin typeface="Garamond" pitchFamily="18" charset="0"/>
              </a:rPr>
              <a:t>Blockchain and </a:t>
            </a:r>
            <a:r>
              <a:rPr lang="en-US" sz="2000" b="1" dirty="0" err="1" smtClean="0">
                <a:solidFill>
                  <a:schemeClr val="tx1"/>
                </a:solidFill>
                <a:latin typeface="Garamond" pitchFamily="18" charset="0"/>
              </a:rPr>
              <a:t>bitcoin</a:t>
            </a:r>
            <a:endParaRPr lang="en-US" sz="2000" b="1" dirty="0" smtClean="0">
              <a:solidFill>
                <a:schemeClr val="tx1"/>
              </a:solidFill>
              <a:latin typeface="Garamond" pitchFamily="18" charset="0"/>
            </a:endParaRPr>
          </a:p>
          <a:p>
            <a:pPr marL="457200" indent="-457200" algn="just">
              <a:buFont typeface="+mj-lt"/>
              <a:buAutoNum type="arabicPeriod"/>
            </a:pPr>
            <a:r>
              <a:rPr lang="en-US" sz="2000" b="1" dirty="0" smtClean="0">
                <a:solidFill>
                  <a:schemeClr val="tx1"/>
                </a:solidFill>
                <a:latin typeface="Garamond" pitchFamily="18" charset="0"/>
              </a:rPr>
              <a:t>Characteristics  of the blockchain</a:t>
            </a:r>
          </a:p>
          <a:p>
            <a:pPr marL="457200" indent="-457200" algn="just">
              <a:buFont typeface="+mj-lt"/>
              <a:buAutoNum type="arabicPeriod"/>
            </a:pPr>
            <a:r>
              <a:rPr lang="en-US" sz="2000" b="1" dirty="0" smtClean="0">
                <a:solidFill>
                  <a:schemeClr val="tx1"/>
                </a:solidFill>
                <a:latin typeface="Garamond" pitchFamily="18" charset="0"/>
              </a:rPr>
              <a:t>Blockchain and smart contract. The </a:t>
            </a:r>
            <a:r>
              <a:rPr lang="en-US" sz="2000" b="1" dirty="0" err="1" smtClean="0">
                <a:solidFill>
                  <a:schemeClr val="tx1"/>
                </a:solidFill>
                <a:latin typeface="Garamond" pitchFamily="18" charset="0"/>
              </a:rPr>
              <a:t>italian</a:t>
            </a:r>
            <a:r>
              <a:rPr lang="en-US" sz="2000" b="1" dirty="0" smtClean="0">
                <a:solidFill>
                  <a:schemeClr val="tx1"/>
                </a:solidFill>
                <a:latin typeface="Garamond" pitchFamily="18" charset="0"/>
              </a:rPr>
              <a:t> case</a:t>
            </a:r>
          </a:p>
          <a:p>
            <a:endParaRPr lang="it-IT" dirty="0">
              <a:solidFill>
                <a:srgbClr val="FF0000"/>
              </a:solidFill>
            </a:endParaRPr>
          </a:p>
        </p:txBody>
      </p:sp>
      <p:sp>
        <p:nvSpPr>
          <p:cNvPr id="4" name="CasellaDiTesto 3"/>
          <p:cNvSpPr txBox="1"/>
          <p:nvPr/>
        </p:nvSpPr>
        <p:spPr>
          <a:xfrm>
            <a:off x="3000364" y="416462"/>
            <a:ext cx="3071834" cy="369332"/>
          </a:xfrm>
          <a:prstGeom prst="rect">
            <a:avLst/>
          </a:prstGeom>
          <a:noFill/>
        </p:spPr>
        <p:txBody>
          <a:bodyPr wrap="square" rtlCol="0">
            <a:spAutoFit/>
          </a:bodyPr>
          <a:lstStyle/>
          <a:p>
            <a:pPr algn="ctr"/>
            <a:r>
              <a:rPr lang="it-IT" b="1" dirty="0" smtClean="0">
                <a:latin typeface="Garamond" pitchFamily="18" charset="0"/>
              </a:rPr>
              <a:t>Prof. Maria </a:t>
            </a:r>
            <a:r>
              <a:rPr lang="it-IT" b="1" dirty="0" err="1" smtClean="0">
                <a:latin typeface="Garamond" pitchFamily="18" charset="0"/>
              </a:rPr>
              <a:t>Bruccoleri</a:t>
            </a:r>
            <a:r>
              <a:rPr lang="it-IT" b="1" dirty="0" smtClean="0">
                <a:latin typeface="Garamond" pitchFamily="18" charset="0"/>
              </a:rPr>
              <a:t> </a:t>
            </a:r>
            <a:endParaRPr lang="it-IT" b="1" dirty="0">
              <a:latin typeface="Garamond" pitchFamily="18" charset="0"/>
            </a:endParaRPr>
          </a:p>
        </p:txBody>
      </p:sp>
      <p:sp>
        <p:nvSpPr>
          <p:cNvPr id="5" name="Segnaposto numero diapositiva 4"/>
          <p:cNvSpPr>
            <a:spLocks noGrp="1"/>
          </p:cNvSpPr>
          <p:nvPr>
            <p:ph type="sldNum" sz="quarter" idx="12"/>
          </p:nvPr>
        </p:nvSpPr>
        <p:spPr/>
        <p:txBody>
          <a:bodyPr/>
          <a:lstStyle/>
          <a:p>
            <a:fld id="{6A037524-BE4B-42AE-9CE2-18539AD13956}" type="slidenum">
              <a:rPr lang="it-IT" smtClean="0"/>
              <a:pPr/>
              <a:t>1</a:t>
            </a:fld>
            <a:endParaRPr lang="it-IT"/>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400" b="1" dirty="0" smtClean="0">
                <a:solidFill>
                  <a:srgbClr val="FF0000"/>
                </a:solidFill>
                <a:latin typeface="Garamond" pitchFamily="18" charset="0"/>
              </a:rPr>
              <a:t>IMPROVING  THE FUNCTIONING OF GOVERNANCE</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fontScale="925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Outsourcing has become an established mechanism for the provision of public services in most industrialized countries.</a:t>
            </a:r>
          </a:p>
          <a:p>
            <a:pPr marL="0" indent="0" algn="just">
              <a:buNone/>
            </a:pPr>
            <a:r>
              <a:rPr lang="en-US" sz="2000" dirty="0" smtClean="0">
                <a:latin typeface="Garamond" pitchFamily="18" charset="0"/>
              </a:rPr>
              <a:t>However, there may be a risk that private firms, with the intention of maximizing profit, may attempt to influence governments when contractual terms are renegotiated.</a:t>
            </a:r>
          </a:p>
          <a:p>
            <a:pPr marL="0" indent="0" algn="just">
              <a:buNone/>
            </a:pPr>
            <a:r>
              <a:rPr lang="en-US" sz="2000" dirty="0" smtClean="0">
                <a:latin typeface="Garamond" pitchFamily="18" charset="0"/>
              </a:rPr>
              <a:t>Experts have exposed the potential risk of situations in which private companies "gradually increase" prices, eroding, over time, the cost  savings resulting from outsourcing.</a:t>
            </a:r>
          </a:p>
          <a:p>
            <a:pPr marL="0" indent="0" algn="just">
              <a:buNone/>
            </a:pPr>
            <a:r>
              <a:rPr lang="en-US" sz="2000" dirty="0" smtClean="0">
                <a:latin typeface="Garamond" pitchFamily="18" charset="0"/>
              </a:rPr>
              <a:t>The adoption of smart contracts can improve the functioning of the executive branch, allowing for greater efficiency in certain types of government contracts.</a:t>
            </a:r>
          </a:p>
          <a:p>
            <a:pPr marL="0" indent="0" algn="just">
              <a:buNone/>
            </a:pPr>
            <a:r>
              <a:rPr lang="en-US" sz="2000" dirty="0" smtClean="0">
                <a:latin typeface="Garamond" pitchFamily="18" charset="0"/>
              </a:rPr>
              <a:t>The use of smart contracts in the outsourcing of public service provisions,</a:t>
            </a:r>
          </a:p>
          <a:p>
            <a:pPr marL="0" indent="0" algn="just">
              <a:buNone/>
            </a:pPr>
            <a:r>
              <a:rPr lang="en-US" sz="2000" dirty="0" smtClean="0">
                <a:latin typeface="Garamond" pitchFamily="18" charset="0"/>
              </a:rPr>
              <a:t>for example, can reduce the problem of conditioning in those areas where a well-designed smart contract can be  created.</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a:t>
            </a:fld>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Adopting smart contracts for already outsourced businesses, can further reduce transaction costs and increase the efficiency of government operations.</a:t>
            </a:r>
          </a:p>
          <a:p>
            <a:pPr marL="0" indent="0" algn="just">
              <a:buNone/>
            </a:pPr>
            <a:r>
              <a:rPr lang="en-US" sz="2000" dirty="0" smtClean="0">
                <a:latin typeface="Garamond" pitchFamily="18" charset="0"/>
              </a:rPr>
              <a:t>For example, in the construction of a new highway, institutions can rely on smart contracts to insure the monitoring and fulfillment of contractual terms, based on inputs that code aspects of the project (e.g., workers showing up at the workplace) and results (e.g., progress being made as a condition of payment).</a:t>
            </a:r>
          </a:p>
          <a:p>
            <a:pPr marL="0" indent="0" algn="just">
              <a:buNone/>
            </a:pPr>
            <a:r>
              <a:rPr lang="en-US" sz="2000" dirty="0" smtClean="0">
                <a:latin typeface="Garamond" pitchFamily="18" charset="0"/>
              </a:rPr>
              <a:t>Furthermore, smart contracts can make it easier to govern foreseeable increases in contractual costs by inserting budgets for potential cost increases in the contract and by codifying the circumstances under which such implementation would be allowed and endorsed.</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a:t>
            </a:fld>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LIMITATIONS  OF TCE THEORY IN THE ADOPTION OF SMART CONTRACTS</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Starting from a TCE perspective, in order to understand the potential impact of the large-scale adoption of smart contracts on the boundaries of a business firm, it must also be remembered how TCE, despite its significant following and Nobel Prize, has also received a great deal of criticism, in terms of organizational theory and economics.</a:t>
            </a:r>
          </a:p>
          <a:p>
            <a:pPr marL="0" indent="0" algn="just">
              <a:buNone/>
            </a:pPr>
            <a:r>
              <a:rPr lang="en-US" sz="2000" dirty="0" smtClean="0">
                <a:latin typeface="Garamond" pitchFamily="18" charset="0"/>
              </a:rPr>
              <a:t>Organization theorists have argued, in fact, that the singular focus of TCE on incentives - the prevention of opportunistic behavior - and its insistence that the advantages of production costs and control over precious resources are not directly salient to explaining the boundaries of the firm,  make this theory rather limited.</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a:t>
            </a:fld>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This limitation is particularly evident when recognizing that modern  business firms are where technological innovation takes place.</a:t>
            </a:r>
          </a:p>
          <a:p>
            <a:pPr marL="0" indent="0" algn="just">
              <a:buNone/>
            </a:pPr>
            <a:r>
              <a:rPr lang="en-US" sz="2000" dirty="0" smtClean="0">
                <a:latin typeface="Garamond" pitchFamily="18" charset="0"/>
              </a:rPr>
              <a:t>The impossibility of translating contractual incompleteness into a cost function makes mathematical modeling difficult and limits the possibilities of formal theorization of the acquisition of new models.</a:t>
            </a:r>
          </a:p>
          <a:p>
            <a:pPr marL="0" indent="0" algn="just">
              <a:buNone/>
            </a:pPr>
            <a:r>
              <a:rPr lang="en-US" sz="2000" dirty="0" smtClean="0">
                <a:latin typeface="Garamond" pitchFamily="18" charset="0"/>
              </a:rPr>
              <a:t>For example, there are cities that pay private companies to collect garbage.</a:t>
            </a:r>
          </a:p>
          <a:p>
            <a:pPr marL="0" indent="0" algn="just">
              <a:buNone/>
            </a:pPr>
            <a:r>
              <a:rPr lang="en-US" sz="2000" dirty="0" smtClean="0">
                <a:latin typeface="Garamond" pitchFamily="18" charset="0"/>
              </a:rPr>
              <a:t>By entrusting the provision of public services to private companies, governments aim for greater efficiency in their operations and tap into the specialized expertise available in private enterprises.</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5</a:t>
            </a:fld>
            <a:endParaRPr lang="it-I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Proponents of government outsourcing have argued that bargaining with private suppliers leads to an efficient allocation of resources and a reduction in the tax burden on government and taxpayers.</a:t>
            </a:r>
          </a:p>
          <a:p>
            <a:pPr marL="0" indent="0" algn="just">
              <a:buNone/>
            </a:pPr>
            <a:r>
              <a:rPr lang="en-US" sz="2000" dirty="0" smtClean="0">
                <a:latin typeface="Garamond" pitchFamily="18" charset="0"/>
              </a:rPr>
              <a:t>With these limitations, it is not surprising that TCE has received somewhat fluctuating empirical support.</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6</a:t>
            </a:fld>
            <a:endParaRPr lang="it-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It is possible, however, to justify the attention dedicated to TCE because, despite its limitations, it is the only theory of business economics that directly considers contract law, and is therefore useful in paving the way for the greater use of smart  contracts.</a:t>
            </a:r>
          </a:p>
          <a:p>
            <a:pPr marL="0" indent="0" algn="just">
              <a:buNone/>
            </a:pPr>
            <a:r>
              <a:rPr lang="en-US" sz="2000" dirty="0" smtClean="0">
                <a:latin typeface="Garamond" pitchFamily="18" charset="0"/>
              </a:rPr>
              <a:t>It has also been argued that the smart contract, by definition, directly implies changes in the commercial contract law regime for businesses.</a:t>
            </a:r>
          </a:p>
          <a:p>
            <a:pPr marL="0" indent="0" algn="just">
              <a:buNone/>
            </a:pPr>
            <a:r>
              <a:rPr lang="en-US" sz="2000" dirty="0" smtClean="0">
                <a:latin typeface="Garamond" pitchFamily="18" charset="0"/>
              </a:rPr>
              <a:t>This does not mean, however, that the smart contract concept does not have other implications within business firms.</a:t>
            </a:r>
          </a:p>
          <a:p>
            <a:pPr marL="0" indent="0" algn="just">
              <a:buNone/>
            </a:pPr>
            <a:r>
              <a:rPr lang="en-US" sz="2000" dirty="0" smtClean="0">
                <a:latin typeface="Garamond" pitchFamily="18" charset="0"/>
              </a:rPr>
              <a:t>The resource-based view of the firm argues that some firms may be better than others at carrying out particular activities (which are the core capabilities of the firm).</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7</a:t>
            </a:fld>
            <a:endParaRPr lang="it-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For these main activities, a company could decide to keep them at home, even if smart contracts, in terms of contractual risk, make the outsourcing of such activities attractive.</a:t>
            </a:r>
          </a:p>
          <a:p>
            <a:pPr marL="0" indent="0" algn="just">
              <a:buNone/>
            </a:pPr>
            <a:r>
              <a:rPr lang="en-US" sz="2000" dirty="0" smtClean="0">
                <a:latin typeface="Garamond" pitchFamily="18" charset="0"/>
              </a:rPr>
              <a:t>Some companies may be particularly ready to adopt smart contracts due to, for example, ownership of internal technology assets and know-how, which would facilitate smart contract adoption.</a:t>
            </a:r>
          </a:p>
          <a:p>
            <a:pPr marL="0" indent="0" algn="just">
              <a:buNone/>
            </a:pPr>
            <a:r>
              <a:rPr lang="en-US" sz="2000" dirty="0" smtClean="0">
                <a:latin typeface="Garamond" pitchFamily="18" charset="0"/>
              </a:rPr>
              <a:t>All these possibilities present a different and broader empirical framework than the one envisioned by TCE alone. </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8</a:t>
            </a:fld>
            <a:endParaRPr lang="it-I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different visions of business firms, and their extensions, tend to pay particular attention to the notion of codification .</a:t>
            </a:r>
          </a:p>
          <a:p>
            <a:pPr marL="0" indent="0" algn="just">
              <a:buNone/>
            </a:pPr>
            <a:r>
              <a:rPr lang="en-US" sz="2000" dirty="0" smtClean="0">
                <a:latin typeface="Garamond" pitchFamily="18" charset="0"/>
              </a:rPr>
              <a:t>This notion refers to the specific costs of a well-designed smart contract, asserting that these contracts require investment in the digital coding of contractual terms, including the different procedural   steps, the actions of each party, and the inputs that activate the different  actions.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9</a:t>
            </a:fld>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It should be noted that the multiple degrees of codification of products and services can allow the transition from companies to electronic supply chains and to B2B markets.</a:t>
            </a:r>
          </a:p>
          <a:p>
            <a:pPr marL="0" indent="0" algn="just">
              <a:buNone/>
            </a:pPr>
            <a:r>
              <a:rPr lang="en-US" sz="2000" dirty="0" smtClean="0">
                <a:latin typeface="Garamond" pitchFamily="18" charset="0"/>
              </a:rPr>
              <a:t>It is progress in constant motion.</a:t>
            </a:r>
          </a:p>
          <a:p>
            <a:pPr marL="0" indent="0" algn="just">
              <a:buNone/>
            </a:pPr>
            <a:r>
              <a:rPr lang="en-US" sz="2000" dirty="0" smtClean="0">
                <a:latin typeface="Garamond" pitchFamily="18" charset="0"/>
              </a:rPr>
              <a:t>Within the knowledge-based vision of the enterprise perspective, experts have argued that digital labor coding facilitates the transfer of knowledge between companies and between localities and global realities.</a:t>
            </a:r>
          </a:p>
          <a:p>
            <a:pPr marL="0" indent="0" algn="just">
              <a:buNone/>
            </a:pPr>
            <a:r>
              <a:rPr lang="en-US" sz="2000" dirty="0" smtClean="0">
                <a:latin typeface="Garamond" pitchFamily="18" charset="0"/>
              </a:rPr>
              <a:t>These different approaches use the term coding differently, sometimes referring to coding as an intrinsic property of a particular activity, sometimes referring to the </a:t>
            </a:r>
            <a:r>
              <a:rPr lang="en-US" sz="2000" dirty="0" err="1" smtClean="0">
                <a:latin typeface="Garamond" pitchFamily="18" charset="0"/>
              </a:rPr>
              <a:t>codability</a:t>
            </a:r>
            <a:r>
              <a:rPr lang="en-US" sz="2000" dirty="0" smtClean="0">
                <a:latin typeface="Garamond" pitchFamily="18" charset="0"/>
              </a:rPr>
              <a:t> of working interfaces, and at other times, referring to coding rather than </a:t>
            </a:r>
            <a:r>
              <a:rPr lang="en-US" sz="2000" dirty="0" err="1" smtClean="0">
                <a:latin typeface="Garamond" pitchFamily="18" charset="0"/>
              </a:rPr>
              <a:t>codability</a:t>
            </a:r>
            <a:r>
              <a:rPr lang="en-US" sz="2000" dirty="0" smtClean="0">
                <a:latin typeface="Garamond" pitchFamily="18" charset="0"/>
              </a:rPr>
              <a:t>. The approach must seek new solutions for contractual efficiency, experimenting and pinning down the benefits of digital bargaining,  based on what has been detected in terms of specific standards.</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10</a:t>
            </a:fld>
            <a:endParaRPr lang="it-I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AREAS FOR FUTURE RESEARCH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light of the theoretical compromises, developed in the conceptualization expressed up to this point, future researchers will be able to explore different areas and ask themselves questions like: Which transactions are worth coding further in order to justify the cost-innovation, determined by smart contracts? Or, how will law offices implement and influence the attractiveness of smart contracts?</a:t>
            </a:r>
          </a:p>
          <a:p>
            <a:pPr marL="0" indent="0" algn="just">
              <a:buNone/>
            </a:pPr>
            <a:r>
              <a:rPr lang="en-US" sz="2000" dirty="0" smtClean="0">
                <a:latin typeface="Garamond" pitchFamily="18" charset="0"/>
              </a:rPr>
              <a:t>As the adoption of smart contracts grows, researchers will be able to further investigate whether certain smart contracts, which support highly encrypted transactions, actually facilitate the transfer of these transactions to the business through their complete automation.</a:t>
            </a:r>
          </a:p>
          <a:p>
            <a:pPr marL="0" indent="0" algn="just">
              <a:buNone/>
            </a:pPr>
            <a:r>
              <a:rPr lang="en-US" sz="2000" dirty="0" smtClean="0">
                <a:latin typeface="Garamond" pitchFamily="18" charset="0"/>
              </a:rPr>
              <a:t>There are, however, a number of considerations that can slow down the adoption of a smart contract but that can also open up new avenues for research.</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11</a:t>
            </a:fld>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research will also help to develop thinking on how people perceive and use smart contracts, what their advantages and costs are, and what type of public discourse on the blockchain could help favor its adoption.</a:t>
            </a:r>
          </a:p>
          <a:p>
            <a:pPr marL="0" indent="0" algn="just">
              <a:buNone/>
            </a:pPr>
            <a:r>
              <a:rPr lang="en-US" sz="2000" dirty="0" smtClean="0">
                <a:latin typeface="Garamond" pitchFamily="18" charset="0"/>
              </a:rPr>
              <a:t>Other areas to be explored include how an enhanced contract law regime, with smart contracts, can influence governmental organization by, for example, decreasing dependence on the existing judicial system. What technological implementations should be investigated in the systemic application of smart contracts to effectively reduce legal disputes? What kinds of legal situations are worth coding? How can justice systems be adapted to this new option? Can the use of smart contracts, for certain categories of public procurement, lead to a real reduction in costs?</a:t>
            </a:r>
          </a:p>
          <a:p>
            <a:pPr marL="0" indent="0" algn="just">
              <a:buNone/>
            </a:pPr>
            <a:r>
              <a:rPr lang="en-US" sz="2000" dirty="0" smtClean="0">
                <a:latin typeface="Garamond" pitchFamily="18" charset="0"/>
              </a:rPr>
              <a:t>These are all starting points for of the new course of study of a codified digital law.</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12</a:t>
            </a:fld>
            <a:endParaRPr 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FINAL CONSIDERATIONS</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There are several considerations that determine significant changes in the adoption of the new contractual law regime enhanced by smart contracts.</a:t>
            </a:r>
          </a:p>
          <a:p>
            <a:pPr marL="0" indent="0" algn="just">
              <a:buNone/>
            </a:pPr>
            <a:r>
              <a:rPr lang="en-US" sz="2000" dirty="0" smtClean="0">
                <a:latin typeface="Garamond" pitchFamily="18" charset="0"/>
              </a:rPr>
              <a:t>First, the adoption of the smart contract, as a substitute for business- based transactions, presupposes that the contractual terms adequately reflect the agreement envisaged and reached between the contracting parties.</a:t>
            </a:r>
          </a:p>
          <a:p>
            <a:pPr marL="0" indent="0" algn="just">
              <a:buNone/>
            </a:pPr>
            <a:r>
              <a:rPr lang="en-US" sz="2000" dirty="0" smtClean="0">
                <a:latin typeface="Garamond" pitchFamily="18" charset="0"/>
              </a:rPr>
              <a:t>The incorrect interpretation of contractual clauses, especially in the presence of a cultural gap between the contracting parties, is a familiar phenomenon, even in a traditional contract law regime. But the codification of contractual terms, in digital form, can be perceived as a way to reduce the ambiguity associated with the use of natural language, and if applied in areas suitable for its transposition, it will reduce monitoring and renegotiation.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13</a:t>
            </a:fld>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Secondly, what has been thus far analyzed explicitly refers to a particular  institutional context: a democratic society typical of Western countries.</a:t>
            </a:r>
          </a:p>
          <a:p>
            <a:pPr marL="0" indent="0" algn="just">
              <a:buNone/>
            </a:pPr>
            <a:r>
              <a:rPr lang="en-US" sz="2000" dirty="0" smtClean="0">
                <a:latin typeface="Garamond" pitchFamily="18" charset="0"/>
              </a:rPr>
              <a:t>In a different institutional environment, in an autocratic system, for instance, where the optimization of social well-being is not a priority, the adoption of smart contracts can encounter either resistance, on the one hand, or forced adoption, to the advantage of a few potential preferred users, on the other, or  even the imposition on everything and everyone, regardless of real need.</a:t>
            </a:r>
          </a:p>
          <a:p>
            <a:pPr marL="0" indent="0" algn="just">
              <a:buNone/>
            </a:pPr>
            <a:r>
              <a:rPr lang="en-US" sz="2000" dirty="0" smtClean="0">
                <a:latin typeface="Garamond" pitchFamily="18" charset="0"/>
              </a:rPr>
              <a:t>In such circles, the various branches of government, depending on their political interests, could engage in a battle for adoption or resist this new option.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14</a:t>
            </a:fld>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Last but not least, the adoption of a contract law regime enhanced by smart contracts and associated practices requires the transformation of existing institutions, which inevitably leads, in the first instance, to rejection, or, in any case, to distrust.</a:t>
            </a:r>
          </a:p>
          <a:p>
            <a:pPr marL="0" indent="0" algn="just">
              <a:buNone/>
            </a:pPr>
            <a:r>
              <a:rPr lang="en-US" sz="2000" dirty="0" smtClean="0">
                <a:latin typeface="Garamond" pitchFamily="18" charset="0"/>
              </a:rPr>
              <a:t>If smart contracts are adopted as part of a legal framework in a particular country, they may encounter resistance from a number of institutional stakeholders, such as members of the legal profession, companies who may fear disintermediation and partial loss of profits, and current members of the judiciary.</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15</a:t>
            </a:fld>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These resistances could be powerful enough to prevent the adoption of smart contracts or, at the very least, delay their introduction. </a:t>
            </a:r>
          </a:p>
          <a:p>
            <a:pPr marL="0" indent="0" algn="just">
              <a:buNone/>
            </a:pPr>
            <a:r>
              <a:rPr lang="en-US" sz="2000" dirty="0" smtClean="0">
                <a:latin typeface="Garamond" pitchFamily="18" charset="0"/>
              </a:rPr>
              <a:t>However, even if a smart contract is implemented simply as part of the current law regime, the ability to digitally encode certain aspects of public procurement, to allow for automatic execution, is likely to reshape both the boundaries of business firms and governments themselves, as  benefits are  passed on to the entire community.</a:t>
            </a:r>
          </a:p>
          <a:p>
            <a:pPr marL="0" indent="0" algn="just">
              <a:buNone/>
            </a:pPr>
            <a:r>
              <a:rPr lang="en-US" sz="2000" dirty="0" smtClean="0">
                <a:latin typeface="Garamond" pitchFamily="18" charset="0"/>
              </a:rPr>
              <a:t>It is in this direction that the legal professions and businesses must also move. This new digital contract law, at least for the initial, lengthy, start-up period, will complement - not replace - traditional legal practice.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16</a:t>
            </a:fld>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WHAT IS THE BLOCKCHAIN</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fontScale="92500" lnSpcReduction="1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t>
            </a:r>
          </a:p>
          <a:p>
            <a:pPr marL="0" indent="0" algn="just">
              <a:buNone/>
            </a:pPr>
            <a:r>
              <a:rPr lang="en-US" sz="2000" dirty="0" smtClean="0">
                <a:latin typeface="Garamond" pitchFamily="18" charset="0"/>
              </a:rPr>
              <a:t>It is the database in which all the transactions carried out converge.</a:t>
            </a:r>
          </a:p>
          <a:p>
            <a:pPr marL="0" indent="0" algn="just">
              <a:buNone/>
            </a:pPr>
            <a:r>
              <a:rPr lang="en-US" sz="2000" dirty="0" smtClean="0">
                <a:latin typeface="Garamond" pitchFamily="18" charset="0"/>
              </a:rPr>
              <a:t>It is not managed centrally, but collectively by the various members of the network, according to the so- called peer-to-peer structure.</a:t>
            </a:r>
          </a:p>
          <a:p>
            <a:pPr marL="0" indent="0" algn="just">
              <a:buNone/>
            </a:pPr>
            <a:r>
              <a:rPr lang="en-US" sz="2000" dirty="0" smtClean="0">
                <a:latin typeface="Garamond" pitchFamily="18" charset="0"/>
              </a:rPr>
              <a:t>“NODE” is defined as any hardware device capable of communicating with other devices, which are part of the same subnet or network (e.g., computers, PDAs, mobile devices, web TVs).</a:t>
            </a:r>
          </a:p>
          <a:p>
            <a:pPr marL="0" indent="0" algn="just">
              <a:buNone/>
            </a:pPr>
            <a:r>
              <a:rPr lang="en-US" sz="2000" dirty="0" smtClean="0">
                <a:latin typeface="Garamond" pitchFamily="18" charset="0"/>
              </a:rPr>
              <a:t>The “nodes” are also defined as “hosts,” since they have applications that can be both client and server.</a:t>
            </a:r>
          </a:p>
          <a:p>
            <a:pPr marL="0" indent="0" algn="just">
              <a:buNone/>
            </a:pPr>
            <a:r>
              <a:rPr lang="en-US" sz="2000" dirty="0" smtClean="0">
                <a:latin typeface="Garamond" pitchFamily="18" charset="0"/>
              </a:rPr>
              <a:t>An application assumes the role of client when it is a user of services made available by other applications.</a:t>
            </a:r>
          </a:p>
          <a:p>
            <a:pPr marL="0" indent="0" algn="just">
              <a:buNone/>
            </a:pPr>
            <a:r>
              <a:rPr lang="en-US" sz="2000" dirty="0" smtClean="0">
                <a:latin typeface="Garamond" pitchFamily="18" charset="0"/>
              </a:rPr>
              <a:t>An application assumes the role of server when it is a provider of services used by other applications.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17</a:t>
            </a:fld>
            <a:endParaRPr lang="it-IT"/>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An application assumes the role of actor when it can act as both a client and a server, depending on the required operation.</a:t>
            </a:r>
          </a:p>
          <a:p>
            <a:pPr marL="0" indent="0" algn="just">
              <a:buNone/>
            </a:pPr>
            <a:r>
              <a:rPr lang="en-US" sz="2000" dirty="0" smtClean="0">
                <a:latin typeface="Garamond" pitchFamily="18" charset="0"/>
              </a:rPr>
              <a:t>In peer-to-peer architecture, the computers connected to each other are in an equal position and play, depending on the required operation, the role of client or server.</a:t>
            </a:r>
          </a:p>
          <a:p>
            <a:pPr marL="0" indent="0" algn="just">
              <a:buNone/>
            </a:pPr>
            <a:r>
              <a:rPr lang="en-US" sz="2000" dirty="0" smtClean="0">
                <a:latin typeface="Garamond" pitchFamily="18" charset="0"/>
              </a:rPr>
              <a:t>The applications, cooperating with each other, reside on several processing nodes (distributed processing). Unitary information assets are hosted on several processing nodes    (distributed database).</a:t>
            </a:r>
          </a:p>
          <a:p>
            <a:pPr marL="0" indent="0" algn="just">
              <a:buNone/>
            </a:pPr>
            <a:r>
              <a:rPr lang="en-US" sz="2000" dirty="0" smtClean="0">
                <a:latin typeface="Garamond" pitchFamily="18" charset="0"/>
              </a:rPr>
              <a:t>It is, therefore, a system made up of several applications that collaborate for the pursuit of common objectives, through a hardware and software communication infrastructure, which guarantees greater flexibility in the organization of activities.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18</a:t>
            </a:fld>
            <a:endParaRPr lang="it-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ctr">
              <a:buNone/>
            </a:pPr>
            <a:r>
              <a:rPr lang="en-US" sz="2000" b="1" dirty="0" smtClean="0">
                <a:latin typeface="Garamond" pitchFamily="18" charset="0"/>
              </a:rPr>
              <a:t>THE BLOCKCHAIN IS FURTHERMORE:</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 decentralized database that stores assets and transactions on a</a:t>
            </a:r>
          </a:p>
          <a:p>
            <a:pPr marL="0" indent="0" algn="just">
              <a:buNone/>
            </a:pPr>
            <a:r>
              <a:rPr lang="en-US" sz="2000" dirty="0" smtClean="0">
                <a:latin typeface="Garamond" pitchFamily="18" charset="0"/>
              </a:rPr>
              <a:t>protected peer-to-peer network, through the use of cryptography.</a:t>
            </a:r>
          </a:p>
          <a:p>
            <a:pPr marL="0" indent="0" algn="just">
              <a:buNone/>
            </a:pPr>
            <a:r>
              <a:rPr lang="en-US" sz="2000" dirty="0" smtClean="0">
                <a:latin typeface="Garamond" pitchFamily="18" charset="0"/>
              </a:rPr>
              <a:t>The participants in the network collectively verify, approve, and record  the various transactions.</a:t>
            </a:r>
          </a:p>
          <a:p>
            <a:pPr marL="0" indent="0" algn="just">
              <a:buNone/>
            </a:pPr>
            <a:r>
              <a:rPr lang="en-US" sz="2000" dirty="0" smtClean="0">
                <a:latin typeface="Garamond" pitchFamily="18" charset="0"/>
              </a:rPr>
              <a:t>The information, present in all the nodes, thus becomes unchangeable. The blockchain is a new paradigm for information management, which  guarantees the  immutability of data and certifies its complete history.</a:t>
            </a:r>
          </a:p>
          <a:p>
            <a:pPr marL="0" indent="0" algn="just">
              <a:buNone/>
            </a:pPr>
            <a:r>
              <a:rPr lang="en-US" sz="2000" dirty="0" smtClean="0">
                <a:latin typeface="Garamond" pitchFamily="18" charset="0"/>
              </a:rPr>
              <a:t/>
            </a:r>
            <a:br>
              <a:rPr lang="en-US" sz="2000" dirty="0" smtClean="0">
                <a:latin typeface="Garamond" pitchFamily="18" charset="0"/>
              </a:rPr>
            </a:b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19</a:t>
            </a:fld>
            <a:endParaRPr lang="it-IT"/>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BLOCKCHAIN AND BITCOIN</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r>
              <a:rPr lang="en-US" sz="2000" dirty="0" smtClean="0">
                <a:latin typeface="Garamond" pitchFamily="18" charset="0"/>
              </a:rPr>
              <a:t/>
            </a:r>
            <a:br>
              <a:rPr lang="en-US" sz="2000" dirty="0" smtClean="0">
                <a:latin typeface="Garamond" pitchFamily="18" charset="0"/>
              </a:rPr>
            </a:br>
            <a:r>
              <a:rPr lang="en-US" sz="2000" dirty="0" smtClean="0">
                <a:latin typeface="Garamond" pitchFamily="18" charset="0"/>
              </a:rPr>
              <a:t>Background</a:t>
            </a:r>
          </a:p>
          <a:p>
            <a:pPr marL="0" indent="0" algn="just">
              <a:buNone/>
            </a:pPr>
            <a:r>
              <a:rPr lang="en-US" sz="2000" dirty="0" smtClean="0">
                <a:latin typeface="Garamond" pitchFamily="18" charset="0"/>
              </a:rPr>
              <a:t>In 1991, with the article, “How to time - stamp a digital document,” by Stuart Haber and W. Scott </a:t>
            </a:r>
            <a:r>
              <a:rPr lang="en-US" sz="2000" dirty="0" err="1" smtClean="0">
                <a:latin typeface="Garamond" pitchFamily="18" charset="0"/>
              </a:rPr>
              <a:t>Stornetta</a:t>
            </a:r>
            <a:r>
              <a:rPr lang="en-US" sz="2000" dirty="0" smtClean="0">
                <a:latin typeface="Garamond" pitchFamily="18" charset="0"/>
              </a:rPr>
              <a:t>, the idea of the blockchain was born, providing a solution to the time and authenticity certification of IT operations.</a:t>
            </a:r>
          </a:p>
          <a:p>
            <a:pPr marL="0" indent="0" algn="just">
              <a:buNone/>
            </a:pPr>
            <a:r>
              <a:rPr lang="en-US" sz="2000" dirty="0" smtClean="0">
                <a:latin typeface="Garamond" pitchFamily="18" charset="0"/>
              </a:rPr>
              <a:t>It was only in 2008, however, that the project to create a virtual currency was illustrated on a blockchain protocol of the “Distributed Ledger” type (without central authority).</a:t>
            </a:r>
          </a:p>
          <a:p>
            <a:pPr marL="0" indent="0" algn="just">
              <a:buNone/>
            </a:pPr>
            <a:r>
              <a:rPr lang="en-US" sz="2000" dirty="0" smtClean="0">
                <a:latin typeface="Garamond" pitchFamily="18" charset="0"/>
              </a:rPr>
              <a:t>Starting from the notion and definition of the blockchain, the following can be said:</a:t>
            </a:r>
          </a:p>
          <a:p>
            <a:pPr marL="0" indent="0" algn="just">
              <a:buNone/>
            </a:pPr>
            <a:r>
              <a:rPr lang="en-US" sz="2000" dirty="0" smtClean="0">
                <a:latin typeface="Garamond" pitchFamily="18" charset="0"/>
              </a:rPr>
              <a:t>It is a protocol structured in blocks, connected to each other in a network, able to certify the chronological order of different operations, using a single chain of algorithms, where each transaction or operation is linked to the previous one.</a:t>
            </a:r>
          </a:p>
          <a:p>
            <a:pPr marL="0" indent="0" algn="just">
              <a:buNone/>
            </a:pPr>
            <a:r>
              <a:rPr lang="en-US" sz="2000" dirty="0" smtClean="0">
                <a:latin typeface="Garamond" pitchFamily="18" charset="0"/>
              </a:rPr>
              <a:t>The transaction data is entered in blocks, linked to each other, in order to create a chain (hence the name blockchain).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20</a:t>
            </a:fld>
            <a:endParaRPr lang="it-IT"/>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lvl="0" indent="0" algn="just">
              <a:buNone/>
            </a:pPr>
            <a:r>
              <a:rPr lang="en-US" sz="2000" dirty="0" smtClean="0">
                <a:latin typeface="Garamond" pitchFamily="18" charset="0"/>
              </a:rPr>
              <a:t/>
            </a:r>
            <a:br>
              <a:rPr lang="en-US" sz="2000" dirty="0" smtClean="0">
                <a:latin typeface="Garamond" pitchFamily="18" charset="0"/>
              </a:rPr>
            </a:br>
            <a:r>
              <a:rPr lang="en-US" sz="2000" dirty="0" smtClean="0">
                <a:latin typeface="Garamond" pitchFamily="18" charset="0"/>
              </a:rPr>
              <a:t>Each block includes a so-called hash: non-invertible computer algorithmic function, which uniquely identifies the block and which allows the connection with the previous block, through its identification.</a:t>
            </a:r>
          </a:p>
          <a:p>
            <a:pPr marL="0" lvl="0" indent="0" algn="just">
              <a:buNone/>
            </a:pPr>
            <a:r>
              <a:rPr lang="en-US" sz="2000" dirty="0" smtClean="0">
                <a:latin typeface="Garamond" pitchFamily="18" charset="0"/>
              </a:rPr>
              <a:t>It is structured in nodes scattered around the web and contained within the same chain, where algorithms are used. The algorithms process data with cryptographic technologies, aimed at preventing alterations and access by unauthorized persons, thus guaranteeing users freedom from the commission of errors or external tampering. All this is done in the absence of a central body  that governs transactions.</a:t>
            </a: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21</a:t>
            </a:fld>
            <a:endParaRPr lang="it-IT"/>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lvl="0" indent="0" algn="just">
              <a:buNone/>
            </a:pPr>
            <a:r>
              <a:rPr lang="en-US" sz="2000" dirty="0" smtClean="0">
                <a:latin typeface="Garamond" pitchFamily="18" charset="0"/>
              </a:rPr>
              <a:t/>
            </a:r>
            <a:br>
              <a:rPr lang="en-US" sz="2000" dirty="0" smtClean="0">
                <a:latin typeface="Garamond" pitchFamily="18" charset="0"/>
              </a:rPr>
            </a:br>
            <a:endParaRPr lang="en-US" sz="2000" dirty="0" smtClean="0">
              <a:latin typeface="Garamond" pitchFamily="18" charset="0"/>
            </a:endParaRPr>
          </a:p>
          <a:p>
            <a:pPr marL="0" lvl="0" indent="0" algn="just">
              <a:buNone/>
            </a:pPr>
            <a:endParaRPr lang="en-US" sz="2000" dirty="0" smtClean="0">
              <a:latin typeface="Garamond" pitchFamily="18" charset="0"/>
            </a:endParaRPr>
          </a:p>
          <a:p>
            <a:pPr marL="0" lvl="0" indent="0" algn="just">
              <a:buNone/>
            </a:pPr>
            <a:r>
              <a:rPr lang="en-US" sz="2000" dirty="0" smtClean="0">
                <a:latin typeface="Garamond" pitchFamily="18" charset="0"/>
              </a:rPr>
              <a:t>The blockchain provides a guarantee of decentralization, transparency, security, and immutability of the collected data.</a:t>
            </a:r>
          </a:p>
          <a:p>
            <a:pPr marL="0" lvl="0" indent="0" algn="just">
              <a:buNone/>
            </a:pPr>
            <a:r>
              <a:rPr lang="en-US" sz="2000" dirty="0" smtClean="0">
                <a:latin typeface="Garamond" pitchFamily="18" charset="0"/>
              </a:rPr>
              <a:t>It is an open and transparent database for all participants, decentralized, distributed, and encrypted, able to guarantee the absolute  immutability of all the information collected.</a:t>
            </a:r>
          </a:p>
          <a:p>
            <a:pPr marL="0" lvl="0" indent="0" algn="just">
              <a:buNone/>
            </a:pPr>
            <a:r>
              <a:rPr lang="en-US" sz="2000" dirty="0" smtClean="0">
                <a:latin typeface="Garamond" pitchFamily="18" charset="0"/>
              </a:rPr>
              <a:t>It is a system that marks the end of the monopoly of documentation by a single entity.</a:t>
            </a: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22</a:t>
            </a:fld>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lvl="0" indent="0" algn="just">
              <a:buNone/>
            </a:pPr>
            <a:r>
              <a:rPr lang="en-US" sz="2000" dirty="0" smtClean="0">
                <a:latin typeface="Garamond" pitchFamily="18" charset="0"/>
              </a:rPr>
              <a:t>All users verify the feasibility of each transaction, authorizing it, using a sophisticated code decryption mechanism.</a:t>
            </a:r>
          </a:p>
          <a:p>
            <a:pPr marL="0" lvl="0" indent="0" algn="just">
              <a:buNone/>
            </a:pPr>
            <a:r>
              <a:rPr lang="en-US" sz="2000" dirty="0" smtClean="0">
                <a:latin typeface="Garamond" pitchFamily="18" charset="0"/>
              </a:rPr>
              <a:t>The system of a distributed database, which uses peer-to-peer technology, allows each user to participate directly in the transaction via the web, becoming a node of the network.</a:t>
            </a:r>
          </a:p>
          <a:p>
            <a:pPr marL="0" lvl="0" indent="0" algn="just">
              <a:buNone/>
            </a:pPr>
            <a:r>
              <a:rPr lang="en-US" sz="2000" dirty="0" smtClean="0">
                <a:latin typeface="Garamond" pitchFamily="18" charset="0"/>
              </a:rPr>
              <a:t>Being able to protect users from errors or data alterations and insure the genuineness of the information stored in the system, the blockchain is the keystone of an epochal transition to what is called the "sharing economy.”</a:t>
            </a: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23</a:t>
            </a:fld>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CHARACTERISTICS  OF THE BLOCKCHAIN</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lvl="0" indent="0" algn="just">
              <a:buNone/>
            </a:pPr>
            <a:r>
              <a:rPr lang="en-US" sz="2000" b="1" dirty="0" smtClean="0">
                <a:latin typeface="Garamond" pitchFamily="18" charset="0"/>
              </a:rPr>
              <a:t>Security</a:t>
            </a:r>
            <a:r>
              <a:rPr lang="en-US" sz="2000" dirty="0" smtClean="0">
                <a:latin typeface="Garamond" pitchFamily="18" charset="0"/>
              </a:rPr>
              <a:t>: a shared, decentralized, distributed, and encrypted database with precise security rules.</a:t>
            </a:r>
          </a:p>
          <a:p>
            <a:pPr marL="0" lvl="0" indent="0" algn="just">
              <a:buNone/>
            </a:pPr>
            <a:r>
              <a:rPr lang="en-US" sz="2000" b="1" dirty="0" smtClean="0">
                <a:latin typeface="Garamond" pitchFamily="18" charset="0"/>
              </a:rPr>
              <a:t>Consensus</a:t>
            </a:r>
            <a:r>
              <a:rPr lang="en-US" sz="2000" dirty="0" smtClean="0">
                <a:latin typeface="Garamond" pitchFamily="18" charset="0"/>
              </a:rPr>
              <a:t>: an archive open to anyone who wants to participate and  can only be modified with the consensus of all participants.</a:t>
            </a:r>
          </a:p>
          <a:p>
            <a:pPr marL="0" lvl="0" indent="0" algn="just">
              <a:buNone/>
            </a:pPr>
            <a:r>
              <a:rPr lang="en-US" sz="2000" b="1" dirty="0" smtClean="0">
                <a:latin typeface="Garamond" pitchFamily="18" charset="0"/>
              </a:rPr>
              <a:t>Immutability</a:t>
            </a:r>
            <a:r>
              <a:rPr lang="en-US" sz="2000" dirty="0" smtClean="0">
                <a:latin typeface="Garamond" pitchFamily="18" charset="0"/>
              </a:rPr>
              <a:t>: the information contained in the Blockchain is unchangeable and incorruptible.</a:t>
            </a:r>
          </a:p>
          <a:p>
            <a:pPr marL="0" lvl="0" indent="0" algn="just">
              <a:buNone/>
            </a:pPr>
            <a:r>
              <a:rPr lang="en-US" sz="2000" b="1" dirty="0" smtClean="0">
                <a:latin typeface="Garamond" pitchFamily="18" charset="0"/>
              </a:rPr>
              <a:t>Transparency</a:t>
            </a:r>
            <a:r>
              <a:rPr lang="en-US" sz="2000" dirty="0" smtClean="0">
                <a:latin typeface="Garamond" pitchFamily="18" charset="0"/>
              </a:rPr>
              <a:t>: users can, at any time, see everything including all the steps of the validated operations.</a:t>
            </a:r>
          </a:p>
          <a:p>
            <a:pPr marL="0" lvl="0" indent="0" algn="just">
              <a:buNone/>
            </a:pPr>
            <a:r>
              <a:rPr lang="en-US" sz="2000" b="1" dirty="0" smtClean="0">
                <a:latin typeface="Garamond" pitchFamily="18" charset="0"/>
              </a:rPr>
              <a:t>Absence of intermediaries</a:t>
            </a:r>
            <a:r>
              <a:rPr lang="en-US" sz="2000" dirty="0" smtClean="0">
                <a:latin typeface="Garamond" pitchFamily="18" charset="0"/>
              </a:rPr>
              <a:t>: the transaction takes place from individual to individual in P2P mode.</a:t>
            </a:r>
          </a:p>
          <a:p>
            <a:pPr marL="0" lvl="0" indent="0" algn="just">
              <a:buNone/>
            </a:pPr>
            <a:r>
              <a:rPr lang="en-US" sz="2000" dirty="0" smtClean="0">
                <a:latin typeface="Garamond" pitchFamily="18" charset="0"/>
              </a:rPr>
              <a:t>There is no interference from intermediaries, central authorities, bureaucracy, or administrations.</a:t>
            </a: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24</a:t>
            </a:fld>
            <a:endParaRPr lang="it-IT"/>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lvl="0" indent="0" algn="ctr">
              <a:buNone/>
            </a:pPr>
            <a:r>
              <a:rPr lang="en-US" sz="2000" b="1" dirty="0" smtClean="0">
                <a:latin typeface="Garamond" pitchFamily="18" charset="0"/>
              </a:rPr>
              <a:t>OBJECTIVES OF THE BLOCKCHAIN</a:t>
            </a:r>
          </a:p>
          <a:p>
            <a:pPr marL="0" lvl="0" indent="0" algn="just">
              <a:buNone/>
            </a:pPr>
            <a:r>
              <a:rPr lang="en-US" sz="2000" dirty="0" smtClean="0">
                <a:latin typeface="Garamond" pitchFamily="18" charset="0"/>
              </a:rPr>
              <a:t> </a:t>
            </a:r>
          </a:p>
          <a:p>
            <a:pPr marL="0" lvl="0" indent="0" algn="just">
              <a:buFont typeface="Wingdings" pitchFamily="2" charset="2"/>
              <a:buChar char="Ø"/>
            </a:pPr>
            <a:r>
              <a:rPr lang="en-US" sz="2000" dirty="0" smtClean="0">
                <a:latin typeface="Garamond" pitchFamily="18" charset="0"/>
              </a:rPr>
              <a:t>Insure a system that does not make mistakes.</a:t>
            </a:r>
          </a:p>
          <a:p>
            <a:pPr marL="0" lvl="0" indent="0" algn="just">
              <a:buFont typeface="Wingdings" pitchFamily="2" charset="2"/>
              <a:buChar char="Ø"/>
            </a:pPr>
            <a:r>
              <a:rPr lang="en-US" sz="2000" dirty="0" smtClean="0">
                <a:latin typeface="Garamond" pitchFamily="18" charset="0"/>
              </a:rPr>
              <a:t>Insure a system that does not allow the loss or alteration of data and information, and blocks access to information by those who are not authorized.</a:t>
            </a:r>
          </a:p>
          <a:p>
            <a:pPr marL="0" lvl="0" indent="0" algn="just">
              <a:buNone/>
            </a:pPr>
            <a:endParaRPr lang="en-US" sz="2000" dirty="0" smtClean="0">
              <a:latin typeface="Garamond" pitchFamily="18" charset="0"/>
            </a:endParaRP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25</a:t>
            </a:fld>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214422"/>
            <a:ext cx="8715436" cy="4714908"/>
          </a:xfrm>
        </p:spPr>
        <p:txBody>
          <a:bodyPr>
            <a:normAutofit/>
          </a:bodyPr>
          <a:lstStyle/>
          <a:p>
            <a:pPr marL="0" lvl="0" indent="0" algn="just">
              <a:buNone/>
            </a:pPr>
            <a:endParaRPr lang="en-US" sz="2000" dirty="0" smtClean="0">
              <a:latin typeface="Garamond" pitchFamily="18" charset="0"/>
            </a:endParaRPr>
          </a:p>
          <a:p>
            <a:pPr marL="0" lvl="0" indent="0" algn="ctr">
              <a:buNone/>
            </a:pPr>
            <a:r>
              <a:rPr lang="en-US" sz="2000" b="1" dirty="0" smtClean="0">
                <a:latin typeface="Garamond" pitchFamily="18" charset="0"/>
              </a:rPr>
              <a:t>COMPONENTS OF THE BLOCKCHAIN</a:t>
            </a:r>
          </a:p>
          <a:p>
            <a:pPr marL="0" lvl="0" indent="0" algn="just">
              <a:buNone/>
            </a:pPr>
            <a:r>
              <a:rPr lang="en-US" sz="2000" b="1" dirty="0" smtClean="0">
                <a:latin typeface="Garamond" pitchFamily="18" charset="0"/>
              </a:rPr>
              <a:t>Users</a:t>
            </a:r>
            <a:r>
              <a:rPr lang="en-US" sz="2000" dirty="0" smtClean="0">
                <a:latin typeface="Garamond" pitchFamily="18" charset="0"/>
              </a:rPr>
              <a:t>: or, more precisely, their servers, called "nodes."</a:t>
            </a:r>
          </a:p>
          <a:p>
            <a:pPr marL="0" lvl="0" indent="0" algn="just">
              <a:buNone/>
            </a:pPr>
            <a:r>
              <a:rPr lang="en-US" sz="2000" b="1" dirty="0" smtClean="0">
                <a:latin typeface="Garamond" pitchFamily="18" charset="0"/>
              </a:rPr>
              <a:t>Transactions</a:t>
            </a:r>
            <a:r>
              <a:rPr lang="en-US" sz="2000" dirty="0" smtClean="0">
                <a:latin typeface="Garamond" pitchFamily="18" charset="0"/>
              </a:rPr>
              <a:t>: data representing the values or services exchanged, which need to be verified, approved, and cataloged.</a:t>
            </a:r>
          </a:p>
          <a:p>
            <a:pPr marL="0" lvl="0" indent="0" algn="just">
              <a:buNone/>
            </a:pPr>
            <a:r>
              <a:rPr lang="en-US" sz="2000" b="1" dirty="0" smtClean="0">
                <a:latin typeface="Garamond" pitchFamily="18" charset="0"/>
              </a:rPr>
              <a:t>Blocks</a:t>
            </a:r>
            <a:r>
              <a:rPr lang="en-US" sz="2000" dirty="0" smtClean="0">
                <a:latin typeface="Garamond" pitchFamily="18" charset="0"/>
              </a:rPr>
              <a:t>: contain and confirm pending transactions.</a:t>
            </a:r>
          </a:p>
          <a:p>
            <a:pPr marL="0" lvl="0" indent="0" algn="just">
              <a:buNone/>
            </a:pPr>
            <a:r>
              <a:rPr lang="en-US" sz="2000" dirty="0" smtClean="0">
                <a:latin typeface="Garamond" pitchFamily="18" charset="0"/>
              </a:rPr>
              <a:t>Each new block is added, on average, every few minutes (by mining.)</a:t>
            </a:r>
          </a:p>
          <a:p>
            <a:pPr marL="0" lvl="0" indent="0" algn="just">
              <a:buNone/>
            </a:pPr>
            <a:r>
              <a:rPr lang="en-US" sz="2000" b="1" dirty="0" smtClean="0">
                <a:latin typeface="Garamond" pitchFamily="18" charset="0"/>
              </a:rPr>
              <a:t>Confirmation</a:t>
            </a:r>
            <a:r>
              <a:rPr lang="en-US" sz="2000" dirty="0" smtClean="0">
                <a:latin typeface="Garamond" pitchFamily="18" charset="0"/>
              </a:rPr>
              <a:t>: indicates that a transaction has been processed by the network and included in a block. Also called validation.</a:t>
            </a:r>
          </a:p>
          <a:p>
            <a:pPr marL="0" lvl="0" indent="0" algn="just">
              <a:buNone/>
            </a:pPr>
            <a:r>
              <a:rPr lang="en-US" sz="2000" b="1" dirty="0" smtClean="0">
                <a:latin typeface="Garamond" pitchFamily="18" charset="0"/>
              </a:rPr>
              <a:t>Ledger</a:t>
            </a:r>
            <a:r>
              <a:rPr lang="en-US" sz="2000" dirty="0" smtClean="0">
                <a:latin typeface="Garamond" pitchFamily="18" charset="0"/>
              </a:rPr>
              <a:t>: it is a sort of “register,” in which all the blocks are transcribed in an immutable and sequential manner.</a:t>
            </a:r>
          </a:p>
          <a:p>
            <a:pPr marL="0" lvl="0" indent="0" algn="just">
              <a:buNone/>
            </a:pPr>
            <a:r>
              <a:rPr lang="en-US" sz="2000" b="1" dirty="0" smtClean="0">
                <a:latin typeface="Garamond" pitchFamily="18" charset="0"/>
              </a:rPr>
              <a:t>Hash</a:t>
            </a:r>
            <a:r>
              <a:rPr lang="en-US" sz="2000" dirty="0" smtClean="0">
                <a:latin typeface="Garamond" pitchFamily="18" charset="0"/>
              </a:rPr>
              <a:t>: mathematical function, containing a 64-character long code, made up of letters and numbers, which identifies the block and protects its contents.</a:t>
            </a: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26</a:t>
            </a:fld>
            <a:endParaRPr lang="it-IT"/>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214422"/>
            <a:ext cx="8715436" cy="4714908"/>
          </a:xfrm>
        </p:spPr>
        <p:txBody>
          <a:bodyPr>
            <a:normAutofit/>
          </a:bodyPr>
          <a:lstStyle/>
          <a:p>
            <a:pPr marL="0" lvl="0" indent="0" algn="ctr">
              <a:buNone/>
            </a:pPr>
            <a:r>
              <a:rPr lang="en-US" sz="2000" b="1" dirty="0" smtClean="0">
                <a:latin typeface="Garamond" pitchFamily="18" charset="0"/>
              </a:rPr>
              <a:t>LIMITS OF BLOCKCHAIN</a:t>
            </a:r>
          </a:p>
          <a:p>
            <a:pPr marL="0" lvl="0" indent="0" algn="just">
              <a:buNone/>
            </a:pPr>
            <a:r>
              <a:rPr lang="en-US" sz="2000" b="1" dirty="0" smtClean="0">
                <a:latin typeface="Garamond" pitchFamily="18" charset="0"/>
              </a:rPr>
              <a:t>Limited speed</a:t>
            </a:r>
            <a:r>
              <a:rPr lang="en-US" sz="2000" dirty="0" smtClean="0">
                <a:latin typeface="Garamond" pitchFamily="18" charset="0"/>
              </a:rPr>
              <a:t>: Even today, to be able to add a new block, a "puzzle" must be decrypted which, for security reasons, is very complicated and expensive to solve and requires a solution time.</a:t>
            </a:r>
          </a:p>
          <a:p>
            <a:pPr marL="0" lvl="0" indent="0" algn="just">
              <a:buNone/>
            </a:pPr>
            <a:r>
              <a:rPr lang="en-US" sz="2000" b="1" dirty="0" smtClean="0">
                <a:latin typeface="Garamond" pitchFamily="18" charset="0"/>
              </a:rPr>
              <a:t>High costs</a:t>
            </a:r>
            <a:r>
              <a:rPr lang="en-US" sz="2000" dirty="0" smtClean="0">
                <a:latin typeface="Garamond" pitchFamily="18" charset="0"/>
              </a:rPr>
              <a:t>: The solution of the puzzles requires considerable costs: one still needs very powerful computers and a lot of electricity.</a:t>
            </a:r>
          </a:p>
          <a:p>
            <a:pPr marL="0" lvl="0" indent="0" algn="just">
              <a:buNone/>
            </a:pPr>
            <a:r>
              <a:rPr lang="en-US" sz="2000" b="1" dirty="0" smtClean="0">
                <a:latin typeface="Garamond" pitchFamily="18" charset="0"/>
              </a:rPr>
              <a:t>Lack of privacy</a:t>
            </a:r>
            <a:r>
              <a:rPr lang="en-US" sz="2000" dirty="0" smtClean="0">
                <a:latin typeface="Garamond" pitchFamily="18" charset="0"/>
              </a:rPr>
              <a:t>: Transaction information is visible to all network users.</a:t>
            </a:r>
          </a:p>
          <a:p>
            <a:pPr marL="0" lvl="0" indent="0" algn="just">
              <a:buNone/>
            </a:pPr>
            <a:r>
              <a:rPr lang="en-US" sz="2000" dirty="0" smtClean="0">
                <a:latin typeface="Garamond" pitchFamily="18" charset="0"/>
              </a:rPr>
              <a:t>Centralization risk: Smaller nodes could give up on solving the puzzles, if an economically powerful entity accesses the network and solves most of the cryptographic algorithms first.</a:t>
            </a: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27</a:t>
            </a:fld>
            <a:endParaRPr lang="it-IT"/>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214422"/>
            <a:ext cx="8715436" cy="4714908"/>
          </a:xfrm>
        </p:spPr>
        <p:txBody>
          <a:bodyPr>
            <a:normAutofit/>
          </a:bodyPr>
          <a:lstStyle/>
          <a:p>
            <a:pPr marL="0" lvl="0" indent="0" algn="just">
              <a:buNone/>
            </a:pPr>
            <a:endParaRPr lang="en-US" sz="2000" dirty="0" smtClean="0">
              <a:latin typeface="Garamond" pitchFamily="18" charset="0"/>
            </a:endParaRPr>
          </a:p>
          <a:p>
            <a:pPr marL="0" lvl="0" indent="0" algn="ctr">
              <a:buNone/>
            </a:pPr>
            <a:r>
              <a:rPr lang="en-US" sz="2000" b="1" dirty="0" smtClean="0">
                <a:latin typeface="Garamond" pitchFamily="18" charset="0"/>
              </a:rPr>
              <a:t>THE BLOCKCHAIN DNA</a:t>
            </a:r>
          </a:p>
          <a:p>
            <a:pPr marL="0" lvl="0" indent="0" algn="just">
              <a:buNone/>
            </a:pPr>
            <a:endParaRPr lang="en-US" sz="2000" dirty="0" smtClean="0">
              <a:latin typeface="Garamond" pitchFamily="18" charset="0"/>
            </a:endParaRPr>
          </a:p>
          <a:p>
            <a:pPr marL="0" lvl="0" indent="0" algn="just">
              <a:buNone/>
            </a:pPr>
            <a:r>
              <a:rPr lang="en-US" sz="2000" dirty="0" smtClean="0">
                <a:latin typeface="Garamond" pitchFamily="18" charset="0"/>
              </a:rPr>
              <a:t>It is the process of identifying this new system, necessary to get out of the spiral of uncertainty and confusion generated by a general lack of understanding.</a:t>
            </a:r>
          </a:p>
          <a:p>
            <a:pPr marL="0" lvl="0" indent="0" algn="just">
              <a:buNone/>
            </a:pPr>
            <a:r>
              <a:rPr lang="en-US" sz="2000" dirty="0" smtClean="0">
                <a:latin typeface="Garamond" pitchFamily="18" charset="0"/>
              </a:rPr>
              <a:t>The blockchain delivers the idea of a platform useful for transposing the concept of DNA and the uniqueness of identification into the digital   world.</a:t>
            </a:r>
          </a:p>
          <a:p>
            <a:pPr marL="0" lvl="0" indent="0" algn="just">
              <a:buNone/>
            </a:pPr>
            <a:r>
              <a:rPr lang="en-US" sz="2000" dirty="0" smtClean="0">
                <a:latin typeface="Garamond" pitchFamily="18" charset="0"/>
              </a:rPr>
              <a:t>It requires a unique code: the platform uses tokens for unique identification and allows users to interact directly with one another, thanks  to algorithms like smart contracts.</a:t>
            </a: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28</a:t>
            </a:fld>
            <a:endParaRPr lang="it-IT"/>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214422"/>
            <a:ext cx="8715436" cy="4714908"/>
          </a:xfrm>
        </p:spPr>
        <p:txBody>
          <a:bodyPr>
            <a:normAutofit/>
          </a:bodyPr>
          <a:lstStyle/>
          <a:p>
            <a:pPr marL="0" lvl="0" indent="0" algn="just">
              <a:buNone/>
            </a:pPr>
            <a:endParaRPr lang="en-US" sz="2000" dirty="0" smtClean="0">
              <a:latin typeface="Garamond" pitchFamily="18" charset="0"/>
            </a:endParaRPr>
          </a:p>
          <a:p>
            <a:pPr marL="0" lvl="0" indent="0" algn="just">
              <a:buNone/>
            </a:pPr>
            <a:r>
              <a:rPr lang="en-US" sz="2000" dirty="0" smtClean="0">
                <a:latin typeface="Garamond" pitchFamily="18" charset="0"/>
              </a:rPr>
              <a:t>The blockchain organizes the platform in a decentralized manner for the distribution of data and for the execution of DAPP (application software that operates in a peer-to-peer environment).</a:t>
            </a:r>
          </a:p>
          <a:p>
            <a:pPr marL="0" lvl="0" indent="0" algn="just">
              <a:buNone/>
            </a:pPr>
            <a:r>
              <a:rPr lang="en-US" sz="2000" dirty="0" smtClean="0">
                <a:latin typeface="Garamond" pitchFamily="18" charset="0"/>
              </a:rPr>
              <a:t>The blockchain, understood as public and permission-less, creates transparency and a trust-less system, without the need for trust between the contracting parties. You do not have to trust anyone, you trust the software, which is open-source.</a:t>
            </a:r>
          </a:p>
          <a:p>
            <a:pPr marL="0" lvl="0" indent="0" algn="just">
              <a:buNone/>
            </a:pPr>
            <a:r>
              <a:rPr lang="en-US" sz="2000" dirty="0" smtClean="0">
                <a:latin typeface="Garamond" pitchFamily="18" charset="0"/>
              </a:rPr>
              <a:t>Thanks to the platform, consensus is created, without the need for intermediation or for a central institutional body.</a:t>
            </a: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29</a:t>
            </a:fld>
            <a:endParaRPr lang="it-IT"/>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214422"/>
            <a:ext cx="8715436" cy="4714908"/>
          </a:xfrm>
        </p:spPr>
        <p:txBody>
          <a:bodyPr>
            <a:normAutofit/>
          </a:bodyPr>
          <a:lstStyle/>
          <a:p>
            <a:pPr marL="0" lvl="0" indent="0" algn="just">
              <a:buNone/>
            </a:pPr>
            <a:endParaRPr lang="en-US" sz="2000" dirty="0" smtClean="0">
              <a:latin typeface="Garamond" pitchFamily="18" charset="0"/>
            </a:endParaRPr>
          </a:p>
          <a:p>
            <a:pPr marL="0" lvl="0" indent="0" algn="just">
              <a:buNone/>
            </a:pPr>
            <a:r>
              <a:rPr lang="en-US" sz="2000" dirty="0" smtClean="0">
                <a:latin typeface="Garamond" pitchFamily="18" charset="0"/>
              </a:rPr>
              <a:t>Blockchain technology modifies the legal system and contractual discipline, reducing disputes, since the requisites necessary for agreements between the parties, are made certain by  the same platform, and smart contracts provide protection systems for the parties.</a:t>
            </a:r>
          </a:p>
          <a:p>
            <a:pPr marL="0" lvl="0" indent="0" algn="just">
              <a:buNone/>
            </a:pPr>
            <a:r>
              <a:rPr lang="en-US" sz="2000" dirty="0" smtClean="0">
                <a:latin typeface="Garamond" pitchFamily="18" charset="0"/>
              </a:rPr>
              <a:t>Therefore, it is desirable that the law regulates and facilitates the introduction of software (for digital smart contracts), creating the conditions for widespread adoption of the system.</a:t>
            </a:r>
          </a:p>
          <a:p>
            <a:pPr marL="0" lvl="0" indent="0" algn="just">
              <a:buNone/>
            </a:pPr>
            <a:r>
              <a:rPr lang="en-US" sz="2000" dirty="0" smtClean="0">
                <a:latin typeface="Garamond" pitchFamily="18" charset="0"/>
              </a:rPr>
              <a:t>Only human beings are, in fact, capable of imagining a different and more functional world.</a:t>
            </a:r>
          </a:p>
          <a:p>
            <a:pPr marL="0" lvl="0" indent="0" algn="just">
              <a:buNone/>
            </a:pPr>
            <a:r>
              <a:rPr lang="en-US" sz="2000" dirty="0" smtClean="0">
                <a:latin typeface="Garamond" pitchFamily="18" charset="0"/>
              </a:rPr>
              <a:t>The blockchain is the natural evolution of humanity's sharing knowledge.</a:t>
            </a: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30</a:t>
            </a:fld>
            <a:endParaRPr lang="it-IT"/>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BLOCKCHAIN AND SMART CONTRACT. THE ITALIAN CASE </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214422"/>
            <a:ext cx="8715436" cy="4714908"/>
          </a:xfrm>
        </p:spPr>
        <p:txBody>
          <a:bodyPr>
            <a:normAutofit/>
          </a:bodyPr>
          <a:lstStyle/>
          <a:p>
            <a:pPr marL="0" lvl="0" indent="0" algn="just">
              <a:buNone/>
            </a:pPr>
            <a:endParaRPr lang="en-US" sz="2000" dirty="0" smtClean="0">
              <a:latin typeface="Garamond" pitchFamily="18" charset="0"/>
            </a:endParaRPr>
          </a:p>
          <a:p>
            <a:pPr marL="0" lvl="0" indent="0" algn="just">
              <a:buNone/>
            </a:pPr>
            <a:r>
              <a:rPr lang="en-US" sz="2000" dirty="0" smtClean="0">
                <a:latin typeface="Garamond" pitchFamily="18" charset="0"/>
              </a:rPr>
              <a:t>All countries are working, both individually and collectively, to better regulate the genesis and use of the blockchain.</a:t>
            </a:r>
          </a:p>
          <a:p>
            <a:pPr marL="0" lvl="0" indent="0" algn="just">
              <a:buNone/>
            </a:pPr>
            <a:r>
              <a:rPr lang="en-US" sz="2000" dirty="0" smtClean="0">
                <a:latin typeface="Garamond" pitchFamily="18" charset="0"/>
              </a:rPr>
              <a:t>In particular, Italy has made an extra effort - starting from normative data - to </a:t>
            </a:r>
            <a:r>
              <a:rPr lang="en-US" sz="2000" dirty="0" err="1" smtClean="0">
                <a:latin typeface="Garamond" pitchFamily="18" charset="0"/>
              </a:rPr>
              <a:t>juridically</a:t>
            </a:r>
            <a:r>
              <a:rPr lang="en-US" sz="2000" dirty="0" smtClean="0">
                <a:latin typeface="Garamond" pitchFamily="18" charset="0"/>
              </a:rPr>
              <a:t> define  the phenomenon and its potential future use.</a:t>
            </a:r>
          </a:p>
          <a:p>
            <a:pPr marL="0" lvl="0" indent="0" algn="just">
              <a:buNone/>
            </a:pPr>
            <a:r>
              <a:rPr lang="en-US" sz="2000" dirty="0" smtClean="0">
                <a:latin typeface="Garamond" pitchFamily="18" charset="0"/>
              </a:rPr>
              <a:t>Without being overly exhaustive, it is useful to consider an actual example of Italian legislation that began with the so-called Simplification Decree, DL 14.12.18, n. 135, that was then converted into Law 11.2.2019, n. 20, art. 8, paragraph 1, 2, 3, 4. </a:t>
            </a:r>
          </a:p>
          <a:p>
            <a:pPr marL="0" lvl="0" indent="0" algn="just">
              <a:buNone/>
            </a:pPr>
            <a:r>
              <a:rPr lang="en-US" sz="2000" dirty="0" smtClean="0">
                <a:latin typeface="Garamond" pitchFamily="18" charset="0"/>
              </a:rPr>
              <a:t>This first text is a virtuous example of the attempt to clearly represent the legal characteristics of the most revolutionary information system present today.</a:t>
            </a: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31</a:t>
            </a:fld>
            <a:endParaRPr lang="it-IT"/>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214422"/>
            <a:ext cx="8715436" cy="4714908"/>
          </a:xfrm>
        </p:spPr>
        <p:txBody>
          <a:bodyPr>
            <a:normAutofit/>
          </a:bodyPr>
          <a:lstStyle/>
          <a:p>
            <a:pPr marL="0" lvl="0" indent="0" algn="just">
              <a:buNone/>
            </a:pPr>
            <a:endParaRPr lang="en-US" sz="2000" dirty="0" smtClean="0">
              <a:latin typeface="Garamond" pitchFamily="18" charset="0"/>
            </a:endParaRPr>
          </a:p>
          <a:p>
            <a:pPr marL="0" lvl="0" indent="0" algn="just">
              <a:buNone/>
            </a:pPr>
            <a:r>
              <a:rPr lang="en-US" sz="2000" dirty="0" smtClean="0">
                <a:latin typeface="Garamond" pitchFamily="18" charset="0"/>
              </a:rPr>
              <a:t>Comparing the legislation with what has been illustrated so far, we can see that the laws have translated the  phenomenon quite well.</a:t>
            </a:r>
          </a:p>
          <a:p>
            <a:pPr marL="0" lvl="0" indent="0" algn="just">
              <a:buNone/>
            </a:pPr>
            <a:r>
              <a:rPr lang="en-US" sz="2000" dirty="0" smtClean="0">
                <a:latin typeface="Garamond" pitchFamily="18" charset="0"/>
              </a:rPr>
              <a:t>Obviously, this is only a starting point, to be interpreted in the future applications and in terms of the community’s needs. Such changes are already underway and will be welcomed as an alternative to the current management of "public and private affairs."  </a:t>
            </a: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32</a:t>
            </a:fld>
            <a:endParaRPr lang="it-IT"/>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214422"/>
            <a:ext cx="8715436" cy="4714908"/>
          </a:xfrm>
        </p:spPr>
        <p:txBody>
          <a:bodyPr>
            <a:normAutofit fontScale="92500" lnSpcReduction="10000"/>
          </a:bodyPr>
          <a:lstStyle/>
          <a:p>
            <a:pPr marL="0" lvl="0" indent="0" algn="ctr">
              <a:buNone/>
            </a:pPr>
            <a:r>
              <a:rPr lang="en-US" sz="2000" b="1" dirty="0" smtClean="0">
                <a:latin typeface="Garamond" pitchFamily="18" charset="0"/>
              </a:rPr>
              <a:t>The innovations envisaged by the Simplification Decree</a:t>
            </a:r>
          </a:p>
          <a:p>
            <a:pPr marL="0" lvl="0" indent="0" algn="just">
              <a:buNone/>
            </a:pPr>
            <a:r>
              <a:rPr lang="en-US" sz="2000" dirty="0" smtClean="0">
                <a:latin typeface="Garamond" pitchFamily="18" charset="0"/>
              </a:rPr>
              <a:t>Art. 8 </a:t>
            </a:r>
            <a:r>
              <a:rPr lang="en-US" sz="2000" dirty="0" err="1" smtClean="0">
                <a:latin typeface="Garamond" pitchFamily="18" charset="0"/>
              </a:rPr>
              <a:t>Ter</a:t>
            </a:r>
            <a:r>
              <a:rPr lang="en-US" sz="2000" dirty="0" smtClean="0">
                <a:latin typeface="Garamond" pitchFamily="18" charset="0"/>
              </a:rPr>
              <a:t> (DL 14 December 2018, n.135, converted into law with L. 11 February 2019, n.12)</a:t>
            </a:r>
          </a:p>
          <a:p>
            <a:pPr marL="0" lvl="0" indent="0" algn="ctr">
              <a:buNone/>
            </a:pPr>
            <a:r>
              <a:rPr lang="en-US" sz="2000" b="1" dirty="0" smtClean="0">
                <a:latin typeface="Garamond" pitchFamily="18" charset="0"/>
              </a:rPr>
              <a:t>Paragraph 1</a:t>
            </a:r>
          </a:p>
          <a:p>
            <a:pPr marL="0" lvl="0" indent="0" algn="just">
              <a:buNone/>
            </a:pPr>
            <a:r>
              <a:rPr lang="en-US" sz="2000" dirty="0" smtClean="0">
                <a:latin typeface="Garamond" pitchFamily="18" charset="0"/>
              </a:rPr>
              <a:t>"Technologies based on distributed registers" are defined as IT technologies and protocols that use a shared, distributed, replicable, simultaneously accessible, architecturally decentralized register on cryptographic bases, such as to allow the recording, validation, updating, and storage of data both in clear text and further protected by cryptography verifiable by each participant, which cannot be altered and cannot be modified. "</a:t>
            </a:r>
          </a:p>
          <a:p>
            <a:pPr marL="0" lvl="0" indent="0" algn="ctr">
              <a:buNone/>
            </a:pPr>
            <a:r>
              <a:rPr lang="en-US" sz="2000" b="1" dirty="0" smtClean="0">
                <a:latin typeface="Garamond" pitchFamily="18" charset="0"/>
              </a:rPr>
              <a:t>Paragraph 2</a:t>
            </a:r>
          </a:p>
          <a:p>
            <a:pPr marL="0" lvl="0" indent="0" algn="just">
              <a:buNone/>
            </a:pPr>
            <a:r>
              <a:rPr lang="en-US" sz="2000" dirty="0" smtClean="0">
                <a:latin typeface="Garamond" pitchFamily="18" charset="0"/>
              </a:rPr>
              <a:t>A “smart contract" is defined as a computer program that operates on technologies based on distributed registers and whose execution automatically binds two or more parties on the basis of predefined effects. Smart contracts satisfy the requirement of the written form,  subject to computer identification of the interested parties, through a procedure with the requirements set by the Agency for Digital Italy with guidelines to be adopted within ninety   days from the decree’s date of entry into force of Law.”</a:t>
            </a: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33</a:t>
            </a:fld>
            <a:endParaRPr lang="it-IT"/>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214422"/>
            <a:ext cx="8715436" cy="4714908"/>
          </a:xfrm>
        </p:spPr>
        <p:txBody>
          <a:bodyPr>
            <a:normAutofit/>
          </a:bodyPr>
          <a:lstStyle/>
          <a:p>
            <a:pPr marL="0" lvl="0" indent="0" algn="ctr">
              <a:buNone/>
            </a:pPr>
            <a:r>
              <a:rPr lang="en-US" sz="2000" b="1" dirty="0" smtClean="0">
                <a:latin typeface="Garamond" pitchFamily="18" charset="0"/>
              </a:rPr>
              <a:t>Paragraph 3</a:t>
            </a:r>
          </a:p>
          <a:p>
            <a:pPr marL="0" lvl="0" indent="0" algn="just">
              <a:buNone/>
            </a:pPr>
            <a:r>
              <a:rPr lang="en-US" sz="2000" dirty="0" smtClean="0">
                <a:latin typeface="Garamond" pitchFamily="18" charset="0"/>
              </a:rPr>
              <a:t>"The storage of an IT document through the use of technologies based on distributed registers produces the legal effects of the electronic time stamp referred to in Article 41 of the Regulation (EU) no. 910/2014 of  the European Parliament and of  the Council of 23 July 2014 ."</a:t>
            </a:r>
          </a:p>
          <a:p>
            <a:pPr marL="0" lvl="0" indent="0" algn="just">
              <a:buNone/>
            </a:pPr>
            <a:r>
              <a:rPr lang="en-US" sz="2000" dirty="0" smtClean="0">
                <a:latin typeface="Garamond" pitchFamily="18" charset="0"/>
              </a:rPr>
              <a:t> </a:t>
            </a:r>
          </a:p>
          <a:p>
            <a:pPr marL="0" lvl="0" indent="0" algn="ctr">
              <a:buNone/>
            </a:pPr>
            <a:r>
              <a:rPr lang="en-US" sz="2000" b="1" dirty="0" smtClean="0">
                <a:latin typeface="Garamond" pitchFamily="18" charset="0"/>
              </a:rPr>
              <a:t>Paragraph 4</a:t>
            </a:r>
          </a:p>
          <a:p>
            <a:pPr marL="0" lvl="0" indent="0" algn="just">
              <a:buNone/>
            </a:pPr>
            <a:r>
              <a:rPr lang="en-US" sz="2000" dirty="0" smtClean="0">
                <a:latin typeface="Garamond" pitchFamily="18" charset="0"/>
              </a:rPr>
              <a:t>"Within ninety days from the date of entry into force of Law converting this decree, the Agency for Digital Italy (</a:t>
            </a:r>
            <a:r>
              <a:rPr lang="en-US" sz="2000" dirty="0" err="1" smtClean="0">
                <a:latin typeface="Garamond" pitchFamily="18" charset="0"/>
              </a:rPr>
              <a:t>AgID</a:t>
            </a:r>
            <a:r>
              <a:rPr lang="en-US" sz="2000" dirty="0" smtClean="0">
                <a:latin typeface="Garamond" pitchFamily="18" charset="0"/>
              </a:rPr>
              <a:t>) identifies the technical standards that technologies based on distributed  registers must possess for the purposes of producing the effects   referred to in paragraph 3.”</a:t>
            </a: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34</a:t>
            </a:fld>
            <a:endParaRPr lang="it-IT"/>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214422"/>
            <a:ext cx="8715436" cy="4714908"/>
          </a:xfrm>
        </p:spPr>
        <p:txBody>
          <a:bodyPr>
            <a:normAutofit/>
          </a:bodyPr>
          <a:lstStyle/>
          <a:p>
            <a:pPr marL="0" lvl="0" indent="0" algn="just">
              <a:buNone/>
            </a:pPr>
            <a:endParaRPr lang="en-US" sz="2000" dirty="0" smtClean="0">
              <a:latin typeface="Garamond" pitchFamily="18" charset="0"/>
            </a:endParaRPr>
          </a:p>
          <a:p>
            <a:pPr marL="0" lvl="0" indent="0" algn="just">
              <a:buNone/>
            </a:pPr>
            <a:endParaRPr lang="en-US" sz="2000" dirty="0" smtClean="0">
              <a:latin typeface="Garamond" pitchFamily="18" charset="0"/>
            </a:endParaRPr>
          </a:p>
          <a:p>
            <a:pPr marL="0" lvl="0" indent="0" algn="just">
              <a:buNone/>
            </a:pPr>
            <a:r>
              <a:rPr lang="en-US" sz="2000" dirty="0" smtClean="0">
                <a:latin typeface="Garamond" pitchFamily="18" charset="0"/>
              </a:rPr>
              <a:t>Italy has, therefore, provided a first definition of “technologies based on distributed ledgers” and “smart contracts,” delineating the legal effects connected with the use of these technologies.</a:t>
            </a:r>
          </a:p>
          <a:p>
            <a:pPr marL="0" lvl="0" indent="0" algn="just">
              <a:buNone/>
            </a:pPr>
            <a:r>
              <a:rPr lang="en-US" sz="2000" dirty="0" smtClean="0">
                <a:latin typeface="Garamond" pitchFamily="18" charset="0"/>
              </a:rPr>
              <a:t>The legislation is at the forefront in the regulation of blockchain technology since it goes beyond mere financial concerns, connected to </a:t>
            </a:r>
            <a:r>
              <a:rPr lang="en-US" sz="2000" dirty="0" err="1" smtClean="0">
                <a:latin typeface="Garamond" pitchFamily="18" charset="0"/>
              </a:rPr>
              <a:t>cryptocurrencies</a:t>
            </a:r>
            <a:r>
              <a:rPr lang="en-US" sz="2000" dirty="0" smtClean="0">
                <a:latin typeface="Garamond" pitchFamily="18" charset="0"/>
              </a:rPr>
              <a:t> and tokenization.</a:t>
            </a:r>
          </a:p>
          <a:p>
            <a:pPr marL="0" lvl="0" indent="0" algn="just">
              <a:buNone/>
            </a:pPr>
            <a:r>
              <a:rPr lang="en-US" sz="2000" dirty="0" smtClean="0">
                <a:latin typeface="Garamond" pitchFamily="18" charset="0"/>
              </a:rPr>
              <a:t>The regulatory formulation still leaves room for some interpretative doubts, partly resolvable, in the application and updating of the guidelines, which the </a:t>
            </a:r>
            <a:r>
              <a:rPr lang="en-US" sz="2000" dirty="0" err="1" smtClean="0">
                <a:latin typeface="Garamond" pitchFamily="18" charset="0"/>
              </a:rPr>
              <a:t>AgID</a:t>
            </a:r>
            <a:r>
              <a:rPr lang="en-US" sz="2000" dirty="0" smtClean="0">
                <a:latin typeface="Garamond" pitchFamily="18" charset="0"/>
              </a:rPr>
              <a:t> will have to improve over time, in accordance with the provisions of the Simplification Decree and its necessary updates. </a:t>
            </a: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35</a:t>
            </a:fld>
            <a:endParaRPr lang="it-IT"/>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214422"/>
            <a:ext cx="8715436" cy="4714908"/>
          </a:xfrm>
        </p:spPr>
        <p:txBody>
          <a:bodyPr>
            <a:normAutofit/>
          </a:bodyPr>
          <a:lstStyle/>
          <a:p>
            <a:pPr marL="0" lvl="0" indent="0" algn="just">
              <a:buNone/>
            </a:pPr>
            <a:endParaRPr lang="en-US" sz="2000" dirty="0" smtClean="0">
              <a:latin typeface="Garamond" pitchFamily="18" charset="0"/>
            </a:endParaRPr>
          </a:p>
          <a:p>
            <a:pPr marL="0" lvl="0" indent="0" algn="just">
              <a:buNone/>
            </a:pPr>
            <a:endParaRPr lang="en-US" sz="2000" dirty="0" smtClean="0">
              <a:latin typeface="Garamond" pitchFamily="18" charset="0"/>
            </a:endParaRPr>
          </a:p>
          <a:p>
            <a:pPr marL="0" lvl="0" indent="0" algn="just">
              <a:buNone/>
            </a:pPr>
            <a:r>
              <a:rPr lang="en-US" sz="2000" dirty="0" smtClean="0">
                <a:latin typeface="Garamond" pitchFamily="18" charset="0"/>
              </a:rPr>
              <a:t>In conclusion, the notion of the blockchain as "the technologies and computer protocols that use a shared, distributed, replicable, simultaneously accessible, architecturally decentralized register on cryptographic basis, such as to allow registration, validation, updating, and the storage of data, both in clear text and further protected by cryptography, verifiable by each participant, which cannot be altered and cannot be modified," becomes shareable, also, in recognition of Italian legislative efforts.</a:t>
            </a: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36</a:t>
            </a:fld>
            <a:endParaRPr lang="it-IT"/>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214422"/>
            <a:ext cx="8715436" cy="4714908"/>
          </a:xfrm>
        </p:spPr>
        <p:txBody>
          <a:bodyPr>
            <a:normAutofit/>
          </a:bodyPr>
          <a:lstStyle/>
          <a:p>
            <a:pPr marL="0" lvl="0" indent="0" algn="ctr">
              <a:buNone/>
            </a:pPr>
            <a:r>
              <a:rPr lang="en-US" sz="2000" b="1" dirty="0" smtClean="0">
                <a:latin typeface="Garamond" pitchFamily="18" charset="0"/>
              </a:rPr>
              <a:t>Interpretative Doubts and Limits of the Legislation</a:t>
            </a:r>
          </a:p>
          <a:p>
            <a:pPr marL="0" lvl="0" indent="0" algn="just">
              <a:buNone/>
            </a:pPr>
            <a:endParaRPr lang="en-US" sz="2000" dirty="0" smtClean="0">
              <a:latin typeface="Garamond" pitchFamily="18" charset="0"/>
            </a:endParaRPr>
          </a:p>
          <a:p>
            <a:pPr marL="0" lvl="0" indent="0" algn="just">
              <a:buNone/>
            </a:pPr>
            <a:endParaRPr lang="en-US" sz="2000" dirty="0" smtClean="0">
              <a:latin typeface="Garamond" pitchFamily="18" charset="0"/>
            </a:endParaRPr>
          </a:p>
          <a:p>
            <a:pPr marL="0" lvl="0" indent="0" algn="just">
              <a:buNone/>
            </a:pPr>
            <a:r>
              <a:rPr lang="en-US" sz="2000" dirty="0" smtClean="0">
                <a:latin typeface="Garamond" pitchFamily="18" charset="0"/>
              </a:rPr>
              <a:t>Even the best known </a:t>
            </a:r>
            <a:r>
              <a:rPr lang="en-US" sz="2000" dirty="0" err="1" smtClean="0">
                <a:latin typeface="Garamond" pitchFamily="18" charset="0"/>
              </a:rPr>
              <a:t>blockchains</a:t>
            </a:r>
            <a:r>
              <a:rPr lang="en-US" sz="2000" dirty="0" smtClean="0">
                <a:latin typeface="Garamond" pitchFamily="18" charset="0"/>
              </a:rPr>
              <a:t> can, however, be altered, with the consent of the majority of nodes and exposed to the so-called 51% attacks.</a:t>
            </a:r>
          </a:p>
          <a:p>
            <a:pPr marL="0" lvl="0" indent="0" algn="just">
              <a:buNone/>
            </a:pPr>
            <a:r>
              <a:rPr lang="en-US" sz="2000" dirty="0" smtClean="0">
                <a:latin typeface="Garamond" pitchFamily="18" charset="0"/>
              </a:rPr>
              <a:t>Art.8, in truth, does not emphasize the elements of the consensus and the economic incentive protocols.  Further updating of the semantics will be necessary in order to make it, over time, as representative as possible of the new reality and of the collective need for protection and safety.</a:t>
            </a:r>
          </a:p>
          <a:p>
            <a:pPr marL="0" lv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37</a:t>
            </a:fld>
            <a:endParaRPr lang="it-IT"/>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521</TotalTime>
  <Words>3484</Words>
  <Application>Microsoft Office PowerPoint</Application>
  <PresentationFormat>Presentazione su schermo (4:3)</PresentationFormat>
  <Paragraphs>231</Paragraphs>
  <Slides>37</Slides>
  <Notes>0</Notes>
  <HiddenSlides>0</HiddenSlides>
  <MMClips>0</MMClips>
  <ScaleCrop>false</ScaleCrop>
  <HeadingPairs>
    <vt:vector size="4" baseType="variant">
      <vt:variant>
        <vt:lpstr>Tema</vt:lpstr>
      </vt:variant>
      <vt:variant>
        <vt:i4>1</vt:i4>
      </vt:variant>
      <vt:variant>
        <vt:lpstr>Titoli diapositive</vt:lpstr>
      </vt:variant>
      <vt:variant>
        <vt:i4>37</vt:i4>
      </vt:variant>
    </vt:vector>
  </HeadingPairs>
  <TitlesOfParts>
    <vt:vector size="38" baseType="lpstr">
      <vt:lpstr>Tema di Office</vt:lpstr>
      <vt:lpstr>LEZIONE N. 9 AND RECAP  </vt:lpstr>
      <vt:lpstr>IMPROVING  THE FUNCTIONING OF GOVERNANCE </vt:lpstr>
      <vt:lpstr>Diapositiva 3</vt:lpstr>
      <vt:lpstr>LIMITATIONS  OF TCE THEORY IN THE ADOPTION OF SMART CONTRACTS </vt:lpstr>
      <vt:lpstr>Diapositiva 5</vt:lpstr>
      <vt:lpstr>Diapositiva 6</vt:lpstr>
      <vt:lpstr>Diapositiva 7</vt:lpstr>
      <vt:lpstr>Diapositiva 8</vt:lpstr>
      <vt:lpstr>Diapositiva 9</vt:lpstr>
      <vt:lpstr>Diapositiva 10</vt:lpstr>
      <vt:lpstr>AREAS FOR FUTURE RESEARCH  </vt:lpstr>
      <vt:lpstr>Diapositiva 12</vt:lpstr>
      <vt:lpstr>FINAL CONSIDERATIONS </vt:lpstr>
      <vt:lpstr>Diapositiva 14</vt:lpstr>
      <vt:lpstr>Diapositiva 15</vt:lpstr>
      <vt:lpstr>Diapositiva 16</vt:lpstr>
      <vt:lpstr>WHAT IS THE BLOCKCHAIN </vt:lpstr>
      <vt:lpstr>Diapositiva 18</vt:lpstr>
      <vt:lpstr>Diapositiva 19</vt:lpstr>
      <vt:lpstr>BLOCKCHAIN AND BITCOIN </vt:lpstr>
      <vt:lpstr>Diapositiva 21</vt:lpstr>
      <vt:lpstr>Diapositiva 22</vt:lpstr>
      <vt:lpstr>Diapositiva 23</vt:lpstr>
      <vt:lpstr>CHARACTERISTICS  OF THE BLOCKCHAIN </vt:lpstr>
      <vt:lpstr>Diapositiva 25</vt:lpstr>
      <vt:lpstr>Diapositiva 26</vt:lpstr>
      <vt:lpstr>Diapositiva 27</vt:lpstr>
      <vt:lpstr>Diapositiva 28</vt:lpstr>
      <vt:lpstr>Diapositiva 29</vt:lpstr>
      <vt:lpstr>Diapositiva 30</vt:lpstr>
      <vt:lpstr>BLOCKCHAIN AND SMART CONTRACT. THE ITALIAN CASE  </vt:lpstr>
      <vt:lpstr>Diapositiva 32</vt:lpstr>
      <vt:lpstr>Diapositiva 33</vt:lpstr>
      <vt:lpstr>Diapositiva 34</vt:lpstr>
      <vt:lpstr>Diapositiva 35</vt:lpstr>
      <vt:lpstr>Diapositiva 36</vt:lpstr>
      <vt:lpstr>Diapositiva 37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169</cp:revision>
  <dcterms:created xsi:type="dcterms:W3CDTF">2022-09-16T10:16:52Z</dcterms:created>
  <dcterms:modified xsi:type="dcterms:W3CDTF">2024-05-15T10:46:44Z</dcterms:modified>
</cp:coreProperties>
</file>