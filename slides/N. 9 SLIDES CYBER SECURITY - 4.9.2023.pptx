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88" r:id="rId2"/>
    <p:sldId id="28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6" r:id="rId27"/>
    <p:sldId id="287" r:id="rId28"/>
    <p:sldId id="290" r:id="rId29"/>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8D6077-A9A1-48E9-9FD7-06C85D67527B}" type="datetimeFigureOut">
              <a:rPr lang="it-IT" smtClean="0"/>
              <a:pPr/>
              <a:t>05/09/2023</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52FBE8-1B47-4E43-91CF-10C626A4C892}"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19</a:t>
            </a:fld>
            <a:endParaRPr 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20</a:t>
            </a:fld>
            <a:endParaRPr 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21</a:t>
            </a:fld>
            <a:endParaRPr 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22</a:t>
            </a:fld>
            <a:endParaRPr 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23</a:t>
            </a:fld>
            <a:endParaRPr 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24</a:t>
            </a:fld>
            <a:endParaRPr 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25</a:t>
            </a:fld>
            <a:endParaRPr 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26</a:t>
            </a:fld>
            <a:endParaRPr lang="it-I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27</a:t>
            </a:fld>
            <a:endParaRPr lang="it-IT"/>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28</a:t>
            </a:fld>
            <a:endParaRPr lang="it-IT"/>
          </a:p>
        </p:txBody>
      </p:sp>
    </p:spTree>
    <p:extLst>
      <p:ext uri="{BB962C8B-B14F-4D97-AF65-F5344CB8AC3E}">
        <p14:creationId xmlns="" xmlns:p14="http://schemas.microsoft.com/office/powerpoint/2010/main"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E68217E-9C01-41B1-A4B0-93F411BF822E}" type="datetimeFigureOut">
              <a:rPr lang="it-IT" smtClean="0"/>
              <a:pPr/>
              <a:t>05/09/2023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AB27C56-5953-4CA4-A0A7-592055FBEA0F}"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68217E-9C01-41B1-A4B0-93F411BF822E}" type="datetimeFigureOut">
              <a:rPr lang="it-IT" smtClean="0"/>
              <a:pPr/>
              <a:t>05/09/2023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B27C56-5953-4CA4-A0A7-592055FBEA0F}"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9" name="Titolo 8"/>
          <p:cNvSpPr>
            <a:spLocks noGrp="1"/>
          </p:cNvSpPr>
          <p:nvPr>
            <p:ph type="ctrTitle"/>
          </p:nvPr>
        </p:nvSpPr>
        <p:spPr/>
        <p:txBody>
          <a:bodyPr>
            <a:normAutofit fontScale="90000"/>
          </a:bodyPr>
          <a:lstStyle/>
          <a:p>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CORSO </a:t>
            </a:r>
            <a:r>
              <a:rPr lang="it-IT" sz="2800" b="1" dirty="0" err="1" smtClean="0">
                <a:solidFill>
                  <a:srgbClr val="FF0000"/>
                </a:solidFill>
                <a:latin typeface="Garamond" pitchFamily="18" charset="0"/>
              </a:rPr>
              <a:t>DI</a:t>
            </a:r>
            <a:r>
              <a:rPr lang="it-IT" sz="2800" b="1" smtClean="0">
                <a:solidFill>
                  <a:srgbClr val="FF0000"/>
                </a:solidFill>
                <a:latin typeface="Garamond" pitchFamily="18" charset="0"/>
              </a:rPr>
              <a:t> CYBERSECURITY AWARENESS </a:t>
            </a:r>
            <a:br>
              <a:rPr lang="it-IT" sz="2800" b="1" smtClean="0">
                <a:solidFill>
                  <a:srgbClr val="FF0000"/>
                </a:solidFill>
                <a:latin typeface="Garamond" pitchFamily="18" charset="0"/>
              </a:rPr>
            </a:br>
            <a:r>
              <a:rPr lang="it-IT" sz="2800" b="1" smtClean="0">
                <a:solidFill>
                  <a:srgbClr val="FF0000"/>
                </a:solidFill>
                <a:latin typeface="Garamond" pitchFamily="18" charset="0"/>
              </a:rPr>
              <a:t/>
            </a:r>
            <a:br>
              <a:rPr lang="it-IT" sz="2800" b="1" smtClean="0">
                <a:solidFill>
                  <a:srgbClr val="FF0000"/>
                </a:solidFill>
                <a:latin typeface="Garamond" pitchFamily="18" charset="0"/>
              </a:rPr>
            </a:br>
            <a:r>
              <a:rPr lang="it-IT" sz="2800" b="1" smtClean="0">
                <a:solidFill>
                  <a:srgbClr val="FF0000"/>
                </a:solidFill>
                <a:latin typeface="Garamond" pitchFamily="18" charset="0"/>
              </a:rPr>
              <a:t/>
            </a:r>
            <a:br>
              <a:rPr lang="it-IT" sz="2800" b="1" smtClean="0">
                <a:solidFill>
                  <a:srgbClr val="FF0000"/>
                </a:solidFill>
                <a:latin typeface="Garamond" pitchFamily="18" charset="0"/>
              </a:rPr>
            </a:br>
            <a:r>
              <a:rPr lang="it-IT" sz="2800" b="1" smtClean="0">
                <a:solidFill>
                  <a:srgbClr val="FF0000"/>
                </a:solidFill>
                <a:latin typeface="Garamond" pitchFamily="18" charset="0"/>
              </a:rPr>
              <a:t>BLOCKCHAIN</a:t>
            </a:r>
            <a:r>
              <a:rPr lang="it-IT" sz="2800" b="1" dirty="0" smtClean="0">
                <a:solidFill>
                  <a:srgbClr val="FF0000"/>
                </a:solidFill>
                <a:latin typeface="Garamond" pitchFamily="18" charset="0"/>
              </a:rPr>
              <a:t>, DISRUPTION AND CYBERLAW</a:t>
            </a:r>
            <a:r>
              <a:rPr lang="it-IT" sz="2800" b="1" smtClean="0">
                <a:solidFill>
                  <a:srgbClr val="FF0000"/>
                </a:solidFill>
                <a:latin typeface="Garamond" pitchFamily="18" charset="0"/>
              </a:rPr>
              <a:t/>
            </a:r>
            <a:br>
              <a:rPr lang="it-IT" sz="2800" b="1" smtClean="0">
                <a:solidFill>
                  <a:srgbClr val="FF0000"/>
                </a:solidFill>
                <a:latin typeface="Garamond" pitchFamily="18" charset="0"/>
              </a:rPr>
            </a:br>
            <a:r>
              <a:rPr lang="it-IT" sz="2800" b="1" smtClean="0">
                <a:solidFill>
                  <a:srgbClr val="FF0000"/>
                </a:solidFill>
                <a:latin typeface="Garamond" pitchFamily="18" charset="0"/>
              </a:rPr>
              <a:t/>
            </a:r>
            <a:br>
              <a:rPr lang="it-IT" sz="2800" b="1" smtClean="0">
                <a:solidFill>
                  <a:srgbClr val="FF0000"/>
                </a:solidFill>
                <a:latin typeface="Garamond" pitchFamily="18" charset="0"/>
              </a:rPr>
            </a:br>
            <a:r>
              <a:rPr lang="it-IT" sz="2800" b="1" smtClean="0">
                <a:solidFill>
                  <a:srgbClr val="FF0000"/>
                </a:solidFill>
                <a:latin typeface="Garamond" pitchFamily="18" charset="0"/>
              </a:rPr>
              <a:t>N</a:t>
            </a:r>
            <a:r>
              <a:rPr lang="it-IT" sz="2800" b="1" dirty="0" smtClean="0">
                <a:solidFill>
                  <a:srgbClr val="FF0000"/>
                </a:solidFill>
                <a:latin typeface="Garamond" pitchFamily="18" charset="0"/>
              </a:rPr>
              <a:t>. 9</a:t>
            </a:r>
            <a:endParaRPr lang="it-IT" sz="2800" b="1" dirty="0">
              <a:solidFill>
                <a:srgbClr val="FF0000"/>
              </a:solidFill>
              <a:latin typeface="Garamond" pitchFamily="18" charset="0"/>
            </a:endParaRPr>
          </a:p>
        </p:txBody>
      </p:sp>
      <p:sp>
        <p:nvSpPr>
          <p:cNvPr id="11" name="CasellaDiTesto 8"/>
          <p:cNvSpPr txBox="1">
            <a:spLocks noChangeArrowheads="1"/>
          </p:cNvSpPr>
          <p:nvPr/>
        </p:nvSpPr>
        <p:spPr bwMode="auto">
          <a:xfrm>
            <a:off x="2024584" y="6182766"/>
            <a:ext cx="4895850" cy="430887"/>
          </a:xfrm>
          <a:prstGeom prst="rect">
            <a:avLst/>
          </a:prstGeom>
          <a:noFill/>
          <a:ln w="9525">
            <a:noFill/>
            <a:miter lim="800000"/>
            <a:headEnd/>
            <a:tailEnd/>
          </a:ln>
        </p:spPr>
        <p:txBody>
          <a:bodyPr>
            <a:spAutoFit/>
          </a:bodyPr>
          <a:lstStyle/>
          <a:p>
            <a:pPr marL="14288" algn="ctr">
              <a:tabLst>
                <a:tab pos="4665663" algn="l"/>
              </a:tabLst>
            </a:pPr>
            <a:r>
              <a:rPr lang="it-IT" sz="22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400" b="1" dirty="0" smtClean="0">
                <a:solidFill>
                  <a:srgbClr val="FF0000"/>
                </a:solidFill>
                <a:latin typeface="Garamond" pitchFamily="18" charset="0"/>
              </a:rPr>
              <a:t>INDEX</a:t>
            </a:r>
            <a:endParaRPr lang="it-IT" sz="2400" b="1" dirty="0">
              <a:solidFill>
                <a:srgbClr val="FF0000"/>
              </a:solidFill>
              <a:latin typeface="Garamond" pitchFamily="18" charset="0"/>
            </a:endParaRPr>
          </a:p>
        </p:txBody>
      </p:sp>
      <p:sp>
        <p:nvSpPr>
          <p:cNvPr id="12" name="Segnaposto contenuto 11"/>
          <p:cNvSpPr>
            <a:spLocks noGrp="1"/>
          </p:cNvSpPr>
          <p:nvPr>
            <p:ph idx="1"/>
          </p:nvPr>
        </p:nvSpPr>
        <p:spPr>
          <a:xfrm>
            <a:off x="642910" y="1857364"/>
            <a:ext cx="8229600" cy="4714908"/>
          </a:xfrm>
        </p:spPr>
        <p:txBody>
          <a:bodyPr>
            <a:normAutofit/>
          </a:bodyPr>
          <a:lstStyle/>
          <a:p>
            <a:pPr marL="457200" indent="-457200" algn="just">
              <a:buFont typeface="+mj-lt"/>
              <a:buAutoNum type="arabicPeriod"/>
            </a:pPr>
            <a:r>
              <a:rPr lang="en-US" sz="2000" b="1" dirty="0" smtClean="0">
                <a:latin typeface="Garamond" pitchFamily="18" charset="0"/>
              </a:rPr>
              <a:t>Introduction: What is a Blockchain? </a:t>
            </a:r>
          </a:p>
          <a:p>
            <a:pPr marL="457200" indent="-457200" algn="just">
              <a:buFont typeface="+mj-lt"/>
              <a:buAutoNum type="arabicPeriod"/>
            </a:pPr>
            <a:r>
              <a:rPr lang="en-US" sz="2000" b="1" dirty="0" smtClean="0">
                <a:latin typeface="Garamond" pitchFamily="18" charset="0"/>
              </a:rPr>
              <a:t>From Disruption to Cyber Law: Costs that Blockchain Could Reduce; Cost of Verification and Cost of Networking.</a:t>
            </a:r>
          </a:p>
          <a:p>
            <a:pPr marL="457200" indent="-457200" algn="just">
              <a:buFont typeface="+mj-lt"/>
              <a:buAutoNum type="arabicPeriod"/>
            </a:pPr>
            <a:r>
              <a:rPr lang="en-US" sz="2000" b="1" dirty="0" smtClean="0">
                <a:latin typeface="Garamond" pitchFamily="18" charset="0"/>
              </a:rPr>
              <a:t>Blockchain Technology Can Mean More Privacy and Security. </a:t>
            </a:r>
          </a:p>
          <a:p>
            <a:pPr marL="457200" indent="-457200" algn="just">
              <a:buFont typeface="+mj-lt"/>
              <a:buAutoNum type="arabicPeriod"/>
            </a:pPr>
            <a:r>
              <a:rPr lang="en-US" sz="2000" b="1" dirty="0" smtClean="0">
                <a:latin typeface="Garamond" pitchFamily="18" charset="0"/>
              </a:rPr>
              <a:t>What Industries Could Radically Change with the Blockchain? </a:t>
            </a:r>
          </a:p>
          <a:p>
            <a:pPr marL="457200" indent="-457200" algn="just">
              <a:buFont typeface="+mj-lt"/>
              <a:buAutoNum type="arabicPeriod"/>
            </a:pPr>
            <a:r>
              <a:rPr lang="en-US" sz="2000" b="1" dirty="0" smtClean="0">
                <a:latin typeface="Garamond" pitchFamily="18" charset="0"/>
              </a:rPr>
              <a:t>When Will This Reform/Revolution Happen?</a:t>
            </a:r>
          </a:p>
          <a:p>
            <a:pPr marL="457200" indent="-457200" algn="just">
              <a:buFont typeface="+mj-lt"/>
              <a:buAutoNum type="arabicPeriod"/>
            </a:pPr>
            <a:r>
              <a:rPr lang="en-US" sz="2000" b="1" dirty="0" smtClean="0">
                <a:latin typeface="Garamond" pitchFamily="18" charset="0"/>
              </a:rPr>
              <a:t>The Expert and the Future </a:t>
            </a:r>
          </a:p>
          <a:p>
            <a:pPr marL="457200" indent="-457200" algn="just">
              <a:buFont typeface="+mj-lt"/>
              <a:buAutoNum type="arabicPeriod"/>
            </a:pPr>
            <a:r>
              <a:rPr lang="en-US" sz="2000" b="1" dirty="0" smtClean="0">
                <a:latin typeface="Garamond" pitchFamily="18" charset="0"/>
              </a:rPr>
              <a:t>IT Security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9" name="CasellaDiTesto 8"/>
          <p:cNvSpPr txBox="1">
            <a:spLocks noChangeArrowheads="1"/>
          </p:cNvSpPr>
          <p:nvPr/>
        </p:nvSpPr>
        <p:spPr bwMode="auto">
          <a:xfrm>
            <a:off x="2024584" y="6182766"/>
            <a:ext cx="4895850" cy="430887"/>
          </a:xfrm>
          <a:prstGeom prst="rect">
            <a:avLst/>
          </a:prstGeom>
          <a:noFill/>
          <a:ln w="9525">
            <a:noFill/>
            <a:miter lim="800000"/>
            <a:headEnd/>
            <a:tailEnd/>
          </a:ln>
        </p:spPr>
        <p:txBody>
          <a:bodyPr>
            <a:spAutoFit/>
          </a:bodyPr>
          <a:lstStyle/>
          <a:p>
            <a:pPr marL="14288" algn="ctr">
              <a:tabLst>
                <a:tab pos="4665663" algn="l"/>
              </a:tabLst>
            </a:pPr>
            <a:r>
              <a:rPr lang="it-IT" sz="2200" b="1" dirty="0">
                <a:latin typeface="Garamond" pitchFamily="18" charset="0"/>
              </a:rPr>
              <a:t>www.avvocatobruccoleri.it</a:t>
            </a:r>
          </a:p>
        </p:txBody>
      </p:sp>
      <p:sp>
        <p:nvSpPr>
          <p:cNvPr id="14" name="Rettangolo 13"/>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200" b="1" dirty="0" smtClean="0">
                <a:solidFill>
                  <a:srgbClr val="FF0000"/>
                </a:solidFill>
                <a:latin typeface="Garamond" pitchFamily="18" charset="0"/>
              </a:rPr>
              <a:t>INTRODUCTION: WHAT IS A BLOCKCHAIN?</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just">
              <a:buNone/>
            </a:pPr>
            <a:r>
              <a:rPr lang="en-US" sz="2000" dirty="0" smtClean="0">
                <a:latin typeface="Garamond" pitchFamily="18" charset="0"/>
              </a:rPr>
              <a:t>Like the first version of the Internet, the blockchain seems difficult to understand and predict, but it could become, indeed it looks as if it will become, ubiquitous in the exchange of physical and digital goods, information, and online platforms. Blockchain is a term widely used to represent a whole new suite of technologies. There is substantial confusion about its definition because the technology is still in its infancy and can be implemented in many ways depending on the intended goal. For an initial approach, it can be said that </a:t>
            </a:r>
            <a:r>
              <a:rPr lang="en-US" sz="2000" u="sng" dirty="0" smtClean="0">
                <a:latin typeface="Garamond" pitchFamily="18" charset="0"/>
              </a:rPr>
              <a:t>blockchain technology allows a network of computers to relate homogeneously to each other at regular intervals, representing the true state of a distributed ledger or register</a:t>
            </a:r>
            <a:r>
              <a:rPr lang="en-US" sz="2000" dirty="0" smtClean="0">
                <a:latin typeface="Garamond" pitchFamily="18" charset="0"/>
              </a:rPr>
              <a:t>. These registers contain different types of shared data, such as transaction records, transaction attributes, credentials, or other information.</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just">
              <a:buNone/>
            </a:pPr>
            <a:r>
              <a:rPr lang="en-US" sz="2000" u="sng" dirty="0" smtClean="0">
                <a:latin typeface="Garamond" pitchFamily="18" charset="0"/>
              </a:rPr>
              <a:t>The register is protected by a clever mix of encryption </a:t>
            </a:r>
            <a:r>
              <a:rPr lang="en-US" sz="2000" dirty="0" smtClean="0">
                <a:latin typeface="Garamond" pitchFamily="18" charset="0"/>
              </a:rPr>
              <a:t>and game theory and does not require reliable nodes as traditional networks </a:t>
            </a:r>
            <a:r>
              <a:rPr lang="en-US" sz="2000" dirty="0" err="1" smtClean="0">
                <a:latin typeface="Garamond" pitchFamily="18" charset="0"/>
              </a:rPr>
              <a:t>do.This</a:t>
            </a:r>
            <a:r>
              <a:rPr lang="en-US" sz="2000" dirty="0" smtClean="0">
                <a:latin typeface="Garamond" pitchFamily="18" charset="0"/>
              </a:rPr>
              <a:t> is what allows </a:t>
            </a:r>
            <a:r>
              <a:rPr lang="en-US" sz="2000" dirty="0" err="1" smtClean="0">
                <a:latin typeface="Garamond" pitchFamily="18" charset="0"/>
              </a:rPr>
              <a:t>Bitcoin</a:t>
            </a:r>
            <a:r>
              <a:rPr lang="en-US" sz="2000" dirty="0" smtClean="0">
                <a:latin typeface="Garamond" pitchFamily="18" charset="0"/>
              </a:rPr>
              <a:t>, for example, to transfer value around the world, without resorting to traditional intermediaries such as banks. </a:t>
            </a:r>
            <a:r>
              <a:rPr lang="en-US" sz="2000" u="sng" dirty="0" smtClean="0">
                <a:latin typeface="Garamond" pitchFamily="18" charset="0"/>
              </a:rPr>
              <a:t>On a blockchain, transactions are recorded chronologically, forming an immutable chain, and can be more or less private or anonymous, depending on how the technology is implemented. The le</a:t>
            </a:r>
            <a:r>
              <a:rPr lang="en-US" sz="2000" dirty="0" smtClean="0">
                <a:latin typeface="Garamond" pitchFamily="18" charset="0"/>
              </a:rPr>
              <a:t>dger, the so called DLT (Distributed Ledger Technology), is </a:t>
            </a:r>
            <a:r>
              <a:rPr lang="en-US" sz="2000" u="sng" dirty="0" smtClean="0">
                <a:latin typeface="Garamond" pitchFamily="18" charset="0"/>
              </a:rPr>
              <a:t>distributed among many participants in the network; it does not exist in one place</a:t>
            </a:r>
            <a:r>
              <a:rPr lang="en-US" sz="2000" dirty="0" smtClean="0">
                <a:latin typeface="Garamond" pitchFamily="18" charset="0"/>
              </a:rPr>
              <a:t>. Instead, copies exist and are updated simultaneously in each node, which fully participates in the digital ecosystem. </a:t>
            </a:r>
            <a:r>
              <a:rPr lang="en-US" sz="2000" u="sng" dirty="0" smtClean="0">
                <a:latin typeface="Garamond" pitchFamily="18" charset="0"/>
              </a:rPr>
              <a:t>A block could represent transactions and data of many types: </a:t>
            </a:r>
            <a:r>
              <a:rPr lang="en-US" sz="2000" dirty="0" smtClean="0">
                <a:latin typeface="Garamond" pitchFamily="18" charset="0"/>
              </a:rPr>
              <a:t>currency, digital rights, intellectual property, identity or title deeds, to name a few.</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just">
              <a:buNone/>
            </a:pPr>
            <a:r>
              <a:rPr lang="en-US" sz="2000" dirty="0" smtClean="0">
                <a:latin typeface="Garamond" pitchFamily="18" charset="0"/>
              </a:rPr>
              <a:t>The technology is particularly useful when a distributed ledger is combined with a </a:t>
            </a:r>
            <a:r>
              <a:rPr lang="en-US" sz="2000" dirty="0" err="1" smtClean="0">
                <a:latin typeface="Garamond" pitchFamily="18" charset="0"/>
              </a:rPr>
              <a:t>cryptotoken</a:t>
            </a:r>
            <a:r>
              <a:rPr lang="en-US" sz="2000" dirty="0" smtClean="0">
                <a:latin typeface="Garamond" pitchFamily="18" charset="0"/>
              </a:rPr>
              <a:t>. (Tokens are digital assets, indispensable tools for exercising an action and a right within a blockchain network). </a:t>
            </a:r>
            <a:r>
              <a:rPr lang="en-US" sz="2000" u="sng" dirty="0" smtClean="0">
                <a:latin typeface="Garamond" pitchFamily="18" charset="0"/>
              </a:rPr>
              <a:t>An entire network capable of obtaining decentralized Internet consensus on the status and authenticity of a block's contents can be launched in an instant. Each node participating in the network can check the true state of the ledger and carry out transactions at a very low cost and in full security, transparency, and trust</a:t>
            </a: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71612"/>
            <a:ext cx="8229600" cy="4197361"/>
          </a:xfrm>
        </p:spPr>
        <p:txBody>
          <a:bodyPr>
            <a:normAutofit/>
          </a:bodyPr>
          <a:lstStyle/>
          <a:p>
            <a:pPr marL="0" indent="0" algn="just">
              <a:buNone/>
            </a:pPr>
            <a:r>
              <a:rPr lang="en-US" sz="2000" dirty="0" smtClean="0">
                <a:latin typeface="Garamond" pitchFamily="18" charset="0"/>
              </a:rPr>
              <a:t>Initially, the blockchain was related to </a:t>
            </a:r>
            <a:r>
              <a:rPr lang="en-US" sz="2000" dirty="0" err="1" smtClean="0">
                <a:latin typeface="Garamond" pitchFamily="18" charset="0"/>
              </a:rPr>
              <a:t>Bitcoin</a:t>
            </a:r>
            <a:r>
              <a:rPr lang="en-US" sz="2000" dirty="0" smtClean="0">
                <a:latin typeface="Garamond" pitchFamily="18" charset="0"/>
              </a:rPr>
              <a:t>, makes it the largest form of blockchain technology implementation known to date. While much media attention has focused on </a:t>
            </a:r>
            <a:r>
              <a:rPr lang="en-US" sz="2000" dirty="0" err="1" smtClean="0">
                <a:latin typeface="Garamond" pitchFamily="18" charset="0"/>
              </a:rPr>
              <a:t>Bitcoin</a:t>
            </a:r>
            <a:r>
              <a:rPr lang="en-US" sz="2000" dirty="0" smtClean="0">
                <a:latin typeface="Garamond" pitchFamily="18" charset="0"/>
              </a:rPr>
              <a:t> and other </a:t>
            </a:r>
            <a:r>
              <a:rPr lang="en-US" sz="2000" dirty="0" err="1" smtClean="0">
                <a:latin typeface="Garamond" pitchFamily="18" charset="0"/>
              </a:rPr>
              <a:t>cryptocurrencies</a:t>
            </a:r>
            <a:r>
              <a:rPr lang="en-US" sz="2000" dirty="0" smtClean="0">
                <a:latin typeface="Garamond" pitchFamily="18" charset="0"/>
              </a:rPr>
              <a:t>, these two worlds (Blockchain and </a:t>
            </a:r>
            <a:r>
              <a:rPr lang="en-US" sz="2000" dirty="0" err="1" smtClean="0">
                <a:latin typeface="Garamond" pitchFamily="18" charset="0"/>
              </a:rPr>
              <a:t>cryptocurrencies</a:t>
            </a:r>
            <a:r>
              <a:rPr lang="en-US" sz="2000" dirty="0" smtClean="0">
                <a:latin typeface="Garamond" pitchFamily="18" charset="0"/>
              </a:rPr>
              <a:t>) are only partially intertwined. </a:t>
            </a:r>
          </a:p>
          <a:p>
            <a:pPr marL="0" indent="0" algn="just">
              <a:buNone/>
            </a:pPr>
            <a:r>
              <a:rPr lang="en-US" sz="2000" dirty="0" smtClean="0">
                <a:latin typeface="Garamond" pitchFamily="18" charset="0"/>
              </a:rPr>
              <a:t>When “The Economist” put the blockchain on its cover in 2015, it was no longer about the </a:t>
            </a:r>
            <a:r>
              <a:rPr lang="en-US" sz="2000" dirty="0" err="1" smtClean="0">
                <a:latin typeface="Garamond" pitchFamily="18" charset="0"/>
              </a:rPr>
              <a:t>blockchains’s</a:t>
            </a:r>
            <a:r>
              <a:rPr lang="en-US" sz="2000" dirty="0" smtClean="0">
                <a:latin typeface="Garamond" pitchFamily="18" charset="0"/>
              </a:rPr>
              <a:t> relation to digital currency, but about other applications blockchain technology would unlock in the coming years. For example, there is excitement about using this new technology in finance and accounting because of its ability to settle global transactions at a lower cost. In logistics, the focus is all on how to use the </a:t>
            </a:r>
            <a:r>
              <a:rPr lang="en-US" sz="2000" dirty="0" err="1" smtClean="0">
                <a:latin typeface="Garamond" pitchFamily="18" charset="0"/>
              </a:rPr>
              <a:t>blockchain’s</a:t>
            </a:r>
            <a:r>
              <a:rPr lang="en-US" sz="2000" dirty="0" smtClean="0">
                <a:latin typeface="Garamond" pitchFamily="18" charset="0"/>
              </a:rPr>
              <a:t> immutable control line to improve the verification and tracking of goods at each stage of the process.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500182"/>
            <a:ext cx="8229600" cy="1143000"/>
          </a:xfrm>
        </p:spPr>
        <p:txBody>
          <a:bodyPr>
            <a:normAutofit/>
          </a:bodyPr>
          <a:lstStyle/>
          <a:p>
            <a:r>
              <a:rPr lang="en-US" sz="2000" b="1" dirty="0" smtClean="0">
                <a:solidFill>
                  <a:srgbClr val="FF0000"/>
                </a:solidFill>
                <a:latin typeface="Garamond" pitchFamily="18" charset="0"/>
              </a:rPr>
              <a:t>FROM DISRUPTION TO CYBER LAW: COSTS THAT BLOCKCHAIN ​​COULD REDUCE: COST OF VERIFICATION AND COST OF NETWORKING</a:t>
            </a:r>
            <a:endParaRPr lang="it-IT" sz="2000" b="1" dirty="0">
              <a:solidFill>
                <a:srgbClr val="FF0000"/>
              </a:solidFill>
              <a:latin typeface="Garamond" pitchFamily="18" charset="0"/>
            </a:endParaRPr>
          </a:p>
        </p:txBody>
      </p:sp>
      <p:sp>
        <p:nvSpPr>
          <p:cNvPr id="12" name="Segnaposto contenuto 11"/>
          <p:cNvSpPr>
            <a:spLocks noGrp="1"/>
          </p:cNvSpPr>
          <p:nvPr>
            <p:ph idx="1"/>
          </p:nvPr>
        </p:nvSpPr>
        <p:spPr>
          <a:xfrm>
            <a:off x="457200" y="2160597"/>
            <a:ext cx="8229600" cy="4197361"/>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new technological archive can save money and upend the way business is conducted. Every day, companies and organizations simultaneously engage in different types of transactions, each requiring verification. In many cases, this verification is easy. You know your customers, colleagues, and business partners, and having worked with them and their products, you have a good idea of ​​their value and reliability.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dirty="0"/>
          </a:p>
        </p:txBody>
      </p:sp>
      <p:sp>
        <p:nvSpPr>
          <p:cNvPr id="14342" name="CasellaDiTesto 8"/>
          <p:cNvSpPr txBox="1">
            <a:spLocks noChangeArrowheads="1"/>
          </p:cNvSpPr>
          <p:nvPr/>
        </p:nvSpPr>
        <p:spPr bwMode="auto">
          <a:xfrm>
            <a:off x="2024584" y="6182766"/>
            <a:ext cx="4895850" cy="430887"/>
          </a:xfrm>
          <a:prstGeom prst="rect">
            <a:avLst/>
          </a:prstGeom>
          <a:noFill/>
          <a:ln w="9525">
            <a:noFill/>
            <a:miter lim="800000"/>
            <a:headEnd/>
            <a:tailEnd/>
          </a:ln>
        </p:spPr>
        <p:txBody>
          <a:bodyPr>
            <a:spAutoFit/>
          </a:bodyPr>
          <a:lstStyle/>
          <a:p>
            <a:pPr marL="14288" algn="ctr">
              <a:tabLst>
                <a:tab pos="4665663" algn="l"/>
              </a:tabLst>
            </a:pPr>
            <a:r>
              <a:rPr lang="it-IT" sz="22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214422"/>
            <a:ext cx="8229600" cy="4197361"/>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But every now and then a problem arises, and some kind of audit has to be performed, with increased controls and a rise in costs.</a:t>
            </a:r>
          </a:p>
          <a:p>
            <a:pPr marL="0" indent="0" algn="just">
              <a:buNone/>
            </a:pPr>
            <a:r>
              <a:rPr lang="en-US" sz="2000" dirty="0" smtClean="0">
                <a:latin typeface="Garamond" pitchFamily="18" charset="0"/>
              </a:rPr>
              <a:t>It may require auditors or experienced tech professionals as well. Thus a verification process is needed to ensure that the person claiming to have those credentials actually has them or that the company selling the goods has the proper certification.</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00174"/>
            <a:ext cx="8229600" cy="4197361"/>
          </a:xfrm>
        </p:spPr>
        <p:txBody>
          <a:bodyPr>
            <a:normAutofit/>
          </a:bodyPr>
          <a:lstStyle/>
          <a:p>
            <a:pPr marL="0" indent="0" algn="just">
              <a:buNone/>
            </a:pPr>
            <a:r>
              <a:rPr lang="en-US" sz="2000" dirty="0" smtClean="0">
                <a:latin typeface="Garamond" pitchFamily="18" charset="0"/>
              </a:rPr>
              <a:t>These controls are expensive and laborious and as with any market slow down, companies are forced to incur additional costs to match supply and demand.</a:t>
            </a:r>
          </a:p>
          <a:p>
            <a:pPr marL="0" indent="0" algn="just">
              <a:buNone/>
            </a:pPr>
            <a:r>
              <a:rPr lang="en-US" sz="2000" u="sng" dirty="0" smtClean="0">
                <a:latin typeface="Garamond" pitchFamily="18" charset="0"/>
              </a:rPr>
              <a:t>The reason distributed ledgers become useful in these cases is because the information recorded on the blockchain has already been securely verified, and this verification can be repeated or referred to without cost. </a:t>
            </a:r>
            <a:r>
              <a:rPr lang="en-US" sz="2000" dirty="0" smtClean="0">
                <a:latin typeface="Garamond" pitchFamily="18" charset="0"/>
              </a:rPr>
              <a:t>This is a free verification, guaranteed, and permanently registered on the blockchain. </a:t>
            </a:r>
          </a:p>
          <a:p>
            <a:pPr marL="0" indent="0" algn="just">
              <a:buNone/>
            </a:pPr>
            <a:r>
              <a:rPr lang="en-US" sz="2000" dirty="0" smtClean="0">
                <a:latin typeface="Garamond" pitchFamily="18" charset="0"/>
              </a:rPr>
              <a:t>Value can be transferred anywhere in the world at almost zero transaction cost. Sending secure messages and transactions that carry value no longer requires going through a bank or PayPal because the blockchain verifies the reliability of both transactions and users. This reduces transaction delays, saving time and money.</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731969"/>
            <a:ext cx="8229600" cy="4197361"/>
          </a:xfrm>
        </p:spPr>
        <p:txBody>
          <a:bodyPr>
            <a:normAutofit/>
          </a:bodyPr>
          <a:lstStyle/>
          <a:p>
            <a:pPr marL="0" indent="0" algn="just">
              <a:buNone/>
            </a:pPr>
            <a:r>
              <a:rPr lang="en-US" sz="2000" u="sng" dirty="0" smtClean="0">
                <a:latin typeface="Garamond" pitchFamily="18" charset="0"/>
              </a:rPr>
              <a:t>Using a blockchain can also reduce the cost of running a secure network. </a:t>
            </a:r>
          </a:p>
          <a:p>
            <a:pPr marL="0" indent="0" algn="just">
              <a:buNone/>
            </a:pPr>
            <a:r>
              <a:rPr lang="en-US" sz="2000" dirty="0" smtClean="0">
                <a:latin typeface="Garamond" pitchFamily="18" charset="0"/>
              </a:rPr>
              <a:t>The Internet has already enabled goods and services to be exchanged quickly and less artificially. But it still needs intermediaries, however efficient they may be: think of eBay, </a:t>
            </a:r>
            <a:r>
              <a:rPr lang="en-US" sz="2000" dirty="0" err="1" smtClean="0">
                <a:latin typeface="Garamond" pitchFamily="18" charset="0"/>
              </a:rPr>
              <a:t>Airbnb</a:t>
            </a:r>
            <a:r>
              <a:rPr lang="en-US" sz="2000" dirty="0" smtClean="0">
                <a:latin typeface="Garamond" pitchFamily="18" charset="0"/>
              </a:rPr>
              <a:t> and </a:t>
            </a:r>
            <a:r>
              <a:rPr lang="en-US" sz="2000" dirty="0" err="1" smtClean="0">
                <a:latin typeface="Garamond" pitchFamily="18" charset="0"/>
              </a:rPr>
              <a:t>Uber</a:t>
            </a:r>
            <a:r>
              <a:rPr lang="en-US" sz="2000" dirty="0" smtClean="0">
                <a:latin typeface="Garamond" pitchFamily="18" charset="0"/>
              </a:rPr>
              <a:t>. These intermediaries are expensive and make money for payment processing, for maintaining a reputation system, and for facilitating the matching of supply and demand. </a:t>
            </a:r>
            <a:r>
              <a:rPr lang="en-US" sz="2000" u="sng" dirty="0" smtClean="0">
                <a:latin typeface="Garamond" pitchFamily="18" charset="0"/>
              </a:rPr>
              <a:t>With blockchain technology, combined with a </a:t>
            </a:r>
            <a:r>
              <a:rPr lang="en-US" sz="2000" u="sng" dirty="0" err="1" smtClean="0">
                <a:latin typeface="Garamond" pitchFamily="18" charset="0"/>
              </a:rPr>
              <a:t>cryptotoken</a:t>
            </a:r>
            <a:r>
              <a:rPr lang="en-US" sz="2000" u="sng" dirty="0" smtClean="0">
                <a:latin typeface="Garamond" pitchFamily="18" charset="0"/>
              </a:rPr>
              <a:t>, it is possible to rethink the entire value chain, at no extra cost.</a:t>
            </a: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430887"/>
          </a:xfrm>
          <a:prstGeom prst="rect">
            <a:avLst/>
          </a:prstGeom>
          <a:noFill/>
          <a:ln w="9525">
            <a:noFill/>
            <a:miter lim="800000"/>
            <a:headEnd/>
            <a:tailEnd/>
          </a:ln>
        </p:spPr>
        <p:txBody>
          <a:bodyPr>
            <a:spAutoFit/>
          </a:bodyPr>
          <a:lstStyle/>
          <a:p>
            <a:pPr marL="14288" algn="ctr">
              <a:tabLst>
                <a:tab pos="4665663" algn="l"/>
              </a:tabLst>
            </a:pPr>
            <a:r>
              <a:rPr lang="it-IT" sz="22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285868"/>
            <a:ext cx="8229600" cy="1143000"/>
          </a:xfrm>
        </p:spPr>
        <p:txBody>
          <a:bodyPr>
            <a:normAutofit/>
          </a:bodyPr>
          <a:lstStyle/>
          <a:p>
            <a:r>
              <a:rPr lang="en-US" sz="2000" b="1" dirty="0" smtClean="0">
                <a:solidFill>
                  <a:srgbClr val="FF0000"/>
                </a:solidFill>
                <a:latin typeface="Garamond" pitchFamily="18" charset="0"/>
              </a:rPr>
              <a:t>BLOCKCHAIN ​​TECHNOLOGY CAN MEAN MORE PRIVACY AND SECURITY</a:t>
            </a:r>
            <a:endParaRPr lang="it-IT" sz="2000" b="1" dirty="0">
              <a:solidFill>
                <a:srgbClr val="FF0000"/>
              </a:solidFill>
              <a:latin typeface="Garamond" pitchFamily="18" charset="0"/>
            </a:endParaRPr>
          </a:p>
        </p:txBody>
      </p:sp>
      <p:sp>
        <p:nvSpPr>
          <p:cNvPr id="12" name="Segnaposto contenuto 11"/>
          <p:cNvSpPr>
            <a:spLocks noGrp="1"/>
          </p:cNvSpPr>
          <p:nvPr>
            <p:ph idx="1"/>
          </p:nvPr>
        </p:nvSpPr>
        <p:spPr>
          <a:xfrm>
            <a:off x="428596" y="2643182"/>
            <a:ext cx="8229600" cy="2982915"/>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If you have a business partner, you need to know if they are trustworthy. But for simple, small transactions, you really do not need to know much else.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Instead, </a:t>
            </a:r>
            <a:r>
              <a:rPr lang="en-US" sz="2000" u="sng" dirty="0" smtClean="0">
                <a:latin typeface="Garamond" pitchFamily="18" charset="0"/>
              </a:rPr>
              <a:t>disclosure of information is increasingly becoming a cost</a:t>
            </a:r>
            <a:r>
              <a:rPr lang="en-US" sz="2000" dirty="0" smtClean="0">
                <a:latin typeface="Garamond" pitchFamily="18" charset="0"/>
              </a:rPr>
              <a:t>, due to data breaches and the fact that you do not always transact with known business partners. A model that could test whether certain attributes are true or false, using a decentralized infrastructure, without having to reveal all the attributes each time, would be a major boon for the whole community.</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just">
              <a:buNone/>
            </a:pPr>
            <a:r>
              <a:rPr lang="en-US" sz="2000" dirty="0" smtClean="0">
                <a:latin typeface="Garamond" pitchFamily="18" charset="0"/>
              </a:rPr>
              <a:t>With commercial transactions, a blockchain could be used to build a reputation score for a party, who could then be verified as trustworthy or creditworthy, without having to conduct for a full audit every time. Reputation scores, for both businesses and individuals, are split across different platforms today, and portability between platforms is very limited. A blockchain can improve all of this and create a climate of greater commercial trust based on source-verifiable, constantly updated data at the entrance to the blockchain. </a:t>
            </a:r>
          </a:p>
          <a:p>
            <a:pPr marL="0" indent="0" algn="just">
              <a:buNone/>
            </a:pPr>
            <a:r>
              <a:rPr lang="en-US" sz="2000" dirty="0" smtClean="0">
                <a:latin typeface="Garamond" pitchFamily="18" charset="0"/>
              </a:rPr>
              <a:t>Privacy would also be respected, and access allowed only to necessary data and in perfect security.</a:t>
            </a:r>
          </a:p>
          <a:p>
            <a:pPr marL="0" indent="0" algn="just">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000108"/>
            <a:ext cx="7786742" cy="857248"/>
          </a:xfrm>
        </p:spPr>
        <p:txBody>
          <a:bodyPr>
            <a:normAutofit/>
          </a:bodyPr>
          <a:lstStyle/>
          <a:p>
            <a:r>
              <a:rPr lang="en-US" sz="1900" b="1" dirty="0" smtClean="0">
                <a:solidFill>
                  <a:srgbClr val="FF0000"/>
                </a:solidFill>
                <a:latin typeface="Garamond" pitchFamily="18" charset="0"/>
              </a:rPr>
              <a:t>WHICH SECTORS COULD CHANGE RADICALLY WITH THE BLOCKCHAIN?</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600076" y="2071678"/>
            <a:ext cx="7972452" cy="4054485"/>
          </a:xfrm>
        </p:spPr>
        <p:txBody>
          <a:bodyPr>
            <a:normAutofit fontScale="85000" lnSpcReduction="20000"/>
          </a:bodyPr>
          <a:lstStyle/>
          <a:p>
            <a:pPr marL="0" indent="0" algn="just">
              <a:buNone/>
            </a:pPr>
            <a:r>
              <a:rPr lang="en-US" sz="2000" dirty="0" smtClean="0">
                <a:latin typeface="Garamond" pitchFamily="18" charset="0"/>
              </a:rPr>
              <a:t>The new technology is what economists call a "generic technology" and many of its applications in varying "verticals" are now known.</a:t>
            </a:r>
          </a:p>
          <a:p>
            <a:pPr marL="0" indent="0" algn="just">
              <a:buNone/>
            </a:pPr>
            <a:r>
              <a:rPr lang="en-US" sz="2000" dirty="0" smtClean="0">
                <a:latin typeface="Garamond" pitchFamily="18" charset="0"/>
              </a:rPr>
              <a:t>Here are some to look for.</a:t>
            </a:r>
          </a:p>
          <a:p>
            <a:pPr marL="0" indent="0" algn="ctr">
              <a:buNone/>
            </a:pPr>
            <a:r>
              <a:rPr lang="en-US" sz="2000" b="1" dirty="0" smtClean="0">
                <a:latin typeface="Garamond" pitchFamily="18" charset="0"/>
              </a:rPr>
              <a:t>CENTRAL BANKS: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Many central banks, including those in Europe, Canada, Singapore, and England, are experimenting with blockchain technology and their own </a:t>
            </a:r>
            <a:r>
              <a:rPr lang="en-US" sz="2000" dirty="0" err="1" smtClean="0">
                <a:latin typeface="Garamond" pitchFamily="18" charset="0"/>
              </a:rPr>
              <a:t>cryptocurrencies</a:t>
            </a:r>
            <a:r>
              <a:rPr lang="en-US" sz="2000" dirty="0" smtClean="0">
                <a:latin typeface="Garamond" pitchFamily="18" charset="0"/>
              </a:rPr>
              <a:t>.</a:t>
            </a:r>
          </a:p>
          <a:p>
            <a:pPr marL="0" indent="0" algn="just">
              <a:buNone/>
            </a:pPr>
            <a:r>
              <a:rPr lang="en-US" sz="2000" dirty="0" smtClean="0">
                <a:latin typeface="Garamond" pitchFamily="18" charset="0"/>
              </a:rPr>
              <a:t>Potential applications include lower settlement risks, more efficient taxation, faster cross-border payments, interbank payments, and new approaches to quantitative easing.</a:t>
            </a:r>
          </a:p>
          <a:p>
            <a:pPr marL="0" indent="0" algn="just">
              <a:buNone/>
            </a:pPr>
            <a:r>
              <a:rPr lang="en-US" sz="2000" dirty="0" smtClean="0">
                <a:latin typeface="Garamond" pitchFamily="18" charset="0"/>
              </a:rPr>
              <a:t>It is already possible to imagine a central bank that stimulates the economy, automatically providing digital currency to its customers.</a:t>
            </a:r>
          </a:p>
          <a:p>
            <a:pPr marL="0" indent="0" algn="just">
              <a:buNone/>
            </a:pPr>
            <a:r>
              <a:rPr lang="en-US" sz="2000" dirty="0" smtClean="0">
                <a:latin typeface="Garamond" pitchFamily="18" charset="0"/>
              </a:rPr>
              <a:t>We do not expect big moves from the larger countries, in the short term. The risk is still felt to be too high. But we expect to see smaller countries, with a higher tolerance for technological experimentation, to pioneer fiat-backed digital currency for some of their needs. Certainly, this is happening faster in those countries with smaller economies that see technological advances as a lever to overcome past economic disparities.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b="1" dirty="0" smtClean="0">
                <a:latin typeface="Garamond" pitchFamily="18" charset="0"/>
              </a:rPr>
              <a:t>FINANCE</a:t>
            </a:r>
            <a:r>
              <a:rPr lang="en-US" sz="2000" dirty="0" smtClean="0">
                <a:latin typeface="Garamond" pitchFamily="18" charset="0"/>
              </a:rPr>
              <a:t>:</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most intense area of application for the blockchain so far, has been companies seeking to offer low-cost, secure, and verifiable international payments and settlements. </a:t>
            </a:r>
          </a:p>
          <a:p>
            <a:pPr marL="0" indent="0" algn="just">
              <a:buNone/>
            </a:pPr>
            <a:r>
              <a:rPr lang="en-US" sz="2000" u="sng" dirty="0" smtClean="0">
                <a:latin typeface="Garamond" pitchFamily="18" charset="0"/>
              </a:rPr>
              <a:t>Ripple</a:t>
            </a:r>
            <a:r>
              <a:rPr lang="en-US" sz="2000" dirty="0" smtClean="0">
                <a:latin typeface="Garamond" pitchFamily="18" charset="0"/>
              </a:rPr>
              <a:t>, for example, is one of the leaders on the banking front. Meanwhile, companies like Digital Asset and Chain are attracting customers worldwide and offering transaction security by creating a faster and more efficient financial infrastructure for tracking and trading financial assets of any type.</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517655"/>
            <a:ext cx="8229600" cy="4197361"/>
          </a:xfrm>
        </p:spPr>
        <p:txBody>
          <a:bodyPr>
            <a:normAutofit lnSpcReduction="10000"/>
          </a:bodyPr>
          <a:lstStyle/>
          <a:p>
            <a:pPr marL="0" indent="0" algn="ctr">
              <a:buNone/>
            </a:pPr>
            <a:r>
              <a:rPr lang="en-US" sz="2000" b="1" dirty="0" smtClean="0">
                <a:latin typeface="Garamond" pitchFamily="18" charset="0"/>
              </a:rPr>
              <a:t>MONEY TRANSFERS: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following case study helps understand the evolution of the acquisition process of new technologies. In 2014, two MIT students collected and distributed $100 worth of </a:t>
            </a:r>
            <a:r>
              <a:rPr lang="en-US" sz="2000" dirty="0" err="1" smtClean="0">
                <a:latin typeface="Garamond" pitchFamily="18" charset="0"/>
              </a:rPr>
              <a:t>Bitcoin</a:t>
            </a:r>
            <a:r>
              <a:rPr lang="en-US" sz="2000" dirty="0" smtClean="0">
                <a:latin typeface="Garamond" pitchFamily="18" charset="0"/>
              </a:rPr>
              <a:t> to every MIT undergraduate. They wanted to see what would happen while generating interest on campus, with the following results: </a:t>
            </a:r>
          </a:p>
          <a:p>
            <a:pPr marL="0" indent="0" algn="ctr">
              <a:buNone/>
            </a:pPr>
            <a:r>
              <a:rPr lang="en-US" sz="2000" dirty="0" smtClean="0">
                <a:latin typeface="Garamond" pitchFamily="18" charset="0"/>
              </a:rPr>
              <a:t>While 11% of students immediately cashed in and spent their </a:t>
            </a:r>
            <a:r>
              <a:rPr lang="en-US" sz="2000" dirty="0" err="1" smtClean="0">
                <a:latin typeface="Garamond" pitchFamily="18" charset="0"/>
              </a:rPr>
              <a:t>Bitcoins</a:t>
            </a:r>
            <a:r>
              <a:rPr lang="en-US" sz="2000" dirty="0" smtClean="0">
                <a:latin typeface="Garamond" pitchFamily="18" charset="0"/>
              </a:rPr>
              <a:t>, 49% managed them by holding a portion in </a:t>
            </a:r>
            <a:r>
              <a:rPr lang="en-US" sz="2000" dirty="0" err="1" smtClean="0">
                <a:latin typeface="Garamond" pitchFamily="18" charset="0"/>
              </a:rPr>
              <a:t>Bitcoin</a:t>
            </a:r>
            <a:r>
              <a:rPr lang="en-US" sz="2000" dirty="0" smtClean="0">
                <a:latin typeface="Garamond" pitchFamily="18" charset="0"/>
              </a:rPr>
              <a:t> wallets. Other students used the funds to make purchases from local merchants who accepted </a:t>
            </a:r>
            <a:r>
              <a:rPr lang="en-US" sz="2000" dirty="0" err="1" smtClean="0">
                <a:latin typeface="Garamond" pitchFamily="18" charset="0"/>
              </a:rPr>
              <a:t>Bitcoin</a:t>
            </a:r>
            <a:r>
              <a:rPr lang="en-US" sz="2000" dirty="0" smtClean="0">
                <a:latin typeface="Garamond" pitchFamily="18" charset="0"/>
              </a:rPr>
              <a:t> as payment, and still others traded with each other. The experiment clearly showed how a new (virtual) currency could quickly be used and put into circulation. Meanwhile, startups from all over the world also competed to become the consumer trading application of </a:t>
            </a:r>
            <a:r>
              <a:rPr lang="en-US" sz="2000" dirty="0" err="1" smtClean="0">
                <a:latin typeface="Garamond" pitchFamily="18" charset="0"/>
              </a:rPr>
              <a:t>Bitcoin</a:t>
            </a:r>
            <a:r>
              <a:rPr lang="en-US" sz="2000" dirty="0" smtClean="0">
                <a:latin typeface="Garamond" pitchFamily="18" charset="0"/>
              </a:rPr>
              <a:t> and others digital asset.</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072330" y="5929330"/>
            <a:ext cx="1071570"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dirty="0" smtClean="0">
                <a:latin typeface="Garamond" pitchFamily="18" charset="0"/>
              </a:rPr>
              <a:t> </a:t>
            </a:r>
            <a:r>
              <a:rPr lang="en-US" sz="2000" u="sng" dirty="0" smtClean="0">
                <a:latin typeface="Garamond" pitchFamily="18" charset="0"/>
              </a:rPr>
              <a:t>PayPa</a:t>
            </a:r>
            <a:r>
              <a:rPr lang="en-US" sz="2000" dirty="0" smtClean="0">
                <a:latin typeface="Garamond" pitchFamily="18" charset="0"/>
              </a:rPr>
              <a:t>l for ex bought </a:t>
            </a:r>
            <a:r>
              <a:rPr lang="en-US" sz="2000" dirty="0" err="1" smtClean="0">
                <a:latin typeface="Garamond" pitchFamily="18" charset="0"/>
              </a:rPr>
              <a:t>Venmo</a:t>
            </a:r>
            <a:r>
              <a:rPr lang="en-US" sz="2000" dirty="0" smtClean="0">
                <a:latin typeface="Garamond" pitchFamily="18" charset="0"/>
              </a:rPr>
              <a:t>, a payment platform that exchanges cash, and the PayPal mobile app already allows peer-to-peer transactions. Although the </a:t>
            </a:r>
            <a:r>
              <a:rPr lang="en-US" sz="2000" dirty="0" err="1" smtClean="0">
                <a:latin typeface="Garamond" pitchFamily="18" charset="0"/>
              </a:rPr>
              <a:t>Bitcoin</a:t>
            </a:r>
            <a:r>
              <a:rPr lang="en-US" sz="2000" dirty="0" smtClean="0">
                <a:latin typeface="Garamond" pitchFamily="18" charset="0"/>
              </a:rPr>
              <a:t>-based consumer payments industry has “cooled off,” the blockchain remains highly attractive due to the lower costs it offers in global peer-to-peer transactions, regardless of currency exchange values.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428736"/>
            <a:ext cx="8229600" cy="4197361"/>
          </a:xfrm>
        </p:spPr>
        <p:txBody>
          <a:bodyPr>
            <a:normAutofit lnSpcReduction="10000"/>
          </a:bodyPr>
          <a:lstStyle/>
          <a:p>
            <a:pPr marL="0" indent="0" algn="ctr">
              <a:buNone/>
            </a:pPr>
            <a:r>
              <a:rPr lang="en-US" sz="2000" b="1" dirty="0" smtClean="0">
                <a:latin typeface="Garamond" pitchFamily="18" charset="0"/>
              </a:rPr>
              <a:t>MICROPAYMENTS: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Even the micropayment sector deserves attention:“What if, instead of subscribing to an online news site, you only pay for the articles you read?!” “What if your browser tracks which pages you click on and registers them for payment.”“What if you could get small payments for work, like completing surveys or freelancing as a copy editor?” Such were the provocations the micropayment sector launched some time ago. </a:t>
            </a:r>
          </a:p>
          <a:p>
            <a:pPr marL="0" indent="0" algn="ctr">
              <a:buNone/>
            </a:pPr>
            <a:r>
              <a:rPr lang="en-US" sz="2000" u="sng" dirty="0" smtClean="0">
                <a:latin typeface="Garamond" pitchFamily="18" charset="0"/>
              </a:rPr>
              <a:t>A variety of customers and workers would find themselves concluding small, fast, secure transactions</a:t>
            </a:r>
            <a:r>
              <a:rPr lang="en-US" sz="2000" dirty="0" smtClean="0">
                <a:latin typeface="Garamond" pitchFamily="18" charset="0"/>
              </a:rPr>
              <a:t>, generating further value for the wealth produced. By reducing the cost of the transaction and verifying the legitimacy of the parties at both ends, the blockchain makes all these micropayments possible and practical. </a:t>
            </a:r>
          </a:p>
          <a:p>
            <a:pPr marL="0" indent="0" algn="ctr">
              <a:buNone/>
            </a:pPr>
            <a:r>
              <a:rPr lang="en-US" sz="2000" dirty="0" smtClean="0">
                <a:latin typeface="Garamond" pitchFamily="18" charset="0"/>
              </a:rPr>
              <a:t>Blockchain technology allows for secure types of cross-platform subscriptions and new forms of </a:t>
            </a:r>
            <a:r>
              <a:rPr lang="en-US" sz="2000" dirty="0" err="1" smtClean="0">
                <a:latin typeface="Garamond" pitchFamily="18" charset="0"/>
              </a:rPr>
              <a:t>crowdsourcing</a:t>
            </a: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428736"/>
            <a:ext cx="8229600" cy="4197361"/>
          </a:xfrm>
        </p:spPr>
        <p:txBody>
          <a:bodyPr>
            <a:normAutofit/>
          </a:bodyPr>
          <a:lstStyle/>
          <a:p>
            <a:pPr marL="0" indent="0" algn="ctr">
              <a:buNone/>
            </a:pPr>
            <a:r>
              <a:rPr lang="en-US" sz="2000" b="1" dirty="0" smtClean="0">
                <a:latin typeface="Garamond" pitchFamily="18" charset="0"/>
              </a:rPr>
              <a:t>IDENTITY AND PRIVACY:</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Protecting the privacy of citizens, especially from the improper use of sensitive data, is now worldwide topic of discussion. However, </a:t>
            </a:r>
            <a:r>
              <a:rPr lang="en-US" sz="2000" u="sng" dirty="0" smtClean="0">
                <a:latin typeface="Garamond" pitchFamily="18" charset="0"/>
              </a:rPr>
              <a:t>there is a fairly subtle link between privacy and anonymous identity</a:t>
            </a:r>
            <a:r>
              <a:rPr lang="en-US" sz="2000" dirty="0" smtClean="0">
                <a:latin typeface="Garamond" pitchFamily="18" charset="0"/>
              </a:rPr>
              <a:t>. The blockchain makes it difficult to trace someone's real identity, but in October 2013, the arrest of the founder of Silk Road, a deep web market in which users paid for illegal goods with </a:t>
            </a:r>
            <a:r>
              <a:rPr lang="en-US" sz="2000" dirty="0" err="1" smtClean="0">
                <a:latin typeface="Garamond" pitchFamily="18" charset="0"/>
              </a:rPr>
              <a:t>Bitcoins</a:t>
            </a:r>
            <a:r>
              <a:rPr lang="en-US" sz="2000" dirty="0" smtClean="0">
                <a:latin typeface="Garamond" pitchFamily="18" charset="0"/>
              </a:rPr>
              <a:t>, has shown that </a:t>
            </a:r>
            <a:r>
              <a:rPr lang="en-US" sz="2000" dirty="0" err="1" smtClean="0">
                <a:latin typeface="Garamond" pitchFamily="18" charset="0"/>
              </a:rPr>
              <a:t>Bitcoin</a:t>
            </a:r>
            <a:r>
              <a:rPr lang="en-US" sz="2000" dirty="0" smtClean="0">
                <a:latin typeface="Garamond" pitchFamily="18" charset="0"/>
              </a:rPr>
              <a:t> was not completely anonymous. Not that it was ever thought to be completely anonymous: “</a:t>
            </a:r>
            <a:r>
              <a:rPr lang="en-US" sz="2000" dirty="0" err="1" smtClean="0">
                <a:latin typeface="Garamond" pitchFamily="18" charset="0"/>
              </a:rPr>
              <a:t>Bitcoin</a:t>
            </a:r>
            <a:r>
              <a:rPr lang="en-US" sz="2000" dirty="0" smtClean="0">
                <a:latin typeface="Garamond" pitchFamily="18" charset="0"/>
              </a:rPr>
              <a:t> addresses function like a pseudonym for a writer”. Users can never mask their transactions completely.</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Freccia a destra 8"/>
          <p:cNvSpPr/>
          <p:nvPr/>
        </p:nvSpPr>
        <p:spPr>
          <a:xfrm>
            <a:off x="7215206" y="5572140"/>
            <a:ext cx="1049846"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dirty="0" smtClean="0">
                <a:latin typeface="Garamond" pitchFamily="18" charset="0"/>
              </a:rPr>
              <a:t>There are significant downsides to anonymity which the blockchain offers, such as the ability to finance terrorism or facilitate money laundering. There are, however, many virtuous applications that are working to offer secure services, including Google's </a:t>
            </a:r>
            <a:r>
              <a:rPr lang="en-US" sz="2000" dirty="0" err="1" smtClean="0">
                <a:latin typeface="Garamond" pitchFamily="18" charset="0"/>
              </a:rPr>
              <a:t>DeepMind</a:t>
            </a:r>
            <a:r>
              <a:rPr lang="en-US" sz="2000" dirty="0" smtClean="0">
                <a:latin typeface="Garamond" pitchFamily="18" charset="0"/>
              </a:rPr>
              <a:t>, which is using blockchain technology to layer privacy and security in electronic health records.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20</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71612"/>
            <a:ext cx="8229600" cy="4197361"/>
          </a:xfrm>
        </p:spPr>
        <p:txBody>
          <a:bodyPr>
            <a:normAutofit/>
          </a:bodyPr>
          <a:lstStyle/>
          <a:p>
            <a:pPr marL="0" indent="0" algn="ctr">
              <a:buNone/>
            </a:pPr>
            <a:r>
              <a:rPr lang="en-US" sz="2000" b="1" dirty="0" smtClean="0">
                <a:latin typeface="Garamond" pitchFamily="18" charset="0"/>
              </a:rPr>
              <a:t>SMART CONTRACTS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This application is still in its infancy, but by recording information on a blockchain, </a:t>
            </a:r>
            <a:r>
              <a:rPr lang="en-US" sz="2000" u="sng" dirty="0" smtClean="0">
                <a:latin typeface="Garamond" pitchFamily="18" charset="0"/>
              </a:rPr>
              <a:t>smart contracts use this information and self-execute when certain predefined conditions occur and are satisfied, regardless of the real purpose of the contract</a:t>
            </a:r>
            <a:r>
              <a:rPr lang="en-US" sz="2000" dirty="0" smtClean="0">
                <a:latin typeface="Garamond" pitchFamily="18" charset="0"/>
              </a:rPr>
              <a:t>. This does not mean, however, that </a:t>
            </a:r>
            <a:r>
              <a:rPr lang="en-US" sz="2000" u="sng" dirty="0" smtClean="0">
                <a:latin typeface="Garamond" pitchFamily="18" charset="0"/>
              </a:rPr>
              <a:t>smart contracts</a:t>
            </a:r>
            <a:r>
              <a:rPr lang="en-US" sz="2000" dirty="0" smtClean="0">
                <a:latin typeface="Garamond" pitchFamily="18" charset="0"/>
              </a:rPr>
              <a:t> </a:t>
            </a:r>
            <a:r>
              <a:rPr lang="en-US" sz="2000" u="sng" dirty="0" smtClean="0">
                <a:latin typeface="Garamond" pitchFamily="18" charset="0"/>
              </a:rPr>
              <a:t>will not be a new way, in parallel with commercial contracts</a:t>
            </a:r>
            <a:r>
              <a:rPr lang="en-US" sz="2000" dirty="0" smtClean="0">
                <a:latin typeface="Garamond" pitchFamily="18" charset="0"/>
              </a:rPr>
              <a:t>, to improve the performance of market transactions.  It is up to blockchain and smart contract developers to write </a:t>
            </a:r>
            <a:r>
              <a:rPr lang="en-US" sz="2000" u="sng" dirty="0" smtClean="0">
                <a:latin typeface="Garamond" pitchFamily="18" charset="0"/>
              </a:rPr>
              <a:t>self-regulatory codes in a secure manner </a:t>
            </a:r>
            <a:r>
              <a:rPr lang="en-US" sz="2000" dirty="0" smtClean="0">
                <a:latin typeface="Garamond" pitchFamily="18" charset="0"/>
              </a:rPr>
              <a:t>to best fine-tune the creation of smart contracts.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21</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b="1" dirty="0" smtClean="0">
                <a:latin typeface="Garamond" pitchFamily="18" charset="0"/>
              </a:rPr>
              <a:t>ORIGIN AND OWNERSHIP OF ECONOMIC ASSETS</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A blockchain could, of course, be used to record the details of physical products, helping to verify their authenticity and prevent fraud and counterfeiting when in circulation. For these applications, a blockchain is only as useful as the quality of the information recorded on it. </a:t>
            </a:r>
            <a:r>
              <a:rPr lang="en-US" sz="2000" u="sng" dirty="0" smtClean="0">
                <a:latin typeface="Garamond" pitchFamily="18" charset="0"/>
              </a:rPr>
              <a:t>The verification of what is present on the blockchain constitutes a guarantee for the consumer, and </a:t>
            </a:r>
            <a:r>
              <a:rPr lang="en-US" sz="2000" dirty="0" smtClean="0">
                <a:latin typeface="Garamond" pitchFamily="18" charset="0"/>
              </a:rPr>
              <a:t>this too will </a:t>
            </a:r>
            <a:r>
              <a:rPr lang="en-US" sz="2000" u="sng" dirty="0" smtClean="0">
                <a:latin typeface="Garamond" pitchFamily="18" charset="0"/>
              </a:rPr>
              <a:t>offer a greater degree of security to commerce.</a:t>
            </a:r>
            <a:endParaRPr lang="it-IT" sz="2000" u="sng"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71612"/>
            <a:ext cx="8229600" cy="4197361"/>
          </a:xfrm>
        </p:spPr>
        <p:txBody>
          <a:bodyPr>
            <a:normAutofit/>
          </a:bodyPr>
          <a:lstStyle/>
          <a:p>
            <a:pPr marL="0" indent="0" algn="ctr">
              <a:buNone/>
            </a:pPr>
            <a:r>
              <a:rPr lang="en-US" sz="1900" b="1" dirty="0" smtClean="0">
                <a:latin typeface="Garamond" pitchFamily="18" charset="0"/>
              </a:rPr>
              <a:t>INTERNET OF THINGS, ROBOTICS, AND ARTIFICIAL INTELLIGENCE</a:t>
            </a:r>
          </a:p>
          <a:p>
            <a:pPr marL="0" indent="0" algn="ctr">
              <a:buNone/>
            </a:pPr>
            <a:endParaRPr lang="en-US" sz="1900" dirty="0" smtClean="0">
              <a:latin typeface="Garamond" pitchFamily="18" charset="0"/>
            </a:endParaRPr>
          </a:p>
          <a:p>
            <a:pPr marL="0" indent="0" algn="ctr">
              <a:buNone/>
            </a:pPr>
            <a:r>
              <a:rPr lang="en-US" sz="1900" u="sng" dirty="0" smtClean="0">
                <a:latin typeface="Garamond" pitchFamily="18" charset="0"/>
              </a:rPr>
              <a:t>Our appliances are already talking to each other</a:t>
            </a:r>
            <a:r>
              <a:rPr lang="en-US" sz="1900" dirty="0" smtClean="0">
                <a:latin typeface="Garamond" pitchFamily="18" charset="0"/>
              </a:rPr>
              <a:t>: Think of smart home technologies, as well as security systems. What if they could trade or acquire resources? </a:t>
            </a:r>
          </a:p>
          <a:p>
            <a:pPr marL="0" indent="0" algn="ctr">
              <a:buNone/>
            </a:pPr>
            <a:r>
              <a:rPr lang="en-US" sz="1900" dirty="0" smtClean="0">
                <a:latin typeface="Garamond" pitchFamily="18" charset="0"/>
              </a:rPr>
              <a:t>The </a:t>
            </a:r>
            <a:r>
              <a:rPr lang="en-US" sz="1900" dirty="0" err="1" smtClean="0">
                <a:latin typeface="Garamond" pitchFamily="18" charset="0"/>
              </a:rPr>
              <a:t>multidisciplinarity</a:t>
            </a:r>
            <a:r>
              <a:rPr lang="en-US" sz="1900" dirty="0" smtClean="0">
                <a:latin typeface="Garamond" pitchFamily="18" charset="0"/>
              </a:rPr>
              <a:t> that characterizes the study of the blockchain makes it possible to experiment with </a:t>
            </a:r>
            <a:r>
              <a:rPr lang="en-US" sz="1900" u="sng" dirty="0" smtClean="0">
                <a:latin typeface="Garamond" pitchFamily="18" charset="0"/>
              </a:rPr>
              <a:t>new frontiers in service to the community </a:t>
            </a:r>
            <a:r>
              <a:rPr lang="en-US" sz="1900" dirty="0" smtClean="0">
                <a:latin typeface="Garamond" pitchFamily="18" charset="0"/>
              </a:rPr>
              <a:t>with the aim of improving the conditions and security of access to digital tools.</a:t>
            </a:r>
            <a:endParaRPr lang="it-IT" sz="19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000" b="1" dirty="0" smtClean="0">
                <a:solidFill>
                  <a:srgbClr val="FF0000"/>
                </a:solidFill>
                <a:latin typeface="Garamond" pitchFamily="18" charset="0"/>
              </a:rPr>
              <a:t>WHEN WILL THIS REFORM/REVOLUTION HAPPEN?</a:t>
            </a:r>
            <a:endParaRPr lang="it-IT" sz="20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1900" dirty="0" smtClean="0">
                <a:latin typeface="Garamond" pitchFamily="18" charset="0"/>
              </a:rPr>
              <a:t>The blockchain is said to have internet-wide disruption potential, but like the Internet, it will come on a multi-decade timeline, with hiccups and occasional setbacks. Some industries, notably finance, will soon see drastic changes. Others will take longer. Much of the work in this period will be an experimental phase of building infrastructure. </a:t>
            </a:r>
            <a:r>
              <a:rPr lang="en-US" sz="1900" u="sng" dirty="0" smtClean="0">
                <a:latin typeface="Garamond" pitchFamily="18" charset="0"/>
              </a:rPr>
              <a:t>The technology is maturing and new applications are being introduced daily.</a:t>
            </a:r>
            <a:endParaRPr lang="it-IT" sz="1900" u="sng"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dirty="0" smtClean="0">
                <a:latin typeface="Garamond" pitchFamily="18" charset="0"/>
              </a:rPr>
              <a:t>To find out more about all this, it would be enough to search the Internet for new research, articles, and videos. Experts and university professors are at work on what is now commonly known as the "blockchain world" with results partially available on the Internet.</a:t>
            </a:r>
          </a:p>
          <a:p>
            <a:pPr marL="0" indent="0" algn="ctr">
              <a:buNone/>
            </a:pPr>
            <a:endParaRPr lang="en-US" sz="2000" dirty="0" smtClean="0">
              <a:latin typeface="Garamond" pitchFamily="18" charset="0"/>
            </a:endParaRP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928802"/>
            <a:ext cx="8572560" cy="4197361"/>
          </a:xfrm>
        </p:spPr>
        <p:txBody>
          <a:bodyPr>
            <a:normAutofit/>
          </a:bodyPr>
          <a:lstStyle/>
          <a:p>
            <a:pPr marL="0" indent="0" algn="ctr">
              <a:buNone/>
            </a:pPr>
            <a:r>
              <a:rPr lang="en-US" sz="2000" dirty="0" smtClean="0">
                <a:latin typeface="Garamond" pitchFamily="18" charset="0"/>
              </a:rPr>
              <a:t>The ability of the blockchain to govern markets and interactions through protocols and codes, rather than laws and policies, represents a potentially significant step towards economic decentralization and disintermediation.</a:t>
            </a:r>
          </a:p>
          <a:p>
            <a:pPr marL="0" indent="0" algn="ctr">
              <a:buNone/>
            </a:pPr>
            <a:r>
              <a:rPr lang="en-US" sz="2000" dirty="0" smtClean="0">
                <a:latin typeface="Garamond" pitchFamily="18" charset="0"/>
              </a:rPr>
              <a:t>While distributed systems can replace existing governance structures, they also offer opportunities to strengthen, streamline, and re-imagine them, to explore new and better ways to exchange value, allocate capital, connect people and organizations, and foster cooperation among nations.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142844" y="785802"/>
            <a:ext cx="8229600" cy="1143000"/>
          </a:xfrm>
        </p:spPr>
        <p:txBody>
          <a:bodyPr>
            <a:normAutofit/>
          </a:bodyPr>
          <a:lstStyle/>
          <a:p>
            <a:r>
              <a:rPr lang="it-IT" sz="1900" b="1" dirty="0" smtClean="0">
                <a:solidFill>
                  <a:srgbClr val="FF0000"/>
                </a:solidFill>
                <a:latin typeface="Garamond" pitchFamily="18" charset="0"/>
              </a:rPr>
              <a:t>IT SECURITY</a:t>
            </a:r>
            <a:endParaRPr lang="it-IT" sz="1900" b="1" dirty="0">
              <a:solidFill>
                <a:srgbClr val="FF0000"/>
              </a:solidFill>
              <a:latin typeface="Garamond" pitchFamily="18" charset="0"/>
            </a:endParaRPr>
          </a:p>
        </p:txBody>
      </p:sp>
      <p:sp>
        <p:nvSpPr>
          <p:cNvPr id="12" name="Segnaposto contenuto 11"/>
          <p:cNvSpPr>
            <a:spLocks noGrp="1"/>
          </p:cNvSpPr>
          <p:nvPr>
            <p:ph idx="1"/>
          </p:nvPr>
        </p:nvSpPr>
        <p:spPr>
          <a:xfrm>
            <a:off x="285720" y="1928802"/>
            <a:ext cx="8572560" cy="4197361"/>
          </a:xfrm>
        </p:spPr>
        <p:txBody>
          <a:bodyPr>
            <a:normAutofit/>
          </a:bodyPr>
          <a:lstStyle/>
          <a:p>
            <a:pPr marL="0" indent="0" algn="ctr">
              <a:buNone/>
            </a:pPr>
            <a:r>
              <a:rPr lang="en-US" sz="2000" dirty="0" smtClean="0">
                <a:latin typeface="Garamond" pitchFamily="18" charset="0"/>
              </a:rPr>
              <a:t>That said, it is </a:t>
            </a:r>
            <a:r>
              <a:rPr lang="en-US" sz="2000" dirty="0" err="1" smtClean="0">
                <a:latin typeface="Garamond" pitchFamily="18" charset="0"/>
              </a:rPr>
              <a:t>cybersecurity</a:t>
            </a:r>
            <a:r>
              <a:rPr lang="en-US" sz="2000" dirty="0" smtClean="0">
                <a:latin typeface="Garamond" pitchFamily="18" charset="0"/>
              </a:rPr>
              <a:t> that is, and remains, a major concern of today's world. We can say that </a:t>
            </a:r>
            <a:r>
              <a:rPr lang="en-US" sz="2000" u="sng" dirty="0" smtClean="0">
                <a:latin typeface="Garamond" pitchFamily="18" charset="0"/>
              </a:rPr>
              <a:t>no data is 100% secure in the cyber world</a:t>
            </a:r>
            <a:r>
              <a:rPr lang="en-US" sz="2000" dirty="0" smtClean="0">
                <a:latin typeface="Garamond" pitchFamily="18" charset="0"/>
              </a:rPr>
              <a:t>. </a:t>
            </a:r>
            <a:r>
              <a:rPr lang="en-US" sz="2000" u="sng" dirty="0" smtClean="0">
                <a:latin typeface="Garamond" pitchFamily="18" charset="0"/>
              </a:rPr>
              <a:t>What is considered secure today may not be secure tomorrow.</a:t>
            </a:r>
            <a:r>
              <a:rPr lang="en-US" sz="2000" dirty="0" smtClean="0">
                <a:latin typeface="Garamond" pitchFamily="18" charset="0"/>
              </a:rPr>
              <a:t> With multiple users, more data management and security are needed, and most companies and </a:t>
            </a:r>
            <a:r>
              <a:rPr lang="en-US" sz="2000" dirty="0" err="1" smtClean="0">
                <a:latin typeface="Garamond" pitchFamily="18" charset="0"/>
              </a:rPr>
              <a:t>cybersecurity</a:t>
            </a:r>
            <a:r>
              <a:rPr lang="en-US" sz="2000" dirty="0" smtClean="0">
                <a:latin typeface="Garamond" pitchFamily="18" charset="0"/>
              </a:rPr>
              <a:t> experts are facing huge risks. </a:t>
            </a:r>
            <a:r>
              <a:rPr lang="en-US" sz="2000" u="sng" dirty="0" smtClean="0">
                <a:latin typeface="Garamond" pitchFamily="18" charset="0"/>
              </a:rPr>
              <a:t>Cyber attacks are on the rise</a:t>
            </a:r>
            <a:r>
              <a:rPr lang="en-US" sz="2000" dirty="0" smtClean="0">
                <a:latin typeface="Garamond" pitchFamily="18" charset="0"/>
              </a:rPr>
              <a:t>. They are becoming more structured due to the availability of sophisticated malware, and are, therefore, a major threat to organizations around the world. </a:t>
            </a:r>
            <a:r>
              <a:rPr lang="en-US" sz="2000" u="sng" dirty="0" smtClean="0">
                <a:latin typeface="Garamond" pitchFamily="18" charset="0"/>
              </a:rPr>
              <a:t>The blockchain is considered today's new security frontier for the web</a:t>
            </a:r>
            <a:r>
              <a:rPr lang="en-US" sz="2000" dirty="0" smtClean="0">
                <a:latin typeface="Garamond" pitchFamily="18" charset="0"/>
              </a:rPr>
              <a:t>, even though experts are still exploring its scalability and sustainability. Even so, </a:t>
            </a:r>
            <a:r>
              <a:rPr lang="en-US" sz="2000" u="sng" dirty="0" smtClean="0">
                <a:latin typeface="Garamond" pitchFamily="18" charset="0"/>
              </a:rPr>
              <a:t>the capacity of the blockchain in terms of potential confidentiality, integrity, and availability of data surpasses all existing technologies</a:t>
            </a:r>
            <a:r>
              <a:rPr lang="en-US" sz="2000" u="sng"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altLang="it-IT" sz="3600" b="1" dirty="0" smtClean="0">
                <a:solidFill>
                  <a:srgbClr val="FF0000"/>
                </a:solidFill>
                <a:latin typeface="Garamond" pitchFamily="18" charset="0"/>
              </a:rPr>
              <a:t>THANKS FOR YOUR ATTENTION</a:t>
            </a:r>
            <a:br>
              <a:rPr lang="it-IT" altLang="it-IT" sz="3600" b="1" dirty="0"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28</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 xmlns:p14="http://schemas.microsoft.com/office/powerpoint/2010/main"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2853</Words>
  <Application>Microsoft Office PowerPoint</Application>
  <PresentationFormat>Presentazione su schermo (4:3)</PresentationFormat>
  <Paragraphs>197</Paragraphs>
  <Slides>28</Slides>
  <Notes>28</Notes>
  <HiddenSlides>0</HiddenSlides>
  <MMClips>0</MMClips>
  <ScaleCrop>false</ScaleCrop>
  <HeadingPairs>
    <vt:vector size="4" baseType="variant">
      <vt:variant>
        <vt:lpstr>Tema</vt:lpstr>
      </vt:variant>
      <vt:variant>
        <vt:i4>1</vt:i4>
      </vt:variant>
      <vt:variant>
        <vt:lpstr>Titoli diapositive</vt:lpstr>
      </vt:variant>
      <vt:variant>
        <vt:i4>28</vt:i4>
      </vt:variant>
    </vt:vector>
  </HeadingPairs>
  <TitlesOfParts>
    <vt:vector size="29" baseType="lpstr">
      <vt:lpstr>Tema di Office</vt:lpstr>
      <vt:lpstr>   CORSO DI CYBERSECURITY AWARENESS    BLOCKCHAIN, DISRUPTION AND CYBERLAW  N. 9</vt:lpstr>
      <vt:lpstr>INDEX</vt:lpstr>
      <vt:lpstr>INTRODUCTION: WHAT IS A BLOCKCHAIN?</vt:lpstr>
      <vt:lpstr>Diapositiva 4</vt:lpstr>
      <vt:lpstr>Diapositiva 5</vt:lpstr>
      <vt:lpstr>Diapositiva 6</vt:lpstr>
      <vt:lpstr>FROM DISRUPTION TO CYBER LAW: COSTS THAT BLOCKCHAIN ​​COULD REDUCE: COST OF VERIFICATION AND COST OF NETWORKING</vt:lpstr>
      <vt:lpstr>Diapositiva 8</vt:lpstr>
      <vt:lpstr>Diapositiva 9</vt:lpstr>
      <vt:lpstr>Diapositiva 10</vt:lpstr>
      <vt:lpstr>BLOCKCHAIN ​​TECHNOLOGY CAN MEAN MORE PRIVACY AND SECURITY</vt:lpstr>
      <vt:lpstr>Diapositiva 12</vt:lpstr>
      <vt:lpstr>Diapositiva 13</vt:lpstr>
      <vt:lpstr>WHICH SECTORS COULD CHANGE RADICALLY WITH THE BLOCKCHAIN?</vt:lpstr>
      <vt:lpstr>Diapositiva 15</vt:lpstr>
      <vt:lpstr>Diapositiva 16</vt:lpstr>
      <vt:lpstr>Diapositiva 17</vt:lpstr>
      <vt:lpstr>Diapositiva 18</vt:lpstr>
      <vt:lpstr>Diapositiva 19</vt:lpstr>
      <vt:lpstr>Diapositiva 20</vt:lpstr>
      <vt:lpstr>Diapositiva 21</vt:lpstr>
      <vt:lpstr>Diapositiva 22</vt:lpstr>
      <vt:lpstr>Diapositiva 23</vt:lpstr>
      <vt:lpstr>WHEN WILL THIS REFORM/REVOLUTION HAPPEN?</vt:lpstr>
      <vt:lpstr>Diapositiva 25</vt:lpstr>
      <vt:lpstr>Diapositiva 26</vt:lpstr>
      <vt:lpstr>IT SECURITY</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17</cp:revision>
  <dcterms:created xsi:type="dcterms:W3CDTF">2023-05-29T15:29:53Z</dcterms:created>
  <dcterms:modified xsi:type="dcterms:W3CDTF">2023-09-05T14:52:44Z</dcterms:modified>
</cp:coreProperties>
</file>