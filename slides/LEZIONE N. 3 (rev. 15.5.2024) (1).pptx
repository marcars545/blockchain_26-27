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82"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2" d="100"/>
          <a:sy n="82" d="100"/>
        </p:scale>
        <p:origin x="-153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00513BD-A014-418A-8BAC-4AD3A4B91D70}" type="datetimeFigureOut">
              <a:rPr lang="it-IT" smtClean="0"/>
              <a:pPr/>
              <a:t>15/05/2024</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3315F3-B988-407D-9105-F1FACB07AFCC}" type="slidenum">
              <a:rPr lang="it-IT" smtClean="0"/>
              <a:pPr/>
              <a:t>‹N›</a:t>
            </a:fld>
            <a:endParaRPr lang="it-I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lo stile del titolo</a:t>
            </a:r>
            <a:endParaRPr lang="it-IT"/>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03E5D253-A956-4770-BDA3-47925B99D553}"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8B12CC6A-1B09-4526-ACD3-BD48E03BFDD4}"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lo stile del titolo</a:t>
            </a:r>
            <a:endParaRPr lang="it-IT"/>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FA789E99-E48F-40BE-B2BB-953C0628A522}"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80CFC502-49A4-4492-84EF-46598DAC380E}"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it-IT"/>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B1F209DF-89EA-4F3F-8CDC-DF8C3F24B459}" type="datetime1">
              <a:rPr lang="it-IT" smtClean="0"/>
              <a:pPr/>
              <a:t>15/05/2024</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D7F391C9-07A1-4EB6-9A88-719A2E3D62E1}" type="datetime1">
              <a:rPr lang="it-IT" smtClean="0"/>
              <a:pPr/>
              <a:t>15/05/2024</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FF87F2F9-5A94-40F9-9925-5EAFF40781A7}" type="datetime1">
              <a:rPr lang="it-IT" smtClean="0"/>
              <a:pPr/>
              <a:t>15/05/2024</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lo stile del titolo</a:t>
            </a:r>
            <a:endParaRPr lang="it-IT"/>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BEAE26C8-4A3D-4FD8-BF4E-E8D4CCB8006C}"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it-IT"/>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AFE4323D-E9E0-45E8-B901-F4BA274F69CC}"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D68365F5-A656-4D8E-9604-71E856722BEA}"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2134BB8E-E452-42A2-B876-22350ED32CB5}"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7B3909-8570-4697-A550-1FD3740D86FF}" type="datetime1">
              <a:rPr lang="it-IT" smtClean="0"/>
              <a:pPr/>
              <a:t>15/05/2024</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037524-BE4B-42AE-9CE2-18539AD13956}"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785795"/>
            <a:ext cx="7772400" cy="1143008"/>
          </a:xfrm>
        </p:spPr>
        <p:txBody>
          <a:bodyPr>
            <a:normAutofit/>
          </a:bodyPr>
          <a:lstStyle/>
          <a:p>
            <a:r>
              <a:rPr lang="it-IT" sz="2800" dirty="0" smtClean="0">
                <a:solidFill>
                  <a:srgbClr val="FF0000"/>
                </a:solidFill>
              </a:rPr>
              <a:t>LEZIONE N. 3</a:t>
            </a:r>
            <a:endParaRPr lang="it-IT" sz="2800" dirty="0">
              <a:solidFill>
                <a:srgbClr val="FF0000"/>
              </a:solidFill>
            </a:endParaRPr>
          </a:p>
        </p:txBody>
      </p:sp>
      <p:sp>
        <p:nvSpPr>
          <p:cNvPr id="3" name="Sottotitolo 2"/>
          <p:cNvSpPr>
            <a:spLocks noGrp="1"/>
          </p:cNvSpPr>
          <p:nvPr>
            <p:ph type="subTitle" idx="1"/>
          </p:nvPr>
        </p:nvSpPr>
        <p:spPr>
          <a:xfrm>
            <a:off x="142844" y="2000240"/>
            <a:ext cx="8786874" cy="4572032"/>
          </a:xfrm>
        </p:spPr>
        <p:txBody>
          <a:bodyPr>
            <a:normAutofit/>
          </a:bodyPr>
          <a:lstStyle/>
          <a:p>
            <a:pPr marL="457200" indent="-457200" algn="just">
              <a:buFont typeface="+mj-lt"/>
              <a:buAutoNum type="arabicPeriod"/>
            </a:pPr>
            <a:r>
              <a:rPr lang="en-US" sz="2200" b="1" dirty="0" smtClean="0">
                <a:solidFill>
                  <a:schemeClr val="tx1"/>
                </a:solidFill>
                <a:latin typeface="Garamond" pitchFamily="18" charset="0"/>
              </a:rPr>
              <a:t>Web 3.0: the successor of web 2.0</a:t>
            </a:r>
          </a:p>
          <a:p>
            <a:pPr marL="457200" indent="-457200" algn="just">
              <a:buFont typeface="+mj-lt"/>
              <a:buAutoNum type="arabicPeriod"/>
            </a:pPr>
            <a:r>
              <a:rPr lang="en-US" sz="2200" b="1" dirty="0" smtClean="0">
                <a:solidFill>
                  <a:schemeClr val="tx1"/>
                </a:solidFill>
                <a:latin typeface="Garamond" pitchFamily="18" charset="0"/>
              </a:rPr>
              <a:t>Blockchain </a:t>
            </a:r>
            <a:r>
              <a:rPr lang="en-US" sz="2200" b="1" dirty="0" err="1" smtClean="0">
                <a:solidFill>
                  <a:schemeClr val="tx1"/>
                </a:solidFill>
                <a:latin typeface="Garamond" pitchFamily="18" charset="0"/>
              </a:rPr>
              <a:t>vs</a:t>
            </a:r>
            <a:r>
              <a:rPr lang="en-US" sz="2200" b="1" dirty="0" smtClean="0">
                <a:solidFill>
                  <a:schemeClr val="tx1"/>
                </a:solidFill>
                <a:latin typeface="Garamond" pitchFamily="18" charset="0"/>
              </a:rPr>
              <a:t> database</a:t>
            </a:r>
          </a:p>
          <a:p>
            <a:pPr marL="457200" indent="-457200" algn="just">
              <a:buFont typeface="+mj-lt"/>
              <a:buAutoNum type="arabicPeriod"/>
            </a:pPr>
            <a:r>
              <a:rPr lang="en-US" sz="2200" b="1" dirty="0" smtClean="0">
                <a:solidFill>
                  <a:schemeClr val="tx1"/>
                </a:solidFill>
                <a:latin typeface="Garamond" pitchFamily="18" charset="0"/>
              </a:rPr>
              <a:t>Initial considerations</a:t>
            </a:r>
          </a:p>
          <a:p>
            <a:pPr marL="457200" indent="-457200" algn="just">
              <a:buFont typeface="+mj-lt"/>
              <a:buAutoNum type="arabicPeriod"/>
            </a:pPr>
            <a:r>
              <a:rPr lang="en-US" sz="2200" b="1" dirty="0" smtClean="0">
                <a:solidFill>
                  <a:schemeClr val="tx1"/>
                </a:solidFill>
                <a:latin typeface="Garamond" pitchFamily="18" charset="0"/>
              </a:rPr>
              <a:t>Blockchain enablers: functions.</a:t>
            </a:r>
          </a:p>
          <a:p>
            <a:pPr marL="457200" indent="-457200" algn="just">
              <a:buFont typeface="+mj-lt"/>
              <a:buAutoNum type="arabicPeriod"/>
            </a:pPr>
            <a:r>
              <a:rPr lang="en-US" sz="2200" b="1" dirty="0" smtClean="0">
                <a:solidFill>
                  <a:schemeClr val="tx1"/>
                </a:solidFill>
                <a:latin typeface="Garamond" pitchFamily="18" charset="0"/>
              </a:rPr>
              <a:t>Introduction</a:t>
            </a:r>
          </a:p>
          <a:p>
            <a:pPr marL="457200" indent="-457200" algn="just">
              <a:buFont typeface="+mj-lt"/>
              <a:buAutoNum type="arabicPeriod"/>
            </a:pPr>
            <a:r>
              <a:rPr lang="en-US" sz="2200" b="1" dirty="0" smtClean="0">
                <a:solidFill>
                  <a:schemeClr val="tx1"/>
                </a:solidFill>
                <a:latin typeface="Garamond" pitchFamily="18" charset="0"/>
              </a:rPr>
              <a:t>Why has blockchain created so much enthusiasm?</a:t>
            </a:r>
          </a:p>
          <a:p>
            <a:pPr marL="457200" indent="-457200" algn="just">
              <a:buFont typeface="+mj-lt"/>
              <a:buAutoNum type="arabicPeriod"/>
            </a:pPr>
            <a:r>
              <a:rPr lang="en-US" sz="2200" b="1" dirty="0" smtClean="0">
                <a:solidFill>
                  <a:schemeClr val="tx1"/>
                </a:solidFill>
                <a:latin typeface="Garamond" pitchFamily="18" charset="0"/>
              </a:rPr>
              <a:t>The </a:t>
            </a:r>
            <a:r>
              <a:rPr lang="en-US" sz="2200" b="1" dirty="0" err="1" smtClean="0">
                <a:solidFill>
                  <a:schemeClr val="tx1"/>
                </a:solidFill>
                <a:latin typeface="Garamond" pitchFamily="18" charset="0"/>
              </a:rPr>
              <a:t>bitcoin</a:t>
            </a:r>
            <a:r>
              <a:rPr lang="en-US" sz="2200" b="1" dirty="0" smtClean="0">
                <a:solidFill>
                  <a:schemeClr val="tx1"/>
                </a:solidFill>
                <a:latin typeface="Garamond" pitchFamily="18" charset="0"/>
              </a:rPr>
              <a:t> example</a:t>
            </a:r>
          </a:p>
          <a:p>
            <a:pPr marL="457200" indent="-457200" algn="just">
              <a:buFont typeface="+mj-lt"/>
              <a:buAutoNum type="arabicPeriod"/>
            </a:pPr>
            <a:r>
              <a:rPr lang="en-US" sz="2200" b="1" dirty="0" smtClean="0">
                <a:solidFill>
                  <a:schemeClr val="tx1"/>
                </a:solidFill>
                <a:latin typeface="Garamond" pitchFamily="18" charset="0"/>
              </a:rPr>
              <a:t>Public </a:t>
            </a:r>
            <a:r>
              <a:rPr lang="en-US" sz="2200" b="1" dirty="0" err="1" smtClean="0">
                <a:solidFill>
                  <a:schemeClr val="tx1"/>
                </a:solidFill>
                <a:latin typeface="Garamond" pitchFamily="18" charset="0"/>
              </a:rPr>
              <a:t>blockchains</a:t>
            </a:r>
            <a:r>
              <a:rPr lang="en-US" sz="2200" b="1" dirty="0" smtClean="0">
                <a:solidFill>
                  <a:schemeClr val="tx1"/>
                </a:solidFill>
                <a:latin typeface="Garamond" pitchFamily="18" charset="0"/>
              </a:rPr>
              <a:t> </a:t>
            </a:r>
            <a:r>
              <a:rPr lang="en-US" sz="2200" b="1" dirty="0" err="1" smtClean="0">
                <a:solidFill>
                  <a:schemeClr val="tx1"/>
                </a:solidFill>
                <a:latin typeface="Garamond" pitchFamily="18" charset="0"/>
              </a:rPr>
              <a:t>vs</a:t>
            </a:r>
            <a:r>
              <a:rPr lang="en-US" sz="2200" b="1" dirty="0" smtClean="0">
                <a:solidFill>
                  <a:schemeClr val="tx1"/>
                </a:solidFill>
                <a:latin typeface="Garamond" pitchFamily="18" charset="0"/>
              </a:rPr>
              <a:t> private </a:t>
            </a:r>
            <a:r>
              <a:rPr lang="en-US" sz="2200" b="1" dirty="0" err="1" smtClean="0">
                <a:solidFill>
                  <a:schemeClr val="tx1"/>
                </a:solidFill>
                <a:latin typeface="Garamond" pitchFamily="18" charset="0"/>
              </a:rPr>
              <a:t>blockchains</a:t>
            </a:r>
            <a:endParaRPr lang="en-US" sz="2200" b="1" dirty="0" smtClean="0">
              <a:solidFill>
                <a:schemeClr val="tx1"/>
              </a:solidFill>
              <a:latin typeface="Garamond" pitchFamily="18" charset="0"/>
            </a:endParaRPr>
          </a:p>
          <a:p>
            <a:pPr marL="457200" indent="-457200" algn="just">
              <a:buFont typeface="+mj-lt"/>
              <a:buAutoNum type="arabicPeriod"/>
            </a:pPr>
            <a:r>
              <a:rPr lang="en-US" sz="2200" b="1" dirty="0" smtClean="0">
                <a:solidFill>
                  <a:schemeClr val="tx1"/>
                </a:solidFill>
                <a:latin typeface="Garamond" pitchFamily="18" charset="0"/>
              </a:rPr>
              <a:t>Examples of smart contracts</a:t>
            </a:r>
          </a:p>
          <a:p>
            <a:pPr marL="457200" indent="-457200" algn="just">
              <a:buFont typeface="+mj-lt"/>
              <a:buAutoNum type="arabicPeriod"/>
            </a:pPr>
            <a:r>
              <a:rPr lang="en-US" sz="2200" b="1" dirty="0" smtClean="0">
                <a:solidFill>
                  <a:schemeClr val="tx1"/>
                </a:solidFill>
                <a:latin typeface="Garamond" pitchFamily="18" charset="0"/>
              </a:rPr>
              <a:t>How secure is the blockchain?</a:t>
            </a:r>
          </a:p>
          <a:p>
            <a:endParaRPr lang="it-IT" dirty="0"/>
          </a:p>
        </p:txBody>
      </p:sp>
      <p:sp>
        <p:nvSpPr>
          <p:cNvPr id="4" name="CasellaDiTesto 3"/>
          <p:cNvSpPr txBox="1"/>
          <p:nvPr/>
        </p:nvSpPr>
        <p:spPr>
          <a:xfrm>
            <a:off x="3000364" y="416462"/>
            <a:ext cx="3071834" cy="369332"/>
          </a:xfrm>
          <a:prstGeom prst="rect">
            <a:avLst/>
          </a:prstGeom>
          <a:noFill/>
        </p:spPr>
        <p:txBody>
          <a:bodyPr wrap="square" rtlCol="0">
            <a:spAutoFit/>
          </a:bodyPr>
          <a:lstStyle/>
          <a:p>
            <a:pPr algn="ctr"/>
            <a:r>
              <a:rPr lang="it-IT" b="1" dirty="0" smtClean="0">
                <a:latin typeface="Garamond" pitchFamily="18" charset="0"/>
              </a:rPr>
              <a:t>Prof. Maria </a:t>
            </a:r>
            <a:r>
              <a:rPr lang="it-IT" b="1" dirty="0" err="1" smtClean="0">
                <a:latin typeface="Garamond" pitchFamily="18" charset="0"/>
              </a:rPr>
              <a:t>Bruccoleri</a:t>
            </a:r>
            <a:r>
              <a:rPr lang="it-IT" b="1" dirty="0" smtClean="0">
                <a:latin typeface="Garamond" pitchFamily="18" charset="0"/>
              </a:rPr>
              <a:t> </a:t>
            </a:r>
            <a:endParaRPr lang="it-IT" b="1" dirty="0">
              <a:latin typeface="Garamond" pitchFamily="18" charset="0"/>
            </a:endParaRPr>
          </a:p>
        </p:txBody>
      </p:sp>
      <p:sp>
        <p:nvSpPr>
          <p:cNvPr id="5" name="Segnaposto numero diapositiva 4"/>
          <p:cNvSpPr>
            <a:spLocks noGrp="1"/>
          </p:cNvSpPr>
          <p:nvPr>
            <p:ph type="sldNum" sz="quarter" idx="12"/>
          </p:nvPr>
        </p:nvSpPr>
        <p:spPr/>
        <p:txBody>
          <a:bodyPr/>
          <a:lstStyle/>
          <a:p>
            <a:fld id="{6A037524-BE4B-42AE-9CE2-18539AD13956}" type="slidenum">
              <a:rPr lang="it-IT" smtClean="0"/>
              <a:pPr/>
              <a:t>1</a:t>
            </a:fld>
            <a:endParaRPr lang="it-IT"/>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Autofit/>
          </a:bodyPr>
          <a:lstStyle/>
          <a:p>
            <a:pPr lvl="1" algn="ctr" rtl="0">
              <a:spcBef>
                <a:spcPct val="0"/>
              </a:spcBef>
            </a:pPr>
            <a:r>
              <a:rPr lang="it-IT" sz="2600" b="1" dirty="0" smtClean="0">
                <a:solidFill>
                  <a:srgbClr val="FF0000"/>
                </a:solidFill>
                <a:latin typeface="Garamond" pitchFamily="18" charset="0"/>
              </a:rPr>
              <a:t/>
            </a:r>
            <a:br>
              <a:rPr lang="it-IT" sz="2600" b="1" dirty="0" smtClean="0">
                <a:solidFill>
                  <a:srgbClr val="FF0000"/>
                </a:solidFill>
                <a:latin typeface="Garamond" pitchFamily="18" charset="0"/>
              </a:rPr>
            </a:br>
            <a:r>
              <a:rPr lang="en-US" sz="2600" b="1" dirty="0" smtClean="0">
                <a:solidFill>
                  <a:srgbClr val="FF0000"/>
                </a:solidFill>
                <a:latin typeface="Garamond" pitchFamily="18" charset="0"/>
              </a:rPr>
              <a:t> WEB 3.0: THE SUCCESSOR OF WEB 2.0</a:t>
            </a:r>
            <a:br>
              <a:rPr lang="en-US" sz="2600" b="1" dirty="0" smtClean="0">
                <a:solidFill>
                  <a:srgbClr val="FF0000"/>
                </a:solidFill>
                <a:latin typeface="Garamond" pitchFamily="18" charset="0"/>
              </a:rPr>
            </a:br>
            <a:endParaRPr lang="it-IT" sz="26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Blockchain also started Web 3.0, or third generation  Internet that will take advantage of blockchain technology and create of a truly decentralized network.</a:t>
            </a:r>
          </a:p>
          <a:p>
            <a:pPr marL="0" indent="0" algn="just">
              <a:buNone/>
            </a:pPr>
            <a:r>
              <a:rPr lang="en-US" sz="2000" dirty="0" smtClean="0">
                <a:latin typeface="Garamond" pitchFamily="18" charset="0"/>
              </a:rPr>
              <a:t>The current Web is focused on server-based databases, with necessarily limited functionality.</a:t>
            </a:r>
          </a:p>
          <a:p>
            <a:pPr marL="0" indent="0" algn="just">
              <a:buNone/>
            </a:pPr>
            <a:r>
              <a:rPr lang="en-US" sz="2000" dirty="0" smtClean="0">
                <a:latin typeface="Garamond" pitchFamily="18" charset="0"/>
              </a:rPr>
              <a:t>The new internet will be user-focused, better  connected, and offer a secure platform for all.</a:t>
            </a:r>
          </a:p>
          <a:p>
            <a:pPr marL="0" indent="0" algn="just">
              <a:buNone/>
            </a:pPr>
            <a:r>
              <a:rPr lang="en-US" sz="2000" dirty="0" smtClean="0">
                <a:latin typeface="Garamond" pitchFamily="18" charset="0"/>
              </a:rPr>
              <a:t>Web 3.0 offers better features and functionality.</a:t>
            </a:r>
          </a:p>
          <a:p>
            <a:pPr marL="0" indent="0" algn="just">
              <a:buNone/>
            </a:pPr>
            <a:r>
              <a:rPr lang="en-US" sz="2000" dirty="0" smtClean="0">
                <a:latin typeface="Garamond" pitchFamily="18" charset="0"/>
              </a:rPr>
              <a:t>Authorization will be unnecessary, with no  centralized authority to control it.</a:t>
            </a:r>
          </a:p>
          <a:p>
            <a:pPr marL="0" indent="0" algn="just">
              <a:buNone/>
            </a:pPr>
            <a:r>
              <a:rPr lang="en-US" sz="2000" dirty="0" smtClean="0">
                <a:latin typeface="Garamond" pitchFamily="18" charset="0"/>
              </a:rPr>
              <a:t>It will also be free from monopoly and provide a greater  measure of privacy to users.</a:t>
            </a:r>
          </a:p>
          <a:p>
            <a:pPr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a:t>
            </a:fld>
            <a:endParaRPr lang="it-IT"/>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36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ctr">
              <a:buNone/>
            </a:pPr>
            <a:r>
              <a:rPr lang="en-US" sz="2000" b="1" dirty="0" smtClean="0">
                <a:latin typeface="Garamond" pitchFamily="18" charset="0"/>
              </a:rPr>
              <a:t>The blockchain network is secure.</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Web 3.0 will also be ubiquitous and offer a semantic web system.</a:t>
            </a:r>
          </a:p>
          <a:p>
            <a:pPr marL="0" indent="0" algn="just">
              <a:buNone/>
            </a:pPr>
            <a:r>
              <a:rPr lang="en-US" sz="2000" dirty="0" smtClean="0">
                <a:latin typeface="Garamond" pitchFamily="18" charset="0"/>
              </a:rPr>
              <a:t>The	fundamental	difference	between a	centralized and decentralized network is precisely the absence of a central authority.</a:t>
            </a:r>
          </a:p>
          <a:p>
            <a:pPr marL="0" indent="0" algn="just">
              <a:buNone/>
            </a:pPr>
            <a:r>
              <a:rPr lang="en-US" sz="2000" dirty="0" smtClean="0">
                <a:latin typeface="Garamond" pitchFamily="18" charset="0"/>
              </a:rPr>
              <a:t>Blockchain uses a decentralized Internet, which will generate its own unique data  flow,  business models, and Apps.</a:t>
            </a:r>
          </a:p>
          <a:p>
            <a:pPr marL="0" indent="0" algn="just">
              <a:buNone/>
            </a:pPr>
            <a:r>
              <a:rPr lang="en-US" sz="2000" dirty="0" smtClean="0">
                <a:latin typeface="Garamond" pitchFamily="18" charset="0"/>
              </a:rPr>
              <a:t>The difference is tangible!</a:t>
            </a:r>
          </a:p>
          <a:p>
            <a:pPr marL="0" indent="0" algn="just">
              <a:buNone/>
            </a:pPr>
            <a:r>
              <a:rPr lang="en-US" sz="2000" dirty="0" smtClean="0">
                <a:latin typeface="Garamond" pitchFamily="18" charset="0"/>
              </a:rPr>
              <a:t>Eventually, we will get a Web 3.0 ecosystem and a wider and better variety of services.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a:t>
            </a:fld>
            <a:endParaRPr lang="it-IT"/>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600" b="1" dirty="0" smtClean="0">
                <a:solidFill>
                  <a:srgbClr val="FF0000"/>
                </a:solidFill>
                <a:latin typeface="Garamond" pitchFamily="18" charset="0"/>
              </a:rPr>
              <a:t>BLOCKCHAIN VS DATABASE</a:t>
            </a:r>
            <a:br>
              <a:rPr lang="it-IT" sz="2600" b="1" dirty="0" smtClean="0">
                <a:solidFill>
                  <a:srgbClr val="FF0000"/>
                </a:solidFill>
                <a:latin typeface="Garamond" pitchFamily="18" charset="0"/>
              </a:rPr>
            </a:br>
            <a:endParaRPr lang="it-IT" sz="26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ctr">
              <a:buNone/>
            </a:pPr>
            <a:r>
              <a:rPr lang="en-US" sz="2000" b="1" dirty="0" smtClean="0">
                <a:latin typeface="Garamond" pitchFamily="18" charset="0"/>
              </a:rPr>
              <a:t>The blockchain is a decentralized network that also stores data.</a:t>
            </a:r>
          </a:p>
          <a:p>
            <a:pPr marL="0" indent="0" algn="just">
              <a:buNone/>
            </a:pPr>
            <a:r>
              <a:rPr lang="en-US" sz="2000" dirty="0" smtClean="0">
                <a:latin typeface="Garamond" pitchFamily="18" charset="0"/>
              </a:rPr>
              <a:t> It is, however, different from databases but comparisons can be made.</a:t>
            </a:r>
          </a:p>
          <a:p>
            <a:pPr marL="0" indent="0" algn="just">
              <a:buNone/>
            </a:pPr>
            <a:r>
              <a:rPr lang="en-US" sz="2000" dirty="0" smtClean="0">
                <a:latin typeface="Garamond" pitchFamily="18" charset="0"/>
              </a:rPr>
              <a:t>The four categories in which they differ include: write access, cost, integrity, and trust.</a:t>
            </a:r>
          </a:p>
          <a:p>
            <a:pPr marL="0" indent="0" algn="just">
              <a:buNone/>
            </a:pPr>
            <a:r>
              <a:rPr lang="en-US" sz="2000" dirty="0" smtClean="0">
                <a:latin typeface="Garamond" pitchFamily="18" charset="0"/>
              </a:rPr>
              <a:t>The main difference is, of course, the absence of a centralized authority, as well as the certainty that the data transcribed on the blockchain is immutable, providing integrity.</a:t>
            </a:r>
          </a:p>
          <a:p>
            <a:pPr marL="0" indent="0" algn="just">
              <a:buNone/>
            </a:pPr>
            <a:r>
              <a:rPr lang="en-US" sz="2000" dirty="0" smtClean="0">
                <a:latin typeface="Garamond" pitchFamily="18" charset="0"/>
              </a:rPr>
              <a:t>A database, on the other hand, offers the so-called CRUD  (Create - Read - Update – Delete) operation, which are the four basic operations of persistent data management.</a:t>
            </a:r>
          </a:p>
          <a:p>
            <a:pPr marL="0" indent="0" algn="just">
              <a:buNone/>
            </a:pPr>
            <a:r>
              <a:rPr lang="en-US" sz="2000" dirty="0" smtClean="0">
                <a:latin typeface="Garamond" pitchFamily="18" charset="0"/>
              </a:rPr>
              <a:t>Several types of tokens contribute to the functioning of the blockchain, including currency, asset, utility, and equity tokens. They are indispensable elements of the blockchain system and can generally be  defined as a kind of virtual token to be used as virtual currency, on an existing blockchain. They are not, therefore, simple digital currencies, but the representation of a digital asset.</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4</a:t>
            </a:fld>
            <a:endParaRPr lang="it-IT"/>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600" b="1" dirty="0" smtClean="0">
                <a:solidFill>
                  <a:srgbClr val="FF0000"/>
                </a:solidFill>
                <a:latin typeface="Garamond" pitchFamily="18" charset="0"/>
              </a:rPr>
              <a:t>INITIAL CONSIDERATIONS</a:t>
            </a:r>
            <a:br>
              <a:rPr lang="it-IT" sz="2600" b="1" dirty="0" smtClean="0">
                <a:solidFill>
                  <a:srgbClr val="FF0000"/>
                </a:solidFill>
                <a:latin typeface="Garamond" pitchFamily="18" charset="0"/>
              </a:rPr>
            </a:br>
            <a:endParaRPr lang="it-IT" sz="26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These considerations barely cover the introductory concepts for understanding the blockchain.  New concepts, ideas, and information are to follow.</a:t>
            </a:r>
          </a:p>
          <a:p>
            <a:pPr marL="0" indent="0" algn="just">
              <a:buNone/>
            </a:pPr>
            <a:r>
              <a:rPr lang="en-US" sz="2000" dirty="0" smtClean="0">
                <a:latin typeface="Garamond" pitchFamily="18" charset="0"/>
              </a:rPr>
              <a:t>The blockchain can be thought of as a diary or spreadsheet, containing information on transactions, with each transaction generating a hash.</a:t>
            </a:r>
          </a:p>
          <a:p>
            <a:pPr marL="0" indent="0" algn="just">
              <a:buNone/>
            </a:pPr>
            <a:r>
              <a:rPr lang="en-US" sz="2000" dirty="0" smtClean="0">
                <a:latin typeface="Garamond" pitchFamily="18" charset="0"/>
              </a:rPr>
              <a:t>Each block refers to the previous block and together they form a blockchain.</a:t>
            </a:r>
          </a:p>
          <a:p>
            <a:pPr marL="0" indent="0" algn="just">
              <a:buNone/>
            </a:pPr>
            <a:r>
              <a:rPr lang="en-US" sz="2000" dirty="0" smtClean="0">
                <a:latin typeface="Garamond" pitchFamily="18" charset="0"/>
              </a:rPr>
              <a:t>A blockchain is effective because it is spread across many computers, each with a copy of the blockchain itself.</a:t>
            </a:r>
          </a:p>
          <a:p>
            <a:pPr marL="0" indent="0" algn="just">
              <a:buNone/>
            </a:pPr>
            <a:r>
              <a:rPr lang="en-US" sz="2000" dirty="0" smtClean="0">
                <a:latin typeface="Garamond" pitchFamily="18" charset="0"/>
              </a:rPr>
              <a:t>More simply, the blockchain can be described as a data structure containing transactional records, ensuring security, transparency, and decentralization.</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5</a:t>
            </a:fld>
            <a:endParaRPr lang="it-IT"/>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36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just">
              <a:buNone/>
            </a:pPr>
            <a:r>
              <a:rPr lang="en-US" sz="2000" dirty="0" smtClean="0">
                <a:latin typeface="Garamond" pitchFamily="18" charset="0"/>
              </a:rPr>
              <a:t>It can also be thought of as a chain of archived records, in the form of blocks, which are not controlled by a single authority.</a:t>
            </a:r>
          </a:p>
          <a:p>
            <a:pPr marL="0" indent="0" algn="just">
              <a:buNone/>
            </a:pPr>
            <a:r>
              <a:rPr lang="en-US" sz="2000" dirty="0" smtClean="0">
                <a:latin typeface="Garamond" pitchFamily="18" charset="0"/>
              </a:rPr>
              <a:t>A blockchain (a chain of blocks, hence the name) is a growing list of records (i.e., blocks), that are connected by cryptography and designed to be resistant to data modification.</a:t>
            </a:r>
          </a:p>
          <a:p>
            <a:pPr marL="0" indent="0" algn="just">
              <a:buNone/>
            </a:pPr>
            <a:r>
              <a:rPr lang="en-US" sz="2000" dirty="0" smtClean="0">
                <a:latin typeface="Garamond" pitchFamily="18" charset="0"/>
              </a:rPr>
              <a:t>It is "an open, distributed ledger, capable of recording transactions between two parties in an efficient, verifiable, and permanent way."</a:t>
            </a:r>
          </a:p>
          <a:p>
            <a:pPr marL="0" indent="0" algn="just">
              <a:buNone/>
            </a:pPr>
            <a:r>
              <a:rPr lang="en-US" sz="2000" dirty="0" smtClean="0">
                <a:latin typeface="Garamond" pitchFamily="18" charset="0"/>
              </a:rPr>
              <a:t>Decentralized consensus characterizes the blockchain.</a:t>
            </a:r>
          </a:p>
          <a:p>
            <a:pPr marL="0" indent="0" algn="just">
              <a:buNone/>
            </a:pPr>
            <a:r>
              <a:rPr lang="en-US" sz="2000" dirty="0" smtClean="0">
                <a:latin typeface="Garamond" pitchFamily="18" charset="0"/>
              </a:rPr>
              <a:t>It is an IMMUTABLE LEDGER: a distributed, write-only database that records immutable records of every transaction.</a:t>
            </a:r>
          </a:p>
          <a:p>
            <a:pPr marL="0" indent="0" algn="just">
              <a:buNone/>
            </a:pPr>
            <a:r>
              <a:rPr lang="en-US" sz="2000" dirty="0" smtClean="0">
                <a:latin typeface="Garamond" pitchFamily="18" charset="0"/>
              </a:rPr>
              <a:t>It uses SMART CONTRACTS, which are digital applications, aimed at performing data transactions, including monetary ones: </a:t>
            </a:r>
            <a:r>
              <a:rPr lang="en-US" sz="2000" dirty="0" err="1" smtClean="0">
                <a:latin typeface="Garamond" pitchFamily="18" charset="0"/>
              </a:rPr>
              <a:t>Ethereum</a:t>
            </a:r>
            <a:r>
              <a:rPr lang="en-US" sz="2000" dirty="0" smtClean="0">
                <a:latin typeface="Garamond" pitchFamily="18" charset="0"/>
              </a:rPr>
              <a:t> (one of the best-known digital currency platforms, in addition to </a:t>
            </a:r>
            <a:r>
              <a:rPr lang="en-US" sz="2000" dirty="0" err="1" smtClean="0">
                <a:latin typeface="Garamond" pitchFamily="18" charset="0"/>
              </a:rPr>
              <a:t>Bitcoin</a:t>
            </a:r>
            <a:r>
              <a:rPr lang="en-US" sz="2000" dirty="0" smtClean="0">
                <a:latin typeface="Garamond" pitchFamily="18" charset="0"/>
              </a:rPr>
              <a:t>), for example, stores and runs programs on the blockchain.</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6</a:t>
            </a:fld>
            <a:endParaRPr lang="it-IT"/>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36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It is encrypted: It uses a private key infrastructure to create a tamper- proof system. For this reason, it tends to be the safest available option today.</a:t>
            </a:r>
          </a:p>
          <a:p>
            <a:pPr marL="0" indent="0" algn="just">
              <a:buNone/>
            </a:pPr>
            <a:r>
              <a:rPr lang="en-US" sz="2000" dirty="0" smtClean="0">
                <a:latin typeface="Garamond" pitchFamily="18" charset="0"/>
              </a:rPr>
              <a:t>It is based on DECENTRALIZED CONSENSUS :</a:t>
            </a:r>
          </a:p>
          <a:p>
            <a:pPr marL="0" indent="0" algn="just">
              <a:buNone/>
            </a:pPr>
            <a:r>
              <a:rPr lang="en-US" sz="2000" dirty="0" smtClean="0">
                <a:latin typeface="Garamond" pitchFamily="18" charset="0"/>
              </a:rPr>
              <a:t> </a:t>
            </a:r>
          </a:p>
          <a:p>
            <a:pPr marL="0" indent="0" algn="just"/>
            <a:r>
              <a:rPr lang="en-US" sz="2000" dirty="0" smtClean="0">
                <a:latin typeface="Garamond" pitchFamily="18" charset="0"/>
              </a:rPr>
              <a:t>No participant can tamper with it.</a:t>
            </a:r>
          </a:p>
          <a:p>
            <a:pPr marL="0" indent="0" algn="just"/>
            <a:r>
              <a:rPr lang="en-US" sz="2000" dirty="0" smtClean="0">
                <a:latin typeface="Garamond" pitchFamily="18" charset="0"/>
              </a:rPr>
              <a:t>The consensus of the majority of participants is required to update the database.</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7</a:t>
            </a:fld>
            <a:endParaRPr lang="it-IT"/>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p:cNvSpPr>
            <a:spLocks noGrp="1"/>
          </p:cNvSpPr>
          <p:nvPr>
            <p:ph idx="1"/>
          </p:nvPr>
        </p:nvSpPr>
        <p:spPr>
          <a:xfrm>
            <a:off x="214282" y="928670"/>
            <a:ext cx="8715436" cy="5572164"/>
          </a:xfrm>
        </p:spPr>
        <p:txBody>
          <a:bodyPr>
            <a:normAutofit fontScale="85000" lnSpcReduction="20000"/>
          </a:bodyPr>
          <a:lstStyle/>
          <a:p>
            <a:pPr marL="0" indent="0" algn="ctr">
              <a:buNone/>
            </a:pPr>
            <a:r>
              <a:rPr lang="en-US" sz="2000" b="1" dirty="0" smtClean="0">
                <a:latin typeface="Garamond" pitchFamily="18" charset="0"/>
              </a:rPr>
              <a:t>THE COSTS AND TIMES OF DATA  TRANSMISSION ARE REDUCED:</a:t>
            </a:r>
          </a:p>
          <a:p>
            <a:pPr marL="0" indent="0" algn="just">
              <a:buNone/>
            </a:pPr>
            <a:r>
              <a:rPr lang="en-US" sz="2000" dirty="0" smtClean="0">
                <a:latin typeface="Garamond" pitchFamily="18" charset="0"/>
              </a:rPr>
              <a:t> </a:t>
            </a:r>
          </a:p>
          <a:p>
            <a:pPr marL="0" indent="0" algn="just">
              <a:buFont typeface="Wingdings" pitchFamily="2" charset="2"/>
              <a:buChar char="ü"/>
            </a:pPr>
            <a:r>
              <a:rPr lang="en-US" sz="2000" dirty="0" smtClean="0">
                <a:latin typeface="Garamond" pitchFamily="18" charset="0"/>
              </a:rPr>
              <a:t>The costs of intermediaries are eliminated.</a:t>
            </a:r>
          </a:p>
          <a:p>
            <a:pPr marL="0" indent="0" algn="just">
              <a:buFont typeface="Wingdings" pitchFamily="2" charset="2"/>
              <a:buChar char="ü"/>
            </a:pPr>
            <a:r>
              <a:rPr lang="en-US" sz="2000" dirty="0" smtClean="0">
                <a:latin typeface="Garamond" pitchFamily="18" charset="0"/>
              </a:rPr>
              <a:t>Automation of smart contracts reduces manual processing, rework, and processing errors.</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 </a:t>
            </a:r>
            <a:r>
              <a:rPr lang="en-US" sz="2000" b="1" dirty="0" smtClean="0">
                <a:latin typeface="Garamond" pitchFamily="18" charset="0"/>
              </a:rPr>
              <a:t>REVENUES AND PROFITS ARE INCREASED:</a:t>
            </a:r>
          </a:p>
          <a:p>
            <a:pPr marL="0" indent="0" algn="just">
              <a:buNone/>
            </a:pPr>
            <a:r>
              <a:rPr lang="en-US" sz="2000" dirty="0" smtClean="0">
                <a:latin typeface="Garamond" pitchFamily="18" charset="0"/>
              </a:rPr>
              <a:t> </a:t>
            </a:r>
          </a:p>
          <a:p>
            <a:pPr marL="0" indent="0" algn="just">
              <a:buFont typeface="Wingdings" pitchFamily="2" charset="2"/>
              <a:buChar char="ü"/>
            </a:pPr>
            <a:r>
              <a:rPr lang="en-US" sz="2000" dirty="0" smtClean="0">
                <a:latin typeface="Garamond" pitchFamily="18" charset="0"/>
              </a:rPr>
              <a:t> New products and services are created.</a:t>
            </a:r>
          </a:p>
          <a:p>
            <a:pPr marL="0" indent="0" algn="just">
              <a:buFont typeface="Wingdings" pitchFamily="2" charset="2"/>
              <a:buChar char="ü"/>
            </a:pPr>
            <a:r>
              <a:rPr lang="en-US" sz="2000" dirty="0" smtClean="0">
                <a:latin typeface="Garamond" pitchFamily="18" charset="0"/>
              </a:rPr>
              <a:t>The acquisition of value of demonstrable provenance is possible.</a:t>
            </a:r>
          </a:p>
          <a:p>
            <a:pPr marL="0" indent="0" algn="just">
              <a:buNone/>
            </a:pPr>
            <a:endParaRPr lang="en-US" sz="2000" dirty="0" smtClean="0">
              <a:latin typeface="Garamond" pitchFamily="18" charset="0"/>
            </a:endParaRPr>
          </a:p>
          <a:p>
            <a:pPr marL="0" indent="0" algn="just">
              <a:buNone/>
            </a:pPr>
            <a:r>
              <a:rPr lang="en-US" sz="2000" b="1" dirty="0" smtClean="0">
                <a:latin typeface="Garamond" pitchFamily="18" charset="0"/>
              </a:rPr>
              <a:t>RISKS ARE REDUCED:</a:t>
            </a:r>
          </a:p>
          <a:p>
            <a:pPr marL="0" indent="0" algn="just">
              <a:buFont typeface="Wingdings" pitchFamily="2" charset="2"/>
              <a:buChar char="ü"/>
            </a:pPr>
            <a:r>
              <a:rPr lang="en-US" sz="2000" dirty="0" smtClean="0">
                <a:latin typeface="Garamond" pitchFamily="18" charset="0"/>
              </a:rPr>
              <a:t>No single point of failure or attack exists.</a:t>
            </a:r>
          </a:p>
          <a:p>
            <a:pPr marL="0" indent="0" algn="just">
              <a:buNone/>
            </a:pPr>
            <a:endParaRPr lang="en-US" sz="2000" dirty="0" smtClean="0">
              <a:latin typeface="Garamond" pitchFamily="18" charset="0"/>
            </a:endParaRPr>
          </a:p>
          <a:p>
            <a:pPr marL="0" indent="0" algn="just">
              <a:buFont typeface="Wingdings" pitchFamily="2" charset="2"/>
              <a:buChar char="ü"/>
            </a:pPr>
            <a:r>
              <a:rPr lang="en-US" sz="2000" dirty="0" smtClean="0">
                <a:latin typeface="Garamond" pitchFamily="18" charset="0"/>
              </a:rPr>
              <a:t> Non-repudiation or immutability reduces the risk of fraud.</a:t>
            </a:r>
          </a:p>
          <a:p>
            <a:pPr marL="0" indent="0" algn="just">
              <a:buFont typeface="Wingdings" pitchFamily="2" charset="2"/>
              <a:buChar char="ü"/>
            </a:pPr>
            <a:r>
              <a:rPr lang="en-US" sz="2000" dirty="0" smtClean="0">
                <a:latin typeface="Garamond" pitchFamily="18" charset="0"/>
              </a:rPr>
              <a:t>Controls and data provenance are tracked in an immutable way. </a:t>
            </a:r>
          </a:p>
          <a:p>
            <a:pPr marL="0" indent="0" algn="just">
              <a:buNone/>
            </a:pPr>
            <a:endParaRPr lang="en-US" sz="2000" dirty="0" smtClean="0">
              <a:latin typeface="Garamond" pitchFamily="18" charset="0"/>
            </a:endParaRPr>
          </a:p>
          <a:p>
            <a:pPr marL="0" indent="0" algn="just">
              <a:buNone/>
            </a:pPr>
            <a:endParaRPr lang="en-US" sz="2000" b="1" dirty="0" smtClean="0">
              <a:latin typeface="Garamond" pitchFamily="18" charset="0"/>
            </a:endParaRPr>
          </a:p>
          <a:p>
            <a:pPr marL="0" indent="0" algn="just">
              <a:buNone/>
            </a:pPr>
            <a:r>
              <a:rPr lang="en-US" sz="2000" b="1" dirty="0" smtClean="0">
                <a:latin typeface="Garamond" pitchFamily="18" charset="0"/>
              </a:rPr>
              <a:t>SPEED AND DATA TRANSMISSION ARE IMPROVED:</a:t>
            </a:r>
          </a:p>
          <a:p>
            <a:pPr marL="0" indent="0" algn="just">
              <a:buFont typeface="Wingdings" pitchFamily="2" charset="2"/>
              <a:buChar char="ü"/>
            </a:pPr>
            <a:r>
              <a:rPr lang="en-US" sz="2000" dirty="0" smtClean="0">
                <a:latin typeface="Garamond" pitchFamily="18" charset="0"/>
              </a:rPr>
              <a:t>           The value chain is simplified by removing middlemen.</a:t>
            </a:r>
          </a:p>
          <a:p>
            <a:pPr marL="0" indent="0" algn="just">
              <a:buFont typeface="Wingdings" pitchFamily="2" charset="2"/>
              <a:buChar char="ü"/>
            </a:pPr>
            <a:r>
              <a:rPr lang="en-US" sz="2000" dirty="0" smtClean="0">
                <a:latin typeface="Garamond" pitchFamily="18" charset="0"/>
              </a:rPr>
              <a:t>A  greater number of transactions and a single settlement for each smart contract are possible.</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8</a:t>
            </a:fld>
            <a:endParaRPr lang="it-IT"/>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600" b="1" dirty="0" smtClean="0">
                <a:solidFill>
                  <a:srgbClr val="FF0000"/>
                </a:solidFill>
                <a:latin typeface="Garamond" pitchFamily="18" charset="0"/>
              </a:rPr>
              <a:t>BLOCKCHAIN ENABLERS: FUNCTIONS.</a:t>
            </a:r>
            <a:br>
              <a:rPr lang="it-IT" sz="2600" b="1" dirty="0" smtClean="0">
                <a:solidFill>
                  <a:srgbClr val="FF0000"/>
                </a:solidFill>
                <a:latin typeface="Garamond" pitchFamily="18" charset="0"/>
              </a:rPr>
            </a:br>
            <a:endParaRPr lang="it-IT" sz="2600" b="1" dirty="0">
              <a:solidFill>
                <a:srgbClr val="FF0000"/>
              </a:solidFill>
              <a:latin typeface="Garamond" pitchFamily="18" charset="0"/>
            </a:endParaRPr>
          </a:p>
        </p:txBody>
      </p:sp>
      <p:sp>
        <p:nvSpPr>
          <p:cNvPr id="3" name="Segnaposto contenuto 2"/>
          <p:cNvSpPr>
            <a:spLocks noGrp="1"/>
          </p:cNvSpPr>
          <p:nvPr>
            <p:ph idx="1"/>
          </p:nvPr>
        </p:nvSpPr>
        <p:spPr>
          <a:xfrm>
            <a:off x="214282" y="1571612"/>
            <a:ext cx="8715436" cy="4929222"/>
          </a:xfrm>
        </p:spPr>
        <p:txBody>
          <a:bodyPr>
            <a:normAutofit/>
          </a:bodyPr>
          <a:lstStyle/>
          <a:p>
            <a:pPr algn="ctr">
              <a:buNone/>
            </a:pPr>
            <a:r>
              <a:rPr lang="en-US" sz="2000" dirty="0">
                <a:latin typeface="Garamond" pitchFamily="18" charset="0"/>
              </a:rPr>
              <a:t>The relevant characteristics of the blockchain can be represented according to the following functions</a:t>
            </a:r>
            <a:r>
              <a:rPr lang="en-US" sz="2000" dirty="0" smtClean="0">
                <a:latin typeface="Garamond" pitchFamily="18" charset="0"/>
              </a:rPr>
              <a:t>:</a:t>
            </a:r>
          </a:p>
          <a:p>
            <a:pPr>
              <a:buNone/>
            </a:pPr>
            <a:endParaRPr lang="en-US" sz="2000" dirty="0">
              <a:latin typeface="Garamond" pitchFamily="18" charset="0"/>
            </a:endParaRPr>
          </a:p>
          <a:p>
            <a:pPr>
              <a:buNone/>
            </a:pPr>
            <a:endParaRPr lang="it-IT" sz="2000" dirty="0" smtClean="0">
              <a:latin typeface="Garamond" pitchFamily="18" charset="0"/>
            </a:endParaRPr>
          </a:p>
          <a:p>
            <a:pPr>
              <a:buNone/>
            </a:pPr>
            <a:endParaRPr lang="it-IT" sz="2000" dirty="0">
              <a:latin typeface="Garamond" pitchFamily="18" charset="0"/>
            </a:endParaRPr>
          </a:p>
          <a:p>
            <a:r>
              <a:rPr lang="en-US" sz="2000" b="1" u="sng" dirty="0">
                <a:latin typeface="Garamond" pitchFamily="18" charset="0"/>
              </a:rPr>
              <a:t>ASSET TOKENIZATION</a:t>
            </a:r>
            <a:r>
              <a:rPr lang="en-US" sz="2000" dirty="0">
                <a:latin typeface="Garamond" pitchFamily="18" charset="0"/>
              </a:rPr>
              <a:t>: provides for the tokenization of physical and digital assets and for trading and settlement with several parties simultaneously.</a:t>
            </a:r>
            <a:endParaRPr lang="it-IT" sz="2000" dirty="0">
              <a:latin typeface="Garamond" pitchFamily="18" charset="0"/>
            </a:endParaRPr>
          </a:p>
          <a:p>
            <a:pPr lvl="0"/>
            <a:r>
              <a:rPr lang="en-US" sz="2000" b="1" u="sng" dirty="0">
                <a:latin typeface="Garamond" pitchFamily="18" charset="0"/>
              </a:rPr>
              <a:t>CUSTODY &amp; ESCROW</a:t>
            </a:r>
            <a:r>
              <a:rPr lang="en-US" sz="2000" dirty="0">
                <a:latin typeface="Garamond" pitchFamily="18" charset="0"/>
              </a:rPr>
              <a:t>: allows transactions that do not need financial trust, with assets (deposited as collateral) managed by smart contracts.</a:t>
            </a:r>
            <a:endParaRPr lang="it-IT" sz="2000" dirty="0">
              <a:latin typeface="Garamond" pitchFamily="18" charset="0"/>
            </a:endParaRPr>
          </a:p>
          <a:p>
            <a:pPr lvl="0"/>
            <a:r>
              <a:rPr lang="en-US" sz="2000" b="1" u="sng" dirty="0">
                <a:latin typeface="Garamond" pitchFamily="18" charset="0"/>
              </a:rPr>
              <a:t>DETECTION OF ORIGIN</a:t>
            </a:r>
            <a:r>
              <a:rPr lang="en-US" sz="2000" dirty="0">
                <a:latin typeface="Garamond" pitchFamily="18" charset="0"/>
              </a:rPr>
              <a:t>: creates a single “source of truth,” which transmits information on the activity between one custodian and another.</a:t>
            </a:r>
            <a:endParaRPr lang="it-IT" sz="2000" dirty="0">
              <a:latin typeface="Garamond" pitchFamily="18" charset="0"/>
            </a:endParaRPr>
          </a:p>
          <a:p>
            <a:pPr marL="0" indent="0" algn="just">
              <a:buNone/>
            </a:pPr>
            <a:endParaRPr lang="it-IT" sz="2000" dirty="0">
              <a:latin typeface="Garamond" pitchFamily="18" charset="0"/>
            </a:endParaRPr>
          </a:p>
        </p:txBody>
      </p:sp>
      <p:sp>
        <p:nvSpPr>
          <p:cNvPr id="4" name="Freccia in giù 3"/>
          <p:cNvSpPr/>
          <p:nvPr/>
        </p:nvSpPr>
        <p:spPr>
          <a:xfrm>
            <a:off x="4643438" y="2428868"/>
            <a:ext cx="285752" cy="71438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Segnaposto numero diapositiva 4"/>
          <p:cNvSpPr>
            <a:spLocks noGrp="1"/>
          </p:cNvSpPr>
          <p:nvPr>
            <p:ph type="sldNum" sz="quarter" idx="12"/>
          </p:nvPr>
        </p:nvSpPr>
        <p:spPr/>
        <p:txBody>
          <a:bodyPr/>
          <a:lstStyle/>
          <a:p>
            <a:fld id="{6A037524-BE4B-42AE-9CE2-18539AD13956}" type="slidenum">
              <a:rPr lang="it-IT" smtClean="0"/>
              <a:pPr/>
              <a:t>9</a:t>
            </a:fld>
            <a:endParaRPr lang="it-IT"/>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3600" b="1" dirty="0">
              <a:solidFill>
                <a:srgbClr val="FF0000"/>
              </a:solidFill>
              <a:latin typeface="Garamond" pitchFamily="18" charset="0"/>
            </a:endParaRPr>
          </a:p>
        </p:txBody>
      </p:sp>
      <p:sp>
        <p:nvSpPr>
          <p:cNvPr id="3" name="Segnaposto contenuto 2"/>
          <p:cNvSpPr>
            <a:spLocks noGrp="1"/>
          </p:cNvSpPr>
          <p:nvPr>
            <p:ph idx="1"/>
          </p:nvPr>
        </p:nvSpPr>
        <p:spPr>
          <a:xfrm>
            <a:off x="214282" y="1571612"/>
            <a:ext cx="8715436" cy="4929222"/>
          </a:xfrm>
        </p:spPr>
        <p:txBody>
          <a:bodyPr>
            <a:normAutofit lnSpcReduction="10000"/>
          </a:bodyPr>
          <a:lstStyle/>
          <a:p>
            <a:pPr lvl="0"/>
            <a:r>
              <a:rPr lang="en-US" sz="2000" b="1" u="sng" dirty="0">
                <a:latin typeface="Garamond" pitchFamily="18" charset="0"/>
              </a:rPr>
              <a:t>ACCOUNTING AND RECONCILIATIONS</a:t>
            </a:r>
            <a:r>
              <a:rPr lang="en-US" sz="2000" dirty="0">
                <a:latin typeface="Garamond" pitchFamily="18" charset="0"/>
              </a:rPr>
              <a:t>: provides new accounting management, where each debit and credit is recorded, with an immutable voice on the blockchain</a:t>
            </a:r>
            <a:r>
              <a:rPr lang="en-US" sz="2000" dirty="0" smtClean="0">
                <a:latin typeface="Garamond" pitchFamily="18" charset="0"/>
              </a:rPr>
              <a:t>.</a:t>
            </a:r>
          </a:p>
          <a:p>
            <a:pPr lvl="0">
              <a:buNone/>
            </a:pPr>
            <a:endParaRPr lang="it-IT" sz="2000" dirty="0">
              <a:latin typeface="Garamond" pitchFamily="18" charset="0"/>
            </a:endParaRPr>
          </a:p>
          <a:p>
            <a:pPr lvl="0"/>
            <a:r>
              <a:rPr lang="en-US" sz="2000" b="1" u="sng" dirty="0">
                <a:latin typeface="Garamond" pitchFamily="18" charset="0"/>
              </a:rPr>
              <a:t>DIGITAL IDENTITY</a:t>
            </a:r>
            <a:r>
              <a:rPr lang="en-US" sz="2000" dirty="0">
                <a:latin typeface="Garamond" pitchFamily="18" charset="0"/>
              </a:rPr>
              <a:t>: creates a consolidation and management ID, with attributes stored and verified on the blockchain</a:t>
            </a:r>
            <a:r>
              <a:rPr lang="en-US" sz="2000" dirty="0" smtClean="0">
                <a:latin typeface="Garamond" pitchFamily="18" charset="0"/>
              </a:rPr>
              <a:t>.</a:t>
            </a:r>
          </a:p>
          <a:p>
            <a:pPr lvl="0">
              <a:buNone/>
            </a:pPr>
            <a:endParaRPr lang="it-IT" sz="2000" dirty="0">
              <a:latin typeface="Garamond" pitchFamily="18" charset="0"/>
            </a:endParaRPr>
          </a:p>
          <a:p>
            <a:pPr lvl="0"/>
            <a:r>
              <a:rPr lang="en-US" sz="2000" b="1" u="sng" dirty="0">
                <a:latin typeface="Garamond" pitchFamily="18" charset="0"/>
              </a:rPr>
              <a:t>REAL TIME TRANSACTION</a:t>
            </a:r>
            <a:r>
              <a:rPr lang="en-US" sz="2000" dirty="0">
                <a:latin typeface="Garamond" pitchFamily="18" charset="0"/>
              </a:rPr>
              <a:t>: allows atomic transactions improving the trade and eliminating delays</a:t>
            </a:r>
            <a:r>
              <a:rPr lang="en-US" sz="2000" dirty="0" smtClean="0">
                <a:latin typeface="Garamond" pitchFamily="18" charset="0"/>
              </a:rPr>
              <a:t>.</a:t>
            </a:r>
          </a:p>
          <a:p>
            <a:pPr lvl="0">
              <a:buNone/>
            </a:pPr>
            <a:endParaRPr lang="it-IT" sz="2000" dirty="0">
              <a:latin typeface="Garamond" pitchFamily="18" charset="0"/>
            </a:endParaRPr>
          </a:p>
          <a:p>
            <a:pPr lvl="0"/>
            <a:r>
              <a:rPr lang="en-US" sz="2000" b="1" u="sng" dirty="0">
                <a:latin typeface="Garamond" pitchFamily="18" charset="0"/>
              </a:rPr>
              <a:t>MICRO PAYMENTS &amp; FINANCING</a:t>
            </a:r>
            <a:r>
              <a:rPr lang="en-US" sz="2000" dirty="0">
                <a:latin typeface="Garamond" pitchFamily="18" charset="0"/>
              </a:rPr>
              <a:t>:  permits minimum value transactions with P2P (peer-to-peer) payments</a:t>
            </a:r>
            <a:r>
              <a:rPr lang="en-US" sz="2000" dirty="0" smtClean="0">
                <a:latin typeface="Garamond" pitchFamily="18" charset="0"/>
              </a:rPr>
              <a:t>.</a:t>
            </a:r>
          </a:p>
          <a:p>
            <a:pPr lvl="0">
              <a:buNone/>
            </a:pPr>
            <a:endParaRPr lang="it-IT" sz="2000" dirty="0">
              <a:latin typeface="Garamond" pitchFamily="18" charset="0"/>
            </a:endParaRPr>
          </a:p>
          <a:p>
            <a:pPr lvl="0"/>
            <a:r>
              <a:rPr lang="en-US" sz="2000" b="1" u="sng" dirty="0">
                <a:latin typeface="Garamond" pitchFamily="18" charset="0"/>
              </a:rPr>
              <a:t>AUTOMATIC EXECUTION</a:t>
            </a:r>
            <a:r>
              <a:rPr lang="en-US" sz="2000" dirty="0">
                <a:latin typeface="Garamond" pitchFamily="18" charset="0"/>
              </a:rPr>
              <a:t>: allows the life cycle of the contract to be completely automatic, from issue and transfer, to review and execution.</a:t>
            </a:r>
            <a:endParaRPr lang="it-IT" sz="2000" dirty="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10</a:t>
            </a:fld>
            <a:endParaRPr lang="it-IT"/>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600" b="1" dirty="0" smtClean="0">
                <a:solidFill>
                  <a:srgbClr val="FF0000"/>
                </a:solidFill>
                <a:latin typeface="Garamond" pitchFamily="18" charset="0"/>
              </a:rPr>
              <a:t>INTRODUCTION</a:t>
            </a:r>
            <a:br>
              <a:rPr lang="it-IT" sz="2600" b="1" dirty="0" smtClean="0">
                <a:solidFill>
                  <a:srgbClr val="FF0000"/>
                </a:solidFill>
                <a:latin typeface="Garamond" pitchFamily="18" charset="0"/>
              </a:rPr>
            </a:br>
            <a:endParaRPr lang="it-IT" sz="2600" b="1" dirty="0">
              <a:solidFill>
                <a:srgbClr val="FF0000"/>
              </a:solidFill>
              <a:latin typeface="Garamond" pitchFamily="18" charset="0"/>
            </a:endParaRPr>
          </a:p>
        </p:txBody>
      </p:sp>
      <p:sp>
        <p:nvSpPr>
          <p:cNvPr id="3" name="Segnaposto contenuto 2"/>
          <p:cNvSpPr>
            <a:spLocks noGrp="1"/>
          </p:cNvSpPr>
          <p:nvPr>
            <p:ph idx="1"/>
          </p:nvPr>
        </p:nvSpPr>
        <p:spPr>
          <a:xfrm>
            <a:off x="214282" y="1571612"/>
            <a:ext cx="8715436" cy="4929222"/>
          </a:xfrm>
        </p:spPr>
        <p:txBody>
          <a:bodyPr>
            <a:normAutofit/>
          </a:bodyPr>
          <a:lstStyle/>
          <a:p>
            <a:pPr marL="0" indent="0" algn="just">
              <a:buNone/>
            </a:pPr>
            <a:r>
              <a:rPr lang="en-US" sz="2000" dirty="0" smtClean="0">
                <a:latin typeface="Garamond" pitchFamily="18" charset="0"/>
              </a:rPr>
              <a:t>Based on a peer-to-peer (P2P) typology, the blockchain is a distributed ledger technology (DLT) that allows data to be stored globally on thousands of servers so everyone on the network knows the "voices"  of everyone else, in almost real time.</a:t>
            </a:r>
          </a:p>
          <a:p>
            <a:pPr marL="0" indent="0" algn="just">
              <a:buNone/>
            </a:pPr>
            <a:r>
              <a:rPr lang="en-US" sz="2000" dirty="0" smtClean="0">
                <a:latin typeface="Garamond" pitchFamily="18" charset="0"/>
              </a:rPr>
              <a:t>This makes it difficult for a user to gain control or governance of the network, or even hack it.</a:t>
            </a:r>
          </a:p>
          <a:p>
            <a:pPr marL="0" indent="0" algn="just">
              <a:buNone/>
            </a:pPr>
            <a:r>
              <a:rPr lang="en-US" sz="2000" dirty="0" smtClean="0">
                <a:latin typeface="Garamond" pitchFamily="18" charset="0"/>
              </a:rPr>
              <a:t>In some highly publicized incidents over the past few years, </a:t>
            </a:r>
            <a:r>
              <a:rPr lang="en-US" sz="2000" dirty="0" err="1" smtClean="0">
                <a:latin typeface="Garamond" pitchFamily="18" charset="0"/>
              </a:rPr>
              <a:t>blockchains</a:t>
            </a:r>
            <a:r>
              <a:rPr lang="en-US" sz="2000" dirty="0" smtClean="0">
                <a:latin typeface="Garamond" pitchFamily="18" charset="0"/>
              </a:rPr>
              <a:t> have been breached, typically through a </a:t>
            </a:r>
            <a:r>
              <a:rPr lang="en-US" sz="2000" dirty="0" err="1" smtClean="0">
                <a:latin typeface="Garamond" pitchFamily="18" charset="0"/>
              </a:rPr>
              <a:t>cryptocurrency</a:t>
            </a:r>
            <a:r>
              <a:rPr lang="en-US" sz="2000" dirty="0" smtClean="0">
                <a:latin typeface="Garamond" pitchFamily="18" charset="0"/>
              </a:rPr>
              <a:t> application like </a:t>
            </a:r>
            <a:r>
              <a:rPr lang="en-US" sz="2000" dirty="0" err="1" smtClean="0">
                <a:latin typeface="Garamond" pitchFamily="18" charset="0"/>
              </a:rPr>
              <a:t>Bitcoin</a:t>
            </a:r>
            <a:r>
              <a:rPr lang="en-US" sz="2000" dirty="0" smtClean="0">
                <a:latin typeface="Garamond" pitchFamily="18" charset="0"/>
              </a:rPr>
              <a:t>.</a:t>
            </a:r>
          </a:p>
          <a:p>
            <a:pPr marL="0" indent="0" algn="just">
              <a:buNone/>
            </a:pPr>
            <a:r>
              <a:rPr lang="en-US" sz="2000" dirty="0" smtClean="0">
                <a:latin typeface="Garamond" pitchFamily="18" charset="0"/>
              </a:rPr>
              <a:t>The smallest </a:t>
            </a:r>
            <a:r>
              <a:rPr lang="en-US" sz="2000" dirty="0" err="1" smtClean="0">
                <a:latin typeface="Garamond" pitchFamily="18" charset="0"/>
              </a:rPr>
              <a:t>blockchains</a:t>
            </a:r>
            <a:r>
              <a:rPr lang="en-US" sz="2000" dirty="0" smtClean="0">
                <a:latin typeface="Garamond" pitchFamily="18" charset="0"/>
              </a:rPr>
              <a:t>, with fewer nodes (or computers), have also been subject to fraud, with would-be thieves gaining control of most of the nodes (the so-called 51% consensus).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11</a:t>
            </a:fld>
            <a:endParaRPr lang="it-IT"/>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3600" b="1" dirty="0">
              <a:solidFill>
                <a:srgbClr val="FF0000"/>
              </a:solidFill>
              <a:latin typeface="Garamond" pitchFamily="18" charset="0"/>
            </a:endParaRPr>
          </a:p>
        </p:txBody>
      </p:sp>
      <p:sp>
        <p:nvSpPr>
          <p:cNvPr id="3" name="Segnaposto contenuto 2"/>
          <p:cNvSpPr>
            <a:spLocks noGrp="1"/>
          </p:cNvSpPr>
          <p:nvPr>
            <p:ph idx="1"/>
          </p:nvPr>
        </p:nvSpPr>
        <p:spPr>
          <a:xfrm>
            <a:off x="214282" y="1571612"/>
            <a:ext cx="8715436" cy="4929222"/>
          </a:xfrm>
        </p:spPr>
        <p:txBody>
          <a:bodyPr>
            <a:normAutofit/>
          </a:bodyPr>
          <a:lstStyle/>
          <a:p>
            <a:pPr marL="0" indent="0" algn="just">
              <a:buNone/>
            </a:pPr>
            <a:r>
              <a:rPr lang="en-US" sz="2000" dirty="0" smtClean="0">
                <a:latin typeface="Garamond" pitchFamily="18" charset="0"/>
              </a:rPr>
              <a:t>However, for businesses, blockchain delivers on the promise of transactional transparency. This means the ability to create secure, real-time communication networks with partners around the world, to support everything from supply chains, payment networks, real estate agreements, data sharing, and even health care.</a:t>
            </a:r>
          </a:p>
          <a:p>
            <a:pPr marL="0" indent="0" algn="just">
              <a:buNone/>
            </a:pPr>
            <a:r>
              <a:rPr lang="en-US" sz="2000" dirty="0" smtClean="0">
                <a:latin typeface="Garamond" pitchFamily="18" charset="0"/>
              </a:rPr>
              <a:t>The recent hype around this relatively new technology is real because distributed ledger technology (DLT), in essence, represents a new paradigm for the way information is shared; it is no surprise, then, that technology vendors and businesses have been quick to learn how to use “DTL,” saving   time and administrative costs.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12</a:t>
            </a:fld>
            <a:endParaRPr lang="it-IT"/>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3600" b="1" dirty="0">
              <a:solidFill>
                <a:srgbClr val="FF0000"/>
              </a:solidFill>
              <a:latin typeface="Garamond" pitchFamily="18" charset="0"/>
            </a:endParaRPr>
          </a:p>
        </p:txBody>
      </p:sp>
      <p:sp>
        <p:nvSpPr>
          <p:cNvPr id="3" name="Segnaposto contenuto 2"/>
          <p:cNvSpPr>
            <a:spLocks noGrp="1"/>
          </p:cNvSpPr>
          <p:nvPr>
            <p:ph idx="1"/>
          </p:nvPr>
        </p:nvSpPr>
        <p:spPr>
          <a:xfrm>
            <a:off x="214282" y="1571612"/>
            <a:ext cx="8715436" cy="4929222"/>
          </a:xfrm>
        </p:spPr>
        <p:txBody>
          <a:bodyPr>
            <a:normAutofit/>
          </a:bodyPr>
          <a:lstStyle/>
          <a:p>
            <a:pPr marL="0" indent="0" algn="just">
              <a:buNone/>
            </a:pPr>
            <a:r>
              <a:rPr lang="en-US" sz="2000" dirty="0" smtClean="0">
                <a:latin typeface="Garamond" pitchFamily="18" charset="0"/>
              </a:rPr>
              <a:t>Numerous companies have already launched, or are planning to launch, pilot programs and projects in a wide range of industries: from financial technology (</a:t>
            </a:r>
            <a:r>
              <a:rPr lang="en-US" sz="2000" dirty="0" err="1" smtClean="0">
                <a:latin typeface="Garamond" pitchFamily="18" charset="0"/>
              </a:rPr>
              <a:t>FinTech</a:t>
            </a:r>
            <a:r>
              <a:rPr lang="en-US" sz="2000" dirty="0" smtClean="0">
                <a:latin typeface="Garamond" pitchFamily="18" charset="0"/>
              </a:rPr>
              <a:t>) and healthcare, to mobile payments and global shipping.</a:t>
            </a:r>
          </a:p>
          <a:p>
            <a:pPr marL="0" indent="0" algn="just">
              <a:buNone/>
            </a:pPr>
            <a:r>
              <a:rPr lang="en-US" sz="2000" dirty="0" smtClean="0">
                <a:latin typeface="Garamond" pitchFamily="18" charset="0"/>
              </a:rPr>
              <a:t>So while the blockchain will not replace traditional corporate relational databases, it opens new doors for the movement and storage of transactional data, inside and outside global enterprises.</a:t>
            </a:r>
          </a:p>
          <a:p>
            <a:pPr marL="0" indent="0" algn="just">
              <a:buNone/>
            </a:pPr>
            <a:r>
              <a:rPr lang="en-US" sz="2000" dirty="0" smtClean="0">
                <a:latin typeface="Garamond" pitchFamily="18" charset="0"/>
              </a:rPr>
              <a:t>Driven primarily by investments in financial technology (</a:t>
            </a:r>
            <a:r>
              <a:rPr lang="en-US" sz="2000" dirty="0" err="1" smtClean="0">
                <a:latin typeface="Garamond" pitchFamily="18" charset="0"/>
              </a:rPr>
              <a:t>FinTech</a:t>
            </a:r>
            <a:r>
              <a:rPr lang="en-US" sz="2000" dirty="0" smtClean="0">
                <a:latin typeface="Garamond" pitchFamily="18" charset="0"/>
              </a:rPr>
              <a:t>), the blockchain has seen a rapid increase in its adoption for app development and pilot testing across numerous industries and, according to an ABI Research report, will generate over $10.6 billion in revenue by 2023. </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13</a:t>
            </a:fld>
            <a:endParaRPr lang="it-IT"/>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3600" b="1" dirty="0">
              <a:solidFill>
                <a:srgbClr val="FF0000"/>
              </a:solidFill>
              <a:latin typeface="Garamond" pitchFamily="18" charset="0"/>
            </a:endParaRPr>
          </a:p>
        </p:txBody>
      </p:sp>
      <p:sp>
        <p:nvSpPr>
          <p:cNvPr id="3" name="Segnaposto contenuto 2"/>
          <p:cNvSpPr>
            <a:spLocks noGrp="1"/>
          </p:cNvSpPr>
          <p:nvPr>
            <p:ph idx="1"/>
          </p:nvPr>
        </p:nvSpPr>
        <p:spPr>
          <a:xfrm>
            <a:off x="214282" y="1571612"/>
            <a:ext cx="8715436" cy="4929222"/>
          </a:xfrm>
        </p:spPr>
        <p:txBody>
          <a:bodyPr>
            <a:normAutofit/>
          </a:bodyPr>
          <a:lstStyle/>
          <a:p>
            <a:pPr marL="0" indent="0" algn="just">
              <a:buNone/>
            </a:pPr>
            <a:r>
              <a:rPr lang="en-US" sz="2000" dirty="0" smtClean="0">
                <a:latin typeface="Garamond" pitchFamily="18" charset="0"/>
              </a:rPr>
              <a:t>Most of this revenue is expected to come from software sales and services.</a:t>
            </a:r>
          </a:p>
          <a:p>
            <a:pPr marL="0" indent="0" algn="just">
              <a:buNone/>
            </a:pPr>
            <a:r>
              <a:rPr lang="en-US" sz="2000" dirty="0" smtClean="0">
                <a:latin typeface="Garamond" pitchFamily="18" charset="0"/>
              </a:rPr>
              <a:t>Adoption of the blockchain should be constant so the changes it brings will gain momentum. According to Crowd Innovation Lab and NASA Tournament Lab, set up by the Harvard Institute for Quantitative Social   Science, complete success will only happen if the technology shared.</a:t>
            </a:r>
          </a:p>
          <a:p>
            <a:pPr marL="0" indent="0" algn="just">
              <a:buNone/>
            </a:pPr>
            <a:r>
              <a:rPr lang="en-US" sz="2000" dirty="0" smtClean="0">
                <a:latin typeface="Garamond" pitchFamily="18" charset="0"/>
              </a:rPr>
              <a:t>As it has been said: "Conceptually, this is the Transmission Control Protocol / Internet Protocol (TCP / IP) applied to businesses  and to transactions": "The blockchain has the same potential."</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14</a:t>
            </a:fld>
            <a:endParaRPr lang="it-IT"/>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3600" b="1" dirty="0">
              <a:solidFill>
                <a:srgbClr val="FF0000"/>
              </a:solidFill>
              <a:latin typeface="Garamond" pitchFamily="18" charset="0"/>
            </a:endParaRPr>
          </a:p>
        </p:txBody>
      </p:sp>
      <p:sp>
        <p:nvSpPr>
          <p:cNvPr id="3" name="Segnaposto contenuto 2"/>
          <p:cNvSpPr>
            <a:spLocks noGrp="1"/>
          </p:cNvSpPr>
          <p:nvPr>
            <p:ph idx="1"/>
          </p:nvPr>
        </p:nvSpPr>
        <p:spPr>
          <a:xfrm>
            <a:off x="214282" y="1571612"/>
            <a:ext cx="8715436" cy="4929222"/>
          </a:xfrm>
        </p:spPr>
        <p:txBody>
          <a:bodyPr>
            <a:normAutofit/>
          </a:bodyPr>
          <a:lstStyle/>
          <a:p>
            <a:pPr marL="0" indent="0" algn="just">
              <a:buNone/>
            </a:pPr>
            <a:r>
              <a:rPr lang="en-US" sz="2000" dirty="0" smtClean="0">
                <a:latin typeface="Garamond" pitchFamily="18" charset="0"/>
              </a:rPr>
              <a:t>Martha Bennett, principal analyst at Forrester Research, pointed out that any blockchain or "DLT" project is a long-term, strategic, initiative and disappointment is inevitable, "…when the hoped-for miracles do not materialize." "It is unrealistic,” she continued,” to expect a 'solid' cost model or a 'definitive' claim on benefits because it is simply too early for that. To gather real evidence, we need to have a series of fully operational, large-scale deployments running for years. And we're just not there yet.” But we will arrive.</a:t>
            </a:r>
          </a:p>
          <a:p>
            <a:pPr marL="0" indent="0" algn="just">
              <a:buNone/>
            </a:pPr>
            <a:r>
              <a:rPr lang="en-US" sz="2000" dirty="0" smtClean="0">
                <a:latin typeface="Garamond" pitchFamily="18" charset="0"/>
              </a:rPr>
              <a:t> First, the blockchain is a public electronic ledger, built around a P2P system, which can be shared openly among disparate users, to create an immutable record of transactions, each time-stamped and linked to the  previous one.</a:t>
            </a:r>
          </a:p>
          <a:p>
            <a:pPr marL="0" indent="0" algn="just">
              <a:buNone/>
            </a:pPr>
            <a:r>
              <a:rPr lang="en-US" sz="2000" dirty="0" smtClean="0">
                <a:latin typeface="Garamond" pitchFamily="18" charset="0"/>
              </a:rPr>
              <a:t>Each time a set of transactions is added that data becomes another block in the chain (hence the name).</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15</a:t>
            </a:fld>
            <a:endParaRPr lang="it-IT"/>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3600" b="1" dirty="0">
              <a:solidFill>
                <a:srgbClr val="FF0000"/>
              </a:solidFill>
              <a:latin typeface="Garamond" pitchFamily="18" charset="0"/>
            </a:endParaRPr>
          </a:p>
        </p:txBody>
      </p:sp>
      <p:sp>
        <p:nvSpPr>
          <p:cNvPr id="3" name="Segnaposto contenuto 2"/>
          <p:cNvSpPr>
            <a:spLocks noGrp="1"/>
          </p:cNvSpPr>
          <p:nvPr>
            <p:ph idx="1"/>
          </p:nvPr>
        </p:nvSpPr>
        <p:spPr>
          <a:xfrm>
            <a:off x="214282" y="1571612"/>
            <a:ext cx="8715436" cy="4929222"/>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 blockchain can only be updated with the prior consent of all  participants in the system, and once new data has been entered, it can never be deleted (making traceability and archiving possible).</a:t>
            </a:r>
          </a:p>
          <a:p>
            <a:pPr marL="0" indent="0" algn="just">
              <a:buNone/>
            </a:pPr>
            <a:r>
              <a:rPr lang="en-US" sz="2000" dirty="0" smtClean="0">
                <a:latin typeface="Garamond" pitchFamily="18" charset="0"/>
              </a:rPr>
              <a:t>It is a write-once, happened-many technology, which makes it a verifiable record of every single transaction. Each digital record or transaction in the electronic ledger is called a block .</a:t>
            </a:r>
          </a:p>
          <a:p>
            <a:pPr marL="0" indent="0" algn="just">
              <a:buNone/>
            </a:pPr>
            <a:r>
              <a:rPr lang="en-US" sz="2000" dirty="0" smtClean="0">
                <a:latin typeface="Garamond" pitchFamily="18" charset="0"/>
              </a:rPr>
              <a:t>When a block is completed, it creates a unique security code that binds it to the next block.</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16</a:t>
            </a:fld>
            <a:endParaRPr lang="it-IT"/>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3600" b="1" dirty="0">
              <a:solidFill>
                <a:srgbClr val="FF0000"/>
              </a:solidFill>
              <a:latin typeface="Garamond" pitchFamily="18" charset="0"/>
            </a:endParaRPr>
          </a:p>
        </p:txBody>
      </p:sp>
      <p:sp>
        <p:nvSpPr>
          <p:cNvPr id="3" name="Segnaposto contenuto 2"/>
          <p:cNvSpPr>
            <a:spLocks noGrp="1"/>
          </p:cNvSpPr>
          <p:nvPr>
            <p:ph idx="1"/>
          </p:nvPr>
        </p:nvSpPr>
        <p:spPr>
          <a:xfrm>
            <a:off x="214282" y="1571612"/>
            <a:ext cx="8715436" cy="4929222"/>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Although it has great potential, the development of blockchain technology is still in its infancy.</a:t>
            </a:r>
          </a:p>
          <a:p>
            <a:pPr marL="0" indent="0" algn="just">
              <a:buNone/>
            </a:pPr>
            <a:r>
              <a:rPr lang="en-US" sz="2000" dirty="0" smtClean="0">
                <a:latin typeface="Garamond" pitchFamily="18" charset="0"/>
              </a:rPr>
              <a:t>And as some companies have already discovered, it is not the complete    solution to all tech problems.</a:t>
            </a:r>
          </a:p>
          <a:p>
            <a:pPr marL="0" indent="0" algn="just">
              <a:buNone/>
            </a:pPr>
            <a:r>
              <a:rPr lang="en-US" sz="2000" dirty="0" smtClean="0">
                <a:latin typeface="Garamond" pitchFamily="18" charset="0"/>
              </a:rPr>
              <a:t>While some industry groups are working to standardize versions of blockchain software, there are also hundreds of startups working on their own versions of the distributed ledger technology.</a:t>
            </a:r>
          </a:p>
          <a:p>
            <a:pPr marL="0" indent="0" algn="just">
              <a:buNone/>
            </a:pPr>
            <a:r>
              <a:rPr lang="en-US" sz="2000" dirty="0" smtClean="0">
                <a:latin typeface="Garamond" pitchFamily="18" charset="0"/>
              </a:rPr>
              <a:t>Only with this continual implementation will the best results be possible.</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17</a:t>
            </a:fld>
            <a:endParaRPr lang="it-IT"/>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900" b="1" dirty="0" smtClean="0">
                <a:solidFill>
                  <a:srgbClr val="FF0000"/>
                </a:solidFill>
                <a:latin typeface="Garamond" pitchFamily="18" charset="0"/>
              </a:rPr>
              <a:t>WHY HAS BLOCKCHAIN CREATED SO MUCH ENTHUSIASM?</a:t>
            </a:r>
            <a:r>
              <a:rPr lang="en-US" sz="3600" b="1" dirty="0" smtClean="0">
                <a:solidFill>
                  <a:srgbClr val="FF0000"/>
                </a:solidFill>
                <a:latin typeface="Garamond" pitchFamily="18" charset="0"/>
              </a:rPr>
              <a:t/>
            </a:r>
            <a:br>
              <a:rPr lang="en-US" sz="3600" b="1" dirty="0" smtClean="0">
                <a:solidFill>
                  <a:srgbClr val="FF0000"/>
                </a:solidFill>
                <a:latin typeface="Garamond" pitchFamily="18" charset="0"/>
              </a:rPr>
            </a:br>
            <a:endParaRPr lang="it-IT" sz="3600" b="1" dirty="0">
              <a:solidFill>
                <a:srgbClr val="FF0000"/>
              </a:solidFill>
              <a:latin typeface="Garamond" pitchFamily="18" charset="0"/>
            </a:endParaRPr>
          </a:p>
        </p:txBody>
      </p:sp>
      <p:sp>
        <p:nvSpPr>
          <p:cNvPr id="3" name="Segnaposto contenuto 2"/>
          <p:cNvSpPr>
            <a:spLocks noGrp="1"/>
          </p:cNvSpPr>
          <p:nvPr>
            <p:ph idx="1"/>
          </p:nvPr>
        </p:nvSpPr>
        <p:spPr>
          <a:xfrm>
            <a:off x="214282" y="1571612"/>
            <a:ext cx="8715436" cy="4929222"/>
          </a:xfrm>
        </p:spPr>
        <p:txBody>
          <a:bodyPr>
            <a:normAutofit/>
          </a:bodyPr>
          <a:lstStyle/>
          <a:p>
            <a:pPr marL="0" indent="0" algn="just">
              <a:buNone/>
            </a:pPr>
            <a:r>
              <a:rPr lang="en-US" sz="2000" dirty="0" smtClean="0">
                <a:latin typeface="Garamond" pitchFamily="18" charset="0"/>
              </a:rPr>
              <a:t>Blockchain has created so much enthusiasm because a cryptographic currency, </a:t>
            </a:r>
            <a:r>
              <a:rPr lang="en-US" sz="2000" dirty="0" err="1" smtClean="0">
                <a:latin typeface="Garamond" pitchFamily="18" charset="0"/>
              </a:rPr>
              <a:t>Bitcoin</a:t>
            </a:r>
            <a:r>
              <a:rPr lang="en-US" sz="2000" dirty="0" smtClean="0">
                <a:latin typeface="Garamond" pitchFamily="18" charset="0"/>
              </a:rPr>
              <a:t>, used in the financial sector, was the first application on a blockchain platform.</a:t>
            </a:r>
          </a:p>
          <a:p>
            <a:pPr marL="0" indent="0" algn="just">
              <a:buNone/>
            </a:pPr>
            <a:r>
              <a:rPr lang="en-US" sz="2000" dirty="0" smtClean="0">
                <a:latin typeface="Garamond" pitchFamily="18" charset="0"/>
              </a:rPr>
              <a:t>This was the first widely advertised </a:t>
            </a:r>
            <a:r>
              <a:rPr lang="en-US" sz="2000" dirty="0" err="1" smtClean="0">
                <a:latin typeface="Garamond" pitchFamily="18" charset="0"/>
              </a:rPr>
              <a:t>cryptocurrency</a:t>
            </a:r>
            <a:r>
              <a:rPr lang="en-US" sz="2000" dirty="0" smtClean="0">
                <a:latin typeface="Garamond" pitchFamily="18" charset="0"/>
              </a:rPr>
              <a:t> that allowed for payment transactions over an open network, without exposing the identities of individual </a:t>
            </a:r>
            <a:r>
              <a:rPr lang="en-US" sz="2000" dirty="0" err="1" smtClean="0">
                <a:latin typeface="Garamond" pitchFamily="18" charset="0"/>
              </a:rPr>
              <a:t>Bitcoin</a:t>
            </a:r>
            <a:r>
              <a:rPr lang="en-US" sz="2000" dirty="0" smtClean="0">
                <a:latin typeface="Garamond" pitchFamily="18" charset="0"/>
              </a:rPr>
              <a:t> owners.</a:t>
            </a:r>
          </a:p>
          <a:p>
            <a:pPr marL="0" indent="0" algn="just">
              <a:buNone/>
            </a:pPr>
            <a:r>
              <a:rPr lang="en-US" sz="2000" dirty="0" smtClean="0">
                <a:latin typeface="Garamond" pitchFamily="18" charset="0"/>
              </a:rPr>
              <a:t>Created in 2009, it was the very first example of decentralization. </a:t>
            </a:r>
          </a:p>
          <a:p>
            <a:pPr marL="0" indent="0" algn="just">
              <a:buNone/>
            </a:pPr>
            <a:r>
              <a:rPr lang="en-US" sz="2000" dirty="0" smtClean="0">
                <a:latin typeface="Garamond" pitchFamily="18" charset="0"/>
              </a:rPr>
              <a:t>Other forms of </a:t>
            </a:r>
            <a:r>
              <a:rPr lang="en-US" sz="2000" dirty="0" err="1" smtClean="0">
                <a:latin typeface="Garamond" pitchFamily="18" charset="0"/>
              </a:rPr>
              <a:t>cryptocurrency</a:t>
            </a:r>
            <a:r>
              <a:rPr lang="en-US" sz="2000" dirty="0" smtClean="0">
                <a:latin typeface="Garamond" pitchFamily="18" charset="0"/>
              </a:rPr>
              <a:t> or virtual money like Ether (based on the </a:t>
            </a:r>
            <a:r>
              <a:rPr lang="en-US" sz="2000" dirty="0" err="1" smtClean="0">
                <a:latin typeface="Garamond" pitchFamily="18" charset="0"/>
              </a:rPr>
              <a:t>Ethereum</a:t>
            </a:r>
            <a:r>
              <a:rPr lang="en-US" sz="2000" dirty="0" smtClean="0">
                <a:latin typeface="Garamond" pitchFamily="18" charset="0"/>
              </a:rPr>
              <a:t> blockchain application platform), have also gained considerable success and opened up new spaces for cross-border money exchanges. (</a:t>
            </a:r>
            <a:r>
              <a:rPr lang="en-US" sz="2000" dirty="0" err="1" smtClean="0">
                <a:latin typeface="Garamond" pitchFamily="18" charset="0"/>
              </a:rPr>
              <a:t>Ethereum</a:t>
            </a:r>
            <a:r>
              <a:rPr lang="en-US" sz="2000" dirty="0" smtClean="0">
                <a:latin typeface="Garamond" pitchFamily="18" charset="0"/>
              </a:rPr>
              <a:t> was introduced in 2013 by developer </a:t>
            </a:r>
            <a:r>
              <a:rPr lang="en-US" sz="2000" dirty="0" err="1" smtClean="0">
                <a:latin typeface="Garamond" pitchFamily="18" charset="0"/>
              </a:rPr>
              <a:t>Vitalik</a:t>
            </a:r>
            <a:r>
              <a:rPr lang="en-US" sz="2000" dirty="0" smtClean="0">
                <a:latin typeface="Garamond" pitchFamily="18" charset="0"/>
              </a:rPr>
              <a:t> </a:t>
            </a:r>
            <a:r>
              <a:rPr lang="en-US" sz="2000" dirty="0" err="1" smtClean="0">
                <a:latin typeface="Garamond" pitchFamily="18" charset="0"/>
              </a:rPr>
              <a:t>Buterin</a:t>
            </a:r>
            <a:r>
              <a:rPr lang="en-US" sz="2000" dirty="0" smtClean="0">
                <a:latin typeface="Garamond" pitchFamily="18" charset="0"/>
              </a:rPr>
              <a:t>, who was 19 at the time!!).</a:t>
            </a:r>
          </a:p>
          <a:p>
            <a:pPr marL="0" indent="0" algn="just">
              <a:buNone/>
            </a:pPr>
            <a:r>
              <a:rPr lang="en-US" sz="2000" dirty="0" smtClean="0">
                <a:latin typeface="Garamond" pitchFamily="18" charset="0"/>
              </a:rPr>
              <a:t>To date, there are many newly minted digital currency platforms, and this is the reason to consider the blockchain as here to stay.</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18</a:t>
            </a:fld>
            <a:endParaRPr lang="it-IT"/>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600" b="1" dirty="0" smtClean="0">
                <a:solidFill>
                  <a:srgbClr val="FF0000"/>
                </a:solidFill>
                <a:latin typeface="Garamond" pitchFamily="18" charset="0"/>
              </a:rPr>
              <a:t>THE BITCOIN EXAMPLE</a:t>
            </a:r>
            <a:br>
              <a:rPr lang="it-IT" sz="2600" b="1" dirty="0" smtClean="0">
                <a:solidFill>
                  <a:srgbClr val="FF0000"/>
                </a:solidFill>
                <a:latin typeface="Garamond" pitchFamily="18" charset="0"/>
              </a:rPr>
            </a:br>
            <a:endParaRPr lang="it-IT" sz="2600" b="1" dirty="0">
              <a:solidFill>
                <a:srgbClr val="FF0000"/>
              </a:solidFill>
              <a:latin typeface="Garamond" pitchFamily="18" charset="0"/>
            </a:endParaRPr>
          </a:p>
        </p:txBody>
      </p:sp>
      <p:sp>
        <p:nvSpPr>
          <p:cNvPr id="3" name="Segnaposto contenuto 2"/>
          <p:cNvSpPr>
            <a:spLocks noGrp="1"/>
          </p:cNvSpPr>
          <p:nvPr>
            <p:ph idx="1"/>
          </p:nvPr>
        </p:nvSpPr>
        <p:spPr>
          <a:xfrm>
            <a:off x="214282" y="1571612"/>
            <a:ext cx="8715436" cy="4929222"/>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earliest and most successful example of a digital currency transaction was </a:t>
            </a:r>
            <a:r>
              <a:rPr lang="en-US" sz="2000" dirty="0" err="1" smtClean="0">
                <a:latin typeface="Garamond" pitchFamily="18" charset="0"/>
              </a:rPr>
              <a:t>Bitcoin</a:t>
            </a:r>
            <a:r>
              <a:rPr lang="en-US" sz="2000" dirty="0" smtClean="0">
                <a:latin typeface="Garamond" pitchFamily="18" charset="0"/>
              </a:rPr>
              <a:t>. The term </a:t>
            </a:r>
            <a:r>
              <a:rPr lang="en-US" sz="2000" dirty="0" err="1" smtClean="0">
                <a:latin typeface="Garamond" pitchFamily="18" charset="0"/>
              </a:rPr>
              <a:t>Bitcoin</a:t>
            </a:r>
            <a:r>
              <a:rPr lang="en-US" sz="2000" dirty="0" smtClean="0">
                <a:latin typeface="Garamond" pitchFamily="18" charset="0"/>
              </a:rPr>
              <a:t> was first used in 2008, when Satoshi </a:t>
            </a:r>
            <a:r>
              <a:rPr lang="en-US" sz="2000" dirty="0" err="1" smtClean="0">
                <a:latin typeface="Garamond" pitchFamily="18" charset="0"/>
              </a:rPr>
              <a:t>Nakamoto</a:t>
            </a:r>
            <a:r>
              <a:rPr lang="en-US" sz="2000" dirty="0" smtClean="0">
                <a:latin typeface="Garamond" pitchFamily="18" charset="0"/>
              </a:rPr>
              <a:t> (probably a pseudonym for one or more developers), wrote an article about a peer-to-peer version of electronic money, which allowed online payments to be sent directly from one place to the other, without going through a financial institution.</a:t>
            </a:r>
          </a:p>
          <a:p>
            <a:pPr marL="0" indent="0" algn="just">
              <a:buNone/>
            </a:pPr>
            <a:r>
              <a:rPr lang="en-US" sz="2000" dirty="0" err="1" smtClean="0">
                <a:latin typeface="Garamond" pitchFamily="18" charset="0"/>
              </a:rPr>
              <a:t>Bitcoin</a:t>
            </a:r>
            <a:r>
              <a:rPr lang="en-US" sz="2000" dirty="0" smtClean="0">
                <a:latin typeface="Garamond" pitchFamily="18" charset="0"/>
              </a:rPr>
              <a:t>, however, has had its ups and downs, with its value dropping from a peak of nearly $20,000 to just over $3,500 (in 2020), mainly because it has no intrinsic value; its value is based on high demand and limited supply.</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19</a:t>
            </a:fld>
            <a:endParaRPr lang="it-IT"/>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3600" b="1" dirty="0">
              <a:solidFill>
                <a:srgbClr val="FF0000"/>
              </a:solidFill>
              <a:latin typeface="Garamond" pitchFamily="18" charset="0"/>
            </a:endParaRPr>
          </a:p>
        </p:txBody>
      </p:sp>
      <p:sp>
        <p:nvSpPr>
          <p:cNvPr id="3" name="Segnaposto contenuto 2"/>
          <p:cNvSpPr>
            <a:spLocks noGrp="1"/>
          </p:cNvSpPr>
          <p:nvPr>
            <p:ph idx="1"/>
          </p:nvPr>
        </p:nvSpPr>
        <p:spPr>
          <a:xfrm>
            <a:off x="214282" y="1571612"/>
            <a:ext cx="8715436" cy="4929222"/>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Unlike fiat currencies (i.e., national currencies) or shares, there are  no institutions or governments that underwrite the value of </a:t>
            </a:r>
            <a:r>
              <a:rPr lang="en-US" sz="2000" dirty="0" err="1" smtClean="0">
                <a:latin typeface="Garamond" pitchFamily="18" charset="0"/>
              </a:rPr>
              <a:t>Bitcoin</a:t>
            </a:r>
            <a:r>
              <a:rPr lang="en-US" sz="2000" dirty="0" smtClean="0">
                <a:latin typeface="Garamond" pitchFamily="18" charset="0"/>
              </a:rPr>
              <a:t>. That could change for </a:t>
            </a:r>
            <a:r>
              <a:rPr lang="en-US" sz="2000" dirty="0" err="1" smtClean="0">
                <a:latin typeface="Garamond" pitchFamily="18" charset="0"/>
              </a:rPr>
              <a:t>cryptocurrencies</a:t>
            </a:r>
            <a:r>
              <a:rPr lang="en-US" sz="2000" dirty="0" smtClean="0">
                <a:latin typeface="Garamond" pitchFamily="18" charset="0"/>
              </a:rPr>
              <a:t> someday, and governments have already made proposals for the creation of so-called </a:t>
            </a:r>
            <a:r>
              <a:rPr lang="en-US" sz="2000" dirty="0" err="1" smtClean="0">
                <a:latin typeface="Garamond" pitchFamily="18" charset="0"/>
              </a:rPr>
              <a:t>stablecoins</a:t>
            </a:r>
            <a:r>
              <a:rPr lang="en-US" sz="2000" dirty="0" smtClean="0">
                <a:latin typeface="Garamond" pitchFamily="18" charset="0"/>
              </a:rPr>
              <a:t>, or </a:t>
            </a:r>
            <a:r>
              <a:rPr lang="en-US" sz="2000" dirty="0" err="1" smtClean="0">
                <a:latin typeface="Garamond" pitchFamily="18" charset="0"/>
              </a:rPr>
              <a:t>cryptocurrencies</a:t>
            </a:r>
            <a:r>
              <a:rPr lang="en-US" sz="2000" dirty="0" smtClean="0">
                <a:latin typeface="Garamond" pitchFamily="18" charset="0"/>
              </a:rPr>
              <a:t> supported by a stable asset like gold or traditional fiat currency.</a:t>
            </a:r>
          </a:p>
          <a:p>
            <a:pPr marL="0" indent="0" algn="just">
              <a:buNone/>
            </a:pPr>
            <a:r>
              <a:rPr lang="en-US" sz="2000" dirty="0" smtClean="0">
                <a:latin typeface="Garamond" pitchFamily="18" charset="0"/>
              </a:rPr>
              <a:t>But the blockchain is also used to digitize other resources like cars, buildings, and even works of art (the NFT’s or Non Fungible Tokens).</a:t>
            </a:r>
          </a:p>
          <a:p>
            <a:pPr marL="0" indent="0" algn="just">
              <a:buNone/>
            </a:pPr>
            <a:r>
              <a:rPr lang="en-US" sz="2000" dirty="0" smtClean="0">
                <a:latin typeface="Garamond" pitchFamily="18" charset="0"/>
              </a:rPr>
              <a:t>What must be strongly stated is that this technology does not always, or even necessarily, need digital currency to realize its benefits.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20</a:t>
            </a:fld>
            <a:endParaRPr lang="it-IT"/>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fr-FR" sz="2900" b="1" dirty="0" smtClean="0">
                <a:solidFill>
                  <a:srgbClr val="FF0000"/>
                </a:solidFill>
                <a:latin typeface="Garamond" pitchFamily="18" charset="0"/>
              </a:rPr>
              <a:t>PUBLIC BLOCKCHAINS VS PRIVATE BLOCKCHAINS</a:t>
            </a:r>
            <a:r>
              <a:rPr lang="fr-FR" sz="3600" b="1" dirty="0" smtClean="0">
                <a:solidFill>
                  <a:srgbClr val="FF0000"/>
                </a:solidFill>
                <a:latin typeface="Garamond" pitchFamily="18" charset="0"/>
              </a:rPr>
              <a:t/>
            </a:r>
            <a:br>
              <a:rPr lang="fr-FR" sz="3600" b="1" dirty="0" smtClean="0">
                <a:solidFill>
                  <a:srgbClr val="FF0000"/>
                </a:solidFill>
                <a:latin typeface="Garamond" pitchFamily="18" charset="0"/>
              </a:rPr>
            </a:br>
            <a:endParaRPr lang="it-IT" sz="3600" b="1" dirty="0">
              <a:solidFill>
                <a:srgbClr val="FF0000"/>
              </a:solidFill>
              <a:latin typeface="Garamond" pitchFamily="18" charset="0"/>
            </a:endParaRPr>
          </a:p>
        </p:txBody>
      </p:sp>
      <p:sp>
        <p:nvSpPr>
          <p:cNvPr id="3" name="Segnaposto contenuto 2"/>
          <p:cNvSpPr>
            <a:spLocks noGrp="1"/>
          </p:cNvSpPr>
          <p:nvPr>
            <p:ph idx="1"/>
          </p:nvPr>
        </p:nvSpPr>
        <p:spPr>
          <a:xfrm>
            <a:off x="214282" y="1571612"/>
            <a:ext cx="8715436" cy="4929222"/>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As a peer-to-peer network, combined with a “distributed timestamp” server, public blockchain ledgers can be managed autonomously to exchange  information between the parties.</a:t>
            </a:r>
          </a:p>
          <a:p>
            <a:pPr marL="0" indent="0" algn="just">
              <a:buNone/>
            </a:pPr>
            <a:r>
              <a:rPr lang="en-US" sz="2000" dirty="0" smtClean="0">
                <a:latin typeface="Garamond" pitchFamily="18" charset="0"/>
              </a:rPr>
              <a:t>There is no need for an administrator. In fact, the blockchain users themselves are the administrators.</a:t>
            </a:r>
          </a:p>
          <a:p>
            <a:pPr marL="0" indent="0" algn="just">
              <a:buNone/>
            </a:pPr>
            <a:r>
              <a:rPr lang="en-US" sz="2000" dirty="0" smtClean="0">
                <a:latin typeface="Garamond" pitchFamily="18" charset="0"/>
              </a:rPr>
              <a:t>A second form of blockchain, known as a private or </a:t>
            </a:r>
            <a:r>
              <a:rPr lang="en-US" sz="2000" dirty="0" err="1" smtClean="0">
                <a:latin typeface="Garamond" pitchFamily="18" charset="0"/>
              </a:rPr>
              <a:t>permissioned</a:t>
            </a:r>
            <a:r>
              <a:rPr lang="en-US" sz="2000" dirty="0" smtClean="0">
                <a:latin typeface="Garamond" pitchFamily="18" charset="0"/>
              </a:rPr>
              <a:t> blockchain, allows companies to centrally create and administer their own transactional networks, which can be used with partners inside or outside the company.</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21</a:t>
            </a:fld>
            <a:endParaRPr lang="it-IT"/>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600" b="1" dirty="0" smtClean="0">
                <a:solidFill>
                  <a:srgbClr val="FF0000"/>
                </a:solidFill>
                <a:latin typeface="Garamond" pitchFamily="18" charset="0"/>
              </a:rPr>
              <a:t>EXAMPLES OF SMART CONTRACTS</a:t>
            </a:r>
            <a:br>
              <a:rPr lang="it-IT" sz="2600" b="1" dirty="0" smtClean="0">
                <a:solidFill>
                  <a:srgbClr val="FF0000"/>
                </a:solidFill>
                <a:latin typeface="Garamond" pitchFamily="18" charset="0"/>
              </a:rPr>
            </a:br>
            <a:endParaRPr lang="it-IT" sz="2600" b="1" dirty="0">
              <a:solidFill>
                <a:srgbClr val="FF0000"/>
              </a:solidFill>
              <a:latin typeface="Garamond" pitchFamily="18" charset="0"/>
            </a:endParaRPr>
          </a:p>
        </p:txBody>
      </p:sp>
      <p:sp>
        <p:nvSpPr>
          <p:cNvPr id="3" name="Segnaposto contenuto 2"/>
          <p:cNvSpPr>
            <a:spLocks noGrp="1"/>
          </p:cNvSpPr>
          <p:nvPr>
            <p:ph idx="1"/>
          </p:nvPr>
        </p:nvSpPr>
        <p:spPr>
          <a:xfrm>
            <a:off x="214282" y="1571612"/>
            <a:ext cx="8715436" cy="4929222"/>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Furthermore, blockchain networks can be used with "smart contracts" or "scripts," for business automation. These  contracts are executed when certain contractual conditions are met. The following examples can help explain the classification.</a:t>
            </a:r>
          </a:p>
          <a:p>
            <a:pPr marL="0" indent="0" algn="just">
              <a:buNone/>
            </a:pPr>
            <a:r>
              <a:rPr lang="en-US" sz="2000" dirty="0" smtClean="0">
                <a:latin typeface="Garamond" pitchFamily="18" charset="0"/>
              </a:rPr>
              <a:t>After a bad batch of lettuce caused customer illness, </a:t>
            </a:r>
            <a:r>
              <a:rPr lang="en-US" sz="2000" dirty="0" err="1" smtClean="0">
                <a:latin typeface="Garamond" pitchFamily="18" charset="0"/>
              </a:rPr>
              <a:t>Walmart</a:t>
            </a:r>
            <a:r>
              <a:rPr lang="en-US" sz="2000" dirty="0" smtClean="0">
                <a:latin typeface="Garamond" pitchFamily="18" charset="0"/>
              </a:rPr>
              <a:t> and IBM created a blockchain-based supply chain to track produce from farm to table. </a:t>
            </a:r>
            <a:r>
              <a:rPr lang="en-US" sz="2000" dirty="0" err="1" smtClean="0">
                <a:latin typeface="Garamond" pitchFamily="18" charset="0"/>
              </a:rPr>
              <a:t>Walmart</a:t>
            </a:r>
            <a:r>
              <a:rPr lang="en-US" sz="2000" dirty="0" smtClean="0">
                <a:latin typeface="Garamond" pitchFamily="18" charset="0"/>
              </a:rPr>
              <a:t> has been asking its fruit and vegetable suppliers to enter their data into the blockchain database, starting in September 2019.</a:t>
            </a:r>
          </a:p>
          <a:p>
            <a:pPr marL="0" indent="0" algn="just">
              <a:buNone/>
            </a:pPr>
            <a:r>
              <a:rPr lang="en-US" sz="2000" dirty="0" smtClean="0">
                <a:latin typeface="Garamond" pitchFamily="18" charset="0"/>
              </a:rPr>
              <a:t>Once on the blockchain, products can be tracked automatically from point to point, via smart contracts, removing human intervention and error, and providing information on the passage and quality of the products at every step of the way</a:t>
            </a: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22</a:t>
            </a:fld>
            <a:endParaRPr lang="it-IT"/>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3600" b="1" dirty="0">
              <a:solidFill>
                <a:srgbClr val="FF0000"/>
              </a:solidFill>
              <a:latin typeface="Garamond" pitchFamily="18" charset="0"/>
            </a:endParaRPr>
          </a:p>
        </p:txBody>
      </p:sp>
      <p:sp>
        <p:nvSpPr>
          <p:cNvPr id="3" name="Segnaposto contenuto 2"/>
          <p:cNvSpPr>
            <a:spLocks noGrp="1"/>
          </p:cNvSpPr>
          <p:nvPr>
            <p:ph idx="1"/>
          </p:nvPr>
        </p:nvSpPr>
        <p:spPr>
          <a:xfrm>
            <a:off x="214282" y="1571612"/>
            <a:ext cx="8715436" cy="4929222"/>
          </a:xfrm>
        </p:spPr>
        <p:txBody>
          <a:bodyPr>
            <a:normAutofit/>
          </a:bodyPr>
          <a:lstStyle/>
          <a:p>
            <a:pPr marL="0" indent="0" algn="just">
              <a:buNone/>
            </a:pPr>
            <a:r>
              <a:rPr lang="en-US" sz="2000" dirty="0" smtClean="0">
                <a:latin typeface="Garamond" pitchFamily="18" charset="0"/>
              </a:rPr>
              <a:t>The De Beers company, which controls about 35% of the  world's diamond production, has launched a blockchain-based supply chain to monitor the authenticity of the diamonds and ensure that they do not come from war-torn regions, where the diamond miners are exploited.</a:t>
            </a:r>
          </a:p>
          <a:p>
            <a:pPr marL="0" indent="0" algn="just">
              <a:buNone/>
            </a:pPr>
            <a:r>
              <a:rPr lang="en-US" sz="2000" dirty="0" smtClean="0">
                <a:latin typeface="Garamond" pitchFamily="18" charset="0"/>
              </a:rPr>
              <a:t>Smart contracts can also be used to approve the transfer of assets, including real estate. Once the conditions are met between buyers, sellers, and their financial institutions, real estate sales can be confirmed on DLT and archived there forever.</a:t>
            </a:r>
          </a:p>
          <a:p>
            <a:pPr marL="0" indent="0" algn="just">
              <a:buNone/>
            </a:pPr>
            <a:endParaRPr lang="en-US" sz="2000" dirty="0">
              <a:latin typeface="Garamond" pitchFamily="18" charset="0"/>
            </a:endParaRPr>
          </a:p>
          <a:p>
            <a:pPr marL="0" indent="0" algn="just">
              <a:buNone/>
            </a:pPr>
            <a:r>
              <a:rPr lang="en-US" sz="2000" dirty="0" err="1" smtClean="0">
                <a:latin typeface="Garamond" pitchFamily="18" charset="0"/>
              </a:rPr>
              <a:t>ShelterZoom</a:t>
            </a:r>
            <a:r>
              <a:rPr lang="en-US" sz="2000" dirty="0" smtClean="0">
                <a:latin typeface="Garamond" pitchFamily="18" charset="0"/>
              </a:rPr>
              <a:t>, New York-based company, has launched a mobile real estate app where realtors and clients can see all offers and acceptances online, in real time. This also allows access to property titles, mortgages, legal documents, and home inspection information through the </a:t>
            </a:r>
            <a:r>
              <a:rPr lang="en-US" sz="2000" dirty="0" err="1" smtClean="0">
                <a:latin typeface="Garamond" pitchFamily="18" charset="0"/>
              </a:rPr>
              <a:t>Ethereum</a:t>
            </a:r>
            <a:r>
              <a:rPr lang="en-US" sz="2000" dirty="0" smtClean="0">
                <a:latin typeface="Garamond" pitchFamily="18" charset="0"/>
              </a:rPr>
              <a:t>-based encrypted blockchain ledger, with guarantees of authenticity, security, and privacy.</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23</a:t>
            </a:fld>
            <a:endParaRPr lang="it-IT"/>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en-US" sz="2600" b="1" dirty="0" smtClean="0">
                <a:solidFill>
                  <a:srgbClr val="FF0000"/>
                </a:solidFill>
                <a:latin typeface="Garamond" pitchFamily="18" charset="0"/>
              </a:rPr>
              <a:t>HOW SECURE IS THE BLOCKCHAIN?</a:t>
            </a:r>
            <a:br>
              <a:rPr lang="en-US" sz="2600" b="1" dirty="0" smtClean="0">
                <a:solidFill>
                  <a:srgbClr val="FF0000"/>
                </a:solidFill>
                <a:latin typeface="Garamond" pitchFamily="18" charset="0"/>
              </a:rPr>
            </a:br>
            <a:endParaRPr lang="it-IT" sz="2600" b="1" dirty="0">
              <a:solidFill>
                <a:srgbClr val="FF0000"/>
              </a:solidFill>
              <a:latin typeface="Garamond" pitchFamily="18" charset="0"/>
            </a:endParaRPr>
          </a:p>
        </p:txBody>
      </p:sp>
      <p:sp>
        <p:nvSpPr>
          <p:cNvPr id="3" name="Segnaposto contenuto 2"/>
          <p:cNvSpPr>
            <a:spLocks noGrp="1"/>
          </p:cNvSpPr>
          <p:nvPr>
            <p:ph idx="1"/>
          </p:nvPr>
        </p:nvSpPr>
        <p:spPr>
          <a:xfrm>
            <a:off x="214282" y="1571612"/>
            <a:ext cx="8715436" cy="4929222"/>
          </a:xfrm>
        </p:spPr>
        <p:txBody>
          <a:bodyPr>
            <a:normAutofit/>
          </a:bodyPr>
          <a:lstStyle/>
          <a:p>
            <a:pPr marL="0" indent="0" algn="just">
              <a:buNone/>
            </a:pPr>
            <a:r>
              <a:rPr lang="en-US" sz="2000" dirty="0" smtClean="0">
                <a:latin typeface="Garamond" pitchFamily="18" charset="0"/>
              </a:rPr>
              <a:t>Although no system is "non-</a:t>
            </a:r>
            <a:r>
              <a:rPr lang="en-US" sz="2000" dirty="0" err="1" smtClean="0">
                <a:latin typeface="Garamond" pitchFamily="18" charset="0"/>
              </a:rPr>
              <a:t>hackable</a:t>
            </a:r>
            <a:r>
              <a:rPr lang="en-US" sz="2000" dirty="0" smtClean="0">
                <a:latin typeface="Garamond" pitchFamily="18" charset="0"/>
              </a:rPr>
              <a:t>," the simple type of blockchain is the most secure system today, according to Alex </a:t>
            </a:r>
            <a:r>
              <a:rPr lang="en-US" sz="2000" dirty="0" err="1" smtClean="0">
                <a:latin typeface="Garamond" pitchFamily="18" charset="0"/>
              </a:rPr>
              <a:t>Tapscott</a:t>
            </a:r>
            <a:r>
              <a:rPr lang="en-US" sz="2000" dirty="0" smtClean="0">
                <a:latin typeface="Garamond" pitchFamily="18" charset="0"/>
              </a:rPr>
              <a:t>, CEO and founder of Northwest Passage Ventures, a venture capital firm which invests in blockchain technology companies. </a:t>
            </a:r>
            <a:r>
              <a:rPr lang="en-US" sz="2000" dirty="0" err="1" smtClean="0">
                <a:latin typeface="Garamond" pitchFamily="18" charset="0"/>
              </a:rPr>
              <a:t>Tapscott</a:t>
            </a:r>
            <a:r>
              <a:rPr lang="en-US" sz="2000" dirty="0" smtClean="0">
                <a:latin typeface="Garamond" pitchFamily="18" charset="0"/>
              </a:rPr>
              <a:t> is also the author of one of the best-selling  books on the blockchain. </a:t>
            </a:r>
          </a:p>
          <a:p>
            <a:pPr marL="0" indent="0" algn="just">
              <a:buNone/>
            </a:pPr>
            <a:r>
              <a:rPr lang="en-US" sz="2000" dirty="0" smtClean="0">
                <a:latin typeface="Garamond" pitchFamily="18" charset="0"/>
              </a:rPr>
              <a:t>In order to move anything of value, on any type of blockchain, the network [of nodes] must first agree that the transaction is valid. This means that no single entity (including the government) can enter and decree whether a transaction has taken place.</a:t>
            </a:r>
          </a:p>
          <a:p>
            <a:pPr marL="0" indent="0" algn="just">
              <a:buNone/>
            </a:pPr>
            <a:r>
              <a:rPr lang="en-US" sz="2000" dirty="0" smtClean="0">
                <a:latin typeface="Garamond" pitchFamily="18" charset="0"/>
              </a:rPr>
              <a:t>"To hack a blockchain system, you don’t just hack a system, like in a bank..., you have to hack every single computer on that network, which is fighting you as you go," says </a:t>
            </a:r>
            <a:r>
              <a:rPr lang="en-US" sz="2000" dirty="0" err="1" smtClean="0">
                <a:latin typeface="Garamond" pitchFamily="18" charset="0"/>
              </a:rPr>
              <a:t>Tapscott</a:t>
            </a:r>
            <a:r>
              <a:rPr lang="en-US" sz="2000" dirty="0" smtClean="0">
                <a:latin typeface="Garamond" pitchFamily="18" charset="0"/>
              </a:rPr>
              <a:t>.</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24</a:t>
            </a:fld>
            <a:endParaRPr lang="it-IT"/>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3600" b="1" dirty="0">
              <a:solidFill>
                <a:srgbClr val="FF0000"/>
              </a:solidFill>
              <a:latin typeface="Garamond" pitchFamily="18" charset="0"/>
            </a:endParaRPr>
          </a:p>
        </p:txBody>
      </p:sp>
      <p:sp>
        <p:nvSpPr>
          <p:cNvPr id="3" name="Segnaposto contenuto 2"/>
          <p:cNvSpPr>
            <a:spLocks noGrp="1"/>
          </p:cNvSpPr>
          <p:nvPr>
            <p:ph idx="1"/>
          </p:nvPr>
        </p:nvSpPr>
        <p:spPr>
          <a:xfrm>
            <a:off x="214282" y="1571612"/>
            <a:ext cx="8715436" cy="4929222"/>
          </a:xfrm>
        </p:spPr>
        <p:txBody>
          <a:bodyPr>
            <a:normAutofit/>
          </a:bodyPr>
          <a:lstStyle/>
          <a:p>
            <a:pPr marL="0" indent="0" algn="just">
              <a:buNone/>
            </a:pPr>
            <a:r>
              <a:rPr lang="en-US" sz="2000" dirty="0" smtClean="0">
                <a:latin typeface="Garamond" pitchFamily="18" charset="0"/>
              </a:rPr>
              <a:t>So, once again, [it's not] inaccessible, but significantly better as a system than anything that has been invented to date.</a:t>
            </a:r>
          </a:p>
          <a:p>
            <a:pPr marL="0" indent="0" algn="just">
              <a:buNone/>
            </a:pPr>
            <a:r>
              <a:rPr lang="en-US" sz="2000" dirty="0" smtClean="0">
                <a:latin typeface="Garamond" pitchFamily="18" charset="0"/>
              </a:rPr>
              <a:t>As with any emerging technology, blockchain faces challenges and obstacles and even threats to its adoption.</a:t>
            </a:r>
          </a:p>
          <a:p>
            <a:pPr marL="0" indent="0" algn="just">
              <a:buNone/>
            </a:pPr>
            <a:r>
              <a:rPr lang="en-US" sz="2000" dirty="0" smtClean="0">
                <a:latin typeface="Garamond" pitchFamily="18" charset="0"/>
              </a:rPr>
              <a:t>But even a wider platform can't always prevent hacks!</a:t>
            </a:r>
          </a:p>
          <a:p>
            <a:pPr marL="0" indent="0" algn="just">
              <a:buNone/>
            </a:pPr>
            <a:r>
              <a:rPr lang="en-US" sz="2000" dirty="0" smtClean="0">
                <a:latin typeface="Garamond" pitchFamily="18" charset="0"/>
              </a:rPr>
              <a:t>As a fairly recent "51% attack" on the </a:t>
            </a:r>
            <a:r>
              <a:rPr lang="en-US" sz="2000" dirty="0" err="1" smtClean="0">
                <a:latin typeface="Garamond" pitchFamily="18" charset="0"/>
              </a:rPr>
              <a:t>Ethereum</a:t>
            </a:r>
            <a:r>
              <a:rPr lang="en-US" sz="2000" dirty="0" smtClean="0">
                <a:latin typeface="Garamond" pitchFamily="18" charset="0"/>
              </a:rPr>
              <a:t> Classic token exchange has shown, even the blockchain is not totally impervious to the criminal activity.</a:t>
            </a:r>
          </a:p>
          <a:p>
            <a:pPr marL="0" indent="0" algn="just">
              <a:buNone/>
            </a:pPr>
            <a:r>
              <a:rPr lang="en-US" sz="2000" dirty="0" smtClean="0">
                <a:latin typeface="Garamond" pitchFamily="18" charset="0"/>
              </a:rPr>
              <a:t>In that case, a bad actor (or multiple bad actors), gained control of most of the CPUs (Central Process Units), in a "</a:t>
            </a:r>
            <a:r>
              <a:rPr lang="en-US" sz="2000" dirty="0" err="1" smtClean="0">
                <a:latin typeface="Garamond" pitchFamily="18" charset="0"/>
              </a:rPr>
              <a:t>cryptocurrency</a:t>
            </a:r>
            <a:r>
              <a:rPr lang="en-US" sz="2000" dirty="0" smtClean="0">
                <a:latin typeface="Garamond" pitchFamily="18" charset="0"/>
              </a:rPr>
              <a:t> mining pool."</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25</a:t>
            </a:fld>
            <a:endParaRPr lang="it-IT"/>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3600" b="1" dirty="0">
              <a:solidFill>
                <a:srgbClr val="FF0000"/>
              </a:solidFill>
              <a:latin typeface="Garamond" pitchFamily="18" charset="0"/>
            </a:endParaRPr>
          </a:p>
        </p:txBody>
      </p:sp>
      <p:sp>
        <p:nvSpPr>
          <p:cNvPr id="3" name="Segnaposto contenuto 2"/>
          <p:cNvSpPr>
            <a:spLocks noGrp="1"/>
          </p:cNvSpPr>
          <p:nvPr>
            <p:ph idx="1"/>
          </p:nvPr>
        </p:nvSpPr>
        <p:spPr>
          <a:xfrm>
            <a:off x="214282" y="1571612"/>
            <a:ext cx="8715436" cy="4929222"/>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a:latin typeface="Garamond" pitchFamily="18" charset="0"/>
            </a:endParaRPr>
          </a:p>
          <a:p>
            <a:pPr marL="0" indent="0" algn="just">
              <a:buNone/>
            </a:pPr>
            <a:endParaRPr lang="en-US" sz="2000" smtClean="0">
              <a:latin typeface="Garamond" pitchFamily="18" charset="0"/>
            </a:endParaRPr>
          </a:p>
          <a:p>
            <a:pPr marL="0" indent="0" algn="just">
              <a:buNone/>
            </a:pPr>
            <a:r>
              <a:rPr lang="en-US" sz="2000" smtClean="0">
                <a:latin typeface="Garamond" pitchFamily="18" charset="0"/>
              </a:rPr>
              <a:t>Such </a:t>
            </a:r>
            <a:r>
              <a:rPr lang="en-US" sz="2000" dirty="0" smtClean="0">
                <a:latin typeface="Garamond" pitchFamily="18" charset="0"/>
              </a:rPr>
              <a:t>attacks are generally limited to smaller </a:t>
            </a:r>
            <a:r>
              <a:rPr lang="en-US" sz="2000" dirty="0" err="1" smtClean="0">
                <a:latin typeface="Garamond" pitchFamily="18" charset="0"/>
              </a:rPr>
              <a:t>blockchains</a:t>
            </a:r>
            <a:r>
              <a:rPr lang="en-US" sz="2000" dirty="0" smtClean="0">
                <a:latin typeface="Garamond" pitchFamily="18" charset="0"/>
              </a:rPr>
              <a:t>, with fewer nodes, which are more susceptible to control by a single source, according to the Proof of Work (</a:t>
            </a:r>
            <a:r>
              <a:rPr lang="en-US" sz="2000" dirty="0" err="1" smtClean="0">
                <a:latin typeface="Garamond" pitchFamily="18" charset="0"/>
              </a:rPr>
              <a:t>PoW</a:t>
            </a:r>
            <a:r>
              <a:rPr lang="en-US" sz="2000" dirty="0" smtClean="0">
                <a:latin typeface="Garamond" pitchFamily="18" charset="0"/>
              </a:rPr>
              <a:t>) consensus mechanism. This remains a difficult hypothesis to enact, however, since it involves an enormous effort for  the “bad guys.”</a:t>
            </a:r>
          </a:p>
          <a:p>
            <a:pPr marL="0" indent="0" algn="just">
              <a:buNone/>
            </a:pPr>
            <a:r>
              <a:rPr lang="en-US" sz="2000" dirty="0" smtClean="0">
                <a:latin typeface="Garamond" pitchFamily="18" charset="0"/>
              </a:rPr>
              <a:t>According to Bruce </a:t>
            </a:r>
            <a:r>
              <a:rPr lang="en-US" sz="2000" dirty="0" err="1" smtClean="0">
                <a:latin typeface="Garamond" pitchFamily="18" charset="0"/>
              </a:rPr>
              <a:t>Schneier</a:t>
            </a:r>
            <a:r>
              <a:rPr lang="en-US" sz="2000" dirty="0" smtClean="0">
                <a:latin typeface="Garamond" pitchFamily="18" charset="0"/>
              </a:rPr>
              <a:t>, cryptographer and security expert, even if blockchain networks tend to be secure, the applications  running on them can be improved.</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26</a:t>
            </a:fld>
            <a:endParaRPr lang="it-IT"/>
          </a:p>
        </p:txBody>
      </p:sp>
    </p:spTree>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376</TotalTime>
  <Words>2810</Words>
  <Application>Microsoft Office PowerPoint</Application>
  <PresentationFormat>Presentazione su schermo (4:3)</PresentationFormat>
  <Paragraphs>189</Paragraphs>
  <Slides>26</Slides>
  <Notes>0</Notes>
  <HiddenSlides>0</HiddenSlides>
  <MMClips>0</MMClips>
  <ScaleCrop>false</ScaleCrop>
  <HeadingPairs>
    <vt:vector size="4" baseType="variant">
      <vt:variant>
        <vt:lpstr>Tema</vt:lpstr>
      </vt:variant>
      <vt:variant>
        <vt:i4>1</vt:i4>
      </vt:variant>
      <vt:variant>
        <vt:lpstr>Titoli diapositive</vt:lpstr>
      </vt:variant>
      <vt:variant>
        <vt:i4>26</vt:i4>
      </vt:variant>
    </vt:vector>
  </HeadingPairs>
  <TitlesOfParts>
    <vt:vector size="27" baseType="lpstr">
      <vt:lpstr>Tema di Office</vt:lpstr>
      <vt:lpstr>LEZIONE N. 3</vt:lpstr>
      <vt:lpstr>  WEB 3.0: THE SUCCESSOR OF WEB 2.0 </vt:lpstr>
      <vt:lpstr>Diapositiva 3</vt:lpstr>
      <vt:lpstr>BLOCKCHAIN VS DATABASE </vt:lpstr>
      <vt:lpstr>INITIAL CONSIDERATIONS </vt:lpstr>
      <vt:lpstr>Diapositiva 6</vt:lpstr>
      <vt:lpstr>Diapositiva 7</vt:lpstr>
      <vt:lpstr>Diapositiva 8</vt:lpstr>
      <vt:lpstr>BLOCKCHAIN ENABLERS: FUNCTIONS. </vt:lpstr>
      <vt:lpstr>Diapositiva 10</vt:lpstr>
      <vt:lpstr>INTRODUCTION </vt:lpstr>
      <vt:lpstr>Diapositiva 12</vt:lpstr>
      <vt:lpstr>Diapositiva 13</vt:lpstr>
      <vt:lpstr>Diapositiva 14</vt:lpstr>
      <vt:lpstr>Diapositiva 15</vt:lpstr>
      <vt:lpstr>Diapositiva 16</vt:lpstr>
      <vt:lpstr>Diapositiva 17</vt:lpstr>
      <vt:lpstr>WHY HAS BLOCKCHAIN CREATED SO MUCH ENTHUSIASM? </vt:lpstr>
      <vt:lpstr>THE BITCOIN EXAMPLE </vt:lpstr>
      <vt:lpstr>Diapositiva 20</vt:lpstr>
      <vt:lpstr>PUBLIC BLOCKCHAINS VS PRIVATE BLOCKCHAINS </vt:lpstr>
      <vt:lpstr>EXAMPLES OF SMART CONTRACTS </vt:lpstr>
      <vt:lpstr>Diapositiva 23</vt:lpstr>
      <vt:lpstr>HOW SECURE IS THE BLOCKCHAIN? </vt:lpstr>
      <vt:lpstr>Diapositiva 25</vt:lpstr>
      <vt:lpstr>Diapositiva 26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Alessandro</dc:creator>
  <cp:lastModifiedBy>Alessandro</cp:lastModifiedBy>
  <cp:revision>84</cp:revision>
  <dcterms:created xsi:type="dcterms:W3CDTF">2022-09-16T10:16:52Z</dcterms:created>
  <dcterms:modified xsi:type="dcterms:W3CDTF">2024-05-15T10:37:33Z</dcterms:modified>
</cp:coreProperties>
</file>