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81"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CFF8916-8B83-4D06-ADA2-3A22ADC07F9D}" type="datetimeFigureOut">
              <a:rPr lang="it-IT" smtClean="0"/>
              <a:pPr/>
              <a:t>15/05/2024</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2DA86D-F364-496D-94DB-DBB65B739148}"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C79D264F-B933-4E85-8F5F-4007F532ADB6}"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52BA4C43-520B-4C8F-A3A4-DC0C27743990}"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AEEA6C10-659D-4847-9DE1-204482725618}"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12C72FEA-F5BD-48C5-84CE-E764F7BAF475}"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F0E1049D-77FD-4638-A5E0-B3B39FEA7BE1}" type="datetime1">
              <a:rPr lang="it-IT" smtClean="0"/>
              <a:pPr/>
              <a:t>15/05/2024</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717CE98F-61AC-422C-829A-AA9F7B4CE056}" type="datetime1">
              <a:rPr lang="it-IT" smtClean="0"/>
              <a:pPr/>
              <a:t>15/05/2024</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17CF879D-A223-4F1C-81FF-B377C835E196}" type="datetime1">
              <a:rPr lang="it-IT" smtClean="0"/>
              <a:pPr/>
              <a:t>15/05/2024</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4338243E-7E01-4051-84DD-79456AB56133}"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5D887516-7C30-430F-860A-7E13DC83C385}"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CA32FB14-BCE1-4E2E-B65F-1CC57DB49A78}"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4650F9B1-DECF-45D2-B81F-3B27FA6BE337}"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37CAA2-4347-4E8C-A802-D56719A55CFE}" type="datetime1">
              <a:rPr lang="it-IT" smtClean="0"/>
              <a:pPr/>
              <a:t>15/05/2024</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037524-BE4B-42AE-9CE2-18539AD13956}"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714348" y="1071547"/>
            <a:ext cx="7772400" cy="1143008"/>
          </a:xfrm>
        </p:spPr>
        <p:txBody>
          <a:bodyPr>
            <a:normAutofit/>
          </a:bodyPr>
          <a:lstStyle/>
          <a:p>
            <a:r>
              <a:rPr lang="it-IT" sz="2800" dirty="0" smtClean="0">
                <a:solidFill>
                  <a:srgbClr val="FF0000"/>
                </a:solidFill>
              </a:rPr>
              <a:t>LEZIONE N. 7</a:t>
            </a:r>
            <a:endParaRPr lang="it-IT" sz="2800" dirty="0">
              <a:solidFill>
                <a:srgbClr val="FF0000"/>
              </a:solidFill>
            </a:endParaRPr>
          </a:p>
        </p:txBody>
      </p:sp>
      <p:sp>
        <p:nvSpPr>
          <p:cNvPr id="3" name="Sottotitolo 2"/>
          <p:cNvSpPr>
            <a:spLocks noGrp="1"/>
          </p:cNvSpPr>
          <p:nvPr>
            <p:ph type="subTitle" idx="1"/>
          </p:nvPr>
        </p:nvSpPr>
        <p:spPr>
          <a:xfrm>
            <a:off x="428596" y="2428868"/>
            <a:ext cx="8286808" cy="3857652"/>
          </a:xfrm>
        </p:spPr>
        <p:txBody>
          <a:bodyPr>
            <a:normAutofit/>
          </a:bodyPr>
          <a:lstStyle/>
          <a:p>
            <a:pPr marL="457200" indent="-457200" algn="just">
              <a:buFont typeface="+mj-lt"/>
              <a:buAutoNum type="arabicPeriod"/>
            </a:pPr>
            <a:r>
              <a:rPr lang="en-US" sz="2000" b="1" dirty="0" smtClean="0">
                <a:solidFill>
                  <a:schemeClr val="tx1"/>
                </a:solidFill>
                <a:latin typeface="Garamond" pitchFamily="18" charset="0"/>
              </a:rPr>
              <a:t>Verification and information problems in practice</a:t>
            </a:r>
          </a:p>
          <a:p>
            <a:pPr marL="457200" indent="-457200" algn="just">
              <a:buFont typeface="+mj-lt"/>
              <a:buAutoNum type="arabicPeriod"/>
            </a:pPr>
            <a:r>
              <a:rPr lang="en-US" sz="2000" b="1" dirty="0" smtClean="0">
                <a:solidFill>
                  <a:schemeClr val="tx1"/>
                </a:solidFill>
                <a:latin typeface="Garamond" pitchFamily="18" charset="0"/>
              </a:rPr>
              <a:t>The blockchain and industrial organization: the problem of collusion</a:t>
            </a:r>
          </a:p>
          <a:p>
            <a:pPr marL="457200" indent="-457200" algn="just">
              <a:buFont typeface="+mj-lt"/>
              <a:buAutoNum type="arabicPeriod"/>
            </a:pPr>
            <a:r>
              <a:rPr lang="en-US" sz="2000" b="1" dirty="0" smtClean="0">
                <a:solidFill>
                  <a:schemeClr val="tx1"/>
                </a:solidFill>
                <a:latin typeface="Garamond" pitchFamily="18" charset="0"/>
              </a:rPr>
              <a:t>Measures to reduce collusion on the blockchain</a:t>
            </a:r>
          </a:p>
          <a:p>
            <a:pPr marL="457200" indent="-457200" algn="just">
              <a:buFont typeface="+mj-lt"/>
              <a:buAutoNum type="arabicPeriod"/>
            </a:pPr>
            <a:r>
              <a:rPr lang="en-US" sz="2000" b="1" dirty="0" smtClean="0">
                <a:solidFill>
                  <a:schemeClr val="tx1"/>
                </a:solidFill>
                <a:latin typeface="Garamond" pitchFamily="18" charset="0"/>
              </a:rPr>
              <a:t>A potential solution: separating usage  from consensus generation</a:t>
            </a:r>
          </a:p>
          <a:p>
            <a:pPr marL="457200" indent="-457200" algn="just">
              <a:buFont typeface="+mj-lt"/>
              <a:buAutoNum type="arabicPeriod"/>
            </a:pPr>
            <a:r>
              <a:rPr lang="en-US" sz="2000" b="1" dirty="0" smtClean="0">
                <a:solidFill>
                  <a:schemeClr val="tx1"/>
                </a:solidFill>
                <a:latin typeface="Garamond" pitchFamily="18" charset="0"/>
              </a:rPr>
              <a:t>Final considerations</a:t>
            </a:r>
          </a:p>
          <a:p>
            <a:endParaRPr lang="it-IT" dirty="0"/>
          </a:p>
        </p:txBody>
      </p:sp>
      <p:sp>
        <p:nvSpPr>
          <p:cNvPr id="4" name="CasellaDiTesto 3"/>
          <p:cNvSpPr txBox="1"/>
          <p:nvPr/>
        </p:nvSpPr>
        <p:spPr>
          <a:xfrm>
            <a:off x="3000364" y="416462"/>
            <a:ext cx="3071834" cy="369332"/>
          </a:xfrm>
          <a:prstGeom prst="rect">
            <a:avLst/>
          </a:prstGeom>
          <a:noFill/>
        </p:spPr>
        <p:txBody>
          <a:bodyPr wrap="square" rtlCol="0">
            <a:spAutoFit/>
          </a:bodyPr>
          <a:lstStyle/>
          <a:p>
            <a:pPr algn="ctr"/>
            <a:r>
              <a:rPr lang="it-IT" b="1" dirty="0" smtClean="0">
                <a:latin typeface="Garamond" pitchFamily="18" charset="0"/>
              </a:rPr>
              <a:t>Prof. Maria </a:t>
            </a:r>
            <a:r>
              <a:rPr lang="it-IT" b="1" dirty="0" err="1" smtClean="0">
                <a:latin typeface="Garamond" pitchFamily="18" charset="0"/>
              </a:rPr>
              <a:t>Bruccoleri</a:t>
            </a:r>
            <a:r>
              <a:rPr lang="it-IT" b="1" dirty="0" smtClean="0">
                <a:latin typeface="Garamond" pitchFamily="18" charset="0"/>
              </a:rPr>
              <a:t> </a:t>
            </a:r>
            <a:endParaRPr lang="it-IT" b="1" dirty="0">
              <a:latin typeface="Garamond" pitchFamily="18" charset="0"/>
            </a:endParaRPr>
          </a:p>
        </p:txBody>
      </p:sp>
      <p:sp>
        <p:nvSpPr>
          <p:cNvPr id="5" name="Segnaposto numero diapositiva 4"/>
          <p:cNvSpPr>
            <a:spLocks noGrp="1"/>
          </p:cNvSpPr>
          <p:nvPr>
            <p:ph type="sldNum" sz="quarter" idx="12"/>
          </p:nvPr>
        </p:nvSpPr>
        <p:spPr/>
        <p:txBody>
          <a:bodyPr/>
          <a:lstStyle/>
          <a:p>
            <a:fld id="{6A037524-BE4B-42AE-9CE2-18539AD13956}" type="slidenum">
              <a:rPr lang="it-IT" smtClean="0"/>
              <a:pPr/>
              <a:t>1</a:t>
            </a:fld>
            <a:endParaRPr lang="it-IT"/>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VERIFICATION AND INFORMATION PROBLEMS IN PRACTICE</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distribution of information and privacy is of great concern for experts in the sector.</a:t>
            </a:r>
          </a:p>
          <a:p>
            <a:pPr marL="0" indent="0" algn="just">
              <a:buNone/>
            </a:pPr>
            <a:r>
              <a:rPr lang="en-US" sz="2000" dirty="0" smtClean="0">
                <a:latin typeface="Garamond" pitchFamily="18" charset="0"/>
              </a:rPr>
              <a:t>Researchers from R3 CEV, a very active blockchain consortium, were quite  explicit about this issue and are working to build a more secure system.</a:t>
            </a:r>
          </a:p>
          <a:p>
            <a:pPr marL="0" indent="0" algn="just">
              <a:buNone/>
            </a:pPr>
            <a:r>
              <a:rPr lang="en-US" sz="2000" dirty="0" smtClean="0">
                <a:latin typeface="Garamond" pitchFamily="18" charset="0"/>
              </a:rPr>
              <a:t>The R3 </a:t>
            </a:r>
            <a:r>
              <a:rPr lang="en-US" sz="2000" dirty="0" err="1" smtClean="0">
                <a:latin typeface="Garamond" pitchFamily="18" charset="0"/>
              </a:rPr>
              <a:t>Corda</a:t>
            </a:r>
            <a:r>
              <a:rPr lang="en-US" sz="2000" dirty="0" smtClean="0">
                <a:latin typeface="Garamond" pitchFamily="18" charset="0"/>
              </a:rPr>
              <a:t> system is aiming to reduce the number of data/information depositories. The only parties that should   have access to the details of a financial transaction are those same parties or holders of the legitimate need to know.</a:t>
            </a:r>
          </a:p>
          <a:p>
            <a:pPr marL="0" indent="0" algn="just">
              <a:buNone/>
            </a:pPr>
            <a:r>
              <a:rPr lang="en-US" sz="2000" dirty="0" smtClean="0">
                <a:latin typeface="Garamond" pitchFamily="18" charset="0"/>
              </a:rPr>
              <a:t>While these measures potentially guarantee confidentiality, two important limitations have been highlighted in ongoing discussions.</a:t>
            </a:r>
          </a:p>
          <a:p>
            <a:pPr marL="0" indent="0" algn="just">
              <a:buNone/>
            </a:pPr>
            <a:r>
              <a:rPr lang="en-US" sz="2000" dirty="0" smtClean="0">
                <a:latin typeface="Garamond" pitchFamily="18" charset="0"/>
              </a:rPr>
              <a:t>First, contacting fewer registrars can reduce the effectiveness of consensus; second, data encryption means that some contingencies cannot  be validated and therefore cannot be used in smart contracts.</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a:t>
            </a:fld>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Furthermore, even the encrypted data is still data, and the mere act of requesting verification is  information for the record holders.</a:t>
            </a:r>
          </a:p>
          <a:p>
            <a:pPr marL="0" indent="0" algn="just">
              <a:buNone/>
            </a:pPr>
            <a:r>
              <a:rPr lang="en-US" sz="2000" dirty="0" smtClean="0">
                <a:latin typeface="Garamond" pitchFamily="18" charset="0"/>
              </a:rPr>
              <a:t>As de </a:t>
            </a:r>
            <a:r>
              <a:rPr lang="en-US" sz="2000" dirty="0" err="1" smtClean="0">
                <a:latin typeface="Garamond" pitchFamily="18" charset="0"/>
              </a:rPr>
              <a:t>Vilaca</a:t>
            </a:r>
            <a:r>
              <a:rPr lang="en-US" sz="2000" dirty="0" smtClean="0">
                <a:latin typeface="Garamond" pitchFamily="18" charset="0"/>
              </a:rPr>
              <a:t> Burgos, de Oliveira </a:t>
            </a:r>
            <a:r>
              <a:rPr lang="en-US" sz="2000" dirty="0" err="1" smtClean="0">
                <a:latin typeface="Garamond" pitchFamily="18" charset="0"/>
              </a:rPr>
              <a:t>Filho</a:t>
            </a:r>
            <a:r>
              <a:rPr lang="en-US" sz="2000" dirty="0" smtClean="0">
                <a:latin typeface="Garamond" pitchFamily="18" charset="0"/>
              </a:rPr>
              <a:t>, </a:t>
            </a:r>
            <a:r>
              <a:rPr lang="en-US" sz="2000" dirty="0" err="1" smtClean="0">
                <a:latin typeface="Garamond" pitchFamily="18" charset="0"/>
              </a:rPr>
              <a:t>Suares</a:t>
            </a:r>
            <a:r>
              <a:rPr lang="en-US" sz="2000" dirty="0" smtClean="0">
                <a:latin typeface="Garamond" pitchFamily="18" charset="0"/>
              </a:rPr>
              <a:t>, and de Almeida point out in a report for the central bank of Brazil, simply encrypting sensitive data is not a viable solution because smart contracts cannot decide whether a transaction is valid without having shared the transaction decision.</a:t>
            </a:r>
          </a:p>
          <a:p>
            <a:pPr marL="0" indent="0" algn="just">
              <a:buNone/>
            </a:pPr>
            <a:r>
              <a:rPr lang="en-US" sz="2000" dirty="0" smtClean="0">
                <a:latin typeface="Garamond" pitchFamily="18" charset="0"/>
              </a:rPr>
              <a:t>These observations imply that restricting the distribution of information often comes at the expense of compromising the effectiveness of consensus.</a:t>
            </a:r>
          </a:p>
          <a:p>
            <a:pPr marL="0" indent="0" algn="just">
              <a:buNone/>
            </a:pPr>
            <a:r>
              <a:rPr lang="en-US" sz="2000" dirty="0" smtClean="0">
                <a:latin typeface="Garamond" pitchFamily="18" charset="0"/>
              </a:rPr>
              <a:t>Thus, for example, it was observed that the R3 </a:t>
            </a:r>
            <a:r>
              <a:rPr lang="en-US" sz="2000" dirty="0" err="1" smtClean="0">
                <a:latin typeface="Garamond" pitchFamily="18" charset="0"/>
              </a:rPr>
              <a:t>Corda</a:t>
            </a:r>
            <a:r>
              <a:rPr lang="en-US" sz="2000" dirty="0" smtClean="0">
                <a:latin typeface="Garamond" pitchFamily="18" charset="0"/>
              </a:rPr>
              <a:t> validation model limits the distribution of information to notaries only.</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a:t>
            </a:fld>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As pointed out in the Bank of Canada report by Chapman, Garratt, Hendry, McCormack, and McMahon, </a:t>
            </a:r>
            <a:r>
              <a:rPr lang="en-US" sz="2000" dirty="0" err="1" smtClean="0">
                <a:latin typeface="Garamond" pitchFamily="18" charset="0"/>
              </a:rPr>
              <a:t>Corda's</a:t>
            </a:r>
            <a:r>
              <a:rPr lang="en-US" sz="2000" dirty="0" smtClean="0">
                <a:latin typeface="Garamond" pitchFamily="18" charset="0"/>
              </a:rPr>
              <a:t> model requires the replication of data from notaries, to ensure continuity of the process, rather than the expected resilience to the system, provided by every node, as happens in many public </a:t>
            </a:r>
            <a:r>
              <a:rPr lang="en-US" sz="2000" dirty="0" err="1" smtClean="0">
                <a:latin typeface="Garamond" pitchFamily="18" charset="0"/>
              </a:rPr>
              <a:t>blockchains</a:t>
            </a:r>
            <a:r>
              <a:rPr lang="en-US" sz="2000" dirty="0" smtClean="0">
                <a:latin typeface="Garamond" pitchFamily="18" charset="0"/>
              </a:rPr>
              <a:t>.</a:t>
            </a:r>
          </a:p>
          <a:p>
            <a:pPr marL="0" indent="0" algn="just">
              <a:buNone/>
            </a:pPr>
            <a:r>
              <a:rPr lang="en-US" sz="2000" dirty="0" smtClean="0">
                <a:latin typeface="Garamond" pitchFamily="18" charset="0"/>
              </a:rPr>
              <a:t>This makes the so-called Single Point of Failure ( </a:t>
            </a:r>
            <a:r>
              <a:rPr lang="en-US" sz="2000" dirty="0" err="1" smtClean="0">
                <a:latin typeface="Garamond" pitchFamily="18" charset="0"/>
              </a:rPr>
              <a:t>SPoF</a:t>
            </a:r>
            <a:r>
              <a:rPr lang="en-US" sz="2000" dirty="0" smtClean="0">
                <a:latin typeface="Garamond" pitchFamily="18" charset="0"/>
              </a:rPr>
              <a:t> ) more likely, because the system would become centralized again, something that blockchain technology wants to avoid.</a:t>
            </a:r>
          </a:p>
          <a:p>
            <a:pPr marL="0" indent="0" algn="just">
              <a:buNone/>
            </a:pPr>
            <a:r>
              <a:rPr lang="en-US" sz="2000" dirty="0" smtClean="0">
                <a:latin typeface="Garamond" pitchFamily="18" charset="0"/>
              </a:rPr>
              <a:t>Experts, therefore, are constantly at work searching for solutions to these issues.</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a:t>
            </a:fld>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THE BLOCKCHAIN AND INDUSTRIAL ORGANIZATION: THE PROBLEM OF COLLUSION </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To understand the impact of the blockchain on the real economy, it is useful to develop a decentralized consensus generation model, in a standard dynamic industrial organizational setting.</a:t>
            </a:r>
          </a:p>
          <a:p>
            <a:pPr marL="0" indent="0" algn="just">
              <a:buNone/>
            </a:pPr>
            <a:r>
              <a:rPr lang="en-US" sz="2000" dirty="0" smtClean="0">
                <a:latin typeface="Garamond" pitchFamily="18" charset="0"/>
              </a:rPr>
              <a:t>It is now known that though smart contracts on decentralized consensus help companies enter the market and promote competition, a greater distribution of information could favor collusion and harm competition.</a:t>
            </a:r>
          </a:p>
          <a:p>
            <a:pPr marL="0" indent="0" algn="just">
              <a:buNone/>
            </a:pPr>
            <a:r>
              <a:rPr lang="en-US" sz="2000" dirty="0" smtClean="0">
                <a:latin typeface="Garamond" pitchFamily="18" charset="0"/>
              </a:rPr>
              <a:t>Blockchain technology allows the registration of consensus on the success  or failure of the delivery of goods, by verifying and validating certain transactions.</a:t>
            </a:r>
          </a:p>
          <a:p>
            <a:pPr marL="0" indent="0" algn="just">
              <a:buNone/>
            </a:pPr>
            <a:r>
              <a:rPr lang="en-US" sz="2000" dirty="0" smtClean="0">
                <a:latin typeface="Garamond" pitchFamily="18" charset="0"/>
              </a:rPr>
              <a:t>While </a:t>
            </a:r>
            <a:r>
              <a:rPr lang="en-US" sz="2000" dirty="0" err="1" smtClean="0">
                <a:latin typeface="Garamond" pitchFamily="18" charset="0"/>
              </a:rPr>
              <a:t>blockchains</a:t>
            </a:r>
            <a:r>
              <a:rPr lang="en-US" sz="2000" dirty="0" smtClean="0">
                <a:latin typeface="Garamond" pitchFamily="18" charset="0"/>
              </a:rPr>
              <a:t> and smart contracts can improve both consumer surplus and well-being by encouraging entry and competition, a dark side of the blockchain can lead to dynamic imbalances, lowering consumer well-being and surplus even more than in the traditional world.</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5</a:t>
            </a:fld>
            <a:endParaRPr lang="it-I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To highlight the effect of greater collusion on the blockchain, an authorized blockchain model must first be analyzed.</a:t>
            </a:r>
          </a:p>
          <a:p>
            <a:pPr marL="0" indent="0" algn="just">
              <a:buNone/>
            </a:pPr>
            <a:r>
              <a:rPr lang="en-US" sz="2000" dirty="0" smtClean="0">
                <a:latin typeface="Garamond" pitchFamily="18" charset="0"/>
              </a:rPr>
              <a:t>With </a:t>
            </a:r>
            <a:r>
              <a:rPr lang="en-US" sz="2000" dirty="0" err="1" smtClean="0">
                <a:latin typeface="Garamond" pitchFamily="18" charset="0"/>
              </a:rPr>
              <a:t>blockchains</a:t>
            </a:r>
            <a:r>
              <a:rPr lang="en-US" sz="2000" dirty="0" smtClean="0">
                <a:latin typeface="Garamond" pitchFamily="18" charset="0"/>
              </a:rPr>
              <a:t> and smart contracts, certain groups of sellers can use extended contingencies and secondary payments to facilitate collusion between them.</a:t>
            </a:r>
          </a:p>
          <a:p>
            <a:pPr marL="0" indent="0" algn="just">
              <a:buNone/>
            </a:pPr>
            <a:r>
              <a:rPr lang="en-US" sz="2000" dirty="0" smtClean="0">
                <a:latin typeface="Garamond" pitchFamily="18" charset="0"/>
              </a:rPr>
              <a:t>Example: Sellers collude to charge the highest amount they can upon delivery of goods, effectively subtracting the full price from buyers.</a:t>
            </a:r>
          </a:p>
          <a:p>
            <a:pPr marL="0" indent="0" algn="just">
              <a:buNone/>
            </a:pPr>
            <a:r>
              <a:rPr lang="en-US" sz="2000" dirty="0" smtClean="0">
                <a:latin typeface="Garamond" pitchFamily="18" charset="0"/>
              </a:rPr>
              <a:t>Sellers reach an agreement that only the best quality seller takes all the consumers, so that a seller who does not have the best quality loses all consumers. A smart contract could take all of the profit automatically and pass it on to other colluding sellers.</a:t>
            </a:r>
          </a:p>
          <a:p>
            <a:pPr marL="0" indent="0" algn="just">
              <a:buNone/>
            </a:pPr>
            <a:r>
              <a:rPr lang="en-US" sz="2000" dirty="0" smtClean="0">
                <a:latin typeface="Garamond" pitchFamily="18" charset="0"/>
              </a:rPr>
              <a:t>By imposing such automatic punishment in case of deviation, the smart contract could potentially support any collusion, regardless of the discount factor, and clearly in violation of the competition regime among companies.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6</a:t>
            </a:fld>
            <a:endParaRPr lang="it-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Collusion could also be tacit.</a:t>
            </a:r>
          </a:p>
          <a:p>
            <a:pPr marL="0" indent="0" algn="just">
              <a:buNone/>
            </a:pPr>
            <a:r>
              <a:rPr lang="en-US" sz="2000" dirty="0" smtClean="0">
                <a:latin typeface="Garamond" pitchFamily="18" charset="0"/>
              </a:rPr>
              <a:t>In the case of tacit collusion, the same exact collusive and punitive phases are proposed. The problem is that, instead of triggering a "punishment" for diverting or not receiving buyers, in the blockchain world, the deviation could be further conditioned by the presence of buyers.</a:t>
            </a:r>
          </a:p>
          <a:p>
            <a:pPr marL="0" indent="0" algn="just">
              <a:buNone/>
            </a:pPr>
            <a:r>
              <a:rPr lang="en-US" sz="2000" dirty="0" smtClean="0">
                <a:latin typeface="Garamond" pitchFamily="18" charset="0"/>
              </a:rPr>
              <a:t>This is because participants, after being contacted for verification, know that further service requests will be made, and being contacted for verification reveals the aggregate status of the presence of buyers, which allows sellers to perfectly monitor the diverting behavior of a collusive participant.</a:t>
            </a:r>
          </a:p>
          <a:p>
            <a:pPr marL="0" indent="0" algn="just">
              <a:buNone/>
            </a:pPr>
            <a:r>
              <a:rPr lang="en-US" sz="2000" dirty="0" smtClean="0">
                <a:latin typeface="Garamond" pitchFamily="18" charset="0"/>
              </a:rPr>
              <a:t>In other words, repeated play with traditionally flawed public monitoring could achieve perfect public monitoring, since deviations can be accurately detected on the blockchain, during the consensus generation process.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7</a:t>
            </a:fld>
            <a:endParaRPr lang="it-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Collusive balances could therefore become easier to sustain (without stopping along the path of the balance between supply and demand).</a:t>
            </a:r>
          </a:p>
          <a:p>
            <a:pPr marL="0" indent="0" algn="just">
              <a:buNone/>
            </a:pPr>
            <a:r>
              <a:rPr lang="en-US" sz="2000" dirty="0" smtClean="0">
                <a:latin typeface="Garamond" pitchFamily="18" charset="0"/>
              </a:rPr>
              <a:t>What should be emphasized, however, is that the collusive problem is persistent, even in traditional markets with their identification and prevention difficulties. With the blockchain and smart contracts, however, it is a question of identifying the right set of conditions and executive protocols, to reduce  or eliminate the problem altogether.</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8</a:t>
            </a:fld>
            <a:endParaRPr lang="it-I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MEASURES TO REDUCE COLLUSION ON THE BLOCKCHAIN</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r>
              <a:rPr lang="en-US" sz="2000" dirty="0" smtClean="0">
                <a:latin typeface="Garamond" pitchFamily="18" charset="0"/>
              </a:rPr>
              <a:t>The concern that </a:t>
            </a:r>
            <a:r>
              <a:rPr lang="en-US" sz="2000" dirty="0" err="1" smtClean="0">
                <a:latin typeface="Garamond" pitchFamily="18" charset="0"/>
              </a:rPr>
              <a:t>blockchains</a:t>
            </a:r>
            <a:r>
              <a:rPr lang="en-US" sz="2000" dirty="0" smtClean="0">
                <a:latin typeface="Garamond" pitchFamily="18" charset="0"/>
              </a:rPr>
              <a:t> could jeopardize the competitiveness of the market is shared by market observers.</a:t>
            </a:r>
          </a:p>
          <a:p>
            <a:pPr marL="0" indent="0" algn="just">
              <a:buNone/>
            </a:pPr>
            <a:r>
              <a:rPr lang="en-US" sz="2000" dirty="0" smtClean="0">
                <a:latin typeface="Garamond" pitchFamily="18" charset="0"/>
              </a:rPr>
              <a:t>Concern becomes particularly acute for licensed </a:t>
            </a:r>
            <a:r>
              <a:rPr lang="en-US" sz="2000" dirty="0" err="1" smtClean="0">
                <a:latin typeface="Garamond" pitchFamily="18" charset="0"/>
              </a:rPr>
              <a:t>blockchains</a:t>
            </a:r>
            <a:r>
              <a:rPr lang="en-US" sz="2000" dirty="0" smtClean="0">
                <a:latin typeface="Garamond" pitchFamily="18" charset="0"/>
              </a:rPr>
              <a:t>, such as R3, whose members are powerful financial institutions.</a:t>
            </a:r>
          </a:p>
          <a:p>
            <a:pPr marL="0" indent="0" algn="just">
              <a:buNone/>
            </a:pPr>
            <a:r>
              <a:rPr lang="en-US" sz="2000" dirty="0" smtClean="0">
                <a:latin typeface="Garamond" pitchFamily="18" charset="0"/>
              </a:rPr>
              <a:t>As described in an article in the Financial Times, what technology really facilitates is cartel management, for groups that do not trust each other, but still have to work together. This is where market stability becomes important.</a:t>
            </a:r>
          </a:p>
          <a:p>
            <a:pPr marL="0" indent="0" algn="just">
              <a:buNone/>
            </a:pPr>
            <a:r>
              <a:rPr lang="en-US" sz="2000" dirty="0" smtClean="0">
                <a:latin typeface="Garamond" pitchFamily="18" charset="0"/>
              </a:rPr>
              <a:t>Although this is a single blockchain model on which multiple sellers compete, in practice there are likely to be multiple </a:t>
            </a:r>
            <a:r>
              <a:rPr lang="en-US" sz="2000" dirty="0" err="1" smtClean="0">
                <a:latin typeface="Garamond" pitchFamily="18" charset="0"/>
              </a:rPr>
              <a:t>blockchains</a:t>
            </a:r>
            <a:r>
              <a:rPr lang="en-US" sz="2000" dirty="0" smtClean="0">
                <a:latin typeface="Garamond" pitchFamily="18" charset="0"/>
              </a:rPr>
              <a:t>, among which both sellers and buyers can choose.</a:t>
            </a:r>
          </a:p>
          <a:p>
            <a:pPr marL="0" indent="0" algn="just">
              <a:buNone/>
            </a:pPr>
            <a:r>
              <a:rPr lang="en-US" sz="2000" dirty="0" smtClean="0">
                <a:latin typeface="Garamond" pitchFamily="18" charset="0"/>
              </a:rPr>
              <a:t>Competition between </a:t>
            </a:r>
            <a:r>
              <a:rPr lang="en-US" sz="2000" dirty="0" err="1" smtClean="0">
                <a:latin typeface="Garamond" pitchFamily="18" charset="0"/>
              </a:rPr>
              <a:t>blockchains</a:t>
            </a:r>
            <a:r>
              <a:rPr lang="en-US" sz="2000" dirty="0" smtClean="0">
                <a:latin typeface="Garamond" pitchFamily="18" charset="0"/>
              </a:rPr>
              <a:t> naturally goes against the collusive behavior of sellers on a blockchain, as buyers can always choose the blockchain that offers the best service and price.</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9</a:t>
            </a:fld>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This is because coordination is an integral part of the blockchain ecosystem and likely interferes with its functioning.</a:t>
            </a:r>
          </a:p>
          <a:p>
            <a:pPr marL="0" indent="0" algn="just">
              <a:buNone/>
            </a:pPr>
            <a:r>
              <a:rPr lang="en-US" sz="2000" dirty="0" smtClean="0">
                <a:latin typeface="Garamond" pitchFamily="18" charset="0"/>
              </a:rPr>
              <a:t>In order for a new blockchain platform to be used and to improve competition, different users - institutional and retail - must coordinate with each other at the time of adoption.</a:t>
            </a:r>
          </a:p>
          <a:p>
            <a:pPr marL="0" indent="0" algn="just">
              <a:buNone/>
            </a:pPr>
            <a:r>
              <a:rPr lang="en-US" sz="2000" dirty="0" smtClean="0">
                <a:latin typeface="Garamond" pitchFamily="18" charset="0"/>
              </a:rPr>
              <a:t>Coordination problems have already manifested themselves in the dominance of "early movers" in the </a:t>
            </a:r>
            <a:r>
              <a:rPr lang="en-US" sz="2000" dirty="0" err="1" smtClean="0">
                <a:latin typeface="Garamond" pitchFamily="18" charset="0"/>
              </a:rPr>
              <a:t>cryptocurrency</a:t>
            </a:r>
            <a:r>
              <a:rPr lang="en-US" sz="2000" dirty="0" smtClean="0">
                <a:latin typeface="Garamond" pitchFamily="18" charset="0"/>
              </a:rPr>
              <a:t> markets, like </a:t>
            </a:r>
            <a:r>
              <a:rPr lang="en-US" sz="2000" dirty="0" err="1" smtClean="0">
                <a:latin typeface="Garamond" pitchFamily="18" charset="0"/>
              </a:rPr>
              <a:t>Bitcoin</a:t>
            </a:r>
            <a:r>
              <a:rPr lang="en-US" sz="2000" dirty="0" smtClean="0">
                <a:latin typeface="Garamond" pitchFamily="18" charset="0"/>
              </a:rPr>
              <a:t> and </a:t>
            </a:r>
            <a:r>
              <a:rPr lang="en-US" sz="2000" dirty="0" err="1" smtClean="0">
                <a:latin typeface="Garamond" pitchFamily="18" charset="0"/>
              </a:rPr>
              <a:t>Ethereum</a:t>
            </a:r>
            <a:r>
              <a:rPr lang="en-US" sz="2000" dirty="0" smtClean="0">
                <a:latin typeface="Garamond" pitchFamily="18" charset="0"/>
              </a:rPr>
              <a:t>,.</a:t>
            </a:r>
          </a:p>
          <a:p>
            <a:pPr marL="0" indent="0" algn="just">
              <a:buNone/>
            </a:pPr>
            <a:r>
              <a:rPr lang="en-US" sz="2000" dirty="0" smtClean="0">
                <a:latin typeface="Garamond" pitchFamily="18" charset="0"/>
              </a:rPr>
              <a:t>Of course, the question is: What can governments do to facilitate the coordinated adoption of better-designed blockchain platforms?</a:t>
            </a:r>
          </a:p>
          <a:p>
            <a:pPr marL="0" indent="0" algn="just">
              <a:buNone/>
            </a:pPr>
            <a:r>
              <a:rPr lang="en-US" sz="2000" dirty="0" smtClean="0">
                <a:latin typeface="Garamond" pitchFamily="18" charset="0"/>
              </a:rPr>
              <a:t>This is where future research will have to focus, and where new regulations have to be adopted, in order to better analyze market information, aimed at detecting collusion.</a:t>
            </a:r>
          </a:p>
          <a:p>
            <a:pPr marL="0" indent="0" algn="just">
              <a:buNone/>
            </a:pPr>
            <a:r>
              <a:rPr lang="en-US" sz="2000" dirty="0" smtClean="0">
                <a:latin typeface="Garamond" pitchFamily="18" charset="0"/>
              </a:rPr>
              <a:t> </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10</a:t>
            </a:fld>
            <a:endParaRPr lang="it-I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A POTENTIAL SOLUTION: SEPARATING USAGE  FROM CONSENSUS GENERATION</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r>
              <a:rPr lang="en-US" sz="2000" dirty="0" smtClean="0">
                <a:latin typeface="Garamond" pitchFamily="18" charset="0"/>
              </a:rPr>
              <a:t>In the model described, the right sellers can use the information on the blockchain to stop deviations from collusion more accurately.</a:t>
            </a:r>
          </a:p>
          <a:p>
            <a:pPr marL="0" indent="0" algn="just">
              <a:buNone/>
            </a:pPr>
            <a:r>
              <a:rPr lang="en-US" sz="2000" dirty="0" smtClean="0">
                <a:latin typeface="Garamond" pitchFamily="18" charset="0"/>
              </a:rPr>
              <a:t>In fact, they possess all they need to know because the information is distributed and recorded on the blockchain during the process of generating the consensus and is, therefore, equally distributed.</a:t>
            </a:r>
          </a:p>
          <a:p>
            <a:pPr marL="0" indent="0" algn="just">
              <a:buNone/>
            </a:pPr>
            <a:r>
              <a:rPr lang="en-US" sz="2000" dirty="0" smtClean="0">
                <a:latin typeface="Garamond" pitchFamily="18" charset="0"/>
              </a:rPr>
              <a:t>From this point of view, a potential solution being explored is to separate actors who contribute to generating the decentralized consensus from users of that consensus.</a:t>
            </a:r>
          </a:p>
          <a:p>
            <a:pPr marL="0" indent="0" algn="just">
              <a:buNone/>
            </a:pPr>
            <a:r>
              <a:rPr lang="en-US" sz="2000" dirty="0" smtClean="0">
                <a:latin typeface="Garamond" pitchFamily="18" charset="0"/>
              </a:rPr>
              <a:t>Most of the existing public </a:t>
            </a:r>
            <a:r>
              <a:rPr lang="en-US" sz="2000" dirty="0" err="1" smtClean="0">
                <a:latin typeface="Garamond" pitchFamily="18" charset="0"/>
              </a:rPr>
              <a:t>blockchains</a:t>
            </a:r>
            <a:r>
              <a:rPr lang="en-US" sz="2000" dirty="0" smtClean="0">
                <a:latin typeface="Garamond" pitchFamily="18" charset="0"/>
              </a:rPr>
              <a:t> do not yet separate the two groups .</a:t>
            </a:r>
          </a:p>
          <a:p>
            <a:pPr marL="0" indent="0" algn="just">
              <a:buNone/>
            </a:pPr>
            <a:r>
              <a:rPr lang="en-US" sz="2000" dirty="0" smtClean="0">
                <a:latin typeface="Garamond" pitchFamily="18" charset="0"/>
              </a:rPr>
              <a:t>The separation between use and consensus generation is now part of  discussions among blockchain professionals, and is aimed at disavowing collusive cartels to the detriment of users.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11</a:t>
            </a:fld>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t>
            </a:r>
          </a:p>
          <a:p>
            <a:pPr marL="0" indent="0" algn="just">
              <a:buNone/>
            </a:pPr>
            <a:r>
              <a:rPr lang="en-US" sz="2000" dirty="0" smtClean="0">
                <a:latin typeface="Garamond" pitchFamily="18" charset="0"/>
              </a:rPr>
              <a:t>Such research also reflects another type of relationship between decentralization (a wider range of participants) and centralization (a small group of expert agents able to provide high-quality input) and constitutes a direction for future policies regarding blockchain applications in the market.</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12</a:t>
            </a:fld>
            <a:endParaRPr 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FINAL CONSIDERATIONS</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To argue that decentralized accounting technologies, such as the blockchain, feature decentralized consensus and tamper-proof algorithmic executions, and consequently expand the contract space and facilitate the creation of smart contracts, is absolutely true.</a:t>
            </a:r>
          </a:p>
          <a:p>
            <a:pPr marL="0" indent="0" algn="just">
              <a:buNone/>
            </a:pPr>
            <a:r>
              <a:rPr lang="en-US" sz="2000" dirty="0" smtClean="0">
                <a:latin typeface="Garamond" pitchFamily="18" charset="0"/>
              </a:rPr>
              <a:t>However, the process of reaching decentralized consensus changes the information environment on the blockchain, potentially generating consequences that are also harmful to the well-being of users, and promoting possible collusive effects.</a:t>
            </a:r>
          </a:p>
          <a:p>
            <a:pPr marL="0" indent="0" algn="just">
              <a:buNone/>
            </a:pPr>
            <a:r>
              <a:rPr lang="en-US" sz="2000" dirty="0" smtClean="0">
                <a:latin typeface="Garamond" pitchFamily="18" charset="0"/>
              </a:rPr>
              <a:t>To avoid this, permanent solutions will still have to be sought, so that this tension reshapes the organization of the sector and the landscape of competition, without negative consequences for the intervening actors.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13</a:t>
            </a:fld>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general, </a:t>
            </a:r>
            <a:r>
              <a:rPr lang="en-US" sz="2000" dirty="0" err="1" smtClean="0">
                <a:latin typeface="Garamond" pitchFamily="18" charset="0"/>
              </a:rPr>
              <a:t>blockchains</a:t>
            </a:r>
            <a:r>
              <a:rPr lang="en-US" sz="2000" dirty="0" smtClean="0">
                <a:latin typeface="Garamond" pitchFamily="18" charset="0"/>
              </a:rPr>
              <a:t> and smart contracts can support market equilibrium, with a wider range of better economic results.</a:t>
            </a:r>
          </a:p>
          <a:p>
            <a:pPr marL="0" indent="0" algn="just">
              <a:buNone/>
            </a:pPr>
            <a:r>
              <a:rPr lang="en-US" sz="2000" dirty="0" smtClean="0">
                <a:latin typeface="Garamond" pitchFamily="18" charset="0"/>
              </a:rPr>
              <a:t>Designing a solid consensus protocol and providing the right incentives to maintain consensus on specific </a:t>
            </a:r>
            <a:r>
              <a:rPr lang="en-US" sz="2000" dirty="0" err="1" smtClean="0">
                <a:latin typeface="Garamond" pitchFamily="18" charset="0"/>
              </a:rPr>
              <a:t>blockchains</a:t>
            </a:r>
            <a:r>
              <a:rPr lang="en-US" sz="2000" dirty="0" smtClean="0">
                <a:latin typeface="Garamond" pitchFamily="18" charset="0"/>
              </a:rPr>
              <a:t> is under investigation and probably requires the joint effort of IT and economic experts as well as a whole new business network concept.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14</a:t>
            </a:fld>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Since the blockchain has entered the mainstream, enthusiasm for this technology has been considerable, both in industry  and in academia.</a:t>
            </a:r>
          </a:p>
          <a:p>
            <a:pPr marL="0" indent="0" algn="just">
              <a:buNone/>
            </a:pPr>
            <a:r>
              <a:rPr lang="en-US" sz="2000" dirty="0" smtClean="0">
                <a:latin typeface="Garamond" pitchFamily="18" charset="0"/>
              </a:rPr>
              <a:t>Proponents of the blockchain celebrated its invention as a new technological revolution, comparable to the invention of the steam engine or the internet.</a:t>
            </a:r>
          </a:p>
          <a:p>
            <a:pPr marL="0" indent="0" algn="just">
              <a:buNone/>
            </a:pPr>
            <a:r>
              <a:rPr lang="en-US" sz="2000" dirty="0" smtClean="0">
                <a:latin typeface="Garamond" pitchFamily="18" charset="0"/>
              </a:rPr>
              <a:t>Blockchain technology was developed as part of the </a:t>
            </a:r>
            <a:r>
              <a:rPr lang="en-US" sz="2000" dirty="0" err="1" smtClean="0">
                <a:latin typeface="Garamond" pitchFamily="18" charset="0"/>
              </a:rPr>
              <a:t>Bitcoin</a:t>
            </a:r>
            <a:r>
              <a:rPr lang="en-US" sz="2000" dirty="0" smtClean="0">
                <a:latin typeface="Garamond" pitchFamily="18" charset="0"/>
              </a:rPr>
              <a:t> protocol. </a:t>
            </a:r>
            <a:r>
              <a:rPr lang="en-US" sz="2000" dirty="0" err="1" smtClean="0">
                <a:latin typeface="Garamond" pitchFamily="18" charset="0"/>
              </a:rPr>
              <a:t>Bitcoin</a:t>
            </a:r>
            <a:r>
              <a:rPr lang="en-US" sz="2000" dirty="0" smtClean="0">
                <a:latin typeface="Garamond" pitchFamily="18" charset="0"/>
              </a:rPr>
              <a:t>, a </a:t>
            </a:r>
            <a:r>
              <a:rPr lang="en-US" sz="2000" dirty="0" err="1" smtClean="0">
                <a:latin typeface="Garamond" pitchFamily="18" charset="0"/>
              </a:rPr>
              <a:t>cryptocurrency</a:t>
            </a:r>
            <a:r>
              <a:rPr lang="en-US" sz="2000" dirty="0" smtClean="0">
                <a:latin typeface="Garamond" pitchFamily="18" charset="0"/>
              </a:rPr>
              <a:t> that developed during the 2008 financial crisis, emerged as an alternative payment tool, just when trust in governments    and companies was collapsing.</a:t>
            </a:r>
          </a:p>
          <a:p>
            <a:pPr marL="0" indent="0" algn="just">
              <a:buNone/>
            </a:pPr>
            <a:r>
              <a:rPr lang="en-US" sz="2000" dirty="0" smtClean="0">
                <a:latin typeface="Garamond" pitchFamily="18" charset="0"/>
              </a:rPr>
              <a:t>The white paper, written by </a:t>
            </a:r>
            <a:r>
              <a:rPr lang="en-US" sz="2000" dirty="0" err="1" smtClean="0">
                <a:latin typeface="Garamond" pitchFamily="18" charset="0"/>
              </a:rPr>
              <a:t>Nakamoto</a:t>
            </a:r>
            <a:r>
              <a:rPr lang="en-US" sz="2000" dirty="0" smtClean="0">
                <a:latin typeface="Garamond" pitchFamily="18" charset="0"/>
              </a:rPr>
              <a:t> (2008), proposed that </a:t>
            </a:r>
            <a:r>
              <a:rPr lang="en-US" sz="2000" dirty="0" err="1" smtClean="0">
                <a:latin typeface="Garamond" pitchFamily="18" charset="0"/>
              </a:rPr>
              <a:t>Bitcoin</a:t>
            </a:r>
            <a:r>
              <a:rPr lang="en-US" sz="2000" dirty="0" smtClean="0">
                <a:latin typeface="Garamond" pitchFamily="18" charset="0"/>
              </a:rPr>
              <a:t> was the new approach to address the problems associated with the intermediation and control of central authorities, and to establish collective trust, based on decentralized foundations.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15</a:t>
            </a:fld>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Since the publication of </a:t>
            </a:r>
            <a:r>
              <a:rPr lang="en-US" sz="2000" dirty="0" err="1" smtClean="0">
                <a:latin typeface="Garamond" pitchFamily="18" charset="0"/>
              </a:rPr>
              <a:t>Nakamoto's</a:t>
            </a:r>
            <a:r>
              <a:rPr lang="en-US" sz="2000" dirty="0" smtClean="0">
                <a:latin typeface="Garamond" pitchFamily="18" charset="0"/>
              </a:rPr>
              <a:t> famous </a:t>
            </a:r>
            <a:r>
              <a:rPr lang="en-US" sz="2000" dirty="0" err="1" smtClean="0">
                <a:latin typeface="Garamond" pitchFamily="18" charset="0"/>
              </a:rPr>
              <a:t>Bitcoin</a:t>
            </a:r>
            <a:r>
              <a:rPr lang="en-US" sz="2000" dirty="0" smtClean="0">
                <a:latin typeface="Garamond" pitchFamily="18" charset="0"/>
              </a:rPr>
              <a:t> article, there has been a wide variety of implementations and uses of blockchain technologies.</a:t>
            </a:r>
          </a:p>
          <a:p>
            <a:pPr marL="0" indent="0" algn="just">
              <a:buNone/>
            </a:pPr>
            <a:r>
              <a:rPr lang="en-US" sz="2000" dirty="0" smtClean="0">
                <a:latin typeface="Garamond" pitchFamily="18" charset="0"/>
              </a:rPr>
              <a:t>There are many blockchain applications used by commercial companies or under the centralized control of different companies, such as the </a:t>
            </a:r>
            <a:r>
              <a:rPr lang="en-US" sz="2000" dirty="0" err="1" smtClean="0">
                <a:latin typeface="Garamond" pitchFamily="18" charset="0"/>
              </a:rPr>
              <a:t>Corda</a:t>
            </a:r>
            <a:r>
              <a:rPr lang="en-US" sz="2000" dirty="0" smtClean="0">
                <a:latin typeface="Garamond" pitchFamily="18" charset="0"/>
              </a:rPr>
              <a:t> system, developed and controlled by the R3 consortium of financial institutions.</a:t>
            </a:r>
          </a:p>
          <a:p>
            <a:pPr marL="0" indent="0" algn="just">
              <a:buNone/>
            </a:pPr>
            <a:r>
              <a:rPr lang="en-US" sz="2000" dirty="0" smtClean="0">
                <a:latin typeface="Garamond" pitchFamily="18" charset="0"/>
              </a:rPr>
              <a:t>Best known is the </a:t>
            </a:r>
            <a:r>
              <a:rPr lang="en-US" sz="2000" dirty="0" err="1" smtClean="0">
                <a:latin typeface="Garamond" pitchFamily="18" charset="0"/>
              </a:rPr>
              <a:t>Ethereum</a:t>
            </a:r>
            <a:r>
              <a:rPr lang="en-US" sz="2000" dirty="0" smtClean="0">
                <a:latin typeface="Garamond" pitchFamily="18" charset="0"/>
              </a:rPr>
              <a:t> platform, developed and popularized as an implementation of blockchain technology that goes beyond  </a:t>
            </a:r>
            <a:r>
              <a:rPr lang="en-US" sz="2000" dirty="0" err="1" smtClean="0">
                <a:latin typeface="Garamond" pitchFamily="18" charset="0"/>
              </a:rPr>
              <a:t>cryptocurrency</a:t>
            </a:r>
            <a:r>
              <a:rPr lang="en-US" sz="2000" dirty="0" smtClean="0">
                <a:latin typeface="Garamond" pitchFamily="18" charset="0"/>
              </a:rPr>
              <a:t> use.</a:t>
            </a:r>
          </a:p>
          <a:p>
            <a:pPr marL="0" indent="0" algn="just">
              <a:buNone/>
            </a:pPr>
            <a:r>
              <a:rPr lang="en-US" sz="2000" dirty="0" smtClean="0">
                <a:latin typeface="Garamond" pitchFamily="18" charset="0"/>
              </a:rPr>
              <a:t>Nowadays, the term blockchain is used as a global aggregation of different concepts, some of which existed and were adopted by organizations well before </a:t>
            </a:r>
            <a:r>
              <a:rPr lang="en-US" sz="2000" dirty="0" err="1" smtClean="0">
                <a:latin typeface="Garamond" pitchFamily="18" charset="0"/>
              </a:rPr>
              <a:t>Bitcoin</a:t>
            </a:r>
            <a:r>
              <a:rPr lang="en-US" sz="2000" dirty="0" smtClean="0">
                <a:latin typeface="Garamond" pitchFamily="18" charset="0"/>
              </a:rPr>
              <a:t> (</a:t>
            </a:r>
            <a:r>
              <a:rPr lang="en-US" sz="2000" dirty="0" err="1" smtClean="0">
                <a:latin typeface="Garamond" pitchFamily="18" charset="0"/>
              </a:rPr>
              <a:t>Halaburda</a:t>
            </a:r>
            <a:r>
              <a:rPr lang="en-US" sz="2000" dirty="0" smtClean="0">
                <a:latin typeface="Garamond" pitchFamily="18" charset="0"/>
              </a:rPr>
              <a:t> and </a:t>
            </a:r>
            <a:r>
              <a:rPr lang="en-US" sz="2000" dirty="0" err="1" smtClean="0">
                <a:latin typeface="Garamond" pitchFamily="18" charset="0"/>
              </a:rPr>
              <a:t>Sarvary</a:t>
            </a:r>
            <a:r>
              <a:rPr lang="en-US" sz="2000" dirty="0" smtClean="0">
                <a:latin typeface="Garamond" pitchFamily="18" charset="0"/>
              </a:rPr>
              <a:t> 2016).</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16</a:t>
            </a:fld>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One concept that has been commonly associated with the term blockchain is the SMART CONTRACT.</a:t>
            </a:r>
          </a:p>
          <a:p>
            <a:pPr marL="0" indent="0" algn="just">
              <a:buNone/>
            </a:pPr>
            <a:r>
              <a:rPr lang="en-US" sz="2000" dirty="0" smtClean="0">
                <a:latin typeface="Garamond" pitchFamily="18" charset="0"/>
              </a:rPr>
              <a:t>Smart contracts, in particular, are one of the key principles, popularized by blockchain technologies and especially by the </a:t>
            </a:r>
            <a:r>
              <a:rPr lang="en-US" sz="2000" dirty="0" err="1" smtClean="0">
                <a:latin typeface="Garamond" pitchFamily="18" charset="0"/>
              </a:rPr>
              <a:t>Ethereum</a:t>
            </a:r>
            <a:r>
              <a:rPr lang="en-US" sz="2000" dirty="0" smtClean="0">
                <a:latin typeface="Garamond" pitchFamily="18" charset="0"/>
              </a:rPr>
              <a:t>  platform.</a:t>
            </a:r>
          </a:p>
          <a:p>
            <a:pPr marL="0" indent="0" algn="just">
              <a:buNone/>
            </a:pPr>
            <a:r>
              <a:rPr lang="en-US" sz="2000" dirty="0" smtClean="0">
                <a:latin typeface="Garamond" pitchFamily="18" charset="0"/>
              </a:rPr>
              <a:t>The idea itself, however, predates blockchain technologies (</a:t>
            </a:r>
            <a:r>
              <a:rPr lang="en-US" sz="2000" dirty="0" err="1" smtClean="0">
                <a:latin typeface="Garamond" pitchFamily="18" charset="0"/>
              </a:rPr>
              <a:t>Szabo</a:t>
            </a:r>
            <a:r>
              <a:rPr lang="en-US" sz="2000" dirty="0" smtClean="0">
                <a:latin typeface="Garamond" pitchFamily="18" charset="0"/>
              </a:rPr>
              <a:t> talked about it in 1997) and can be implemented without them.</a:t>
            </a:r>
          </a:p>
          <a:p>
            <a:pPr marL="0" indent="0" algn="just">
              <a:buNone/>
            </a:pPr>
            <a:r>
              <a:rPr lang="en-US" sz="2000" dirty="0" smtClean="0">
                <a:latin typeface="Garamond" pitchFamily="18" charset="0"/>
              </a:rPr>
              <a:t>It is necessary to place this new reality in the framework of institutional economics and, in particular, in the theory of transaction cost economics (TCE) (of which Williamson was already the main exponent in 1985).</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17</a:t>
            </a:fld>
            <a:endParaRPr lang="it-IT"/>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According to TCE, governance is aimed at the effort to mitigate conflicts and gain mutual benefits from transactions.</a:t>
            </a:r>
          </a:p>
          <a:p>
            <a:pPr marL="0" indent="0" algn="just">
              <a:buNone/>
            </a:pPr>
            <a:r>
              <a:rPr lang="en-US" sz="2000" dirty="0" smtClean="0">
                <a:latin typeface="Garamond" pitchFamily="18" charset="0"/>
              </a:rPr>
              <a:t>The methods of governance (e.g., markets, hybrids, and companies) differ in part from typical regimes of contract law.</a:t>
            </a:r>
          </a:p>
          <a:p>
            <a:pPr marL="0" indent="0" algn="just">
              <a:buNone/>
            </a:pPr>
            <a:r>
              <a:rPr lang="en-US" sz="2000" dirty="0" smtClean="0">
                <a:latin typeface="Garamond" pitchFamily="18" charset="0"/>
              </a:rPr>
              <a:t>It can be reasonably argued that the widespread adoption of the smart contract concept could create new options, particularly relevant to the public (commercial) contract law regime.</a:t>
            </a:r>
          </a:p>
          <a:p>
            <a:pPr marL="0" indent="0" algn="just">
              <a:buNone/>
            </a:pPr>
            <a:r>
              <a:rPr lang="en-US" sz="2000" dirty="0" smtClean="0">
                <a:latin typeface="Garamond" pitchFamily="18" charset="0"/>
              </a:rPr>
              <a:t>This new contract law regime, powered by smart contracts, has the power to transform economic activity of firms and markets.</a:t>
            </a:r>
          </a:p>
          <a:p>
            <a:pPr marL="0" indent="0" algn="just">
              <a:buNone/>
            </a:pPr>
            <a:r>
              <a:rPr lang="en-US" sz="2000" dirty="0" smtClean="0">
                <a:latin typeface="Garamond" pitchFamily="18" charset="0"/>
              </a:rPr>
              <a:t>It is certain that research will have to make its way through specific arrangements enabling these changes and considerations that could speed up or slow down the adoption of this new contract law regime.</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18</a:t>
            </a:fld>
            <a:endParaRPr lang="it-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r>
              <a:rPr lang="en-US" sz="2000" dirty="0" smtClean="0">
                <a:latin typeface="Garamond" pitchFamily="18" charset="0"/>
              </a:rPr>
              <a:t>Employing the new smart contract concept, however, would follow discussion of the potential roles that the three branches of government - judicial, executive, and legislative - can play in enabling this new public contract law regime.</a:t>
            </a:r>
          </a:p>
          <a:p>
            <a:pPr marL="0" indent="0" algn="just">
              <a:buNone/>
            </a:pPr>
            <a:r>
              <a:rPr lang="en-US" sz="2000" dirty="0" smtClean="0">
                <a:latin typeface="Garamond" pitchFamily="18" charset="0"/>
              </a:rPr>
              <a:t>WHAT ARE SMART CONTRACTS?</a:t>
            </a:r>
          </a:p>
          <a:p>
            <a:pPr marL="0" indent="0" algn="just">
              <a:buNone/>
            </a:pPr>
            <a:r>
              <a:rPr lang="en-US" sz="2000" dirty="0" smtClean="0">
                <a:latin typeface="Garamond" pitchFamily="18" charset="0"/>
              </a:rPr>
              <a:t>The idea of a smart contract was formulated, as mentioned above, by </a:t>
            </a:r>
            <a:r>
              <a:rPr lang="en-US" sz="2000" dirty="0" err="1" smtClean="0">
                <a:latin typeface="Garamond" pitchFamily="18" charset="0"/>
              </a:rPr>
              <a:t>Szabo</a:t>
            </a:r>
            <a:r>
              <a:rPr lang="en-US" sz="2000" dirty="0" smtClean="0">
                <a:latin typeface="Garamond" pitchFamily="18" charset="0"/>
              </a:rPr>
              <a:t>, in 1997, a decade before the birth of </a:t>
            </a:r>
            <a:r>
              <a:rPr lang="en-US" sz="2000" dirty="0" err="1" smtClean="0">
                <a:latin typeface="Garamond" pitchFamily="18" charset="0"/>
              </a:rPr>
              <a:t>Bitcoin</a:t>
            </a:r>
            <a:r>
              <a:rPr lang="en-US" sz="2000" dirty="0" smtClean="0">
                <a:latin typeface="Garamond" pitchFamily="18" charset="0"/>
              </a:rPr>
              <a:t> (</a:t>
            </a:r>
            <a:r>
              <a:rPr lang="en-US" sz="2000" dirty="0" err="1" smtClean="0">
                <a:latin typeface="Garamond" pitchFamily="18" charset="0"/>
              </a:rPr>
              <a:t>Nakamoto</a:t>
            </a:r>
            <a:r>
              <a:rPr lang="en-US" sz="2000" dirty="0" smtClean="0">
                <a:latin typeface="Garamond" pitchFamily="18" charset="0"/>
              </a:rPr>
              <a:t> 2008).</a:t>
            </a:r>
          </a:p>
          <a:p>
            <a:pPr marL="0" indent="0" algn="just">
              <a:buNone/>
            </a:pPr>
            <a:r>
              <a:rPr lang="en-US" sz="2000" dirty="0" smtClean="0">
                <a:latin typeface="Garamond" pitchFamily="18" charset="0"/>
              </a:rPr>
              <a:t>Smart contracts are defined as automatically executable agreements between the parties, based on predefined coded criteria.</a:t>
            </a:r>
          </a:p>
          <a:p>
            <a:pPr marL="0" indent="0" algn="just">
              <a:buNone/>
            </a:pPr>
            <a:r>
              <a:rPr lang="en-US" sz="2000" dirty="0" smtClean="0">
                <a:latin typeface="Garamond" pitchFamily="18" charset="0"/>
              </a:rPr>
              <a:t>The parties to such an agreement specify obligations and rights, which are applied automatically, on the basis of digitally encoded </a:t>
            </a:r>
            <a:r>
              <a:rPr lang="en-US" sz="2000" dirty="0" err="1" smtClean="0">
                <a:latin typeface="Garamond" pitchFamily="18" charset="0"/>
              </a:rPr>
              <a:t>incipits</a:t>
            </a:r>
            <a:r>
              <a:rPr lang="en-US" sz="2000" dirty="0" smtClean="0">
                <a:latin typeface="Garamond" pitchFamily="18" charset="0"/>
              </a:rPr>
              <a:t>.</a:t>
            </a:r>
          </a:p>
          <a:p>
            <a:pPr marL="0" indent="0" algn="just">
              <a:buNone/>
            </a:pPr>
            <a:r>
              <a:rPr lang="en-US" sz="2000" dirty="0" smtClean="0">
                <a:latin typeface="Garamond" pitchFamily="18" charset="0"/>
              </a:rPr>
              <a:t>Execution of the agreement, through a smart contract, technologically disables the opportunities for renegotiation of the same, unless the terms of the agreement specifically allow it.</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19</a:t>
            </a:fld>
            <a:endParaRPr lang="it-IT"/>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err="1" smtClean="0">
                <a:latin typeface="Garamond" pitchFamily="18" charset="0"/>
              </a:rPr>
              <a:t>Szabo</a:t>
            </a:r>
            <a:r>
              <a:rPr lang="en-US" sz="2000" dirty="0" smtClean="0">
                <a:latin typeface="Garamond" pitchFamily="18" charset="0"/>
              </a:rPr>
              <a:t>, foresaw that the entire cycle of the contract process, including research, negotiation, execution, and award, would be managed by hardware and software without involving human action.</a:t>
            </a:r>
          </a:p>
          <a:p>
            <a:pPr marL="0" indent="0" algn="just">
              <a:buNone/>
            </a:pPr>
            <a:r>
              <a:rPr lang="en-US" sz="2000" dirty="0" smtClean="0">
                <a:latin typeface="Garamond" pitchFamily="18" charset="0"/>
              </a:rPr>
              <a:t>To illustrate his smart contract concept, </a:t>
            </a:r>
            <a:r>
              <a:rPr lang="en-US" sz="2000" dirty="0" err="1" smtClean="0">
                <a:latin typeface="Garamond" pitchFamily="18" charset="0"/>
              </a:rPr>
              <a:t>Szabo</a:t>
            </a:r>
            <a:r>
              <a:rPr lang="en-US" sz="2000" dirty="0" smtClean="0">
                <a:latin typeface="Garamond" pitchFamily="18" charset="0"/>
              </a:rPr>
              <a:t> started with a car rental example. If the driver has not paid the fee, the car will automatically lock, using a hook or code, digitally recorded, and control will return  to the credit agency or bank.</a:t>
            </a:r>
          </a:p>
          <a:p>
            <a:pPr marL="0" indent="0" algn="just">
              <a:buNone/>
            </a:pPr>
            <a:r>
              <a:rPr lang="en-US" sz="2000" dirty="0" smtClean="0">
                <a:latin typeface="Garamond" pitchFamily="18" charset="0"/>
              </a:rPr>
              <a:t>Such a purely technological way of enforcing an agreement would avoid relying on the expensive judicial system.</a:t>
            </a:r>
          </a:p>
          <a:p>
            <a:pPr marL="0" indent="0" algn="just">
              <a:buNone/>
            </a:pPr>
            <a:r>
              <a:rPr lang="en-US" sz="2000" dirty="0" smtClean="0">
                <a:latin typeface="Garamond" pitchFamily="18" charset="0"/>
              </a:rPr>
              <a:t>Another familiar example of a smart contract is the automatic cancellation of auto insurance by an insurance company if the timely payment of the policy premium is not received.</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20</a:t>
            </a:fld>
            <a:endParaRPr lang="it-IT"/>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A further popular example of digitally-enabled automatic contract execution is the automated recurring payment agreement that people commonly establish through their banks to pay their bills.</a:t>
            </a:r>
          </a:p>
          <a:p>
            <a:pPr marL="0" indent="0" algn="just">
              <a:buNone/>
            </a:pPr>
            <a:r>
              <a:rPr lang="en-US" sz="2000" dirty="0" smtClean="0">
                <a:latin typeface="Garamond" pitchFamily="18" charset="0"/>
              </a:rPr>
              <a:t>There is a long history of contracts, executed centrally, by commercial and government institutions, already known to the market.</a:t>
            </a:r>
          </a:p>
          <a:p>
            <a:pPr marL="0" indent="0" algn="just">
              <a:buNone/>
            </a:pPr>
            <a:r>
              <a:rPr lang="en-US" sz="2000" dirty="0" err="1" smtClean="0">
                <a:latin typeface="Garamond" pitchFamily="18" charset="0"/>
              </a:rPr>
              <a:t>Bitcoin's</a:t>
            </a:r>
            <a:r>
              <a:rPr lang="en-US" sz="2000" dirty="0" smtClean="0">
                <a:latin typeface="Garamond" pitchFamily="18" charset="0"/>
              </a:rPr>
              <a:t> success, meanwhile, has encouraged supporters of the smart contract concept to start developing generic procurement platforms, which allow the automatic execution of contract terms, digitally encoded, even outside the </a:t>
            </a:r>
            <a:r>
              <a:rPr lang="en-US" sz="2000" dirty="0" err="1" smtClean="0">
                <a:latin typeface="Garamond" pitchFamily="18" charset="0"/>
              </a:rPr>
              <a:t>Bitcoin</a:t>
            </a:r>
            <a:r>
              <a:rPr lang="en-US" sz="2000" dirty="0" smtClean="0">
                <a:latin typeface="Garamond" pitchFamily="18" charset="0"/>
              </a:rPr>
              <a:t> system, and without the control of intermediaries.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21</a:t>
            </a:fld>
            <a:endParaRPr lang="it-IT"/>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most developed platform to date is </a:t>
            </a:r>
            <a:r>
              <a:rPr lang="en-US" sz="2000" dirty="0" err="1" smtClean="0">
                <a:latin typeface="Garamond" pitchFamily="18" charset="0"/>
              </a:rPr>
              <a:t>Ethereum</a:t>
            </a:r>
            <a:r>
              <a:rPr lang="en-US" sz="2000" dirty="0" smtClean="0">
                <a:latin typeface="Garamond" pitchFamily="18" charset="0"/>
              </a:rPr>
              <a:t>.</a:t>
            </a:r>
          </a:p>
          <a:p>
            <a:pPr marL="0" indent="0" algn="just">
              <a:buNone/>
            </a:pPr>
            <a:r>
              <a:rPr lang="en-US" sz="2000" dirty="0" smtClean="0">
                <a:latin typeface="Garamond" pitchFamily="18" charset="0"/>
              </a:rPr>
              <a:t>In 2013, the initial idea of </a:t>
            </a:r>
            <a:r>
              <a:rPr lang="en-US" sz="2000" dirty="0" err="1" smtClean="0">
                <a:latin typeface="Garamond" pitchFamily="18" charset="0"/>
              </a:rPr>
              <a:t>Ethereum</a:t>
            </a:r>
            <a:r>
              <a:rPr lang="en-US" sz="2000" dirty="0" smtClean="0">
                <a:latin typeface="Garamond" pitchFamily="18" charset="0"/>
              </a:rPr>
              <a:t> was proposed by </a:t>
            </a:r>
            <a:r>
              <a:rPr lang="en-US" sz="2000" dirty="0" err="1" smtClean="0">
                <a:latin typeface="Garamond" pitchFamily="18" charset="0"/>
              </a:rPr>
              <a:t>Vitalik</a:t>
            </a:r>
            <a:r>
              <a:rPr lang="en-US" sz="2000" dirty="0" smtClean="0">
                <a:latin typeface="Garamond" pitchFamily="18" charset="0"/>
              </a:rPr>
              <a:t> </a:t>
            </a:r>
            <a:r>
              <a:rPr lang="en-US" sz="2000" dirty="0" err="1" smtClean="0">
                <a:latin typeface="Garamond" pitchFamily="18" charset="0"/>
              </a:rPr>
              <a:t>Buterin</a:t>
            </a:r>
            <a:r>
              <a:rPr lang="en-US" sz="2000" dirty="0" smtClean="0">
                <a:latin typeface="Garamond" pitchFamily="18" charset="0"/>
              </a:rPr>
              <a:t>, who stated that in the evolution of the </a:t>
            </a:r>
            <a:r>
              <a:rPr lang="en-US" sz="2000" dirty="0" err="1" smtClean="0">
                <a:latin typeface="Garamond" pitchFamily="18" charset="0"/>
              </a:rPr>
              <a:t>Bitcoin</a:t>
            </a:r>
            <a:r>
              <a:rPr lang="en-US" sz="2000" dirty="0" smtClean="0">
                <a:latin typeface="Garamond" pitchFamily="18" charset="0"/>
              </a:rPr>
              <a:t> system, there was a need for a "general scripting" language, which would allow the development of different applications.</a:t>
            </a:r>
          </a:p>
          <a:p>
            <a:pPr marL="0" indent="0" algn="just">
              <a:buNone/>
            </a:pPr>
            <a:r>
              <a:rPr lang="en-US" sz="2000" dirty="0" smtClean="0">
                <a:latin typeface="Garamond" pitchFamily="18" charset="0"/>
              </a:rPr>
              <a:t>After the </a:t>
            </a:r>
            <a:r>
              <a:rPr lang="en-US" sz="2000" dirty="0" err="1" smtClean="0">
                <a:latin typeface="Garamond" pitchFamily="18" charset="0"/>
              </a:rPr>
              <a:t>Bitcoin</a:t>
            </a:r>
            <a:r>
              <a:rPr lang="en-US" sz="2000" dirty="0" smtClean="0">
                <a:latin typeface="Garamond" pitchFamily="18" charset="0"/>
              </a:rPr>
              <a:t> community rejected his proposal, </a:t>
            </a:r>
            <a:r>
              <a:rPr lang="en-US" sz="2000" dirty="0" err="1" smtClean="0">
                <a:latin typeface="Garamond" pitchFamily="18" charset="0"/>
              </a:rPr>
              <a:t>Buterin</a:t>
            </a:r>
            <a:r>
              <a:rPr lang="en-US" sz="2000" dirty="0" smtClean="0">
                <a:latin typeface="Garamond" pitchFamily="18" charset="0"/>
              </a:rPr>
              <a:t> wrote an </a:t>
            </a:r>
            <a:r>
              <a:rPr lang="en-US" sz="2000" dirty="0" err="1" smtClean="0">
                <a:latin typeface="Garamond" pitchFamily="18" charset="0"/>
              </a:rPr>
              <a:t>Ethereum</a:t>
            </a:r>
            <a:r>
              <a:rPr lang="en-US" sz="2000" dirty="0" smtClean="0">
                <a:latin typeface="Garamond" pitchFamily="18" charset="0"/>
              </a:rPr>
              <a:t> white paper, proposing the development of a new procurement platform.</a:t>
            </a:r>
          </a:p>
          <a:p>
            <a:pPr marL="0" indent="0" algn="just">
              <a:buNone/>
            </a:pPr>
            <a:r>
              <a:rPr lang="en-US" sz="2000" dirty="0" smtClean="0">
                <a:latin typeface="Garamond" pitchFamily="18" charset="0"/>
              </a:rPr>
              <a:t>What </a:t>
            </a:r>
            <a:r>
              <a:rPr lang="en-US" sz="2000" dirty="0" err="1" smtClean="0">
                <a:latin typeface="Garamond" pitchFamily="18" charset="0"/>
              </a:rPr>
              <a:t>Ethereum</a:t>
            </a:r>
            <a:r>
              <a:rPr lang="en-US" sz="2000" dirty="0" smtClean="0">
                <a:latin typeface="Garamond" pitchFamily="18" charset="0"/>
              </a:rPr>
              <a:t> intended and intends to provide is a blockchain, with a complete programming language, (i.e., Turing Complete), which can be used to create "contracts" to code arbitrary state transition   functions. This allows users to create any of the systems described, as well as many others, not yet imagined, simply by writing a few lines of code.</a:t>
            </a:r>
          </a:p>
          <a:p>
            <a:pPr marL="0" indent="0" algn="just">
              <a:buNone/>
            </a:pPr>
            <a:r>
              <a:rPr lang="en-US" sz="2000" dirty="0" smtClean="0">
                <a:latin typeface="Garamond" pitchFamily="18" charset="0"/>
              </a:rPr>
              <a:t>In 2014, a small development team, the </a:t>
            </a:r>
            <a:r>
              <a:rPr lang="en-US" sz="2000" dirty="0" err="1" smtClean="0">
                <a:latin typeface="Garamond" pitchFamily="18" charset="0"/>
              </a:rPr>
              <a:t>Ethereum</a:t>
            </a:r>
            <a:r>
              <a:rPr lang="en-US" sz="2000" dirty="0" smtClean="0">
                <a:latin typeface="Garamond" pitchFamily="18" charset="0"/>
              </a:rPr>
              <a:t> foundation, began creating the </a:t>
            </a:r>
            <a:r>
              <a:rPr lang="en-US" sz="2000" dirty="0" err="1" smtClean="0">
                <a:latin typeface="Garamond" pitchFamily="18" charset="0"/>
              </a:rPr>
              <a:t>Ethereum</a:t>
            </a:r>
            <a:r>
              <a:rPr lang="en-US" sz="2000" dirty="0" smtClean="0">
                <a:latin typeface="Garamond" pitchFamily="18" charset="0"/>
              </a:rPr>
              <a:t> platform.</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22</a:t>
            </a:fld>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err="1" smtClean="0">
                <a:latin typeface="Garamond" pitchFamily="18" charset="0"/>
              </a:rPr>
              <a:t>Ethereum's</a:t>
            </a:r>
            <a:r>
              <a:rPr lang="en-US" sz="2000" dirty="0" smtClean="0">
                <a:latin typeface="Garamond" pitchFamily="18" charset="0"/>
              </a:rPr>
              <a:t> scripting language is much more powerful than </a:t>
            </a:r>
            <a:r>
              <a:rPr lang="en-US" sz="2000" dirty="0" err="1" smtClean="0">
                <a:latin typeface="Garamond" pitchFamily="18" charset="0"/>
              </a:rPr>
              <a:t>Bitcoin's</a:t>
            </a:r>
            <a:r>
              <a:rPr lang="en-US" sz="2000" dirty="0" smtClean="0">
                <a:latin typeface="Garamond" pitchFamily="18" charset="0"/>
              </a:rPr>
              <a:t>, permitting any function to be processed and executed by a computer.</a:t>
            </a:r>
          </a:p>
          <a:p>
            <a:pPr marL="0" indent="0" algn="just">
              <a:buNone/>
            </a:pPr>
            <a:r>
              <a:rPr lang="en-US" sz="2000" dirty="0" smtClean="0">
                <a:latin typeface="Garamond" pitchFamily="18" charset="0"/>
              </a:rPr>
              <a:t>Given its scripting language, </a:t>
            </a:r>
            <a:r>
              <a:rPr lang="en-US" sz="2000" dirty="0" err="1" smtClean="0">
                <a:latin typeface="Garamond" pitchFamily="18" charset="0"/>
              </a:rPr>
              <a:t>Ethereum's</a:t>
            </a:r>
            <a:r>
              <a:rPr lang="en-US" sz="2000" dirty="0" smtClean="0">
                <a:latin typeface="Garamond" pitchFamily="18" charset="0"/>
              </a:rPr>
              <a:t> promise, as described in an industry article, has been to "transform law, finance, and civil society" (Epstein 2015).</a:t>
            </a:r>
          </a:p>
          <a:p>
            <a:pPr marL="0" indent="0" algn="just">
              <a:buNone/>
            </a:pPr>
            <a:r>
              <a:rPr lang="en-US" sz="2000" dirty="0" smtClean="0">
                <a:latin typeface="Garamond" pitchFamily="18" charset="0"/>
              </a:rPr>
              <a:t>The substantial number of followers, developers, and </a:t>
            </a:r>
            <a:r>
              <a:rPr lang="en-US" sz="2000" dirty="0" err="1" smtClean="0">
                <a:latin typeface="Garamond" pitchFamily="18" charset="0"/>
              </a:rPr>
              <a:t>cryptocurrency</a:t>
            </a:r>
            <a:r>
              <a:rPr lang="en-US" sz="2000" dirty="0" smtClean="0">
                <a:latin typeface="Garamond" pitchFamily="18" charset="0"/>
              </a:rPr>
              <a:t> enthusiasts, attracted by this promise, helped the community of </a:t>
            </a:r>
            <a:r>
              <a:rPr lang="en-US" sz="2000" dirty="0" err="1" smtClean="0">
                <a:latin typeface="Garamond" pitchFamily="18" charset="0"/>
              </a:rPr>
              <a:t>Ethereum</a:t>
            </a:r>
            <a:r>
              <a:rPr lang="en-US" sz="2000" dirty="0" smtClean="0">
                <a:latin typeface="Garamond" pitchFamily="18" charset="0"/>
              </a:rPr>
              <a:t> members grow.</a:t>
            </a:r>
          </a:p>
          <a:p>
            <a:pPr marL="0" indent="0" algn="just">
              <a:buNone/>
            </a:pPr>
            <a:r>
              <a:rPr lang="en-US" sz="2000" dirty="0" smtClean="0">
                <a:latin typeface="Garamond" pitchFamily="18" charset="0"/>
              </a:rPr>
              <a:t>In 2015 alone, over $8 million was raised in an </a:t>
            </a:r>
            <a:r>
              <a:rPr lang="en-US" sz="2000" dirty="0" err="1" smtClean="0">
                <a:latin typeface="Garamond" pitchFamily="18" charset="0"/>
              </a:rPr>
              <a:t>Ethereum</a:t>
            </a:r>
            <a:r>
              <a:rPr lang="en-US" sz="2000" dirty="0" smtClean="0">
                <a:latin typeface="Garamond" pitchFamily="18" charset="0"/>
              </a:rPr>
              <a:t> </a:t>
            </a:r>
            <a:r>
              <a:rPr lang="en-US" sz="2000" dirty="0" err="1" smtClean="0">
                <a:latin typeface="Garamond" pitchFamily="18" charset="0"/>
              </a:rPr>
              <a:t>crowdsale</a:t>
            </a:r>
            <a:r>
              <a:rPr lang="en-US" sz="2000" dirty="0" smtClean="0">
                <a:latin typeface="Garamond" pitchFamily="18" charset="0"/>
              </a:rPr>
              <a:t> by selling Ether, the native </a:t>
            </a:r>
            <a:r>
              <a:rPr lang="en-US" sz="2000" dirty="0" err="1" smtClean="0">
                <a:latin typeface="Garamond" pitchFamily="18" charset="0"/>
              </a:rPr>
              <a:t>Ethereum</a:t>
            </a:r>
            <a:r>
              <a:rPr lang="en-US" sz="2000" dirty="0" smtClean="0">
                <a:latin typeface="Garamond" pitchFamily="18" charset="0"/>
              </a:rPr>
              <a:t> token (Schneider 2015).</a:t>
            </a:r>
          </a:p>
          <a:p>
            <a:pPr marL="0" indent="0" algn="just">
              <a:buNone/>
            </a:pPr>
            <a:r>
              <a:rPr lang="en-US" sz="2000" dirty="0" smtClean="0">
                <a:latin typeface="Garamond" pitchFamily="18" charset="0"/>
              </a:rPr>
              <a:t>Eventually, </a:t>
            </a:r>
            <a:r>
              <a:rPr lang="en-US" sz="2000" dirty="0" err="1" smtClean="0">
                <a:latin typeface="Garamond" pitchFamily="18" charset="0"/>
              </a:rPr>
              <a:t>Ethereum</a:t>
            </a:r>
            <a:r>
              <a:rPr lang="en-US" sz="2000" dirty="0" smtClean="0">
                <a:latin typeface="Garamond" pitchFamily="18" charset="0"/>
              </a:rPr>
              <a:t> became the second highest-rated blockchain-based system in the world, with a market capitalization, as of April 2019, of over $ 17 billion.</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23</a:t>
            </a:fld>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The growing adoption of the </a:t>
            </a:r>
            <a:r>
              <a:rPr lang="en-US" sz="2000" dirty="0" err="1" smtClean="0">
                <a:latin typeface="Garamond" pitchFamily="18" charset="0"/>
              </a:rPr>
              <a:t>Ethereum</a:t>
            </a:r>
            <a:r>
              <a:rPr lang="en-US" sz="2000" dirty="0" smtClean="0">
                <a:latin typeface="Garamond" pitchFamily="18" charset="0"/>
              </a:rPr>
              <a:t> platform has provided a functional capability for a reliable and accessible infrastructure that customizes and executes a variety of peer-to-peer agreements.</a:t>
            </a:r>
          </a:p>
          <a:p>
            <a:pPr marL="0" indent="0" algn="just">
              <a:buNone/>
            </a:pPr>
            <a:r>
              <a:rPr lang="en-US" sz="2000" dirty="0" smtClean="0">
                <a:latin typeface="Garamond" pitchFamily="18" charset="0"/>
              </a:rPr>
              <a:t>Although traditional commercial contracts also offer this capability, the most important innovative aspect of the smart contract concept is the ability of agreements to be executed automatically, under certain conditions, thus eliminating the possibility of renegotiation.</a:t>
            </a:r>
          </a:p>
          <a:p>
            <a:pPr marL="0" indent="0" algn="just">
              <a:buNone/>
            </a:pPr>
            <a:r>
              <a:rPr lang="en-US" sz="2000" dirty="0" smtClean="0">
                <a:latin typeface="Garamond" pitchFamily="18" charset="0"/>
              </a:rPr>
              <a:t>A less new, but still notable, aspect of the smart contract concept is the improved, and potentially more cost-effective, monitoring of digitally encoded contract terms.</a:t>
            </a:r>
          </a:p>
          <a:p>
            <a:pPr marL="0" indent="0" algn="just">
              <a:buNone/>
            </a:pPr>
            <a:r>
              <a:rPr lang="en-US" sz="2000" dirty="0" smtClean="0">
                <a:latin typeface="Garamond" pitchFamily="18" charset="0"/>
              </a:rPr>
              <a:t>Technologies that enable better and cheaper monitoring of contract terms have been developed and implemented for decades.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24</a:t>
            </a:fld>
            <a:endParaRPr lang="it-IT"/>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For example, in digital supply chains, parties in contact can use wireless readings from a GPS sensor and a digital thermometer to determine if a container of farm produce reaches its destination without exceeding a predefined temperature.</a:t>
            </a:r>
          </a:p>
          <a:p>
            <a:pPr marL="0" indent="0" algn="just">
              <a:buNone/>
            </a:pPr>
            <a:r>
              <a:rPr lang="en-US" sz="2000" dirty="0" smtClean="0">
                <a:latin typeface="Garamond" pitchFamily="18" charset="0"/>
              </a:rPr>
              <a:t>The adoption of the smart contract concept in practice further pushes the use of digital sensors and other digital data inputs, which implement the monitoring of the contract, directly linked to the contractual conditions, through its automatic execution.</a:t>
            </a:r>
          </a:p>
          <a:p>
            <a:pPr marL="0" indent="0" algn="just">
              <a:buNone/>
            </a:pPr>
            <a:r>
              <a:rPr lang="en-US" sz="2000" dirty="0" smtClean="0">
                <a:latin typeface="Garamond" pitchFamily="18" charset="0"/>
              </a:rPr>
              <a:t>One of the pioneering markets, in the extensive use of smart contracts, is  the Australian market, which has profoundly reshaped many of its industrial and commercial systems, becoming a leader in the development and application of legal tools for the blockchain.</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25</a:t>
            </a:fld>
            <a:endParaRPr lang="it-IT"/>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474</TotalTime>
  <Words>2630</Words>
  <Application>Microsoft Office PowerPoint</Application>
  <PresentationFormat>Presentazione su schermo (4:3)</PresentationFormat>
  <Paragraphs>163</Paragraphs>
  <Slides>25</Slides>
  <Notes>0</Notes>
  <HiddenSlides>0</HiddenSlides>
  <MMClips>0</MMClips>
  <ScaleCrop>false</ScaleCrop>
  <HeadingPairs>
    <vt:vector size="4" baseType="variant">
      <vt:variant>
        <vt:lpstr>Tema</vt:lpstr>
      </vt:variant>
      <vt:variant>
        <vt:i4>1</vt:i4>
      </vt:variant>
      <vt:variant>
        <vt:lpstr>Titoli diapositive</vt:lpstr>
      </vt:variant>
      <vt:variant>
        <vt:i4>25</vt:i4>
      </vt:variant>
    </vt:vector>
  </HeadingPairs>
  <TitlesOfParts>
    <vt:vector size="26" baseType="lpstr">
      <vt:lpstr>Tema di Office</vt:lpstr>
      <vt:lpstr>LEZIONE N. 7</vt:lpstr>
      <vt:lpstr>VERIFICATION AND INFORMATION PROBLEMS IN PRACTICE </vt:lpstr>
      <vt:lpstr>Diapositiva 3</vt:lpstr>
      <vt:lpstr>Diapositiva 4</vt:lpstr>
      <vt:lpstr>THE BLOCKCHAIN AND INDUSTRIAL ORGANIZATION: THE PROBLEM OF COLLUSION  </vt:lpstr>
      <vt:lpstr>Diapositiva 6</vt:lpstr>
      <vt:lpstr>Diapositiva 7</vt:lpstr>
      <vt:lpstr>Diapositiva 8</vt:lpstr>
      <vt:lpstr>MEASURES TO REDUCE COLLUSION ON THE BLOCKCHAIN </vt:lpstr>
      <vt:lpstr>Diapositiva 10</vt:lpstr>
      <vt:lpstr>A POTENTIAL SOLUTION: SEPARATING USAGE  FROM CONSENSUS GENERATION </vt:lpstr>
      <vt:lpstr>Diapositiva 12</vt:lpstr>
      <vt:lpstr>FINAL CONSIDERATIONS </vt:lpstr>
      <vt:lpstr>Diapositiva 14</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lpstr>Diapositiva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138</cp:revision>
  <dcterms:created xsi:type="dcterms:W3CDTF">2022-09-16T10:16:52Z</dcterms:created>
  <dcterms:modified xsi:type="dcterms:W3CDTF">2024-05-15T10:43:42Z</dcterms:modified>
</cp:coreProperties>
</file>