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92" r:id="rId3"/>
    <p:sldId id="258" r:id="rId4"/>
    <p:sldId id="259" r:id="rId5"/>
    <p:sldId id="260" r:id="rId6"/>
    <p:sldId id="261" r:id="rId7"/>
    <p:sldId id="262" r:id="rId8"/>
    <p:sldId id="263" r:id="rId9"/>
    <p:sldId id="264" r:id="rId10"/>
    <p:sldId id="265" r:id="rId11"/>
    <p:sldId id="266" r:id="rId12"/>
    <p:sldId id="290"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91" r:id="rId33"/>
    <p:sldId id="286" r:id="rId34"/>
    <p:sldId id="287" r:id="rId35"/>
    <p:sldId id="288" r:id="rId36"/>
    <p:sldId id="289" r:id="rId37"/>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011250-EB39-44DB-ABCD-18114D407287}"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03314F1-5EA3-476D-9B2A-41C4FD1D78DD}"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7A26B254-CBCD-438B-87B9-7207DC42C87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CDEB43C5-D0B0-43DB-B580-8568B6EBFF1D}"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68F9C2C8-2995-41C6-9EC5-AB04A13D65F9}"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F883D6C9-ADB4-4587-9DC5-48A551503E01}"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0152D8CD-A574-4A00-B09B-438877A97BD7}"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29B71F9E-70B9-41D5-93E2-E2720E8E65E7}"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E6AA263E-8204-4BB3-A26A-DC00240BE293}"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4DCB0F0F-1075-4129-BF48-86108502CED6}"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4B954A7F-374C-4CE8-8D24-C97C89BD2796}"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1C31ECAF-137E-4ACD-851A-F0C7C8B7B0F5}"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FCCA84F3-85BB-4604-81B9-3F9BD615E2B9}"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B6EFD-88D8-4CDB-8724-47EA1AA8E51B}"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571472" y="928671"/>
            <a:ext cx="7772400" cy="1071570"/>
          </a:xfrm>
        </p:spPr>
        <p:txBody>
          <a:bodyPr>
            <a:normAutofit/>
          </a:bodyPr>
          <a:lstStyle/>
          <a:p>
            <a:r>
              <a:rPr lang="it-IT" sz="2800" dirty="0" smtClean="0">
                <a:solidFill>
                  <a:srgbClr val="FF0000"/>
                </a:solidFill>
              </a:rPr>
              <a:t>LEZIONE N. 4</a:t>
            </a:r>
            <a:endParaRPr lang="it-IT" sz="2800" dirty="0">
              <a:solidFill>
                <a:srgbClr val="FF0000"/>
              </a:solidFill>
            </a:endParaRPr>
          </a:p>
        </p:txBody>
      </p:sp>
      <p:sp>
        <p:nvSpPr>
          <p:cNvPr id="3" name="Sottotitolo 2"/>
          <p:cNvSpPr>
            <a:spLocks noGrp="1"/>
          </p:cNvSpPr>
          <p:nvPr>
            <p:ph type="subTitle" idx="1"/>
          </p:nvPr>
        </p:nvSpPr>
        <p:spPr>
          <a:xfrm>
            <a:off x="428596" y="1928802"/>
            <a:ext cx="8286808" cy="4429156"/>
          </a:xfrm>
        </p:spPr>
        <p:txBody>
          <a:bodyPr>
            <a:normAutofit fontScale="62500" lnSpcReduction="20000"/>
          </a:bodyPr>
          <a:lstStyle/>
          <a:p>
            <a:pPr marL="457200" indent="-457200" algn="just">
              <a:buFont typeface="+mj-lt"/>
              <a:buAutoNum type="arabicPeriod"/>
            </a:pPr>
            <a:r>
              <a:rPr lang="en-US" b="1" dirty="0" smtClean="0">
                <a:solidFill>
                  <a:schemeClr val="tx1"/>
                </a:solidFill>
                <a:latin typeface="Garamond" pitchFamily="18" charset="0"/>
              </a:rPr>
              <a:t>Advances in the blockchain are based on scalability and </a:t>
            </a:r>
            <a:r>
              <a:rPr lang="en-US" b="1" dirty="0" err="1" smtClean="0">
                <a:solidFill>
                  <a:schemeClr val="tx1"/>
                </a:solidFill>
                <a:latin typeface="Garamond" pitchFamily="18" charset="0"/>
              </a:rPr>
              <a:t>sharding</a:t>
            </a:r>
            <a:r>
              <a:rPr lang="en-US" b="1" dirty="0" smtClean="0">
                <a:solidFill>
                  <a:schemeClr val="tx1"/>
                </a:solidFill>
                <a:latin typeface="Garamond" pitchFamily="18" charset="0"/>
              </a:rPr>
              <a:t>.</a:t>
            </a:r>
          </a:p>
          <a:p>
            <a:pPr marL="457200" indent="-457200" algn="just">
              <a:buFont typeface="+mj-lt"/>
              <a:buAutoNum type="arabicPeriod"/>
            </a:pPr>
            <a:r>
              <a:rPr lang="en-US" b="1" dirty="0" smtClean="0">
                <a:solidFill>
                  <a:schemeClr val="tx1"/>
                </a:solidFill>
                <a:latin typeface="Garamond" pitchFamily="18" charset="0"/>
              </a:rPr>
              <a:t>Which sectors can use the blockchain?</a:t>
            </a:r>
          </a:p>
          <a:p>
            <a:pPr marL="457200" indent="-457200" algn="just">
              <a:buFont typeface="+mj-lt"/>
              <a:buAutoNum type="arabicPeriod"/>
            </a:pPr>
            <a:r>
              <a:rPr lang="en-US" b="1" dirty="0" smtClean="0">
                <a:solidFill>
                  <a:schemeClr val="tx1"/>
                </a:solidFill>
                <a:latin typeface="Garamond" pitchFamily="18" charset="0"/>
              </a:rPr>
              <a:t>The  blockchain in  shipping</a:t>
            </a:r>
          </a:p>
          <a:p>
            <a:pPr marL="457200" indent="-457200" algn="just">
              <a:buFont typeface="+mj-lt"/>
              <a:buAutoNum type="arabicPeriod"/>
            </a:pPr>
            <a:r>
              <a:rPr lang="en-US" b="1" dirty="0" err="1" smtClean="0">
                <a:solidFill>
                  <a:schemeClr val="tx1"/>
                </a:solidFill>
                <a:latin typeface="Garamond" pitchFamily="18" charset="0"/>
              </a:rPr>
              <a:t>Blockchains</a:t>
            </a:r>
            <a:r>
              <a:rPr lang="en-US" b="1" dirty="0" smtClean="0">
                <a:solidFill>
                  <a:schemeClr val="tx1"/>
                </a:solidFill>
                <a:latin typeface="Garamond" pitchFamily="18" charset="0"/>
              </a:rPr>
              <a:t> in  </a:t>
            </a:r>
            <a:r>
              <a:rPr lang="en-US" b="1" dirty="0" err="1" smtClean="0">
                <a:solidFill>
                  <a:schemeClr val="tx1"/>
                </a:solidFill>
                <a:latin typeface="Garamond" pitchFamily="18" charset="0"/>
              </a:rPr>
              <a:t>fintech</a:t>
            </a:r>
            <a:endParaRPr lang="en-US" b="1" dirty="0" smtClean="0">
              <a:solidFill>
                <a:schemeClr val="tx1"/>
              </a:solidFill>
              <a:latin typeface="Garamond" pitchFamily="18" charset="0"/>
            </a:endParaRPr>
          </a:p>
          <a:p>
            <a:pPr marL="457200" indent="-457200" algn="just">
              <a:buFont typeface="+mj-lt"/>
              <a:buAutoNum type="arabicPeriod"/>
            </a:pPr>
            <a:r>
              <a:rPr lang="en-US" b="1" dirty="0" err="1" smtClean="0">
                <a:solidFill>
                  <a:schemeClr val="tx1"/>
                </a:solidFill>
                <a:latin typeface="Garamond" pitchFamily="18" charset="0"/>
              </a:rPr>
              <a:t>Blockchains</a:t>
            </a:r>
            <a:r>
              <a:rPr lang="en-US" b="1" dirty="0" smtClean="0">
                <a:solidFill>
                  <a:schemeClr val="tx1"/>
                </a:solidFill>
                <a:latin typeface="Garamond" pitchFamily="18" charset="0"/>
              </a:rPr>
              <a:t> and mobile payments</a:t>
            </a:r>
          </a:p>
          <a:p>
            <a:pPr marL="457200" indent="-457200" algn="just">
              <a:buFont typeface="+mj-lt"/>
              <a:buAutoNum type="arabicPeriod"/>
            </a:pPr>
            <a:r>
              <a:rPr lang="en-US" b="1" dirty="0" smtClean="0">
                <a:solidFill>
                  <a:schemeClr val="tx1"/>
                </a:solidFill>
                <a:latin typeface="Garamond" pitchFamily="18" charset="0"/>
              </a:rPr>
              <a:t>The  </a:t>
            </a:r>
            <a:r>
              <a:rPr lang="en-US" b="1" dirty="0" err="1" smtClean="0">
                <a:solidFill>
                  <a:schemeClr val="tx1"/>
                </a:solidFill>
                <a:latin typeface="Garamond" pitchFamily="18" charset="0"/>
              </a:rPr>
              <a:t>iin</a:t>
            </a:r>
            <a:r>
              <a:rPr lang="en-US" b="1" dirty="0" smtClean="0">
                <a:solidFill>
                  <a:schemeClr val="tx1"/>
                </a:solidFill>
                <a:latin typeface="Garamond" pitchFamily="18" charset="0"/>
              </a:rPr>
              <a:t> case:  </a:t>
            </a:r>
            <a:r>
              <a:rPr lang="en-US" b="1" dirty="0" err="1" smtClean="0">
                <a:solidFill>
                  <a:schemeClr val="tx1"/>
                </a:solidFill>
                <a:latin typeface="Garamond" pitchFamily="18" charset="0"/>
              </a:rPr>
              <a:t>jp</a:t>
            </a:r>
            <a:r>
              <a:rPr lang="en-US" b="1" dirty="0" smtClean="0">
                <a:solidFill>
                  <a:schemeClr val="tx1"/>
                </a:solidFill>
                <a:latin typeface="Garamond" pitchFamily="18" charset="0"/>
              </a:rPr>
              <a:t> </a:t>
            </a:r>
            <a:r>
              <a:rPr lang="en-US" b="1" dirty="0" err="1" smtClean="0">
                <a:solidFill>
                  <a:schemeClr val="tx1"/>
                </a:solidFill>
                <a:latin typeface="Garamond" pitchFamily="18" charset="0"/>
              </a:rPr>
              <a:t>morgan’s</a:t>
            </a:r>
            <a:r>
              <a:rPr lang="en-US" b="1" dirty="0" smtClean="0">
                <a:solidFill>
                  <a:schemeClr val="tx1"/>
                </a:solidFill>
                <a:latin typeface="Garamond" pitchFamily="18" charset="0"/>
              </a:rPr>
              <a:t>  interbank information network</a:t>
            </a:r>
          </a:p>
          <a:p>
            <a:pPr marL="457200" indent="-457200" algn="just">
              <a:buFont typeface="+mj-lt"/>
              <a:buAutoNum type="arabicPeriod"/>
            </a:pPr>
            <a:r>
              <a:rPr lang="en-US" b="1" dirty="0" err="1" smtClean="0">
                <a:solidFill>
                  <a:schemeClr val="tx1"/>
                </a:solidFill>
                <a:latin typeface="Garamond" pitchFamily="18" charset="0"/>
              </a:rPr>
              <a:t>Mastercard</a:t>
            </a:r>
            <a:endParaRPr lang="en-US" b="1" dirty="0" smtClean="0">
              <a:solidFill>
                <a:schemeClr val="tx1"/>
              </a:solidFill>
              <a:latin typeface="Garamond" pitchFamily="18" charset="0"/>
            </a:endParaRPr>
          </a:p>
          <a:p>
            <a:pPr marL="457200" indent="-457200" algn="just">
              <a:buFont typeface="+mj-lt"/>
              <a:buAutoNum type="arabicPeriod"/>
            </a:pPr>
            <a:r>
              <a:rPr lang="en-US" b="1" dirty="0" err="1" smtClean="0">
                <a:solidFill>
                  <a:schemeClr val="tx1"/>
                </a:solidFill>
                <a:latin typeface="Garamond" pitchFamily="18" charset="0"/>
              </a:rPr>
              <a:t>Klickex</a:t>
            </a:r>
            <a:endParaRPr lang="en-US" b="1" dirty="0" smtClean="0">
              <a:solidFill>
                <a:schemeClr val="tx1"/>
              </a:solidFill>
              <a:latin typeface="Garamond" pitchFamily="18" charset="0"/>
            </a:endParaRPr>
          </a:p>
          <a:p>
            <a:pPr marL="457200" indent="-457200" algn="just">
              <a:buFont typeface="+mj-lt"/>
              <a:buAutoNum type="arabicPeriod"/>
            </a:pPr>
            <a:r>
              <a:rPr lang="en-US" b="1" dirty="0" smtClean="0">
                <a:solidFill>
                  <a:schemeClr val="tx1"/>
                </a:solidFill>
                <a:latin typeface="Garamond" pitchFamily="18" charset="0"/>
              </a:rPr>
              <a:t>Blockchain and healthcare</a:t>
            </a:r>
          </a:p>
          <a:p>
            <a:pPr marL="457200" indent="-457200" algn="just">
              <a:buFont typeface="+mj-lt"/>
              <a:buAutoNum type="arabicPeriod"/>
            </a:pPr>
            <a:r>
              <a:rPr lang="en-US" b="1" dirty="0" smtClean="0">
                <a:solidFill>
                  <a:schemeClr val="tx1"/>
                </a:solidFill>
                <a:latin typeface="Garamond" pitchFamily="18" charset="0"/>
              </a:rPr>
              <a:t>Blockchain careers take flight</a:t>
            </a:r>
          </a:p>
          <a:p>
            <a:pPr marL="457200" indent="-457200" algn="just">
              <a:buFont typeface="+mj-lt"/>
              <a:buAutoNum type="arabicPeriod"/>
            </a:pPr>
            <a:r>
              <a:rPr lang="en-US" b="1" dirty="0" smtClean="0">
                <a:solidFill>
                  <a:schemeClr val="tx1"/>
                </a:solidFill>
                <a:latin typeface="Garamond" pitchFamily="18" charset="0"/>
              </a:rPr>
              <a:t>How companies need to approach  blockchain</a:t>
            </a:r>
          </a:p>
          <a:p>
            <a:pPr marL="457200" indent="-457200" algn="just">
              <a:buFont typeface="+mj-lt"/>
              <a:buAutoNum type="arabicPeriod"/>
            </a:pPr>
            <a:r>
              <a:rPr lang="en-US" b="1" dirty="0" smtClean="0">
                <a:solidFill>
                  <a:schemeClr val="tx1"/>
                </a:solidFill>
                <a:latin typeface="Garamond" pitchFamily="18" charset="0"/>
              </a:rPr>
              <a:t>Aspects of global trade</a:t>
            </a:r>
          </a:p>
          <a:p>
            <a:pPr marL="457200" indent="-457200" algn="just">
              <a:buFont typeface="+mj-lt"/>
              <a:buAutoNum type="arabicPeriod"/>
            </a:pPr>
            <a:r>
              <a:rPr lang="en-US" b="1" dirty="0" smtClean="0">
                <a:solidFill>
                  <a:schemeClr val="tx1"/>
                </a:solidFill>
                <a:latin typeface="Garamond" pitchFamily="18" charset="0"/>
              </a:rPr>
              <a:t>Future opportunities</a:t>
            </a:r>
            <a:endParaRPr lang="it-IT" dirty="0">
              <a:solidFill>
                <a:schemeClr val="tx1"/>
              </a:solidFill>
            </a:endParaRPr>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700" b="1" dirty="0" smtClean="0">
                <a:solidFill>
                  <a:srgbClr val="FF0000"/>
                </a:solidFill>
                <a:latin typeface="Garamond" pitchFamily="18" charset="0"/>
              </a:rPr>
              <a:t>ADVANCES IN THE BLOCKCHAIN ARE BASED ON      SCALABILITY AND SHARDING.</a:t>
            </a:r>
            <a:r>
              <a:rPr lang="en-US" sz="3600" b="1" dirty="0" smtClean="0">
                <a:solidFill>
                  <a:srgbClr val="FF0000"/>
                </a:solidFill>
                <a:latin typeface="Garamond" pitchFamily="18" charset="0"/>
              </a:rPr>
              <a:t/>
            </a:r>
            <a:br>
              <a:rPr lang="en-US" sz="3600" b="1" dirty="0"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One of the main problems the blockchain faces is scalability, or its ability to complete transactions (e.g., clearing credit card payments) in near real time.</a:t>
            </a:r>
          </a:p>
          <a:p>
            <a:pPr marL="0" indent="0" algn="just">
              <a:buNone/>
            </a:pPr>
            <a:r>
              <a:rPr lang="en-US" sz="2000" dirty="0" smtClean="0">
                <a:latin typeface="Garamond" pitchFamily="18" charset="0"/>
              </a:rPr>
              <a:t>Scalability has already been identified as a problem for </a:t>
            </a:r>
            <a:r>
              <a:rPr lang="en-US" sz="2000" dirty="0" err="1" smtClean="0">
                <a:latin typeface="Garamond" pitchFamily="18" charset="0"/>
              </a:rPr>
              <a:t>cryptocurrencies</a:t>
            </a:r>
            <a:r>
              <a:rPr lang="en-US" sz="2000" dirty="0" smtClean="0">
                <a:latin typeface="Garamond" pitchFamily="18" charset="0"/>
              </a:rPr>
              <a:t> like </a:t>
            </a:r>
            <a:r>
              <a:rPr lang="en-US" sz="2000" dirty="0" err="1" smtClean="0">
                <a:latin typeface="Garamond" pitchFamily="18" charset="0"/>
              </a:rPr>
              <a:t>Bitcoin</a:t>
            </a:r>
            <a:r>
              <a:rPr lang="en-US" sz="2000" dirty="0" smtClean="0">
                <a:latin typeface="Garamond" pitchFamily="18" charset="0"/>
              </a:rPr>
              <a:t> and </a:t>
            </a:r>
            <a:r>
              <a:rPr lang="en-US" sz="2000" dirty="0" err="1" smtClean="0">
                <a:latin typeface="Garamond" pitchFamily="18" charset="0"/>
              </a:rPr>
              <a:t>Ethereum's</a:t>
            </a:r>
            <a:r>
              <a:rPr lang="en-US" sz="2000" dirty="0" smtClean="0">
                <a:latin typeface="Garamond" pitchFamily="18" charset="0"/>
              </a:rPr>
              <a:t> Ether .</a:t>
            </a:r>
          </a:p>
          <a:p>
            <a:pPr marL="0" indent="0" algn="just">
              <a:buNone/>
            </a:pPr>
            <a:r>
              <a:rPr lang="en-US" sz="2000" dirty="0" smtClean="0">
                <a:latin typeface="Garamond" pitchFamily="18" charset="0"/>
              </a:rPr>
              <a:t>If a distributed ledger wants to gain adoption by financial technology companies (</a:t>
            </a:r>
            <a:r>
              <a:rPr lang="en-US" sz="2000" dirty="0" err="1" smtClean="0">
                <a:latin typeface="Garamond" pitchFamily="18" charset="0"/>
              </a:rPr>
              <a:t>FinTechs</a:t>
            </a:r>
            <a:r>
              <a:rPr lang="en-US" sz="2000" dirty="0" smtClean="0">
                <a:latin typeface="Garamond" pitchFamily="18" charset="0"/>
              </a:rPr>
              <a:t>) and compete with payment networks, hundreds of times faster, it must find a way to increase its scalability and its "throughput," and address problems of latency.</a:t>
            </a:r>
          </a:p>
          <a:p>
            <a:pPr marL="0" indent="0" algn="just">
              <a:buNone/>
            </a:pPr>
            <a:r>
              <a:rPr lang="en-US" sz="2000" dirty="0" err="1" smtClean="0">
                <a:latin typeface="Garamond" pitchFamily="18" charset="0"/>
              </a:rPr>
              <a:t>Sharding</a:t>
            </a:r>
            <a:r>
              <a:rPr lang="en-US" sz="2000" dirty="0" smtClean="0">
                <a:latin typeface="Garamond" pitchFamily="18" charset="0"/>
              </a:rPr>
              <a:t> is one of several popular methods explored by developers for increasing transactional throughput.</a:t>
            </a:r>
          </a:p>
          <a:p>
            <a:pPr marL="0" indent="0" algn="just">
              <a:buNone/>
            </a:pPr>
            <a:r>
              <a:rPr lang="en-US" sz="2000" dirty="0" smtClean="0">
                <a:latin typeface="Garamond" pitchFamily="18" charset="0"/>
              </a:rPr>
              <a:t>In a nutshell, </a:t>
            </a:r>
            <a:r>
              <a:rPr lang="en-US" sz="2000" dirty="0" err="1" smtClean="0">
                <a:latin typeface="Garamond" pitchFamily="18" charset="0"/>
              </a:rPr>
              <a:t>sharding</a:t>
            </a:r>
            <a:r>
              <a:rPr lang="en-US" sz="2000" dirty="0" smtClean="0">
                <a:latin typeface="Garamond" pitchFamily="18" charset="0"/>
              </a:rPr>
              <a:t> is a way of partitioning and distributing the computational and storage workload over a P2P network, so that each node is not responsible for processing the transactional load of the entire network, but only for what it did itself.</a:t>
            </a:r>
          </a:p>
          <a:p>
            <a:pPr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change in the validation system is currently being worked on. Also, we have moved from </a:t>
            </a:r>
            <a:r>
              <a:rPr lang="en-US" sz="2000" dirty="0" err="1" smtClean="0">
                <a:latin typeface="Garamond" pitchFamily="18" charset="0"/>
              </a:rPr>
              <a:t>PoW</a:t>
            </a:r>
            <a:r>
              <a:rPr lang="en-US" sz="2000" dirty="0" smtClean="0">
                <a:latin typeface="Garamond" pitchFamily="18" charset="0"/>
              </a:rPr>
              <a:t> (Proof of Work) to Proof of Stake  (</a:t>
            </a:r>
            <a:r>
              <a:rPr lang="en-US" sz="2000" dirty="0" err="1" smtClean="0">
                <a:latin typeface="Garamond" pitchFamily="18" charset="0"/>
              </a:rPr>
              <a:t>PoS</a:t>
            </a:r>
            <a:r>
              <a:rPr lang="en-US" sz="2000" dirty="0" smtClean="0">
                <a:latin typeface="Garamond" pitchFamily="18" charset="0"/>
              </a:rPr>
              <a:t>) analysis, which allows for both faster transactions and  lower energy expenditures.</a:t>
            </a:r>
          </a:p>
          <a:p>
            <a:pPr marL="0" indent="0" algn="just">
              <a:buNone/>
            </a:pPr>
            <a:r>
              <a:rPr lang="en-US" sz="2000" dirty="0" smtClean="0">
                <a:latin typeface="Garamond" pitchFamily="18" charset="0"/>
              </a:rPr>
              <a:t>The </a:t>
            </a:r>
            <a:r>
              <a:rPr lang="en-US" sz="2000" dirty="0" err="1" smtClean="0">
                <a:latin typeface="Garamond" pitchFamily="18" charset="0"/>
              </a:rPr>
              <a:t>PoS</a:t>
            </a:r>
            <a:r>
              <a:rPr lang="en-US" sz="2000" dirty="0" smtClean="0">
                <a:latin typeface="Garamond" pitchFamily="18" charset="0"/>
              </a:rPr>
              <a:t> blocks, unlike the </a:t>
            </a:r>
            <a:r>
              <a:rPr lang="en-US" sz="2000" dirty="0" err="1" smtClean="0">
                <a:latin typeface="Garamond" pitchFamily="18" charset="0"/>
              </a:rPr>
              <a:t>PoW</a:t>
            </a:r>
            <a:r>
              <a:rPr lang="en-US" sz="2000" dirty="0" smtClean="0">
                <a:latin typeface="Garamond" pitchFamily="18" charset="0"/>
              </a:rPr>
              <a:t>, are not extracted, but coined through  a pseudo-causal selection system, in which participants, who have a significant stake, are selected to coin the blocks and add them to the Blockchain. This allows for a lower expenditure of energy and an increase in the speed of operations.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this way, each node only maintains information related to its partition, or  "shard." </a:t>
            </a:r>
          </a:p>
          <a:p>
            <a:pPr marL="0" indent="0" algn="just">
              <a:buNone/>
            </a:pPr>
            <a:r>
              <a:rPr lang="en-US" sz="2000" dirty="0" smtClean="0">
                <a:latin typeface="Garamond" pitchFamily="18" charset="0"/>
              </a:rPr>
              <a:t>The information contained in a shard can still be shared among other nodes, which keeps the ledger decentralized and theoretically secure because everyone can still see the "ledger entries"; they just do not process and store any information.</a:t>
            </a:r>
          </a:p>
          <a:p>
            <a:pPr marL="0" indent="0" algn="just">
              <a:buNone/>
            </a:pPr>
            <a:r>
              <a:rPr lang="en-US" sz="2000" dirty="0" smtClean="0">
                <a:latin typeface="Garamond" pitchFamily="18" charset="0"/>
              </a:rPr>
              <a:t>In </a:t>
            </a:r>
            <a:r>
              <a:rPr lang="en-US" sz="2000" dirty="0" err="1" smtClean="0">
                <a:latin typeface="Garamond" pitchFamily="18" charset="0"/>
              </a:rPr>
              <a:t>blockchains</a:t>
            </a:r>
            <a:r>
              <a:rPr lang="en-US" sz="2000" dirty="0" smtClean="0">
                <a:latin typeface="Garamond" pitchFamily="18" charset="0"/>
              </a:rPr>
              <a:t>, each computer or authentication node records all data on the electronic ledger and participates in the consensus process.</a:t>
            </a:r>
          </a:p>
          <a:p>
            <a:pPr marL="0" indent="0" algn="just">
              <a:buNone/>
            </a:pPr>
            <a:r>
              <a:rPr lang="en-US" sz="2000" dirty="0" smtClean="0">
                <a:latin typeface="Garamond" pitchFamily="18" charset="0"/>
              </a:rPr>
              <a:t>In large </a:t>
            </a:r>
            <a:r>
              <a:rPr lang="en-US" sz="2000" dirty="0" err="1" smtClean="0">
                <a:latin typeface="Garamond" pitchFamily="18" charset="0"/>
              </a:rPr>
              <a:t>blockchains</a:t>
            </a:r>
            <a:r>
              <a:rPr lang="en-US" sz="2000" dirty="0" smtClean="0">
                <a:latin typeface="Garamond" pitchFamily="18" charset="0"/>
              </a:rPr>
              <a:t> such as </a:t>
            </a:r>
            <a:r>
              <a:rPr lang="en-US" sz="2000" dirty="0" err="1" smtClean="0">
                <a:latin typeface="Garamond" pitchFamily="18" charset="0"/>
              </a:rPr>
              <a:t>Bitcoin</a:t>
            </a:r>
            <a:r>
              <a:rPr lang="en-US" sz="2000" dirty="0" smtClean="0">
                <a:latin typeface="Garamond" pitchFamily="18" charset="0"/>
              </a:rPr>
              <a:t>, most participating nodes have to authenticate new transactions and record the information to be added to the ledger, slowing down the completion of each transaction.</a:t>
            </a:r>
          </a:p>
          <a:p>
            <a:pPr marL="0" indent="0" algn="just">
              <a:buNone/>
            </a:pPr>
            <a:r>
              <a:rPr lang="en-US" sz="2000" dirty="0" smtClean="0">
                <a:latin typeface="Garamond" pitchFamily="18" charset="0"/>
              </a:rPr>
              <a:t>Because of this, </a:t>
            </a:r>
            <a:r>
              <a:rPr lang="en-US" sz="2000" dirty="0" err="1" smtClean="0">
                <a:latin typeface="Garamond" pitchFamily="18" charset="0"/>
              </a:rPr>
              <a:t>Bitcoin</a:t>
            </a:r>
            <a:r>
              <a:rPr lang="en-US" sz="2000" dirty="0" smtClean="0">
                <a:latin typeface="Garamond" pitchFamily="18" charset="0"/>
              </a:rPr>
              <a:t>, which is based on a </a:t>
            </a:r>
            <a:r>
              <a:rPr lang="en-US" sz="2000" dirty="0" err="1" smtClean="0">
                <a:latin typeface="Garamond" pitchFamily="18" charset="0"/>
              </a:rPr>
              <a:t>PoW</a:t>
            </a:r>
            <a:r>
              <a:rPr lang="en-US" sz="2000" dirty="0" smtClean="0">
                <a:latin typeface="Garamond" pitchFamily="18" charset="0"/>
              </a:rPr>
              <a:t>, can only process 3.3 to 7 transactions per second, and a single transaction can take 10 minutes to finalize.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endParaRPr lang="en-US" sz="2000" b="1" dirty="0" smtClean="0">
              <a:latin typeface="Garamond" pitchFamily="18" charset="0"/>
            </a:endParaRPr>
          </a:p>
          <a:p>
            <a:pPr marL="0" indent="0" algn="ctr">
              <a:buNone/>
            </a:pPr>
            <a:r>
              <a:rPr lang="en-US" sz="2000" b="1" dirty="0" smtClean="0">
                <a:latin typeface="Garamond" pitchFamily="18" charset="0"/>
              </a:rPr>
              <a:t>EXAMPLE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err="1" smtClean="0">
                <a:latin typeface="Garamond" pitchFamily="18" charset="0"/>
              </a:rPr>
              <a:t>Ethereum</a:t>
            </a:r>
            <a:r>
              <a:rPr lang="en-US" sz="2000" dirty="0" smtClean="0">
                <a:latin typeface="Garamond" pitchFamily="18" charset="0"/>
              </a:rPr>
              <a:t>, the other popular </a:t>
            </a:r>
            <a:r>
              <a:rPr lang="en-US" sz="2000" dirty="0" err="1" smtClean="0">
                <a:latin typeface="Garamond" pitchFamily="18" charset="0"/>
              </a:rPr>
              <a:t>cryptocurrency</a:t>
            </a:r>
            <a:r>
              <a:rPr lang="en-US" sz="2000" dirty="0" smtClean="0">
                <a:latin typeface="Garamond" pitchFamily="18" charset="0"/>
              </a:rPr>
              <a:t> blockchain ledger, is only capable of processing 12 to 30 transactions per second. It is still better than the traditional system, but the future is FAST.</a:t>
            </a:r>
          </a:p>
          <a:p>
            <a:pPr marL="0" indent="0" algn="just">
              <a:buNone/>
            </a:pPr>
            <a:r>
              <a:rPr lang="en-US" sz="2000" dirty="0" smtClean="0">
                <a:latin typeface="Garamond" pitchFamily="18" charset="0"/>
              </a:rPr>
              <a:t>Last year, </a:t>
            </a:r>
            <a:r>
              <a:rPr lang="en-US" sz="2000" dirty="0" err="1" smtClean="0">
                <a:latin typeface="Garamond" pitchFamily="18" charset="0"/>
              </a:rPr>
              <a:t>Ethereum</a:t>
            </a:r>
            <a:r>
              <a:rPr lang="en-US" sz="2000" dirty="0" smtClean="0">
                <a:latin typeface="Garamond" pitchFamily="18" charset="0"/>
              </a:rPr>
              <a:t> began exploring ways to boost its performance, as the blockchain ledger and the </a:t>
            </a:r>
            <a:r>
              <a:rPr lang="en-US" sz="2000" dirty="0" err="1" smtClean="0">
                <a:latin typeface="Garamond" pitchFamily="18" charset="0"/>
              </a:rPr>
              <a:t>cryptocurrency</a:t>
            </a:r>
            <a:r>
              <a:rPr lang="en-US" sz="2000" dirty="0" smtClean="0">
                <a:latin typeface="Garamond" pitchFamily="18" charset="0"/>
              </a:rPr>
              <a:t> hit more than a million transactions per day.</a:t>
            </a:r>
          </a:p>
          <a:p>
            <a:pPr marL="0" indent="0" algn="just">
              <a:buNone/>
            </a:pPr>
            <a:r>
              <a:rPr lang="en-US" sz="2000" dirty="0" err="1" smtClean="0">
                <a:latin typeface="Garamond" pitchFamily="18" charset="0"/>
              </a:rPr>
              <a:t>Ethereum</a:t>
            </a:r>
            <a:r>
              <a:rPr lang="en-US" sz="2000" dirty="0" smtClean="0">
                <a:latin typeface="Garamond" pitchFamily="18" charset="0"/>
              </a:rPr>
              <a:t> has opted for two proposed solutions.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One was a "level 2" mechanism: processing transactions out of chain, in a standard database and posting only permanent entries in the ledger; the other solution was </a:t>
            </a:r>
            <a:r>
              <a:rPr lang="en-US" sz="2000" dirty="0" err="1" smtClean="0">
                <a:latin typeface="Garamond" pitchFamily="18" charset="0"/>
              </a:rPr>
              <a:t>sharding</a:t>
            </a:r>
            <a:r>
              <a:rPr lang="en-US" sz="2000" dirty="0" smtClean="0">
                <a:latin typeface="Garamond" pitchFamily="18" charset="0"/>
              </a:rPr>
              <a:t>, which made it possible to process many more transactions in parallel, at the same time.</a:t>
            </a:r>
          </a:p>
          <a:p>
            <a:pPr marL="0" indent="0" algn="just">
              <a:buNone/>
            </a:pPr>
            <a:r>
              <a:rPr lang="en-US" sz="2000" dirty="0" smtClean="0">
                <a:latin typeface="Garamond" pitchFamily="18" charset="0"/>
              </a:rPr>
              <a:t>Organizations and startups dealing with blockchain standards are, to this day, exploring new consensus mechanisms to create more efficient and less compute-intensive DLTs.</a:t>
            </a:r>
          </a:p>
          <a:p>
            <a:pPr marL="0" indent="0" algn="just">
              <a:buNone/>
            </a:pPr>
            <a:r>
              <a:rPr lang="en-US" sz="2000" dirty="0" smtClean="0">
                <a:latin typeface="Garamond" pitchFamily="18" charset="0"/>
              </a:rPr>
              <a:t>The road is long, but full of possibilities.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900" b="1" dirty="0" smtClean="0">
                <a:solidFill>
                  <a:srgbClr val="FF0000"/>
                </a:solidFill>
                <a:latin typeface="Garamond" pitchFamily="18" charset="0"/>
              </a:rPr>
              <a:t>WHICH SECTORS CAN USE THE BLOCKCHAIN?</a:t>
            </a:r>
            <a:r>
              <a:rPr lang="en-US" sz="3600" b="1" dirty="0" smtClean="0">
                <a:solidFill>
                  <a:srgbClr val="FF0000"/>
                </a:solidFill>
                <a:latin typeface="Garamond" pitchFamily="18" charset="0"/>
              </a:rPr>
              <a:t/>
            </a:r>
            <a:br>
              <a:rPr lang="en-US" sz="3600" b="1" dirty="0"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With all the advances, industries are increasing pilot projects and real-time implementations of blockchain technology for shipping, </a:t>
            </a:r>
            <a:r>
              <a:rPr lang="en-US" sz="2000" dirty="0" err="1" smtClean="0">
                <a:latin typeface="Garamond" pitchFamily="18" charset="0"/>
              </a:rPr>
              <a:t>FinTech</a:t>
            </a:r>
            <a:r>
              <a:rPr lang="en-US" sz="2000" dirty="0" smtClean="0">
                <a:latin typeface="Garamond" pitchFamily="18" charset="0"/>
              </a:rPr>
              <a:t>, healthcare, energy, and real estate.</a:t>
            </a:r>
          </a:p>
          <a:p>
            <a:pPr marL="0" indent="0" algn="just">
              <a:buNone/>
            </a:pPr>
            <a:r>
              <a:rPr lang="en-US" sz="2000" dirty="0" err="1" smtClean="0">
                <a:latin typeface="Garamond" pitchFamily="18" charset="0"/>
              </a:rPr>
              <a:t>Blockchains</a:t>
            </a:r>
            <a:r>
              <a:rPr lang="en-US" sz="2000" dirty="0" smtClean="0">
                <a:latin typeface="Garamond" pitchFamily="18" charset="0"/>
              </a:rPr>
              <a:t> are now being used in a wide variety of industry verticals as well.</a:t>
            </a:r>
          </a:p>
          <a:p>
            <a:pPr marL="0" indent="0" algn="just">
              <a:buNone/>
            </a:pPr>
            <a:r>
              <a:rPr lang="en-US" sz="2000" dirty="0" smtClean="0">
                <a:latin typeface="Garamond" pitchFamily="18" charset="0"/>
              </a:rPr>
              <a:t>In shipping, for example, a bill of lading for freight shipments is traditionally paper based, with numerous approvals from inspectors and receivers before the goods can be delivered. Even an electronic shipment system still requires multiple signatures and a lengthy administrative process.</a:t>
            </a:r>
          </a:p>
          <a:p>
            <a:pPr marL="0" indent="0" algn="just">
              <a:buNone/>
            </a:pPr>
            <a:r>
              <a:rPr lang="en-US" sz="2000" dirty="0" smtClean="0">
                <a:latin typeface="Garamond" pitchFamily="18" charset="0"/>
              </a:rPr>
              <a:t>With blockchain technology, steps, errors, and possible frauds are reduced to a minimum.</a:t>
            </a:r>
          </a:p>
          <a:p>
            <a:pPr marL="0" indent="0" algn="just">
              <a:buNone/>
            </a:pPr>
            <a:r>
              <a:rPr lang="en-US" sz="2000" dirty="0" smtClean="0">
                <a:latin typeface="Garamond" pitchFamily="18" charset="0"/>
              </a:rPr>
              <a:t> Concrete examples will help explain the situation.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THE  BLOCKCHAIN IN  SHIPPING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international company </a:t>
            </a:r>
            <a:r>
              <a:rPr lang="en-US" sz="2000" dirty="0" err="1" smtClean="0">
                <a:latin typeface="Garamond" pitchFamily="18" charset="0"/>
              </a:rPr>
              <a:t>Maersk</a:t>
            </a:r>
            <a:r>
              <a:rPr lang="en-US" sz="2000" dirty="0" smtClean="0">
                <a:latin typeface="Garamond" pitchFamily="18" charset="0"/>
              </a:rPr>
              <a:t> has currently embarked on a step change by creating a large network of 94 participating partners,  (including more than 20 port and terminal operators) using </a:t>
            </a:r>
            <a:r>
              <a:rPr lang="en-US" sz="2000" dirty="0" err="1" smtClean="0">
                <a:latin typeface="Garamond" pitchFamily="18" charset="0"/>
              </a:rPr>
              <a:t>IoT</a:t>
            </a:r>
            <a:r>
              <a:rPr lang="en-US" sz="2000" dirty="0" smtClean="0">
                <a:latin typeface="Garamond" pitchFamily="18" charset="0"/>
              </a:rPr>
              <a:t> technology and a blockchain load tracking system. </a:t>
            </a:r>
            <a:r>
              <a:rPr lang="en-US" sz="2000" dirty="0" err="1" smtClean="0">
                <a:latin typeface="Garamond" pitchFamily="18" charset="0"/>
              </a:rPr>
              <a:t>Maersk</a:t>
            </a:r>
            <a:r>
              <a:rPr lang="en-US" sz="2000" dirty="0" smtClean="0">
                <a:latin typeface="Garamond" pitchFamily="18" charset="0"/>
              </a:rPr>
              <a:t> is also using smart contract technology to monitor   the temperature of containers, and  </a:t>
            </a:r>
            <a:r>
              <a:rPr lang="en-US" sz="2000" dirty="0" err="1" smtClean="0">
                <a:latin typeface="Garamond" pitchFamily="18" charset="0"/>
              </a:rPr>
              <a:t>IoT</a:t>
            </a:r>
            <a:r>
              <a:rPr lang="en-US" sz="2000" dirty="0" smtClean="0">
                <a:latin typeface="Garamond" pitchFamily="18" charset="0"/>
              </a:rPr>
              <a:t> technology to signal when goods leave ports and reach established destinations.</a:t>
            </a:r>
          </a:p>
          <a:p>
            <a:pPr marL="0" indent="0" algn="just">
              <a:buNone/>
            </a:pPr>
            <a:r>
              <a:rPr lang="en-US" sz="2000" dirty="0" smtClean="0">
                <a:latin typeface="Garamond" pitchFamily="18" charset="0"/>
              </a:rPr>
              <a:t>Ninety percent of the goods in global trade are transported annually by the shipping industry. The advantages to be obtained with blockchain support and the consequent economies of scale are evident.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A new blockchain solution from IBM and </a:t>
            </a:r>
            <a:r>
              <a:rPr lang="en-US" sz="2000" dirty="0" err="1" smtClean="0">
                <a:latin typeface="Garamond" pitchFamily="18" charset="0"/>
              </a:rPr>
              <a:t>Maersk</a:t>
            </a:r>
            <a:r>
              <a:rPr lang="en-US" sz="2000" dirty="0" smtClean="0">
                <a:latin typeface="Garamond" pitchFamily="18" charset="0"/>
              </a:rPr>
              <a:t> will help manage and track paper maps of tens of millions of shipping containers around the world, digitizing the supply chain process.</a:t>
            </a:r>
          </a:p>
          <a:p>
            <a:pPr marL="0" indent="0" algn="just">
              <a:buNone/>
            </a:pPr>
            <a:r>
              <a:rPr lang="en-US" sz="2000" dirty="0" smtClean="0">
                <a:latin typeface="Garamond" pitchFamily="18" charset="0"/>
              </a:rPr>
              <a:t>Each participant in the shipment’s supply chain will be able to view the progress of the goods through the blockchain ledger, knowing exactly where each container is.</a:t>
            </a:r>
          </a:p>
          <a:p>
            <a:pPr marL="0" indent="0" algn="just">
              <a:buNone/>
            </a:pPr>
            <a:r>
              <a:rPr lang="en-US" sz="2000" dirty="0" smtClean="0">
                <a:latin typeface="Garamond" pitchFamily="18" charset="0"/>
              </a:rPr>
              <a:t>It will also be possible to view the status of customs documents, bills of lading or other data, all in real time.</a:t>
            </a:r>
          </a:p>
          <a:p>
            <a:pPr marL="0" indent="0" algn="just">
              <a:buNone/>
            </a:pPr>
            <a:r>
              <a:rPr lang="en-US" sz="2000" dirty="0" smtClean="0">
                <a:latin typeface="Garamond" pitchFamily="18" charset="0"/>
              </a:rPr>
              <a:t>Also, because it is an immutable record, no party will be able to modify, delete, or even add blocks, without the consent of others in the network.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"Blockchain and distributed ledgers will be the way to integrate record keeping across the entire business world," said </a:t>
            </a:r>
            <a:r>
              <a:rPr lang="en-US" sz="2000" dirty="0" err="1" smtClean="0">
                <a:latin typeface="Garamond" pitchFamily="18" charset="0"/>
              </a:rPr>
              <a:t>Saurabh</a:t>
            </a:r>
            <a:r>
              <a:rPr lang="en-US" sz="2000" dirty="0" smtClean="0">
                <a:latin typeface="Garamond" pitchFamily="18" charset="0"/>
              </a:rPr>
              <a:t> Gupta, vice president of strategy at the IT services firm </a:t>
            </a:r>
            <a:r>
              <a:rPr lang="en-US" sz="2000" dirty="0" err="1" smtClean="0">
                <a:latin typeface="Garamond" pitchFamily="18" charset="0"/>
              </a:rPr>
              <a:t>Genpact</a:t>
            </a:r>
            <a:r>
              <a:rPr lang="en-US" sz="2000" dirty="0" smtClean="0">
                <a:latin typeface="Garamond" pitchFamily="18" charset="0"/>
              </a:rPr>
              <a:t>.</a:t>
            </a:r>
          </a:p>
          <a:p>
            <a:pPr marL="0" indent="0" algn="just">
              <a:buNone/>
            </a:pPr>
            <a:r>
              <a:rPr lang="en-US" sz="2000" dirty="0" smtClean="0">
                <a:latin typeface="Garamond" pitchFamily="18" charset="0"/>
              </a:rPr>
              <a:t>Blockchain eliminates huge amounts of storage, which will become superfluous and no longer sources of confusion, when there are multiple parties involved in a transaction.</a:t>
            </a:r>
          </a:p>
          <a:p>
            <a:pPr marL="0" indent="0" algn="just">
              <a:buNone/>
            </a:pPr>
            <a:r>
              <a:rPr lang="en-US" sz="2000" dirty="0" err="1" smtClean="0">
                <a:latin typeface="Garamond" pitchFamily="18" charset="0"/>
              </a:rPr>
              <a:t>Genpact</a:t>
            </a:r>
            <a:r>
              <a:rPr lang="en-US" sz="2000" dirty="0" smtClean="0">
                <a:latin typeface="Garamond" pitchFamily="18" charset="0"/>
              </a:rPr>
              <a:t>, for example, has announced a financial and accounting service using blockchain-based smart contracts to establish secure and transparent terms and conditions on orders between clients and organizations.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BLOCKCHAINS IN  FINTECH</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 </a:t>
            </a:r>
          </a:p>
          <a:p>
            <a:pPr marL="0" indent="0" algn="just">
              <a:buNone/>
            </a:pPr>
            <a:r>
              <a:rPr lang="en-US" sz="2000" dirty="0" err="1" smtClean="0">
                <a:latin typeface="Garamond" pitchFamily="18" charset="0"/>
              </a:rPr>
              <a:t>Blockchains</a:t>
            </a:r>
            <a:r>
              <a:rPr lang="en-US" sz="2000" dirty="0" smtClean="0">
                <a:latin typeface="Garamond" pitchFamily="18" charset="0"/>
              </a:rPr>
              <a:t> are currently exploding in the financial services industry. At high levels, </a:t>
            </a:r>
            <a:r>
              <a:rPr lang="en-US" sz="2000" dirty="0" err="1" smtClean="0">
                <a:latin typeface="Garamond" pitchFamily="18" charset="0"/>
              </a:rPr>
              <a:t>blockchains</a:t>
            </a:r>
            <a:r>
              <a:rPr lang="en-US" sz="2000" dirty="0" smtClean="0">
                <a:latin typeface="Garamond" pitchFamily="18" charset="0"/>
              </a:rPr>
              <a:t> remove third parties from financial transactions so that   banks or government lenders, (and their fees) are no longer needed.</a:t>
            </a:r>
          </a:p>
          <a:p>
            <a:pPr marL="0" indent="0" algn="just">
              <a:buNone/>
            </a:pPr>
            <a:r>
              <a:rPr lang="en-US" sz="2000" dirty="0" smtClean="0">
                <a:latin typeface="Garamond" pitchFamily="18" charset="0"/>
              </a:rPr>
              <a:t>The blockchain lends itself to a number of common use cases in the financial services market, including regulatory compliance for cross-border payments and settlement, for asset custody and tracking, for trade finance, and for post-trade / transaction settlement.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 </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Since blockchain entries can be viewed in real time, the technology also has the potential to reduce settlement and settlement times, which can currently take up to five days.</a:t>
            </a:r>
          </a:p>
          <a:p>
            <a:pPr marL="0" indent="0" algn="just">
              <a:buNone/>
            </a:pPr>
            <a:r>
              <a:rPr lang="en-US" sz="2000" dirty="0" smtClean="0">
                <a:latin typeface="Garamond" pitchFamily="18" charset="0"/>
              </a:rPr>
              <a:t>An Accenture report stated how blockchain technology could reduce infrastructure costs for 8 of the world's 10 largest investment banks by an average of 30%. This translates into annual cost savings of $8 billion to $12 billion for those banks.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BLOCKCHAINS AND MOBILE PAYMENTS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the case of cross-border payments, processing is often complex and includes multiple layers of communication between payment participants to verify transactions, in a process known as payment and settlement.</a:t>
            </a:r>
          </a:p>
          <a:p>
            <a:pPr marL="0" indent="0" algn="just">
              <a:buNone/>
            </a:pPr>
            <a:r>
              <a:rPr lang="en-US" sz="2000" dirty="0" smtClean="0">
                <a:latin typeface="Garamond" pitchFamily="18" charset="0"/>
              </a:rPr>
              <a:t>Payments, clearance, and settlement in the financial services sector, including the stock market, are fraught with inefficiencies because each organization retains its data and must communicate with others - via electronic messaging - on every step of the process.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Consequently, settlements typically take a couple of days.</a:t>
            </a:r>
          </a:p>
          <a:p>
            <a:pPr marL="0" indent="0" algn="just">
              <a:buNone/>
            </a:pPr>
            <a:r>
              <a:rPr lang="en-US" sz="2000" dirty="0" smtClean="0">
                <a:latin typeface="Garamond" pitchFamily="18" charset="0"/>
              </a:rPr>
              <a:t>Those delays in agreements force banks to set aside money, which could otherwise be invested.</a:t>
            </a:r>
          </a:p>
          <a:p>
            <a:pPr marL="0" indent="0" algn="just">
              <a:buNone/>
            </a:pPr>
            <a:r>
              <a:rPr lang="en-US" sz="2000" dirty="0" smtClean="0">
                <a:latin typeface="Garamond" pitchFamily="18" charset="0"/>
              </a:rPr>
              <a:t>Because it can instantly share data with users, the </a:t>
            </a:r>
            <a:r>
              <a:rPr lang="en-US" sz="2000" dirty="0" err="1" smtClean="0">
                <a:latin typeface="Garamond" pitchFamily="18" charset="0"/>
              </a:rPr>
              <a:t>blockchain’s</a:t>
            </a:r>
            <a:r>
              <a:rPr lang="en-US" sz="2000" dirty="0" smtClean="0">
                <a:latin typeface="Garamond" pitchFamily="18" charset="0"/>
              </a:rPr>
              <a:t> new technology reduces or eliminates the need for trade reconciliation, confirmation, and analysis altogether.</a:t>
            </a:r>
          </a:p>
          <a:p>
            <a:pPr marL="0" indent="0" algn="just">
              <a:buNone/>
            </a:pPr>
            <a:r>
              <a:rPr lang="en-US" sz="2000" dirty="0" smtClean="0">
                <a:latin typeface="Garamond" pitchFamily="18" charset="0"/>
              </a:rPr>
              <a:t>This allows for the more efficient clearance and settlement of accounts.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The following successful payment network cases will help make the </a:t>
            </a:r>
            <a:r>
              <a:rPr lang="en-US" sz="2000" dirty="0" err="1" smtClean="0">
                <a:latin typeface="Garamond" pitchFamily="18" charset="0"/>
              </a:rPr>
              <a:t>blockchain’s</a:t>
            </a:r>
            <a:r>
              <a:rPr lang="en-US" sz="2000" dirty="0" smtClean="0">
                <a:latin typeface="Garamond" pitchFamily="18" charset="0"/>
              </a:rPr>
              <a:t> potential clearer.</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THE  IIN CASE:  JP Morgan’s  Interbank Information Network</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JP Morgan created what is arguably one of the largest blockchain payment networks to date: the Interbank Information Network (IIN).</a:t>
            </a:r>
          </a:p>
          <a:p>
            <a:pPr marL="0" indent="0" algn="just">
              <a:buNone/>
            </a:pPr>
            <a:r>
              <a:rPr lang="en-US" sz="2000" dirty="0" smtClean="0">
                <a:latin typeface="Garamond" pitchFamily="18" charset="0"/>
              </a:rPr>
              <a:t>In late 2017, the financial services firm announced that the Royal Bank of Canada and Australia and the New Zealand Banking Group Ltd. had joined IIN, "representing significant volumes of cross-border payments."</a:t>
            </a:r>
          </a:p>
          <a:p>
            <a:pPr marL="0" indent="0" algn="just">
              <a:buNone/>
            </a:pPr>
            <a:r>
              <a:rPr lang="en-US" sz="2000" dirty="0" smtClean="0">
                <a:latin typeface="Garamond" pitchFamily="18" charset="0"/>
              </a:rPr>
              <a:t>JP Morgan created the network to significantly reduce the number of participants needed to respond to compliance and other data-related requests which delay payments.</a:t>
            </a:r>
          </a:p>
          <a:p>
            <a:pPr marL="0" indent="0" algn="just">
              <a:buNone/>
            </a:pPr>
            <a:r>
              <a:rPr lang="en-US" sz="2000" dirty="0" smtClean="0">
                <a:latin typeface="Garamond" pitchFamily="18" charset="0"/>
              </a:rPr>
              <a:t>"IIN will improve the customer experience by decreasing the amount of time, from weeks to hours, and the costs associated with resolving late payment," said Emma Loftus, Head of Global Payments and FX at JP Morgan Treasury Services. She also argued that, "The capabilities of the blockchain have allowed us to rethink how critical information can be found and exchanged between global banks."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MASTERCARD</a:t>
            </a: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endParaRPr lang="en-US" sz="2000" b="1" dirty="0" smtClean="0">
              <a:latin typeface="Garamond" pitchFamily="18" charset="0"/>
            </a:endParaRPr>
          </a:p>
          <a:p>
            <a:pPr marL="0" indent="0" algn="just">
              <a:buNone/>
            </a:pPr>
            <a:r>
              <a:rPr lang="en-US" sz="2000" dirty="0" err="1" smtClean="0">
                <a:latin typeface="Garamond" pitchFamily="18" charset="0"/>
              </a:rPr>
              <a:t>Mastercard</a:t>
            </a:r>
            <a:r>
              <a:rPr lang="en-US" sz="2000" dirty="0" smtClean="0">
                <a:latin typeface="Garamond" pitchFamily="18" charset="0"/>
              </a:rPr>
              <a:t>, meanwhile, also launched its own blockchain network at the end of 2017, enabling partner banks and merchants to make cross-border payments more quickly and securely.</a:t>
            </a:r>
          </a:p>
          <a:p>
            <a:pPr marL="0" indent="0" algn="just">
              <a:buNone/>
            </a:pPr>
            <a:r>
              <a:rPr lang="en-US" sz="2000" dirty="0" err="1" smtClean="0">
                <a:latin typeface="Garamond" pitchFamily="18" charset="0"/>
              </a:rPr>
              <a:t>Mastercard's</a:t>
            </a:r>
            <a:r>
              <a:rPr lang="en-US" sz="2000" dirty="0" smtClean="0">
                <a:latin typeface="Garamond" pitchFamily="18" charset="0"/>
              </a:rPr>
              <a:t> blockchain service can be used to cancel credit card transactions and eliminate administration tasks using smart contract regulations, thus speeding up the settlement of transactions.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KLICKEX</a:t>
            </a: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Prior to launching a blockchain-based electronic exchange, the peer-to-peer foreign currency provider, </a:t>
            </a:r>
            <a:r>
              <a:rPr lang="en-US" sz="2000" dirty="0" err="1" smtClean="0">
                <a:latin typeface="Garamond" pitchFamily="18" charset="0"/>
              </a:rPr>
              <a:t>KlickEx</a:t>
            </a:r>
            <a:r>
              <a:rPr lang="en-US" sz="2000" dirty="0" smtClean="0">
                <a:latin typeface="Garamond" pitchFamily="18" charset="0"/>
              </a:rPr>
              <a:t>, was limited in size by the company's infrastructure, despite serving around 1 million users per day in eight countries, or roughly 80% of households in its Pacific regions.</a:t>
            </a:r>
          </a:p>
          <a:p>
            <a:pPr marL="0" indent="0" algn="just">
              <a:buNone/>
            </a:pPr>
            <a:r>
              <a:rPr lang="en-US" sz="2000" dirty="0" smtClean="0">
                <a:latin typeface="Garamond" pitchFamily="18" charset="0"/>
              </a:rPr>
              <a:t>Today, the platform handles approximately 90% to 95% of all electronic payments for its region.</a:t>
            </a:r>
          </a:p>
          <a:p>
            <a:pPr marL="0" indent="0" algn="just">
              <a:buNone/>
            </a:pPr>
            <a:r>
              <a:rPr lang="en-US" sz="2000" dirty="0" smtClean="0">
                <a:latin typeface="Garamond" pitchFamily="18" charset="0"/>
              </a:rPr>
              <a:t>When not overloaded, the old </a:t>
            </a:r>
            <a:r>
              <a:rPr lang="en-US" sz="2000" dirty="0" err="1" smtClean="0">
                <a:latin typeface="Garamond" pitchFamily="18" charset="0"/>
              </a:rPr>
              <a:t>KlickEx</a:t>
            </a:r>
            <a:r>
              <a:rPr lang="en-US" sz="2000" dirty="0" smtClean="0">
                <a:latin typeface="Garamond" pitchFamily="18" charset="0"/>
              </a:rPr>
              <a:t> exchange system was able to process payments in 90 to 200 seconds.</a:t>
            </a:r>
          </a:p>
          <a:p>
            <a:pPr marL="0" indent="0" algn="just">
              <a:buNone/>
            </a:pPr>
            <a:r>
              <a:rPr lang="en-US" sz="2000" dirty="0" smtClean="0">
                <a:latin typeface="Garamond" pitchFamily="18" charset="0"/>
              </a:rPr>
              <a:t>The new blockchain-based payment system created by </a:t>
            </a:r>
            <a:r>
              <a:rPr lang="en-US" sz="2000" dirty="0" err="1" smtClean="0">
                <a:latin typeface="Garamond" pitchFamily="18" charset="0"/>
              </a:rPr>
              <a:t>KlickEx</a:t>
            </a:r>
            <a:r>
              <a:rPr lang="en-US" sz="2000" dirty="0" smtClean="0">
                <a:latin typeface="Garamond" pitchFamily="18" charset="0"/>
              </a:rPr>
              <a:t> can process cross-border payments in seconds.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In addition, the </a:t>
            </a:r>
            <a:r>
              <a:rPr lang="en-US" sz="2000" dirty="0" err="1" smtClean="0">
                <a:latin typeface="Garamond" pitchFamily="18" charset="0"/>
              </a:rPr>
              <a:t>KlickEx</a:t>
            </a:r>
            <a:r>
              <a:rPr lang="en-US" sz="2000" dirty="0" smtClean="0">
                <a:latin typeface="Garamond" pitchFamily="18" charset="0"/>
              </a:rPr>
              <a:t> Group, a United Nations-funded Pacific region financial services firm, and Stellar.org, a non-profit that supports an open source blockchain network for financial services, are together  sponsoring a new cross-border mobile payments service, for humanitarian purposes.</a:t>
            </a:r>
          </a:p>
          <a:p>
            <a:pPr marL="0" indent="0" algn="just">
              <a:buNone/>
            </a:pPr>
            <a:r>
              <a:rPr lang="en-US" sz="2000" dirty="0" smtClean="0">
                <a:latin typeface="Garamond" pitchFamily="18" charset="0"/>
              </a:rPr>
              <a:t>To increase efficiency and security, the Polynesian payment system provider has partnered with IBM to create an open source payment network as a new international exchange  system based on an electronic blockchain ledger.</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new network uses IBM's Blockchain Platform, a cloud service, to enable the electronic exchange of 12 different currencies across the Pacific Islands as well as Australia, New Zealand, and the UK.</a:t>
            </a:r>
          </a:p>
          <a:p>
            <a:pPr marL="0" indent="0" algn="just">
              <a:buNone/>
            </a:pPr>
            <a:r>
              <a:rPr lang="en-US" sz="2000" dirty="0" smtClean="0">
                <a:latin typeface="Garamond" pitchFamily="18" charset="0"/>
              </a:rPr>
              <a:t>"In bringing in IBM, we plan to push capacity to something like 8 million payments per day, which is a far cry from where we started," said Robert Bell, CEO of </a:t>
            </a:r>
            <a:r>
              <a:rPr lang="en-US" sz="2000" dirty="0" err="1" smtClean="0">
                <a:latin typeface="Garamond" pitchFamily="18" charset="0"/>
              </a:rPr>
              <a:t>KlickEx</a:t>
            </a:r>
            <a:r>
              <a:rPr lang="en-US" sz="2000" dirty="0" smtClean="0">
                <a:latin typeface="Garamond" pitchFamily="18" charset="0"/>
              </a:rPr>
              <a:t>. "This means that the payment happens immediately (in real time), rather than in batch files."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BLOCKCHAIN AND HEALTHCARE</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err="1" smtClean="0">
                <a:latin typeface="Garamond" pitchFamily="18" charset="0"/>
              </a:rPr>
              <a:t>Blockchains</a:t>
            </a:r>
            <a:r>
              <a:rPr lang="en-US" sz="2000" dirty="0" smtClean="0">
                <a:latin typeface="Garamond" pitchFamily="18" charset="0"/>
              </a:rPr>
              <a:t> can also act as a collaborative network, allowing different parties to exchange and add information about, for instance, a patient's electronic medical record, which can be updated in real time.</a:t>
            </a:r>
          </a:p>
          <a:p>
            <a:pPr marL="0" indent="0" algn="just">
              <a:buNone/>
            </a:pPr>
            <a:r>
              <a:rPr lang="en-US" sz="2000" dirty="0" smtClean="0">
                <a:latin typeface="Garamond" pitchFamily="18" charset="0"/>
              </a:rPr>
              <a:t>The blockchain acts as a verification tool, ensuring that only authorized users like doctors, insurers, or patients, can make changes to the ledger.</a:t>
            </a:r>
          </a:p>
          <a:p>
            <a:pPr marL="0" indent="0" algn="just">
              <a:buNone/>
            </a:pPr>
            <a:r>
              <a:rPr lang="en-US" sz="2000" dirty="0" smtClean="0">
                <a:latin typeface="Garamond" pitchFamily="18" charset="0"/>
              </a:rPr>
              <a:t>Blockchain interoperability could support data exchange, serving as an alternative to today's health care information exchanges. Essentially, it would become a mesh network (a group of devices that act as a single Wi-Fi network), for the secure transmission of patient data, in near real time, to healthcare professionals, pharmacies, insurers, and clinical researchers.</a:t>
            </a:r>
          </a:p>
          <a:p>
            <a:pPr marL="0" indent="0" algn="just">
              <a:buNone/>
            </a:pPr>
            <a:r>
              <a:rPr lang="en-US" sz="2000" dirty="0" smtClean="0">
                <a:latin typeface="Garamond" pitchFamily="18" charset="0"/>
              </a:rPr>
              <a:t>Again, citing concrete examples helps the analysis.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err="1" smtClean="0">
                <a:latin typeface="Garamond" pitchFamily="18" charset="0"/>
              </a:rPr>
              <a:t>MintHealth</a:t>
            </a:r>
            <a:r>
              <a:rPr lang="en-US" sz="2000" b="1" dirty="0" smtClean="0">
                <a:latin typeface="Garamond" pitchFamily="18" charset="0"/>
              </a:rPr>
              <a:t> </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2017, the startup </a:t>
            </a:r>
            <a:r>
              <a:rPr lang="en-US" sz="2000" dirty="0" err="1" smtClean="0">
                <a:latin typeface="Garamond" pitchFamily="18" charset="0"/>
              </a:rPr>
              <a:t>MintHealth</a:t>
            </a:r>
            <a:r>
              <a:rPr lang="en-US" sz="2000" dirty="0" smtClean="0">
                <a:latin typeface="Garamond" pitchFamily="18" charset="0"/>
              </a:rPr>
              <a:t> launched a portable, personal health record for mobile devices, based on a blockchain exchange.</a:t>
            </a:r>
          </a:p>
          <a:p>
            <a:pPr marL="0" indent="0" algn="just">
              <a:buNone/>
            </a:pPr>
            <a:r>
              <a:rPr lang="en-US" sz="2000" dirty="0" err="1" smtClean="0">
                <a:latin typeface="Garamond" pitchFamily="18" charset="0"/>
              </a:rPr>
              <a:t>MintHealth</a:t>
            </a:r>
            <a:r>
              <a:rPr lang="en-US" sz="2000" dirty="0" smtClean="0">
                <a:latin typeface="Garamond" pitchFamily="18" charset="0"/>
              </a:rPr>
              <a:t> set out to create a platform for commercial health insurance plans to help patients monitor chronic medical conditions like heart failure, diabetes, and hypertension, which account for over 90% of healthcare costs. Furthermore, patients at risk, but not yet affected by chronic diseases, will benefit from being able to access their medical records as well as enter personal medical data (e.g.,   vital signs or blood glucose levels), to better keep check on their own health.</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err="1" smtClean="0">
                <a:latin typeface="Garamond" pitchFamily="18" charset="0"/>
              </a:rPr>
              <a:t>Hu-manity</a:t>
            </a:r>
            <a:r>
              <a:rPr lang="en-US" sz="2000" b="1" dirty="0" smtClean="0">
                <a:latin typeface="Garamond" pitchFamily="18" charset="0"/>
              </a:rPr>
              <a:t> </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start-up Hu-manity.co has also collaborated with IBM to develop an electronic registry to provide consumers/patients with a cryptographic key, linked to their personal and health data. This  allows patients and doctors privately to verify the specific purpose for which the data are being used.</a:t>
            </a:r>
          </a:p>
          <a:p>
            <a:pPr marL="0" indent="0" algn="just">
              <a:buNone/>
            </a:pPr>
            <a:r>
              <a:rPr lang="en-US" sz="2000" dirty="0" smtClean="0">
                <a:latin typeface="Garamond" pitchFamily="18" charset="0"/>
              </a:rPr>
              <a:t>Participants have a </a:t>
            </a:r>
            <a:r>
              <a:rPr lang="en-US" sz="2000" dirty="0" err="1" smtClean="0">
                <a:latin typeface="Garamond" pitchFamily="18" charset="0"/>
              </a:rPr>
              <a:t>Hu.manity</a:t>
            </a:r>
            <a:r>
              <a:rPr lang="en-US" sz="2000" dirty="0" smtClean="0">
                <a:latin typeface="Garamond" pitchFamily="18" charset="0"/>
              </a:rPr>
              <a:t> property title for personal data that includes a hash key, protected by a blockchain.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smtClean="0">
                <a:latin typeface="Garamond" pitchFamily="18" charset="0"/>
              </a:rPr>
              <a:t>IBM  and the Food and Drug Administration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IBM, Watson Health, and the U.S. Food and Drug Administration are exploring the use of </a:t>
            </a:r>
            <a:r>
              <a:rPr lang="en-US" sz="2000" dirty="0" err="1" smtClean="0">
                <a:latin typeface="Garamond" pitchFamily="18" charset="0"/>
              </a:rPr>
              <a:t>blockchains</a:t>
            </a:r>
            <a:r>
              <a:rPr lang="en-US" sz="2000" dirty="0" smtClean="0">
                <a:latin typeface="Garamond" pitchFamily="18" charset="0"/>
              </a:rPr>
              <a:t> for the secure exchange of patient data. This includes health records (EMR), clinical trials, and data collected from mobile and wearable devices, with excellent results, so far, in terms of speed and secure sharing.</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smtClean="0">
                <a:latin typeface="Garamond" pitchFamily="18" charset="0"/>
              </a:rPr>
              <a:t>Amazon’s Health Care Service</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November 2018, Amazon announced an analytics service aimed at scouring unstructured data to offer information that doctors can use to better care for their patients.</a:t>
            </a:r>
          </a:p>
          <a:p>
            <a:pPr marL="0" indent="0" algn="just">
              <a:buNone/>
            </a:pPr>
            <a:r>
              <a:rPr lang="en-US" sz="2000" dirty="0" smtClean="0">
                <a:latin typeface="Garamond" pitchFamily="18" charset="0"/>
              </a:rPr>
              <a:t>Amazon's new cloud service, Comprehend Medical AWS, is a natural language processing engine that can read physician notes, patient prescriptions, audio interview transcripts, and pathology and radiology reports. The service uses algorithmic machine learning to release relevant  information for patient health care.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ctr">
              <a:buNone/>
            </a:pPr>
            <a:r>
              <a:rPr lang="en-US" sz="2000" b="1" dirty="0" smtClean="0">
                <a:latin typeface="Garamond" pitchFamily="18" charset="0"/>
              </a:rPr>
              <a:t>SAP </a:t>
            </a:r>
          </a:p>
          <a:p>
            <a:pPr marL="0" indent="0" algn="just">
              <a:buNone/>
            </a:pPr>
            <a:r>
              <a:rPr lang="en-US" sz="2000" dirty="0" smtClean="0">
                <a:latin typeface="Garamond" pitchFamily="18" charset="0"/>
              </a:rPr>
              <a:t>In early 2019, SAP launched a blockchain-based, supply chain tracking service, which allows drug wholesalers to authenticate drug packaging, returned from hospitals and pharmacies.</a:t>
            </a:r>
          </a:p>
          <a:p>
            <a:pPr marL="0" indent="0" algn="just">
              <a:buNone/>
            </a:pPr>
            <a:r>
              <a:rPr lang="en-US" sz="2000" dirty="0" smtClean="0">
                <a:latin typeface="Garamond" pitchFamily="18" charset="0"/>
              </a:rPr>
              <a:t>SAP plans to expand the use of this technology to include an increasingly broader range of pharmaceutical supply chain processes.</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In light of the examples above, it is easy to understand how the use of  blockchain technology in a supply chain allows for the complete traceability of a product from origin to final recipient.   The security and speed of the underlying data transaction is also guaranteed especially when applied to sharing sensitive data on patient health and treatment.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Looking at an example of a factory where a drug is manufactured and typically registered by barcode or other technology, will help explain how the blockchain works differently. Using blockchain technology, the drug would be initially registered on the first block of the chain. After checking the first block, the second block would record the updated status of the drug as it  moves to a warehouse. After verifying the validity, recorded in the previous blocks, block three would update the drug status again, as soon   as it arrives at its final destination. All the steps remain stored in the system, with retrieval always possible, saving time for ordering, and guaranteeing the quality of each pharmaceutical product.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BLOCKCHAIN CAREERS TAKE FLIGHT</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As more and more companies explore blockchain proficiency profiles, jobs for Blockchain developers are at a premium.</a:t>
            </a:r>
          </a:p>
          <a:p>
            <a:pPr marL="0" indent="0" algn="just">
              <a:buNone/>
            </a:pPr>
            <a:r>
              <a:rPr lang="en-US" sz="2000" dirty="0" smtClean="0">
                <a:latin typeface="Garamond" pitchFamily="18" charset="0"/>
              </a:rPr>
              <a:t>According to LinkedIn (December 2018) the job title, Blockchain developer, ranks first among the top five emerging careers. Job postings for traders with these skills have more than doubled, and the demand for blockchain professionals is skyrocketing.</a:t>
            </a:r>
          </a:p>
          <a:p>
            <a:pPr marL="0" indent="0" algn="just">
              <a:buNone/>
            </a:pPr>
            <a:r>
              <a:rPr lang="en-US" sz="2000" dirty="0" smtClean="0">
                <a:latin typeface="Garamond" pitchFamily="18" charset="0"/>
              </a:rPr>
              <a:t>Job postings for those who can build </a:t>
            </a:r>
            <a:r>
              <a:rPr lang="en-US" sz="2000" dirty="0" err="1" smtClean="0">
                <a:latin typeface="Garamond" pitchFamily="18" charset="0"/>
              </a:rPr>
              <a:t>blockchains</a:t>
            </a:r>
            <a:r>
              <a:rPr lang="en-US" sz="2000" dirty="0" smtClean="0">
                <a:latin typeface="Garamond" pitchFamily="18" charset="0"/>
              </a:rPr>
              <a:t> have grown 33-fold in the past year, according to LinkedIn's 2019 U.S. Emerging Jobs report. In second place are machine learning engineers.</a:t>
            </a:r>
          </a:p>
          <a:p>
            <a:pPr marL="0" indent="0" algn="just">
              <a:buNone/>
            </a:pPr>
            <a:r>
              <a:rPr lang="en-US" sz="2000" dirty="0" err="1" smtClean="0">
                <a:latin typeface="Garamond" pitchFamily="18" charset="0"/>
              </a:rPr>
              <a:t>Topcoder</a:t>
            </a:r>
            <a:r>
              <a:rPr lang="en-US" sz="2000" dirty="0" smtClean="0">
                <a:latin typeface="Garamond" pitchFamily="18" charset="0"/>
              </a:rPr>
              <a:t>, a company that creates computer programming courses, has announced its new Blockchain community with partner </a:t>
            </a:r>
            <a:r>
              <a:rPr lang="en-US" sz="2000" dirty="0" err="1" smtClean="0">
                <a:latin typeface="Garamond" pitchFamily="18" charset="0"/>
              </a:rPr>
              <a:t>ConsenSys</a:t>
            </a:r>
            <a:r>
              <a:rPr lang="en-US" sz="2000" dirty="0" smtClean="0">
                <a:latin typeface="Garamond" pitchFamily="18" charset="0"/>
              </a:rPr>
              <a: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community aims to teach programmers and engineers how to build blockchain applications.</a:t>
            </a:r>
          </a:p>
          <a:p>
            <a:pPr marL="0" indent="0" algn="just">
              <a:buNone/>
            </a:pPr>
            <a:r>
              <a:rPr lang="en-US" sz="2000" dirty="0" smtClean="0">
                <a:latin typeface="Garamond" pitchFamily="18" charset="0"/>
              </a:rPr>
              <a:t>The professions related to the blockchain embrace many fields, including the law. Lawyers and legal scholars will have a leading role in the development of juridical blockchain use, creating new sector specializations.</a:t>
            </a:r>
          </a:p>
          <a:p>
            <a:pPr marL="0" indent="0" algn="just">
              <a:buNone/>
            </a:pPr>
            <a:r>
              <a:rPr lang="en-US" sz="2000" dirty="0" smtClean="0">
                <a:latin typeface="Garamond" pitchFamily="18" charset="0"/>
              </a:rPr>
              <a:t>If knowledge increases competence, then the blockchain season has begun.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HOW COMPANIES NEED TO APPROACH  BLOCKCHAIN</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Regardless of who is developing a new technology, companies should always take a pragmatic approach when adopting it. This is also true of  the blockchain. “You can't ignore it, but you can't just blindly adopt a new technology. The key is to see if it makes sense for your business problem," said Gupta (multinational entrepreneur, who owns a business empire with media and IT core mining).</a:t>
            </a:r>
          </a:p>
          <a:p>
            <a:pPr marL="0" indent="0" algn="just">
              <a:buNone/>
            </a:pPr>
            <a:r>
              <a:rPr lang="en-US" sz="2000" dirty="0" smtClean="0">
                <a:latin typeface="Garamond" pitchFamily="18" charset="0"/>
              </a:rPr>
              <a:t>An increasing number of blockchain distributed ledger platforms are now being developed in parallel, with specialized applications. According to Gupta, the industry will need further standardization to encourage widespread adoption, and there will be challenges.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"Such challenges are common with new technologies," he said, "but even with this concern, blockchain is seeing a lot of interest."</a:t>
            </a:r>
          </a:p>
          <a:p>
            <a:pPr marL="0" indent="0" algn="just">
              <a:buNone/>
            </a:pPr>
            <a:r>
              <a:rPr lang="en-US" sz="2000" dirty="0" smtClean="0">
                <a:latin typeface="Garamond" pitchFamily="18" charset="0"/>
              </a:rPr>
              <a:t>According to Angus Champion de </a:t>
            </a:r>
            <a:r>
              <a:rPr lang="en-US" sz="2000" dirty="0" err="1" smtClean="0">
                <a:latin typeface="Garamond" pitchFamily="18" charset="0"/>
              </a:rPr>
              <a:t>Crespigny</a:t>
            </a:r>
            <a:r>
              <a:rPr lang="en-US" sz="2000" dirty="0" smtClean="0">
                <a:latin typeface="Garamond" pitchFamily="18" charset="0"/>
              </a:rPr>
              <a:t>, Blockchain Leader at Ernst &amp; Young, blockchain distributed ledger technology is also suitable for disseminating security policies and managing access to identities, in a myriad of markets.</a:t>
            </a:r>
          </a:p>
          <a:p>
            <a:pPr marL="0" indent="0" algn="just">
              <a:buNone/>
            </a:pPr>
            <a:r>
              <a:rPr lang="en-US" sz="2000" dirty="0" smtClean="0">
                <a:latin typeface="Garamond" pitchFamily="18" charset="0"/>
              </a:rPr>
              <a:t>Each blockchain record contains a unique cryptographic hash, used to track a single block, as well as others in the associated chain. This means that the data cannot be changed, making this procedure perfect for administrative accounting, recording, and monitoring.</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ASPECTS OF GLOBAL TRADE</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ongoing regulatory push to obtain more data, including controlled free trade, increased border security, and integrated border management, along with the accreditation of economic operators and the outsourcing of their regulatory functions, are leading to higher compliance costs.</a:t>
            </a:r>
          </a:p>
          <a:p>
            <a:pPr marL="0" indent="0" algn="just">
              <a:buNone/>
            </a:pPr>
            <a:r>
              <a:rPr lang="en-US" sz="2000" dirty="0" smtClean="0">
                <a:latin typeface="Garamond" pitchFamily="18" charset="0"/>
              </a:rPr>
              <a:t>In response, parties operating globally need greater visibility and security of the supply chain. They need high quality, secure data, as well as trade compliance systems able to cope with the electronic exchange of    data.</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Technology solutions such as blockchain will enable companies to address these questions.</a:t>
            </a:r>
          </a:p>
          <a:p>
            <a:pPr marL="0" indent="0" algn="just">
              <a:buNone/>
            </a:pPr>
            <a:r>
              <a:rPr lang="en-US" sz="2000" dirty="0" smtClean="0">
                <a:latin typeface="Garamond" pitchFamily="18" charset="0"/>
              </a:rPr>
              <a:t>Also, for the purposes of customs duties, in a future digitized state, one can imagine competent public authorities - along with all the other parties in a cross-border commercial relationship - using blockchain automated authorizations and duty payments, as already foreseen in Article 185 of the Union Customs  Code.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This would allow for the creation of an improved and more effective single point of contact, providing each party to the transaction with transparency on compliance and progress.</a:t>
            </a:r>
          </a:p>
          <a:p>
            <a:pPr marL="0" indent="0" algn="just">
              <a:buNone/>
            </a:pPr>
            <a:r>
              <a:rPr lang="en-US" sz="2000" dirty="0" smtClean="0">
                <a:latin typeface="Garamond" pitchFamily="18" charset="0"/>
              </a:rPr>
              <a:t>While implementing a blockchain offers many benefits for those involved in global trade, there are undeniable risks and barriers which need to be mitigated and overcome. These include addressing data privacy and security issues, making sure all parties in the transaction are engaged to maximum benefit and understand the level of financial and technological commitment required to implement and operate the blockchain, and taking account of preventive registration requirements with the competent government bodies.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FUTURE OPPORTUNITIES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As the technology matures, capacity problems will be addressed and laws will also be updated, albeit with more delay.</a:t>
            </a:r>
          </a:p>
          <a:p>
            <a:pPr marL="0" indent="0" algn="just">
              <a:buNone/>
            </a:pPr>
            <a:r>
              <a:rPr lang="en-US" sz="2000" dirty="0" smtClean="0">
                <a:latin typeface="Garamond" pitchFamily="18" charset="0"/>
              </a:rPr>
              <a:t>We can also expect to see complete global commercial supply chains using </a:t>
            </a:r>
            <a:r>
              <a:rPr lang="en-US" sz="2000" dirty="0" err="1" smtClean="0">
                <a:latin typeface="Garamond" pitchFamily="18" charset="0"/>
              </a:rPr>
              <a:t>blockchains</a:t>
            </a:r>
            <a:r>
              <a:rPr lang="en-US" sz="2000" dirty="0" smtClean="0">
                <a:latin typeface="Garamond" pitchFamily="18" charset="0"/>
              </a:rPr>
              <a:t>, with the participation of authorities to monitor transactions and compliance with rules of origin, as well as with customs and duties declarations. Payment regulations and sanctions will also be perfectly enforced through smart contracts.</a:t>
            </a:r>
          </a:p>
          <a:p>
            <a:pPr marL="0" indent="0" algn="just">
              <a:buNone/>
            </a:pPr>
            <a:r>
              <a:rPr lang="en-US" sz="2000" dirty="0" smtClean="0">
                <a:latin typeface="Garamond" pitchFamily="18" charset="0"/>
              </a:rPr>
              <a:t>The combination of the blockchain with the Internet of Things (</a:t>
            </a:r>
            <a:r>
              <a:rPr lang="en-US" sz="2000" dirty="0" err="1" smtClean="0">
                <a:latin typeface="Garamond" pitchFamily="18" charset="0"/>
              </a:rPr>
              <a:t>IoT</a:t>
            </a:r>
            <a:r>
              <a:rPr lang="en-US" sz="2000" dirty="0" smtClean="0">
                <a:latin typeface="Garamond" pitchFamily="18" charset="0"/>
              </a:rPr>
              <a:t>) will allow manufacturers to track and trace products, manage the risk of gray imports within their distribution networks, and demonstrate good corporate governance.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It should be noted that, even today, most of the current blockchain platforms and solutions are not able to validate transactions in real time, but they are still faster than traditional systems.</a:t>
            </a:r>
          </a:p>
          <a:p>
            <a:pPr marL="0" indent="0" algn="just">
              <a:buNone/>
            </a:pPr>
            <a:r>
              <a:rPr lang="en-US" sz="2000" dirty="0" smtClean="0">
                <a:latin typeface="Garamond" pitchFamily="18" charset="0"/>
              </a:rPr>
              <a:t>As processing capacity and speed increase, new applications and opportunities for blockchain implementation will open up.</a:t>
            </a:r>
          </a:p>
          <a:p>
            <a:pPr marL="0" indent="0" algn="just">
              <a:buNone/>
            </a:pPr>
            <a:r>
              <a:rPr lang="en-US" sz="2000" dirty="0" smtClean="0">
                <a:latin typeface="Garamond" pitchFamily="18" charset="0"/>
              </a:rPr>
              <a:t>At the moment, companies exploring blockchain applications start small, focus on a country or a process, and learn from these experiments, before implementing them more broadly.</a:t>
            </a:r>
          </a:p>
          <a:p>
            <a:pPr marL="0" indent="0" algn="just">
              <a:buNone/>
            </a:pPr>
            <a:r>
              <a:rPr lang="en-US" sz="2000" dirty="0" smtClean="0">
                <a:latin typeface="Garamond" pitchFamily="18" charset="0"/>
              </a:rPr>
              <a:t>Meanwhile, other participants are addressing blockchain-related problems in the courts, for clarification through binding verdicts, while contextualizing the new areas of legal expertise. Some areas of the law, in fact, lend themselves to new technologies better than those more susceptible to judicial interpretation.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State of Malta has recently become the first country in the world to pass laws establishing a regulatory framework for </a:t>
            </a:r>
            <a:r>
              <a:rPr lang="en-US" sz="2000" dirty="0" err="1" smtClean="0">
                <a:latin typeface="Garamond" pitchFamily="18" charset="0"/>
              </a:rPr>
              <a:t>blockchains</a:t>
            </a:r>
            <a:r>
              <a:rPr lang="en-US" sz="2000" dirty="0" smtClean="0">
                <a:latin typeface="Garamond" pitchFamily="18" charset="0"/>
              </a:rPr>
              <a:t>,  </a:t>
            </a:r>
            <a:r>
              <a:rPr lang="en-US" sz="2000" dirty="0" err="1" smtClean="0">
                <a:latin typeface="Garamond" pitchFamily="18" charset="0"/>
              </a:rPr>
              <a:t>cryptocurrencies</a:t>
            </a:r>
            <a:r>
              <a:rPr lang="en-US" sz="2000" dirty="0" smtClean="0">
                <a:latin typeface="Garamond" pitchFamily="18" charset="0"/>
              </a:rPr>
              <a:t>, and distributed ledger technology. </a:t>
            </a:r>
          </a:p>
          <a:p>
            <a:pPr marL="0" indent="0" algn="just">
              <a:buNone/>
            </a:pPr>
            <a:r>
              <a:rPr lang="en-US" sz="2000" dirty="0" smtClean="0">
                <a:latin typeface="Garamond" pitchFamily="18" charset="0"/>
              </a:rPr>
              <a:t>Other European countries have also made great strides, in attempting not to interfere with  technological innovation and its potential, while working to prevent fraud and protect citizen-consumers. Over time, international coordination and collaboration will be needed to facilitate the greater use of the blockchain in managing global supply chains and other cross-border uses of technology.  Standardizing international regulations related to the financial world is also a priority. This will help ensure the traceability of capital movement and the prevention of improper use by criminal organizations.</a:t>
            </a:r>
          </a:p>
          <a:p>
            <a:pPr marL="0" indent="0" algn="just">
              <a:buNone/>
            </a:pPr>
            <a:r>
              <a:rPr lang="en-US" sz="2000" dirty="0" smtClean="0">
                <a:latin typeface="Garamond" pitchFamily="18" charset="0"/>
              </a:rPr>
              <a:t>This project is already under way, and most likely unstoppable.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36</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3508</Words>
  <Application>Microsoft Office PowerPoint</Application>
  <PresentationFormat>Presentazione su schermo (4:3)</PresentationFormat>
  <Paragraphs>203</Paragraphs>
  <Slides>36</Slides>
  <Notes>0</Notes>
  <HiddenSlides>0</HiddenSlides>
  <MMClips>0</MMClips>
  <ScaleCrop>false</ScaleCrop>
  <HeadingPairs>
    <vt:vector size="4" baseType="variant">
      <vt:variant>
        <vt:lpstr>Tema</vt:lpstr>
      </vt:variant>
      <vt:variant>
        <vt:i4>1</vt:i4>
      </vt:variant>
      <vt:variant>
        <vt:lpstr>Titoli diapositive</vt:lpstr>
      </vt:variant>
      <vt:variant>
        <vt:i4>36</vt:i4>
      </vt:variant>
    </vt:vector>
  </HeadingPairs>
  <TitlesOfParts>
    <vt:vector size="37" baseType="lpstr">
      <vt:lpstr>Tema di Office</vt:lpstr>
      <vt:lpstr>LEZIONE N. 4</vt:lpstr>
      <vt:lpstr>ADVANCES IN THE BLOCKCHAIN ARE BASED ON      SCALABILITY AND SHARDING. </vt:lpstr>
      <vt:lpstr>Diapositiva 3</vt:lpstr>
      <vt:lpstr>Diapositiva 4</vt:lpstr>
      <vt:lpstr>Diapositiva 5</vt:lpstr>
      <vt:lpstr>Diapositiva 6</vt:lpstr>
      <vt:lpstr>WHICH SECTORS CAN USE THE BLOCKCHAIN? </vt:lpstr>
      <vt:lpstr>THE  BLOCKCHAIN IN  SHIPPING  </vt:lpstr>
      <vt:lpstr>Diapositiva 9</vt:lpstr>
      <vt:lpstr>Diapositiva 10</vt:lpstr>
      <vt:lpstr>BLOCKCHAINS IN  FINTECH </vt:lpstr>
      <vt:lpstr>Diapositiva 12</vt:lpstr>
      <vt:lpstr>BLOCKCHAINS AND MOBILE PAYMENTS </vt:lpstr>
      <vt:lpstr>Diapositiva 14</vt:lpstr>
      <vt:lpstr>THE  IIN CASE:  JP Morgan’s  Interbank Information Network </vt:lpstr>
      <vt:lpstr>MASTERCARD</vt:lpstr>
      <vt:lpstr>KLICKEX</vt:lpstr>
      <vt:lpstr>Diapositiva 18</vt:lpstr>
      <vt:lpstr>Diapositiva 19</vt:lpstr>
      <vt:lpstr>BLOCKCHAIN AND HEALTHCARE </vt:lpstr>
      <vt:lpstr>Diapositiva 21</vt:lpstr>
      <vt:lpstr>Diapositiva 22</vt:lpstr>
      <vt:lpstr>Diapositiva 23</vt:lpstr>
      <vt:lpstr>Diapositiva 24</vt:lpstr>
      <vt:lpstr>Diapositiva 25</vt:lpstr>
      <vt:lpstr>Diapositiva 26</vt:lpstr>
      <vt:lpstr>BLOCKCHAIN CAREERS TAKE FLIGHT </vt:lpstr>
      <vt:lpstr>Diapositiva 28</vt:lpstr>
      <vt:lpstr>HOW COMPANIES NEED TO APPROACH  BLOCKCHAIN </vt:lpstr>
      <vt:lpstr>Diapositiva 30</vt:lpstr>
      <vt:lpstr>ASPECTS OF GLOBAL TRADE </vt:lpstr>
      <vt:lpstr>Diapositiva 32</vt:lpstr>
      <vt:lpstr>Diapositiva 33</vt:lpstr>
      <vt:lpstr>FUTURE OPPORTUNITIES </vt:lpstr>
      <vt:lpstr>Diapositiva 35</vt:lpstr>
      <vt:lpstr>Diapositiva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101</cp:revision>
  <dcterms:created xsi:type="dcterms:W3CDTF">2022-09-16T10:16:52Z</dcterms:created>
  <dcterms:modified xsi:type="dcterms:W3CDTF">2024-05-15T10:38:25Z</dcterms:modified>
</cp:coreProperties>
</file>