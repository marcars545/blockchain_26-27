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96" r:id="rId2"/>
    <p:sldId id="295" r:id="rId3"/>
    <p:sldId id="257" r:id="rId4"/>
    <p:sldId id="258" r:id="rId5"/>
    <p:sldId id="259" r:id="rId6"/>
    <p:sldId id="260"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7" r:id="rId41"/>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BA0716-D820-4FF5-85FB-86C85CD2D9B9}" type="datetimeFigureOut">
              <a:rPr lang="it-IT" smtClean="0"/>
              <a:pPr/>
              <a:t>20/07/2023</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94D6E1F-AE7D-44EC-891D-4BAC6A2E746E}"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a:t>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a:t>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a:t>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a:t>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6</a:t>
            </a:fld>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7</a:t>
            </a:fld>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8</a:t>
            </a:fld>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9</a:t>
            </a:fld>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10</a:t>
            </a:fld>
            <a:endParaRPr 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11</a:t>
            </a:fld>
            <a:endParaRPr 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12</a:t>
            </a:fld>
            <a:endParaRPr 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13</a:t>
            </a:fld>
            <a:endParaRPr 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14</a:t>
            </a:fld>
            <a:endParaRPr 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15</a:t>
            </a:fld>
            <a:endParaRPr 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16</a:t>
            </a:fld>
            <a:endParaRPr 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17</a:t>
            </a:fld>
            <a:endParaRPr lang="it-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18</a:t>
            </a:fld>
            <a:endParaRPr lang="it-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19</a:t>
            </a:fld>
            <a:endParaRPr lang="it-I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20</a:t>
            </a:fld>
            <a:endParaRPr lang="it-I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21</a:t>
            </a:fld>
            <a:endParaRPr lang="it-I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22</a:t>
            </a:fld>
            <a:endParaRPr lang="it-IT"/>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23</a:t>
            </a:fld>
            <a:endParaRPr lang="it-IT"/>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24</a:t>
            </a:fld>
            <a:endParaRPr lang="it-I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25</a:t>
            </a:fld>
            <a:endParaRPr lang="it-I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26</a:t>
            </a:fld>
            <a:endParaRPr lang="it-IT"/>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27</a:t>
            </a:fld>
            <a:endParaRPr lang="it-IT"/>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28</a:t>
            </a:fld>
            <a:endParaRPr lang="it-IT"/>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29</a:t>
            </a:fld>
            <a:endParaRPr lang="it-IT"/>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30</a:t>
            </a:fld>
            <a:endParaRPr lang="it-IT"/>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31</a:t>
            </a:fld>
            <a:endParaRPr lang="it-IT"/>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32</a:t>
            </a:fld>
            <a:endParaRPr lang="it-IT"/>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33</a:t>
            </a:fld>
            <a:endParaRPr lang="it-IT"/>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34</a:t>
            </a:fld>
            <a:endParaRPr lang="it-IT"/>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35</a:t>
            </a:fld>
            <a:endParaRPr lang="it-IT"/>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36</a:t>
            </a:fld>
            <a:endParaRPr lang="it-IT"/>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37</a:t>
            </a:fld>
            <a:endParaRPr lang="it-IT"/>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38</a:t>
            </a:fld>
            <a:endParaRPr lang="it-IT"/>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39</a:t>
            </a:fld>
            <a:endParaRPr lang="it-IT"/>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40</a:t>
            </a:fld>
            <a:endParaRPr lang="it-IT"/>
          </a:p>
        </p:txBody>
      </p:sp>
    </p:spTree>
    <p:extLst>
      <p:ext uri="{BB962C8B-B14F-4D97-AF65-F5344CB8AC3E}">
        <p14:creationId xmlns="" xmlns:p14="http://schemas.microsoft.com/office/powerpoint/2010/main" val="417173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EEC25853-70A3-42D5-9EA1-AEA5EB68ACE8}" type="datetimeFigureOut">
              <a:rPr lang="it-IT" smtClean="0"/>
              <a:pPr/>
              <a:t>20/07/2023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362B374-53C7-4711-9AB2-70B26CC78A0F}"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EEC25853-70A3-42D5-9EA1-AEA5EB68ACE8}" type="datetimeFigureOut">
              <a:rPr lang="it-IT" smtClean="0"/>
              <a:pPr/>
              <a:t>20/07/2023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362B374-53C7-4711-9AB2-70B26CC78A0F}"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EEC25853-70A3-42D5-9EA1-AEA5EB68ACE8}" type="datetimeFigureOut">
              <a:rPr lang="it-IT" smtClean="0"/>
              <a:pPr/>
              <a:t>20/07/2023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362B374-53C7-4711-9AB2-70B26CC78A0F}"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EEC25853-70A3-42D5-9EA1-AEA5EB68ACE8}" type="datetimeFigureOut">
              <a:rPr lang="it-IT" smtClean="0"/>
              <a:pPr/>
              <a:t>20/07/2023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2362B374-53C7-4711-9AB2-70B26CC78A0F}"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EEC25853-70A3-42D5-9EA1-AEA5EB68ACE8}" type="datetimeFigureOut">
              <a:rPr lang="it-IT" smtClean="0"/>
              <a:pPr/>
              <a:t>20/07/2023</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2362B374-53C7-4711-9AB2-70B26CC78A0F}"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EEC25853-70A3-42D5-9EA1-AEA5EB68ACE8}" type="datetimeFigureOut">
              <a:rPr lang="it-IT" smtClean="0"/>
              <a:pPr/>
              <a:t>20/07/2023</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2362B374-53C7-4711-9AB2-70B26CC78A0F}"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EEC25853-70A3-42D5-9EA1-AEA5EB68ACE8}" type="datetimeFigureOut">
              <a:rPr lang="it-IT" smtClean="0"/>
              <a:pPr/>
              <a:t>20/07/2023</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2362B374-53C7-4711-9AB2-70B26CC78A0F}"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EEC25853-70A3-42D5-9EA1-AEA5EB68ACE8}" type="datetimeFigureOut">
              <a:rPr lang="it-IT" smtClean="0"/>
              <a:pPr/>
              <a:t>20/07/2023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2362B374-53C7-4711-9AB2-70B26CC78A0F}"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EEC25853-70A3-42D5-9EA1-AEA5EB68ACE8}" type="datetimeFigureOut">
              <a:rPr lang="it-IT" smtClean="0"/>
              <a:pPr/>
              <a:t>20/07/2023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2362B374-53C7-4711-9AB2-70B26CC78A0F}"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EEC25853-70A3-42D5-9EA1-AEA5EB68ACE8}" type="datetimeFigureOut">
              <a:rPr lang="it-IT" smtClean="0"/>
              <a:pPr/>
              <a:t>20/07/2023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362B374-53C7-4711-9AB2-70B26CC78A0F}"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EEC25853-70A3-42D5-9EA1-AEA5EB68ACE8}" type="datetimeFigureOut">
              <a:rPr lang="it-IT" smtClean="0"/>
              <a:pPr/>
              <a:t>20/07/2023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2362B374-53C7-4711-9AB2-70B26CC78A0F}"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C25853-70A3-42D5-9EA1-AEA5EB68ACE8}" type="datetimeFigureOut">
              <a:rPr lang="it-IT" smtClean="0"/>
              <a:pPr/>
              <a:t>20/07/2023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62B374-53C7-4711-9AB2-70B26CC78A0F}"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Titolo 8"/>
          <p:cNvSpPr>
            <a:spLocks noGrp="1"/>
          </p:cNvSpPr>
          <p:nvPr>
            <p:ph type="ctrTitle"/>
          </p:nvPr>
        </p:nvSpPr>
        <p:spPr>
          <a:xfrm>
            <a:off x="685800" y="2130425"/>
            <a:ext cx="7772400" cy="1941517"/>
          </a:xfrm>
        </p:spPr>
        <p:txBody>
          <a:bodyPr>
            <a:normAutofit fontScale="90000"/>
          </a:bodyPr>
          <a:lstStyle/>
          <a:p>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it-IT" sz="2800" b="1" dirty="0" smtClean="0">
                <a:solidFill>
                  <a:srgbClr val="FF0000"/>
                </a:solidFill>
                <a:latin typeface="Garamond" pitchFamily="18" charset="0"/>
              </a:rPr>
              <a:t>CORSO </a:t>
            </a:r>
            <a:r>
              <a:rPr lang="it-IT" sz="2800" b="1" dirty="0" err="1" smtClean="0">
                <a:solidFill>
                  <a:srgbClr val="FF0000"/>
                </a:solidFill>
                <a:latin typeface="Garamond" pitchFamily="18" charset="0"/>
              </a:rPr>
              <a:t>DI</a:t>
            </a:r>
            <a:r>
              <a:rPr lang="it-IT" sz="2800" b="1" dirty="0" smtClean="0">
                <a:solidFill>
                  <a:srgbClr val="FF0000"/>
                </a:solidFill>
                <a:latin typeface="Garamond" pitchFamily="18" charset="0"/>
              </a:rPr>
              <a:t> CYBERSECURITY AWARENESS </a:t>
            </a: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SECURITY </a:t>
            </a:r>
            <a:r>
              <a:rPr lang="en-US" sz="2800" b="1" dirty="0" smtClean="0">
                <a:solidFill>
                  <a:srgbClr val="FF0000"/>
                </a:solidFill>
                <a:latin typeface="Garamond" pitchFamily="18" charset="0"/>
              </a:rPr>
              <a:t>AWARNESS AND SECURITY GOVERNANCE</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N. 7</a:t>
            </a:r>
            <a:endParaRPr lang="it-IT" sz="2800" b="1" dirty="0">
              <a:solidFill>
                <a:srgbClr val="FF0000"/>
              </a:solidFill>
              <a:latin typeface="Garamond" pitchFamily="18" charset="0"/>
            </a:endParaRP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2200" b="1" dirty="0" smtClean="0">
                <a:solidFill>
                  <a:srgbClr val="FF0000"/>
                </a:solidFill>
                <a:latin typeface="Garamond" pitchFamily="18" charset="0"/>
              </a:rPr>
              <a:t>INDEX </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57200" y="1785926"/>
            <a:ext cx="8229600" cy="4340237"/>
          </a:xfrm>
        </p:spPr>
        <p:txBody>
          <a:bodyPr>
            <a:normAutofit/>
          </a:bodyPr>
          <a:lstStyle/>
          <a:p>
            <a:pPr marL="457200" indent="-457200" algn="just">
              <a:buFont typeface="+mj-lt"/>
              <a:buAutoNum type="arabicPeriod"/>
            </a:pPr>
            <a:endParaRPr lang="en-US" sz="2000" b="1" dirty="0" smtClean="0">
              <a:latin typeface="Garamond" pitchFamily="18" charset="0"/>
            </a:endParaRPr>
          </a:p>
          <a:p>
            <a:pPr marL="457200" indent="-457200" algn="just">
              <a:buFont typeface="+mj-lt"/>
              <a:buAutoNum type="arabicPeriod"/>
            </a:pPr>
            <a:r>
              <a:rPr lang="en-US" sz="2000" b="1" dirty="0" smtClean="0">
                <a:latin typeface="Garamond" pitchFamily="18" charset="0"/>
              </a:rPr>
              <a:t>Cloud – Suspicious Links – Emails – Passwords</a:t>
            </a:r>
          </a:p>
          <a:p>
            <a:pPr marL="457200" indent="-457200" algn="just">
              <a:buFont typeface="+mj-lt"/>
              <a:buAutoNum type="arabicPeriod"/>
            </a:pPr>
            <a:r>
              <a:rPr lang="en-US" sz="2000" b="1" dirty="0" err="1" smtClean="0">
                <a:latin typeface="Garamond" pitchFamily="18" charset="0"/>
              </a:rPr>
              <a:t>Cybersecurity</a:t>
            </a:r>
            <a:r>
              <a:rPr lang="en-US" sz="2000" b="1" dirty="0" smtClean="0">
                <a:latin typeface="Garamond" pitchFamily="18" charset="0"/>
              </a:rPr>
              <a:t> and Training</a:t>
            </a:r>
          </a:p>
          <a:p>
            <a:pPr marL="457200" indent="-457200" algn="just">
              <a:buFont typeface="+mj-lt"/>
              <a:buAutoNum type="arabicPeriod"/>
            </a:pPr>
            <a:r>
              <a:rPr lang="en-US" sz="2000" b="1" dirty="0" smtClean="0">
                <a:latin typeface="Garamond" pitchFamily="18" charset="0"/>
              </a:rPr>
              <a:t>The Italian Situation</a:t>
            </a:r>
          </a:p>
          <a:p>
            <a:pPr marL="457200" indent="-457200" algn="just">
              <a:buFont typeface="+mj-lt"/>
              <a:buAutoNum type="arabicPeriod"/>
            </a:pPr>
            <a:r>
              <a:rPr lang="en-US" sz="2000" b="1" dirty="0" smtClean="0">
                <a:latin typeface="Garamond" pitchFamily="18" charset="0"/>
              </a:rPr>
              <a:t>Governance</a:t>
            </a:r>
          </a:p>
          <a:p>
            <a:pPr marL="457200" indent="-457200" algn="just">
              <a:buFont typeface="+mj-lt"/>
              <a:buAutoNum type="arabicPeriod"/>
            </a:pPr>
            <a:r>
              <a:rPr lang="en-US" sz="2000" b="1" dirty="0" smtClean="0">
                <a:latin typeface="Garamond" pitchFamily="18" charset="0"/>
              </a:rPr>
              <a:t>Areas of Security Governance</a:t>
            </a:r>
          </a:p>
          <a:p>
            <a:pPr marL="457200" indent="-457200" algn="just">
              <a:buFont typeface="+mj-lt"/>
              <a:buAutoNum type="arabicPeriod"/>
            </a:pPr>
            <a:r>
              <a:rPr lang="en-US" sz="2000" b="1" dirty="0" smtClean="0">
                <a:latin typeface="Garamond" pitchFamily="18" charset="0"/>
              </a:rPr>
              <a:t>Security Models</a:t>
            </a:r>
            <a:endParaRPr lang="it-IT" sz="2000" b="1"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2200" b="1" dirty="0" smtClean="0">
                <a:solidFill>
                  <a:srgbClr val="FF0000"/>
                </a:solidFill>
                <a:latin typeface="Garamond" pitchFamily="18" charset="0"/>
              </a:rPr>
              <a:t>CLOUD – SUSPICIOUS LINKS – EMAILS - PASSWORDS</a:t>
            </a:r>
            <a:endParaRPr lang="it-IT" sz="2200" b="1" dirty="0">
              <a:solidFill>
                <a:srgbClr val="FF0000"/>
              </a:solidFill>
              <a:latin typeface="Garamond" pitchFamily="18" charset="0"/>
            </a:endParaRPr>
          </a:p>
        </p:txBody>
      </p:sp>
      <p:sp>
        <p:nvSpPr>
          <p:cNvPr id="12" name="Segnaposto contenuto 11"/>
          <p:cNvSpPr>
            <a:spLocks noGrp="1"/>
          </p:cNvSpPr>
          <p:nvPr>
            <p:ph idx="1"/>
          </p:nvPr>
        </p:nvSpPr>
        <p:spPr>
          <a:xfrm>
            <a:off x="457200" y="1928802"/>
            <a:ext cx="8229600" cy="4197361"/>
          </a:xfrm>
        </p:spPr>
        <p:txBody>
          <a:bodyPr>
            <a:normAutofit/>
          </a:bodyPr>
          <a:lstStyle/>
          <a:p>
            <a:pPr marL="0" indent="0" algn="ctr">
              <a:buNone/>
            </a:pPr>
            <a:r>
              <a:rPr lang="en-US" sz="2000" dirty="0" smtClean="0">
                <a:latin typeface="Garamond" pitchFamily="18" charset="0"/>
              </a:rPr>
              <a:t>The advent of the cloud, where data and corporate jobs are moved, has brought new problems in </a:t>
            </a:r>
            <a:r>
              <a:rPr lang="en-US" sz="2000" dirty="0" err="1" smtClean="0">
                <a:latin typeface="Garamond" pitchFamily="18" charset="0"/>
              </a:rPr>
              <a:t>cybersecurity</a:t>
            </a:r>
            <a:r>
              <a:rPr lang="en-US" sz="2000" dirty="0" smtClean="0">
                <a:latin typeface="Garamond" pitchFamily="18" charset="0"/>
              </a:rPr>
              <a:t>. In fact, it involves transferring files and information to platforms over which the user does not have full control. This entails the </a:t>
            </a:r>
            <a:r>
              <a:rPr lang="en-US" sz="2000" u="sng" dirty="0" smtClean="0">
                <a:latin typeface="Garamond" pitchFamily="18" charset="0"/>
              </a:rPr>
              <a:t>need to adopt cloud-specific </a:t>
            </a:r>
            <a:r>
              <a:rPr lang="en-US" sz="2000" u="sng" dirty="0" err="1" smtClean="0">
                <a:latin typeface="Garamond" pitchFamily="18" charset="0"/>
              </a:rPr>
              <a:t>cybersecurity</a:t>
            </a:r>
            <a:r>
              <a:rPr lang="en-US" sz="2000" u="sng" dirty="0" smtClean="0">
                <a:latin typeface="Garamond" pitchFamily="18" charset="0"/>
              </a:rPr>
              <a:t> </a:t>
            </a:r>
            <a:r>
              <a:rPr lang="en-US" sz="2000" u="sng" dirty="0" smtClean="0">
                <a:latin typeface="Garamond" pitchFamily="18" charset="0"/>
              </a:rPr>
              <a:t>tools</a:t>
            </a:r>
            <a:r>
              <a:rPr lang="en-US" sz="2000" u="sng" dirty="0" smtClean="0">
                <a:latin typeface="Garamond" pitchFamily="18" charset="0"/>
              </a:rPr>
              <a:t>.</a:t>
            </a:r>
          </a:p>
          <a:p>
            <a:pPr marL="0" indent="0" algn="ctr">
              <a:buNone/>
            </a:pPr>
            <a:r>
              <a:rPr lang="en-US" sz="2000" dirty="0" smtClean="0">
                <a:latin typeface="Garamond" pitchFamily="18" charset="0"/>
              </a:rPr>
              <a:t>Another </a:t>
            </a:r>
            <a:r>
              <a:rPr lang="en-US" sz="2000" dirty="0" smtClean="0">
                <a:latin typeface="Garamond" pitchFamily="18" charset="0"/>
              </a:rPr>
              <a:t>fundamental aspect to avoid cyber risks is learning to distinguish suspicious from harmless links. </a:t>
            </a:r>
            <a:r>
              <a:rPr lang="en-US" sz="2000" dirty="0" smtClean="0">
                <a:latin typeface="Garamond" pitchFamily="18" charset="0"/>
              </a:rPr>
              <a:t>Fraudulent </a:t>
            </a:r>
            <a:r>
              <a:rPr lang="en-US" sz="2000" dirty="0" smtClean="0">
                <a:latin typeface="Garamond" pitchFamily="18" charset="0"/>
              </a:rPr>
              <a:t>links inserted in seemingly harmless messages are still one of the most common techniques today. The links in question can be sent via email, social networks, or instant messaging platforms, sometimes with just a simple text message.</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000108"/>
            <a:ext cx="8229600" cy="5126055"/>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Through these, hackers manage to steal data and information or turn infected devices into self-replication bots</a:t>
            </a:r>
            <a:r>
              <a:rPr lang="en-US" sz="2000" dirty="0" smtClean="0">
                <a:latin typeface="Garamond" pitchFamily="18" charset="0"/>
              </a:rPr>
              <a:t>.</a:t>
            </a:r>
          </a:p>
          <a:p>
            <a:pPr marL="0" indent="0" algn="ctr">
              <a:buNone/>
            </a:pPr>
            <a:r>
              <a:rPr lang="en-US" sz="2000" dirty="0" smtClean="0">
                <a:latin typeface="Garamond" pitchFamily="18" charset="0"/>
              </a:rPr>
              <a:t>Recognizing </a:t>
            </a:r>
            <a:r>
              <a:rPr lang="en-US" sz="2000" dirty="0" smtClean="0">
                <a:latin typeface="Garamond" pitchFamily="18" charset="0"/>
              </a:rPr>
              <a:t>fake emails is not easy because phishing attempts are commonplace, and often very well disguised as advertisements or emails sent from fake official channels, such as the post office, a bank, or an insurance company</a:t>
            </a:r>
            <a:r>
              <a:rPr lang="en-US" sz="2000" dirty="0" smtClean="0">
                <a:latin typeface="Garamond" pitchFamily="18" charset="0"/>
              </a:rPr>
              <a:t>.</a:t>
            </a:r>
          </a:p>
          <a:p>
            <a:pPr marL="0" indent="0" algn="ctr">
              <a:buNone/>
            </a:pPr>
            <a:r>
              <a:rPr lang="en-US" sz="2000" dirty="0" smtClean="0">
                <a:latin typeface="Garamond" pitchFamily="18" charset="0"/>
              </a:rPr>
              <a:t>The </a:t>
            </a:r>
            <a:r>
              <a:rPr lang="en-US" sz="2000" dirty="0" smtClean="0">
                <a:latin typeface="Garamond" pitchFamily="18" charset="0"/>
              </a:rPr>
              <a:t>question is then </a:t>
            </a:r>
            <a:r>
              <a:rPr lang="en-US" sz="2000" u="sng" dirty="0" smtClean="0">
                <a:latin typeface="Garamond" pitchFamily="18" charset="0"/>
              </a:rPr>
              <a:t>how to recognize them</a:t>
            </a:r>
            <a:r>
              <a:rPr lang="en-US" sz="2000" dirty="0" smtClean="0">
                <a:latin typeface="Garamond" pitchFamily="18" charset="0"/>
              </a:rPr>
              <a:t>. Here are some </a:t>
            </a:r>
            <a:r>
              <a:rPr lang="en-US" sz="2000" u="sng" dirty="0" smtClean="0">
                <a:latin typeface="Garamond" pitchFamily="18" charset="0"/>
              </a:rPr>
              <a:t>useful tips to unmask this type</a:t>
            </a:r>
            <a:r>
              <a:rPr lang="en-US" sz="2000" dirty="0" smtClean="0">
                <a:latin typeface="Garamond" pitchFamily="18" charset="0"/>
              </a:rPr>
              <a:t> of suspicious link or email:</a:t>
            </a:r>
          </a:p>
          <a:p>
            <a:pPr marL="0" indent="0" algn="ctr">
              <a:buNone/>
            </a:pPr>
            <a:endParaRPr lang="en-US" sz="2000" dirty="0" smtClean="0">
              <a:latin typeface="Garamond" pitchFamily="18" charset="0"/>
            </a:endParaRPr>
          </a:p>
          <a:p>
            <a:pPr marL="0" indent="0" algn="ctr">
              <a:buNone/>
            </a:pP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000108"/>
            <a:ext cx="8229600" cy="5126055"/>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    Pay attention to the context from which you receive the message containing the suspicious link: notice if it is an unexpected message, if you have no relationship with the sender, or if the text is ungrammatical; </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   Contact the sender if you know them, and ask for an explanation of the message to determine whether it is a cyber scam or a simple message; do not contact them directly from the email </a:t>
            </a:r>
            <a:r>
              <a:rPr lang="en-US" sz="2000" dirty="0" smtClean="0">
                <a:latin typeface="Garamond" pitchFamily="18" charset="0"/>
              </a:rPr>
              <a:t>received</a:t>
            </a:r>
            <a:r>
              <a:rPr lang="en-US" sz="2000" dirty="0" smtClean="0">
                <a:latin typeface="Garamond" pitchFamily="18" charset="0"/>
              </a:rPr>
              <a:t>.</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446217"/>
            <a:ext cx="8229600" cy="4125923"/>
          </a:xfrm>
        </p:spPr>
        <p:txBody>
          <a:bodyPr>
            <a:normAutofit/>
          </a:bodyPr>
          <a:lstStyle/>
          <a:p>
            <a:pPr marL="0" indent="0" algn="ctr">
              <a:buNone/>
            </a:pPr>
            <a:r>
              <a:rPr lang="en-US" sz="2000" dirty="0" smtClean="0">
                <a:latin typeface="Garamond" pitchFamily="18" charset="0"/>
              </a:rPr>
              <a:t>•     Check shortened links. If the message contains a shortened link, i.e. a link made up of 20 random characters, then enter the link in a special form, such as urlquery.net or </a:t>
            </a:r>
            <a:r>
              <a:rPr lang="en-US" sz="2000" dirty="0" err="1" smtClean="0">
                <a:latin typeface="Garamond" pitchFamily="18" charset="0"/>
              </a:rPr>
              <a:t>Unshorten.it</a:t>
            </a:r>
            <a:r>
              <a:rPr lang="en-US" sz="2000" dirty="0" smtClean="0">
                <a:latin typeface="Garamond" pitchFamily="18" charset="0"/>
              </a:rPr>
              <a:t> to discover if it is an attempted computer scam, without ever actually opening the link. </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r>
              <a:rPr lang="en-US" sz="2000" dirty="0" smtClean="0">
                <a:latin typeface="Garamond" pitchFamily="18" charset="0"/>
              </a:rPr>
              <a:t> It </a:t>
            </a:r>
            <a:r>
              <a:rPr lang="en-US" sz="2000" dirty="0" smtClean="0">
                <a:latin typeface="Garamond" pitchFamily="18" charset="0"/>
              </a:rPr>
              <a:t>is possible to position the mouse on the link in the email without clicking. At this point, a small box will appear containing the real address the </a:t>
            </a:r>
            <a:r>
              <a:rPr lang="en-US" sz="2000" dirty="0" smtClean="0">
                <a:latin typeface="Garamond" pitchFamily="18" charset="0"/>
              </a:rPr>
              <a:t>link. </a:t>
            </a:r>
            <a:r>
              <a:rPr lang="en-US" sz="2000" dirty="0" smtClean="0">
                <a:latin typeface="Garamond" pitchFamily="18" charset="0"/>
              </a:rPr>
              <a:t>If the real link does not correspond to the one shown in the email or, in any case, to a reliable or official site, then you are certainly faced with an attempted scam.</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000108"/>
            <a:ext cx="8229600" cy="5126055"/>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In any case, always distrust emails that invite you to write personal data and check, in any case, with the real sender. </a:t>
            </a:r>
            <a:endParaRPr lang="en-US" sz="2000" dirty="0" smtClean="0">
              <a:latin typeface="Garamond" pitchFamily="18" charset="0"/>
            </a:endParaRPr>
          </a:p>
          <a:p>
            <a:pPr marL="0" indent="0" algn="ctr">
              <a:buNone/>
            </a:pPr>
            <a:r>
              <a:rPr lang="en-US" sz="2000" dirty="0" smtClean="0">
                <a:latin typeface="Garamond" pitchFamily="18" charset="0"/>
              </a:rPr>
              <a:t>To </a:t>
            </a:r>
            <a:r>
              <a:rPr lang="en-US" sz="2000" dirty="0" smtClean="0">
                <a:latin typeface="Garamond" pitchFamily="18" charset="0"/>
              </a:rPr>
              <a:t>date, services that require you to enter your username and password are commonplace. For this reason, it can be difficult to manage the different login credentials and keep track of all the passwords and usernames. To solve this problem, password manager systems were developed some time </a:t>
            </a:r>
            <a:r>
              <a:rPr lang="en-US" sz="2000" dirty="0" smtClean="0">
                <a:latin typeface="Garamond" pitchFamily="18" charset="0"/>
              </a:rPr>
              <a:t>ago</a:t>
            </a:r>
            <a:r>
              <a:rPr lang="en-US" sz="2000" dirty="0" smtClean="0">
                <a:latin typeface="Garamond" pitchFamily="18" charset="0"/>
              </a:rPr>
              <a:t>. </a:t>
            </a: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57200" y="1000108"/>
            <a:ext cx="8229600" cy="5126055"/>
          </a:xfrm>
        </p:spPr>
        <p:txBody>
          <a:bodyPr>
            <a:normAutofit/>
          </a:bodyPr>
          <a:lstStyle/>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r>
              <a:rPr lang="en-US" sz="2000" u="sng" dirty="0" smtClean="0">
                <a:latin typeface="Garamond" pitchFamily="18" charset="0"/>
              </a:rPr>
              <a:t>The weak link in the chain is always the end user</a:t>
            </a:r>
            <a:r>
              <a:rPr lang="en-US" sz="2000" dirty="0" smtClean="0">
                <a:latin typeface="Garamond" pitchFamily="18" charset="0"/>
              </a:rPr>
              <a:t> who represents the main flaw in any technical and operational management system. Therefore, courses on IT security can be carried out in person, online, or through asynchronous video courses, but they must provide an individualized dialogue with the user.</a:t>
            </a:r>
          </a:p>
          <a:p>
            <a:pPr marL="0" indent="0" algn="ctr">
              <a:buNone/>
            </a:pPr>
            <a:r>
              <a:rPr lang="en-US" sz="2000" dirty="0" smtClean="0">
                <a:latin typeface="Garamond" pitchFamily="18" charset="0"/>
              </a:rPr>
              <a:t>Security awareness makes it possible to use diverse training approaches to help achieve the final general objective:  Limit cyber attacks and respond effectively to cyber threats.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1000116"/>
            <a:ext cx="8229600" cy="1143000"/>
          </a:xfrm>
        </p:spPr>
        <p:txBody>
          <a:bodyPr>
            <a:normAutofit/>
          </a:bodyPr>
          <a:lstStyle/>
          <a:p>
            <a:r>
              <a:rPr lang="it-IT" sz="2200" b="1" dirty="0" smtClean="0">
                <a:solidFill>
                  <a:srgbClr val="FF0000"/>
                </a:solidFill>
                <a:latin typeface="Garamond" pitchFamily="18" charset="0"/>
              </a:rPr>
              <a:t>CYBERSECURITY AND TRAINING</a:t>
            </a:r>
            <a:endParaRPr lang="it-IT" sz="2200" b="1" dirty="0">
              <a:solidFill>
                <a:srgbClr val="FF0000"/>
              </a:solidFill>
              <a:latin typeface="Garamond" pitchFamily="18" charset="0"/>
            </a:endParaRPr>
          </a:p>
        </p:txBody>
      </p:sp>
      <p:sp>
        <p:nvSpPr>
          <p:cNvPr id="11" name="Segnaposto contenuto 10"/>
          <p:cNvSpPr>
            <a:spLocks noGrp="1"/>
          </p:cNvSpPr>
          <p:nvPr>
            <p:ph idx="1"/>
          </p:nvPr>
        </p:nvSpPr>
        <p:spPr>
          <a:xfrm>
            <a:off x="457200" y="2046309"/>
            <a:ext cx="8229600" cy="4525963"/>
          </a:xfrm>
        </p:spPr>
        <p:txBody>
          <a:bodyPr>
            <a:normAutofit/>
          </a:bodyPr>
          <a:lstStyle/>
          <a:p>
            <a:pPr marL="0" indent="0" algn="just">
              <a:buNone/>
            </a:pPr>
            <a:r>
              <a:rPr lang="en-US" sz="2000" dirty="0" err="1" smtClean="0">
                <a:latin typeface="Garamond" pitchFamily="18" charset="0"/>
              </a:rPr>
              <a:t>Cybersecurity</a:t>
            </a:r>
            <a:r>
              <a:rPr lang="en-US" sz="2000" dirty="0" smtClean="0">
                <a:latin typeface="Garamond" pitchFamily="18" charset="0"/>
              </a:rPr>
              <a:t> is a topic that involves and, increasingly, overwhelms businesses and users who find themselves immersed in the digital world and grappling with technology and innovation. Experiential learning in the field and IT security awareness are increasingly represented by moments of mixed training and consultancy activities. </a:t>
            </a:r>
            <a:endParaRPr lang="en-US" sz="2000" dirty="0" smtClean="0">
              <a:latin typeface="Garamond" pitchFamily="18" charset="0"/>
            </a:endParaRPr>
          </a:p>
          <a:p>
            <a:pPr marL="0" indent="0" algn="just">
              <a:buNone/>
            </a:pPr>
            <a:r>
              <a:rPr lang="en-US" sz="2000" dirty="0" smtClean="0">
                <a:latin typeface="Garamond" pitchFamily="18" charset="0"/>
              </a:rPr>
              <a:t>We </a:t>
            </a:r>
            <a:r>
              <a:rPr lang="en-US" sz="2000" dirty="0" smtClean="0">
                <a:latin typeface="Garamond" pitchFamily="18" charset="0"/>
              </a:rPr>
              <a:t>can and must alternate moments of defined learning development in an asynchronous way, so users learn individually, with training provided through live face-to-face meetings, at work or online. </a:t>
            </a:r>
            <a:r>
              <a:rPr lang="en-US" sz="2000" dirty="0" smtClean="0">
                <a:latin typeface="Garamond" pitchFamily="18" charset="0"/>
              </a:rPr>
              <a:t>In </a:t>
            </a:r>
            <a:r>
              <a:rPr lang="en-US" sz="2000" dirty="0" smtClean="0">
                <a:latin typeface="Garamond" pitchFamily="18" charset="0"/>
              </a:rPr>
              <a:t>the context of more general training, it will be necessary to provide </a:t>
            </a:r>
            <a:r>
              <a:rPr lang="en-US" sz="2000" dirty="0" err="1" smtClean="0">
                <a:latin typeface="Garamond" pitchFamily="18" charset="0"/>
              </a:rPr>
              <a:t>cybersecurity</a:t>
            </a:r>
            <a:r>
              <a:rPr lang="en-US" sz="2000" dirty="0" smtClean="0">
                <a:latin typeface="Garamond" pitchFamily="18" charset="0"/>
              </a:rPr>
              <a:t> topics as the foundation of training for students, trade unions, and organizations responsible for disseminating social policies in favor of citizens.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With </a:t>
            </a:r>
            <a:r>
              <a:rPr lang="en-US" sz="2000" dirty="0" smtClean="0">
                <a:latin typeface="Garamond" pitchFamily="18" charset="0"/>
              </a:rPr>
              <a:t>the spread of remote work, cyber crime attacks have increased and since this type of work is here to stay, it is essential to raise cyber risk awareness.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857240"/>
            <a:ext cx="8229600" cy="1143000"/>
          </a:xfrm>
        </p:spPr>
        <p:txBody>
          <a:bodyPr>
            <a:normAutofit/>
          </a:bodyPr>
          <a:lstStyle/>
          <a:p>
            <a:r>
              <a:rPr lang="it-IT" sz="2200" b="1" dirty="0" smtClean="0">
                <a:solidFill>
                  <a:srgbClr val="FF0000"/>
                </a:solidFill>
                <a:latin typeface="Garamond" pitchFamily="18" charset="0"/>
              </a:rPr>
              <a:t>THE ITALIAN SITUATION</a:t>
            </a:r>
            <a:endParaRPr lang="it-IT" sz="22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a:t>
            </a:r>
            <a:r>
              <a:rPr lang="en-US" sz="2000" dirty="0" err="1" smtClean="0">
                <a:latin typeface="Garamond" pitchFamily="18" charset="0"/>
              </a:rPr>
              <a:t>Clusit</a:t>
            </a:r>
            <a:r>
              <a:rPr lang="en-US" sz="2000" dirty="0" smtClean="0">
                <a:latin typeface="Garamond" pitchFamily="18" charset="0"/>
              </a:rPr>
              <a:t> 2021 Report on ICT security, </a:t>
            </a:r>
            <a:r>
              <a:rPr lang="en-US" sz="2000" dirty="0" smtClean="0">
                <a:latin typeface="Garamond" pitchFamily="18" charset="0"/>
              </a:rPr>
              <a:t>emphasizes </a:t>
            </a:r>
            <a:r>
              <a:rPr lang="en-US" sz="2000" dirty="0" smtClean="0">
                <a:latin typeface="Garamond" pitchFamily="18" charset="0"/>
              </a:rPr>
              <a:t>the pandemic emergency that marked 2020 and the resulting adoption of smart working by the clear majority of Italian companies.</a:t>
            </a:r>
          </a:p>
          <a:p>
            <a:pPr marL="0" indent="0" algn="just">
              <a:buNone/>
            </a:pPr>
            <a:r>
              <a:rPr lang="en-US" sz="2000" dirty="0" smtClean="0">
                <a:latin typeface="Garamond" pitchFamily="18" charset="0"/>
              </a:rPr>
              <a:t>It was precisely this change of register which, in order to facilitate remote access to corporate networks, led organizations to pay greater attention to the security of their systems, prompting them to adopt solutions such as firewalls and VPNs - Virtual Private Networks.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just">
              <a:buNone/>
            </a:pPr>
            <a:r>
              <a:rPr lang="en-US" sz="2000" dirty="0" smtClean="0">
                <a:latin typeface="Garamond" pitchFamily="18" charset="0"/>
              </a:rPr>
              <a:t>This change in attitude has contributed to reversing the scenario, making personal PCs </a:t>
            </a:r>
            <a:r>
              <a:rPr lang="en-US" sz="2000" dirty="0" smtClean="0">
                <a:latin typeface="Garamond" pitchFamily="18" charset="0"/>
              </a:rPr>
              <a:t>and </a:t>
            </a:r>
            <a:r>
              <a:rPr lang="en-US" sz="2000" dirty="0" smtClean="0">
                <a:latin typeface="Garamond" pitchFamily="18" charset="0"/>
              </a:rPr>
              <a:t>the Internet </a:t>
            </a:r>
            <a:r>
              <a:rPr lang="en-US" sz="2000" dirty="0" smtClean="0">
                <a:latin typeface="Garamond" pitchFamily="18" charset="0"/>
              </a:rPr>
              <a:t>the </a:t>
            </a:r>
            <a:r>
              <a:rPr lang="en-US" sz="2000" dirty="0" smtClean="0">
                <a:latin typeface="Garamond" pitchFamily="18" charset="0"/>
              </a:rPr>
              <a:t>favorite targets by cybercriminals in 2020, with sectors such as finance and insurance, government, service providers, and social and news media in the crosshairs. With regard to the trend of the </a:t>
            </a:r>
            <a:r>
              <a:rPr lang="en-US" sz="2000" dirty="0" err="1" smtClean="0">
                <a:latin typeface="Garamond" pitchFamily="18" charset="0"/>
              </a:rPr>
              <a:t>cybersecurity</a:t>
            </a:r>
            <a:r>
              <a:rPr lang="en-US" sz="2000" dirty="0" smtClean="0">
                <a:latin typeface="Garamond" pitchFamily="18" charset="0"/>
              </a:rPr>
              <a:t> market in Italy, the data from the </a:t>
            </a:r>
            <a:r>
              <a:rPr lang="en-US" sz="2000" dirty="0" err="1" smtClean="0">
                <a:latin typeface="Garamond" pitchFamily="18" charset="0"/>
              </a:rPr>
              <a:t>Cybersecurity</a:t>
            </a:r>
            <a:r>
              <a:rPr lang="en-US" sz="2000" dirty="0" smtClean="0">
                <a:latin typeface="Garamond" pitchFamily="18" charset="0"/>
              </a:rPr>
              <a:t> &amp; Data Protection 2021 Observatory of the School of Management of the Milan Polytechnic University underline how the pandemic, while slowing this market, has not stopped its growth, with an increase in spending on security solutions, compared to the past.</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just">
              <a:buNone/>
            </a:pPr>
            <a:r>
              <a:rPr lang="en-US" sz="2000" dirty="0" smtClean="0">
                <a:latin typeface="Garamond" pitchFamily="18" charset="0"/>
              </a:rPr>
              <a:t>But</a:t>
            </a:r>
            <a:r>
              <a:rPr lang="en-US" sz="2000" dirty="0" smtClean="0">
                <a:latin typeface="Garamond" pitchFamily="18" charset="0"/>
              </a:rPr>
              <a:t>, beyond the numerical growth of the market, another salient aspect from the Observatory’s data emerged: Companies expressed a willingness of during the Covid-19 pandemic to increase employee awareness of information security, by investing in </a:t>
            </a:r>
            <a:r>
              <a:rPr lang="en-US" sz="2000" dirty="0" err="1" smtClean="0">
                <a:latin typeface="Garamond" pitchFamily="18" charset="0"/>
              </a:rPr>
              <a:t>cybersecurity</a:t>
            </a:r>
            <a:r>
              <a:rPr lang="en-US" sz="2000" dirty="0" smtClean="0">
                <a:latin typeface="Garamond" pitchFamily="18" charset="0"/>
              </a:rPr>
              <a:t> awareness and in a culture of security. </a:t>
            </a:r>
            <a:endParaRPr lang="en-US" sz="2000" dirty="0" smtClean="0">
              <a:latin typeface="Garamond" pitchFamily="18" charset="0"/>
            </a:endParaRPr>
          </a:p>
          <a:p>
            <a:pPr marL="0" indent="0" algn="just">
              <a:buNone/>
            </a:pPr>
            <a:r>
              <a:rPr lang="en-US" sz="2000" dirty="0" smtClean="0">
                <a:latin typeface="Garamond" pitchFamily="18" charset="0"/>
              </a:rPr>
              <a:t>Security </a:t>
            </a:r>
            <a:r>
              <a:rPr lang="en-US" sz="2000" dirty="0" smtClean="0">
                <a:latin typeface="Garamond" pitchFamily="18" charset="0"/>
              </a:rPr>
              <a:t>awareness, i.e., an adequate level of user awareness of corporate IT security, is </a:t>
            </a:r>
            <a:r>
              <a:rPr lang="en-US" sz="2000" dirty="0" smtClean="0">
                <a:latin typeface="Garamond" pitchFamily="18" charset="0"/>
              </a:rPr>
              <a:t>now </a:t>
            </a:r>
            <a:r>
              <a:rPr lang="en-US" sz="2000" dirty="0" smtClean="0">
                <a:latin typeface="Garamond" pitchFamily="18" charset="0"/>
              </a:rPr>
              <a:t>being widely discussed. In fact, many attacks are successful because an employee had inadvertently enabled cybercriminals to access internal networks.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u="sng" dirty="0" smtClean="0">
                <a:latin typeface="Garamond" pitchFamily="18" charset="0"/>
              </a:rPr>
              <a:t>It can happen because a link in an email that seemed legitimate was clicked on,</a:t>
            </a:r>
            <a:r>
              <a:rPr lang="en-US" sz="2000" dirty="0" smtClean="0">
                <a:latin typeface="Garamond" pitchFamily="18" charset="0"/>
              </a:rPr>
              <a:t> an attachment from an unknown sender was opened, or the contents of some random USB stick were checked</a:t>
            </a:r>
            <a:r>
              <a:rPr lang="en-US" sz="2000" dirty="0" smtClean="0">
                <a:latin typeface="Garamond" pitchFamily="18" charset="0"/>
              </a:rPr>
              <a:t>. </a:t>
            </a:r>
            <a:r>
              <a:rPr lang="en-US" sz="2000" dirty="0" smtClean="0">
                <a:latin typeface="Garamond" pitchFamily="18" charset="0"/>
              </a:rPr>
              <a:t>Much less is said about the millions of times illegal access to company data has taken place, stealing strategic information. This causes very serious damage to the business and brand reputation, and this is why </a:t>
            </a:r>
            <a:r>
              <a:rPr lang="en-US" sz="2000" u="sng" dirty="0" smtClean="0">
                <a:latin typeface="Garamond" pitchFamily="18" charset="0"/>
              </a:rPr>
              <a:t>they are kept secret.</a:t>
            </a:r>
            <a:r>
              <a:rPr lang="en-US" sz="2000" dirty="0" smtClean="0">
                <a:latin typeface="Garamond" pitchFamily="18" charset="0"/>
              </a:rPr>
              <a:t> Most </a:t>
            </a:r>
            <a:r>
              <a:rPr lang="en-US" sz="2000" dirty="0" smtClean="0">
                <a:latin typeface="Garamond" pitchFamily="18" charset="0"/>
              </a:rPr>
              <a:t>of these incursions are successful precisely because internal staff members do not have an </a:t>
            </a:r>
            <a:r>
              <a:rPr lang="en-US" sz="2000" u="sng" dirty="0" smtClean="0">
                <a:latin typeface="Garamond" pitchFamily="18" charset="0"/>
              </a:rPr>
              <a:t>adequate level of security awareness.</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Given the level of sophistication of these attacks, even those with some experience have been misled. It is, therefore, essential that anyone in the company who uses a device with access to the internal network is aware of the risks and knows how to recognize them. </a:t>
            </a:r>
            <a:endParaRPr lang="en-US" sz="2000" dirty="0" smtClean="0">
              <a:latin typeface="Garamond" pitchFamily="18" charset="0"/>
            </a:endParaRPr>
          </a:p>
          <a:p>
            <a:pPr marL="0" indent="0" algn="just">
              <a:buNone/>
            </a:pPr>
            <a:r>
              <a:rPr lang="en-US" sz="2000" dirty="0" smtClean="0">
                <a:latin typeface="Garamond" pitchFamily="18" charset="0"/>
              </a:rPr>
              <a:t>Adequate </a:t>
            </a:r>
            <a:r>
              <a:rPr lang="en-US" sz="2000" dirty="0" smtClean="0">
                <a:latin typeface="Garamond" pitchFamily="18" charset="0"/>
              </a:rPr>
              <a:t>security awareness means being aware of the type of attacks that could be aimed at corporate IT security, and their possible consequences. This is a particularly important because many users do not realize that one simple action of theirs can lead to a cyber attack and very grave consequences.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According </a:t>
            </a:r>
            <a:r>
              <a:rPr lang="en-US" sz="2000" dirty="0" smtClean="0">
                <a:latin typeface="Garamond" pitchFamily="18" charset="0"/>
              </a:rPr>
              <a:t>to </a:t>
            </a:r>
            <a:r>
              <a:rPr lang="en-US" sz="2000" dirty="0" err="1" smtClean="0">
                <a:latin typeface="Garamond" pitchFamily="18" charset="0"/>
              </a:rPr>
              <a:t>Clusit</a:t>
            </a:r>
            <a:r>
              <a:rPr lang="en-US" sz="2000" dirty="0" smtClean="0">
                <a:latin typeface="Garamond" pitchFamily="18" charset="0"/>
              </a:rPr>
              <a:t>, the Italian Association for Computer Security, on average, it takes a company 10 months before it realizes it has been attacked, and, in the long run,  business suffers due to the different types of IT problems the attack caused. </a:t>
            </a:r>
            <a:r>
              <a:rPr lang="en-US" sz="2000" dirty="0" smtClean="0">
                <a:latin typeface="Garamond" pitchFamily="18" charset="0"/>
              </a:rPr>
              <a:t>To </a:t>
            </a:r>
            <a:r>
              <a:rPr lang="en-US" sz="2000" dirty="0" smtClean="0">
                <a:latin typeface="Garamond" pitchFamily="18" charset="0"/>
              </a:rPr>
              <a:t>avoid a security incident, or at least limit the damage as much as possible, employees and collaborators must be clearly informed about the company's security policies and its "best practices" for the use of digital devices. This is especially true for those who work remotely, using their own </a:t>
            </a:r>
            <a:r>
              <a:rPr lang="en-US" sz="2000" dirty="0" err="1" smtClean="0">
                <a:latin typeface="Garamond" pitchFamily="18" charset="0"/>
              </a:rPr>
              <a:t>smartphones</a:t>
            </a:r>
            <a:r>
              <a:rPr lang="en-US" sz="2000" dirty="0" smtClean="0">
                <a:latin typeface="Garamond" pitchFamily="18" charset="0"/>
              </a:rPr>
              <a:t>, tablets, or computers.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just">
              <a:buNone/>
            </a:pPr>
            <a:r>
              <a:rPr lang="en-US" sz="2000" dirty="0" smtClean="0">
                <a:latin typeface="Garamond" pitchFamily="18" charset="0"/>
              </a:rPr>
              <a:t>The goal should not be to turn everyone into IT experts, but rather to have risk-aware people who are alert to potential threats and equipped with the knowledge to prevent and mitigate major incidents. </a:t>
            </a:r>
            <a:r>
              <a:rPr lang="en-US" sz="2000" dirty="0" smtClean="0">
                <a:latin typeface="Garamond" pitchFamily="18" charset="0"/>
              </a:rPr>
              <a:t>In </a:t>
            </a:r>
            <a:r>
              <a:rPr lang="en-US" sz="2000" dirty="0" smtClean="0">
                <a:latin typeface="Garamond" pitchFamily="18" charset="0"/>
              </a:rPr>
              <a:t>this regard, developing ongoing training programs with long-term objectives becomes essential. If companies lack time and internal resources to do so, it is better to turn to outside experts. There are costs, but any expense will certainly be repaid when compared to the damages a company would face if it were targeted by a cyber attack. </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just">
              <a:buNone/>
            </a:pPr>
            <a:r>
              <a:rPr lang="en-US" sz="2000" dirty="0" smtClean="0">
                <a:latin typeface="Garamond" pitchFamily="18" charset="0"/>
              </a:rPr>
              <a:t>Sharing </a:t>
            </a:r>
            <a:r>
              <a:rPr lang="en-US" sz="2000" dirty="0" smtClean="0">
                <a:latin typeface="Garamond" pitchFamily="18" charset="0"/>
              </a:rPr>
              <a:t>clear corporate best practices on the subject, developing appropriate employee training programs, and producing readily available and updated informative material are the first things any company should do. Awareness of the real danger and consequences cyber attacks pose is an effective tool against such attacks.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857240"/>
            <a:ext cx="8229600" cy="1143000"/>
          </a:xfrm>
        </p:spPr>
        <p:txBody>
          <a:bodyPr>
            <a:normAutofit/>
          </a:bodyPr>
          <a:lstStyle/>
          <a:p>
            <a:r>
              <a:rPr lang="it-IT" sz="2200" b="1" dirty="0" smtClean="0">
                <a:solidFill>
                  <a:srgbClr val="FF0000"/>
                </a:solidFill>
                <a:latin typeface="Garamond" pitchFamily="18" charset="0"/>
              </a:rPr>
              <a:t>GOVERNANCE</a:t>
            </a:r>
            <a:endParaRPr lang="it-IT" sz="22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question concerning the governance of AI does not technically reflect a single problem, but a multitude of different issues. It is, in fact, all-encompassing and touches on issues linked both to justice and accountability, and to national policies regarding AI and even to "intelligent" surveillance.</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857240"/>
            <a:ext cx="8229600" cy="1143000"/>
          </a:xfrm>
        </p:spPr>
        <p:txBody>
          <a:bodyPr>
            <a:normAutofit/>
          </a:bodyPr>
          <a:lstStyle/>
          <a:p>
            <a:endParaRPr lang="it-IT" sz="22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From the intrinsically statistical nature of AI, it follows that single instances of non-defective systems can avoid adverse events due to incorrect predictions, while, at the same time, determining overall beneficial effects much greater than in the past.</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AI governance should ensure adequate detection, measurement, and classification of </a:t>
            </a:r>
            <a:r>
              <a:rPr lang="en-US" sz="2000" dirty="0" err="1" smtClean="0">
                <a:latin typeface="Garamond" pitchFamily="18" charset="0"/>
              </a:rPr>
              <a:t>mis</a:t>
            </a:r>
            <a:r>
              <a:rPr lang="en-US" sz="2000" dirty="0" smtClean="0">
                <a:latin typeface="Garamond" pitchFamily="18" charset="0"/>
              </a:rPr>
              <a:t>-predictions caused by non-defective systems, to ensure that they fall within socially desirable target values, established through democratic processes. In certain cases, it may be necessary to conduct validation tests of the systems and measure their effects before commercialization. </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20</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857240"/>
            <a:ext cx="8229600" cy="1143000"/>
          </a:xfrm>
        </p:spPr>
        <p:txBody>
          <a:bodyPr>
            <a:normAutofit/>
          </a:bodyPr>
          <a:lstStyle/>
          <a:p>
            <a:endParaRPr lang="it-IT" sz="22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To address such situations, the creation of an authority or agency in charge of monitoring the spread of AI, detecting emerging challenges, providing information to policy makers, and applying their decisions, should be considered. </a:t>
            </a:r>
            <a:r>
              <a:rPr lang="en-US" sz="2000" dirty="0" smtClean="0">
                <a:latin typeface="Garamond" pitchFamily="18" charset="0"/>
              </a:rPr>
              <a:t>AI </a:t>
            </a:r>
            <a:r>
              <a:rPr lang="en-US" sz="2000" dirty="0" smtClean="0">
                <a:latin typeface="Garamond" pitchFamily="18" charset="0"/>
              </a:rPr>
              <a:t>applications, based on the effects on individuals and social organizations. </a:t>
            </a:r>
            <a:endParaRPr lang="en-US" sz="2000" dirty="0" smtClean="0">
              <a:latin typeface="Garamond" pitchFamily="18" charset="0"/>
            </a:endParaRPr>
          </a:p>
          <a:p>
            <a:pPr marL="0" indent="0" algn="just">
              <a:buNone/>
            </a:pPr>
            <a:r>
              <a:rPr lang="en-US" sz="2000" dirty="0" smtClean="0">
                <a:latin typeface="Garamond" pitchFamily="18" charset="0"/>
              </a:rPr>
              <a:t>To </a:t>
            </a:r>
            <a:r>
              <a:rPr lang="en-US" sz="2000" dirty="0" smtClean="0">
                <a:latin typeface="Garamond" pitchFamily="18" charset="0"/>
              </a:rPr>
              <a:t>this end, it would issue guidelines and recommendations for AI system developers and assist companies in applying risk and impact assessments. Finally, this body would ensure coordination with the European Union and other international bodies, as well as collaboration with intermediate bodies like trade unions and consumer associations.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142984"/>
            <a:ext cx="8229600" cy="4983179"/>
          </a:xfrm>
        </p:spPr>
        <p:txBody>
          <a:bodyPr>
            <a:normAutofit lnSpcReduction="10000"/>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SECURITY GOVERNANCE</a:t>
            </a:r>
          </a:p>
          <a:p>
            <a:pPr marL="0" indent="0" algn="ctr">
              <a:buNone/>
            </a:pPr>
            <a:endParaRPr lang="en-US" sz="2000" b="1" dirty="0" smtClean="0">
              <a:latin typeface="Garamond" pitchFamily="18" charset="0"/>
            </a:endParaRPr>
          </a:p>
          <a:p>
            <a:pPr marL="0" indent="0" algn="just">
              <a:buNone/>
            </a:pPr>
            <a:r>
              <a:rPr lang="en-US" sz="2000" dirty="0" smtClean="0">
                <a:latin typeface="Garamond" pitchFamily="18" charset="0"/>
              </a:rPr>
              <a:t>Security governance does not only concern the technology, but also requires the </a:t>
            </a:r>
            <a:r>
              <a:rPr lang="en-US" sz="2000" u="sng" dirty="0" smtClean="0">
                <a:latin typeface="Garamond" pitchFamily="18" charset="0"/>
              </a:rPr>
              <a:t>involvement of people</a:t>
            </a:r>
            <a:r>
              <a:rPr lang="en-US" sz="2000" dirty="0" smtClean="0">
                <a:latin typeface="Garamond" pitchFamily="18" charset="0"/>
              </a:rPr>
              <a:t> and the definition of processes for the following:</a:t>
            </a:r>
          </a:p>
          <a:p>
            <a:pPr marL="0" indent="0" algn="just">
              <a:buNone/>
            </a:pPr>
            <a:r>
              <a:rPr lang="en-US" sz="2000" dirty="0" smtClean="0">
                <a:latin typeface="Garamond" pitchFamily="18" charset="0"/>
              </a:rPr>
              <a:t>1. Developing a widespread corporate culture of risk policy and management</a:t>
            </a:r>
          </a:p>
          <a:p>
            <a:pPr marL="0" indent="0" algn="just">
              <a:buNone/>
            </a:pPr>
            <a:r>
              <a:rPr lang="en-US" sz="2000" dirty="0" smtClean="0">
                <a:latin typeface="Garamond" pitchFamily="18" charset="0"/>
              </a:rPr>
              <a:t>2. Recognizing the different security issues included in the activities</a:t>
            </a:r>
          </a:p>
          <a:p>
            <a:pPr marL="0" indent="0" algn="just">
              <a:buNone/>
            </a:pPr>
            <a:r>
              <a:rPr lang="en-US" sz="2000" dirty="0" smtClean="0">
                <a:latin typeface="Garamond" pitchFamily="18" charset="0"/>
              </a:rPr>
              <a:t>3. Sharing a methodology by the professionals concerned</a:t>
            </a:r>
          </a:p>
          <a:p>
            <a:pPr marL="0" indent="0" algn="just">
              <a:buNone/>
            </a:pPr>
            <a:r>
              <a:rPr lang="en-US" sz="2000" dirty="0" smtClean="0">
                <a:latin typeface="Garamond" pitchFamily="18" charset="0"/>
              </a:rPr>
              <a:t>Furthermore, a comprehensive approach to security governance allows one to:</a:t>
            </a:r>
          </a:p>
          <a:p>
            <a:pPr marL="0" indent="0" algn="just">
              <a:buNone/>
            </a:pPr>
            <a:r>
              <a:rPr lang="en-US" sz="2000" dirty="0" smtClean="0">
                <a:latin typeface="Garamond" pitchFamily="18" charset="0"/>
              </a:rPr>
              <a:t>1. Organize and plan business processes in line with business needs</a:t>
            </a:r>
          </a:p>
          <a:p>
            <a:pPr marL="0" indent="0" algn="just">
              <a:buNone/>
            </a:pPr>
            <a:r>
              <a:rPr lang="en-US" sz="2000" dirty="0" smtClean="0">
                <a:latin typeface="Garamond" pitchFamily="18" charset="0"/>
              </a:rPr>
              <a:t>2. Evaluate the security level of corporate infrastructures</a:t>
            </a:r>
          </a:p>
          <a:p>
            <a:pPr marL="0" indent="0" algn="just">
              <a:buNone/>
            </a:pPr>
            <a:r>
              <a:rPr lang="en-US" sz="2000" dirty="0" smtClean="0">
                <a:latin typeface="Garamond" pitchFamily="18" charset="0"/>
              </a:rPr>
              <a:t>3. Increase the security level of the organization</a:t>
            </a:r>
          </a:p>
          <a:p>
            <a:pPr marL="0" indent="0" algn="just">
              <a:buNone/>
            </a:pPr>
            <a:r>
              <a:rPr lang="en-US" sz="2000" dirty="0" smtClean="0">
                <a:latin typeface="Garamond" pitchFamily="18" charset="0"/>
              </a:rPr>
              <a:t>4. Improve management of resources, people, and technologies</a:t>
            </a:r>
          </a:p>
          <a:p>
            <a:pPr marL="0" indent="0" algn="just">
              <a:buNone/>
            </a:pPr>
            <a:r>
              <a:rPr lang="en-US" sz="2000" dirty="0" smtClean="0">
                <a:latin typeface="Garamond" pitchFamily="18" charset="0"/>
              </a:rPr>
              <a:t>5. Measure the compliance and the trend of the results over time</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22</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142984"/>
            <a:ext cx="8229600" cy="4983179"/>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SECURITY PLANS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Security Plans are a fundamental tool for the correct organization and planning of security governance processes. They permit the following:</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1. Creating risk analysis and management processes</a:t>
            </a:r>
          </a:p>
          <a:p>
            <a:pPr marL="0" indent="0" algn="just">
              <a:buNone/>
            </a:pPr>
            <a:r>
              <a:rPr lang="en-US" sz="2000" dirty="0" smtClean="0">
                <a:latin typeface="Garamond" pitchFamily="18" charset="0"/>
              </a:rPr>
              <a:t>2. Adopting technologically sophisticated tools as a support to facilitate the application of risk analysis and management methods</a:t>
            </a:r>
          </a:p>
          <a:p>
            <a:pPr marL="0" indent="0" algn="just">
              <a:buNone/>
            </a:pPr>
            <a:r>
              <a:rPr lang="en-US" sz="2000" dirty="0" smtClean="0">
                <a:latin typeface="Garamond" pitchFamily="18" charset="0"/>
              </a:rPr>
              <a:t>3. Analyzing and defining the security requirements of systems and applications</a:t>
            </a:r>
          </a:p>
          <a:p>
            <a:pPr marL="0" indent="0" algn="just">
              <a:buNone/>
            </a:pPr>
            <a:r>
              <a:rPr lang="en-US" sz="2000" dirty="0" smtClean="0">
                <a:latin typeface="Garamond" pitchFamily="18" charset="0"/>
              </a:rPr>
              <a:t>4. Underlining criticality or non-compliance and sharing security risks and controls among Governance structures and IT Operations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23</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142984"/>
            <a:ext cx="8229600" cy="4983179"/>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SECURITY GOVERNANCE SERVICES</a:t>
            </a:r>
          </a:p>
          <a:p>
            <a:pPr marL="0" indent="0" algn="ctr">
              <a:buNone/>
            </a:pPr>
            <a:endParaRPr lang="en-US" sz="2000" b="1" dirty="0" smtClean="0">
              <a:latin typeface="Garamond" pitchFamily="18" charset="0"/>
            </a:endParaRPr>
          </a:p>
          <a:p>
            <a:pPr marL="0" indent="0" algn="just">
              <a:buNone/>
            </a:pPr>
            <a:r>
              <a:rPr lang="en-US" sz="2000" dirty="0" smtClean="0">
                <a:latin typeface="Garamond" pitchFamily="18" charset="0"/>
              </a:rPr>
              <a:t>Security governance services allow companies to adapt models and procedures to industry regulations and best practices. The procedures are represented as follows:</a:t>
            </a:r>
          </a:p>
          <a:p>
            <a:pPr marL="0" indent="0" algn="just">
              <a:buNone/>
            </a:pPr>
            <a:r>
              <a:rPr lang="en-US" sz="2000" dirty="0" smtClean="0">
                <a:latin typeface="Garamond" pitchFamily="18" charset="0"/>
              </a:rPr>
              <a:t>1. </a:t>
            </a:r>
            <a:r>
              <a:rPr lang="en-US" sz="2000" u="sng" dirty="0" smtClean="0">
                <a:latin typeface="Garamond" pitchFamily="18" charset="0"/>
              </a:rPr>
              <a:t>Security Accountability </a:t>
            </a:r>
            <a:r>
              <a:rPr lang="en-US" sz="2000" dirty="0" smtClean="0">
                <a:latin typeface="Garamond" pitchFamily="18" charset="0"/>
              </a:rPr>
              <a:t>certifies that the company implements the legislative provisions, using sensitive information and personal data in a secure manner.</a:t>
            </a:r>
          </a:p>
          <a:p>
            <a:pPr marL="0" indent="0" algn="just">
              <a:buNone/>
            </a:pPr>
            <a:r>
              <a:rPr lang="en-US" sz="2000" dirty="0" smtClean="0">
                <a:latin typeface="Garamond" pitchFamily="18" charset="0"/>
              </a:rPr>
              <a:t>2. </a:t>
            </a:r>
            <a:r>
              <a:rPr lang="en-US" sz="2000" u="sng" dirty="0" smtClean="0">
                <a:latin typeface="Garamond" pitchFamily="18" charset="0"/>
              </a:rPr>
              <a:t>Risk Reduction</a:t>
            </a:r>
            <a:r>
              <a:rPr lang="en-US" sz="2000" dirty="0" smtClean="0">
                <a:latin typeface="Garamond" pitchFamily="18" charset="0"/>
              </a:rPr>
              <a:t> tends to minimize the risk of incidents following cyber threats with a consequent reduction in costs related to their management.</a:t>
            </a:r>
          </a:p>
          <a:p>
            <a:pPr marL="0" indent="0" algn="just">
              <a:buNone/>
            </a:pPr>
            <a:r>
              <a:rPr lang="en-US" sz="2000" dirty="0" smtClean="0">
                <a:latin typeface="Garamond" pitchFamily="18" charset="0"/>
              </a:rPr>
              <a:t>3. </a:t>
            </a:r>
            <a:r>
              <a:rPr lang="en-US" sz="2000" u="sng" dirty="0" smtClean="0">
                <a:latin typeface="Garamond" pitchFamily="18" charset="0"/>
              </a:rPr>
              <a:t>Optimization of business processes</a:t>
            </a:r>
            <a:r>
              <a:rPr lang="en-US" sz="2000" dirty="0" smtClean="0">
                <a:latin typeface="Garamond" pitchFamily="18" charset="0"/>
              </a:rPr>
              <a:t> and consequent reduction of security risks.</a:t>
            </a:r>
          </a:p>
          <a:p>
            <a:pPr marL="0" indent="0" algn="just">
              <a:buNone/>
            </a:pPr>
            <a:r>
              <a:rPr lang="en-US" sz="2000" dirty="0" smtClean="0">
                <a:latin typeface="Garamond" pitchFamily="18" charset="0"/>
              </a:rPr>
              <a:t>4. </a:t>
            </a:r>
            <a:r>
              <a:rPr lang="en-US" sz="2000" u="sng" dirty="0" smtClean="0">
                <a:latin typeface="Garamond" pitchFamily="18" charset="0"/>
              </a:rPr>
              <a:t>Monitoring constant risk assessment</a:t>
            </a:r>
            <a:r>
              <a:rPr lang="en-US" sz="2000" dirty="0" smtClean="0">
                <a:latin typeface="Garamond" pitchFamily="18" charset="0"/>
              </a:rPr>
              <a:t> and continuous measurement of corporate security performance through sustainable KPIs.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24</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1142984"/>
            <a:ext cx="8229600" cy="1143000"/>
          </a:xfrm>
        </p:spPr>
        <p:txBody>
          <a:bodyPr>
            <a:normAutofit fontScale="90000"/>
          </a:bodyPr>
          <a:lstStyle/>
          <a:p>
            <a:r>
              <a:rPr lang="it-IT" sz="2700" b="1" dirty="0" smtClean="0">
                <a:solidFill>
                  <a:srgbClr val="FF0000"/>
                </a:solidFill>
                <a:latin typeface="Garamond" pitchFamily="18" charset="0"/>
              </a:rPr>
              <a:t>AREAS OF SECURITY GOVERNANCE</a:t>
            </a:r>
            <a:r>
              <a:rPr lang="it-IT" dirty="0" smtClean="0"/>
              <a:t/>
            </a:r>
            <a:br>
              <a:rPr lang="it-IT" dirty="0" smtClean="0"/>
            </a:br>
            <a:endParaRPr lang="it-IT" dirty="0"/>
          </a:p>
        </p:txBody>
      </p:sp>
      <p:sp>
        <p:nvSpPr>
          <p:cNvPr id="11" name="Segnaposto contenuto 10"/>
          <p:cNvSpPr>
            <a:spLocks noGrp="1"/>
          </p:cNvSpPr>
          <p:nvPr>
            <p:ph idx="1"/>
          </p:nvPr>
        </p:nvSpPr>
        <p:spPr>
          <a:xfrm>
            <a:off x="457200" y="2071678"/>
            <a:ext cx="8229600" cy="4054485"/>
          </a:xfrm>
        </p:spPr>
        <p:txBody>
          <a:bodyPr>
            <a:normAutofit/>
          </a:bodyPr>
          <a:lstStyle/>
          <a:p>
            <a:pPr marL="0" indent="0" algn="ctr">
              <a:buNone/>
            </a:pPr>
            <a:r>
              <a:rPr lang="en-US" sz="2000" dirty="0" smtClean="0">
                <a:latin typeface="Garamond" pitchFamily="18" charset="0"/>
              </a:rPr>
              <a:t>The main areas affecting security governance are summarized below.</a:t>
            </a:r>
          </a:p>
          <a:p>
            <a:pPr marL="0" indent="0" algn="ctr">
              <a:buNone/>
            </a:pPr>
            <a:r>
              <a:rPr lang="en-US" sz="1800" b="1" dirty="0" smtClean="0">
                <a:latin typeface="Garamond" pitchFamily="18" charset="0"/>
              </a:rPr>
              <a:t>SECURITY INFORMATION &amp; EVENT MANAGEMENT</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Security Information &amp; Event Management (SIEM) allows the identification of security incidents, policy violations, and fraudulent activities, reducing response times for the solution of these threats. </a:t>
            </a:r>
            <a:r>
              <a:rPr lang="en-US" sz="2000" dirty="0" smtClean="0">
                <a:latin typeface="Garamond" pitchFamily="18" charset="0"/>
              </a:rPr>
              <a:t>To </a:t>
            </a:r>
            <a:r>
              <a:rPr lang="en-US" sz="2000" dirty="0" smtClean="0">
                <a:latin typeface="Garamond" pitchFamily="18" charset="0"/>
              </a:rPr>
              <a:t>achieve these goals, SIEM offers these features:</a:t>
            </a:r>
          </a:p>
          <a:p>
            <a:pPr marL="0" indent="0" algn="just">
              <a:buNone/>
            </a:pPr>
            <a:r>
              <a:rPr lang="en-US" sz="2000" dirty="0" smtClean="0">
                <a:latin typeface="Garamond" pitchFamily="18" charset="0"/>
              </a:rPr>
              <a:t>1. </a:t>
            </a:r>
            <a:r>
              <a:rPr lang="en-US" sz="2000" u="sng" dirty="0" smtClean="0">
                <a:latin typeface="Garamond" pitchFamily="18" charset="0"/>
              </a:rPr>
              <a:t>Data collection:</a:t>
            </a:r>
            <a:r>
              <a:rPr lang="en-US" sz="2000" dirty="0" smtClean="0">
                <a:latin typeface="Garamond" pitchFamily="18" charset="0"/>
              </a:rPr>
              <a:t> SIEM allows you to enter data on a single centralized log platform. It manages sending data through agent-based software or allows this platform to directly access the device through </a:t>
            </a:r>
            <a:r>
              <a:rPr lang="en-US" sz="2000" dirty="0" err="1" smtClean="0">
                <a:latin typeface="Garamond" pitchFamily="18" charset="0"/>
              </a:rPr>
              <a:t>agentless</a:t>
            </a:r>
            <a:r>
              <a:rPr lang="en-US" sz="2000" dirty="0" smtClean="0">
                <a:latin typeface="Garamond" pitchFamily="18" charset="0"/>
              </a:rPr>
              <a:t> software that generates the logs.</a:t>
            </a:r>
          </a:p>
          <a:p>
            <a:pPr marL="0" indent="0" algn="just">
              <a:buNone/>
            </a:pPr>
            <a:endParaRPr lang="en-US" sz="2000" dirty="0" smtClean="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25</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1142984"/>
            <a:ext cx="8229600" cy="1143000"/>
          </a:xfrm>
        </p:spPr>
        <p:txBody>
          <a:bodyPr>
            <a:normAutofit/>
          </a:bodyPr>
          <a:lstStyle/>
          <a:p>
            <a:endParaRPr lang="it-IT" dirty="0"/>
          </a:p>
        </p:txBody>
      </p:sp>
      <p:sp>
        <p:nvSpPr>
          <p:cNvPr id="11" name="Segnaposto contenuto 10"/>
          <p:cNvSpPr>
            <a:spLocks noGrp="1"/>
          </p:cNvSpPr>
          <p:nvPr>
            <p:ph idx="1"/>
          </p:nvPr>
        </p:nvSpPr>
        <p:spPr>
          <a:xfrm>
            <a:off x="457200" y="2071678"/>
            <a:ext cx="8229600" cy="4054485"/>
          </a:xfrm>
        </p:spPr>
        <p:txBody>
          <a:bodyPr>
            <a:normAutofit/>
          </a:bodyPr>
          <a:lstStyle/>
          <a:p>
            <a:pPr marL="0" indent="0" algn="just">
              <a:buNone/>
            </a:pPr>
            <a:r>
              <a:rPr lang="en-US" sz="2000" dirty="0" smtClean="0">
                <a:latin typeface="Garamond" pitchFamily="18" charset="0"/>
              </a:rPr>
              <a:t>2. </a:t>
            </a:r>
            <a:r>
              <a:rPr lang="en-US" sz="2000" u="sng" dirty="0" smtClean="0">
                <a:latin typeface="Garamond" pitchFamily="18" charset="0"/>
              </a:rPr>
              <a:t>Filtering, parsing, aggregation, and normalization</a:t>
            </a:r>
            <a:r>
              <a:rPr lang="en-US" sz="2000" dirty="0" smtClean="0">
                <a:latin typeface="Garamond" pitchFamily="18" charset="0"/>
              </a:rPr>
              <a:t>: These facilitate the subsequent phases of analysis and interpretation of the log content. The events are subjected to processes of extraction of specific information, filtering of non-useful and repeated data, aggregation of similar events, and finally, conversion of the original data into a standard format.</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3. </a:t>
            </a:r>
            <a:r>
              <a:rPr lang="en-US" sz="2000" u="sng" dirty="0" smtClean="0">
                <a:latin typeface="Garamond" pitchFamily="18" charset="0"/>
              </a:rPr>
              <a:t>Correlation:</a:t>
            </a:r>
            <a:r>
              <a:rPr lang="en-US" sz="2000" dirty="0" smtClean="0">
                <a:latin typeface="Garamond" pitchFamily="18" charset="0"/>
              </a:rPr>
              <a:t> These rules allow identification of the relationship between events and the occurrence of anomalies.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4. </a:t>
            </a:r>
            <a:r>
              <a:rPr lang="en-US" sz="2000" u="sng" dirty="0" smtClean="0">
                <a:latin typeface="Garamond" pitchFamily="18" charset="0"/>
              </a:rPr>
              <a:t>Reporting: </a:t>
            </a:r>
            <a:r>
              <a:rPr lang="en-US" sz="2000" dirty="0" smtClean="0">
                <a:latin typeface="Garamond" pitchFamily="18" charset="0"/>
              </a:rPr>
              <a:t>Dashboards, notifications, and reports allow you to view the result of the analyses. Dashboard visualization provides real-time data representation, and notifications allow you to report the presence of threats.</a:t>
            </a:r>
          </a:p>
          <a:p>
            <a:pPr marL="0" indent="0" algn="just">
              <a:buNone/>
            </a:pPr>
            <a:endParaRPr lang="en-US" sz="2000" dirty="0" smtClean="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26</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571612"/>
            <a:ext cx="8229600" cy="4054485"/>
          </a:xfrm>
        </p:spPr>
        <p:txBody>
          <a:bodyPr>
            <a:normAutofit/>
          </a:bodyPr>
          <a:lstStyle/>
          <a:p>
            <a:pPr marL="0" indent="0" algn="ctr">
              <a:buNone/>
            </a:pPr>
            <a:r>
              <a:rPr lang="en-US" sz="2000" b="1" dirty="0" smtClean="0">
                <a:latin typeface="Garamond" pitchFamily="18" charset="0"/>
              </a:rPr>
              <a:t>DATA PROTECTION</a:t>
            </a:r>
          </a:p>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Data Protection ensures that no information breach occurs, since the data is protected during its life cycle, from the moment the information is generated to the moment it is transferred and used. </a:t>
            </a:r>
            <a:endParaRPr lang="en-US" sz="2000" dirty="0" smtClean="0">
              <a:latin typeface="Garamond" pitchFamily="18" charset="0"/>
            </a:endParaRPr>
          </a:p>
          <a:p>
            <a:pPr marL="0" indent="0" algn="ctr">
              <a:buNone/>
            </a:pPr>
            <a:r>
              <a:rPr lang="en-US" sz="2000" dirty="0" smtClean="0">
                <a:latin typeface="Garamond" pitchFamily="18" charset="0"/>
              </a:rPr>
              <a:t>This </a:t>
            </a:r>
            <a:r>
              <a:rPr lang="en-US" sz="2000" dirty="0" smtClean="0">
                <a:latin typeface="Garamond" pitchFamily="18" charset="0"/>
              </a:rPr>
              <a:t>solution guarantees data protection in line with the requirements defined by standard regulations such as the GDPR, for personal data or for data relating to credit cards, "Payment Card Industry Data Security Standard" (PCI DSS).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27</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571612"/>
            <a:ext cx="8229600" cy="4054485"/>
          </a:xfrm>
        </p:spPr>
        <p:txBody>
          <a:bodyPr>
            <a:normAutofit/>
          </a:bodyPr>
          <a:lstStyle/>
          <a:p>
            <a:pPr marL="0" indent="0" algn="ctr">
              <a:buNone/>
            </a:pPr>
            <a:endParaRPr lang="en-US" sz="2000" dirty="0" smtClean="0">
              <a:latin typeface="Garamond" pitchFamily="18" charset="0"/>
            </a:endParaRPr>
          </a:p>
          <a:p>
            <a:pPr marL="0" indent="0" algn="ctr">
              <a:buNone/>
            </a:pPr>
            <a:r>
              <a:rPr lang="en-US" sz="2000" dirty="0" smtClean="0">
                <a:latin typeface="Garamond" pitchFamily="18" charset="0"/>
              </a:rPr>
              <a:t>The main techniques for data protection are divided into "</a:t>
            </a:r>
            <a:r>
              <a:rPr lang="en-US" sz="2000" dirty="0" err="1" smtClean="0">
                <a:latin typeface="Garamond" pitchFamily="18" charset="0"/>
              </a:rPr>
              <a:t>pseudonymization</a:t>
            </a:r>
            <a:r>
              <a:rPr lang="en-US" sz="2000" dirty="0" smtClean="0">
                <a:latin typeface="Garamond" pitchFamily="18" charset="0"/>
              </a:rPr>
              <a:t>" and "cryptography." </a:t>
            </a:r>
            <a:endParaRPr lang="en-US" sz="2000" dirty="0" smtClean="0">
              <a:latin typeface="Garamond" pitchFamily="18" charset="0"/>
            </a:endParaRPr>
          </a:p>
          <a:p>
            <a:pPr marL="0" indent="0" algn="ctr">
              <a:buNone/>
            </a:pPr>
            <a:r>
              <a:rPr lang="en-US" sz="2000" dirty="0" smtClean="0">
                <a:latin typeface="Garamond" pitchFamily="18" charset="0"/>
              </a:rPr>
              <a:t>These </a:t>
            </a:r>
            <a:r>
              <a:rPr lang="en-US" sz="2000" dirty="0" smtClean="0">
                <a:latin typeface="Garamond" pitchFamily="18" charset="0"/>
              </a:rPr>
              <a:t>techniques preserve the format and are reversible, allowing for the neutralization of possible violations of data and also, for their recovery for analysis. </a:t>
            </a:r>
            <a:endParaRPr lang="en-US" sz="2000" dirty="0" smtClean="0">
              <a:latin typeface="Garamond" pitchFamily="18" charset="0"/>
            </a:endParaRPr>
          </a:p>
          <a:p>
            <a:pPr marL="0" indent="0" algn="ctr">
              <a:buNone/>
            </a:pPr>
            <a:r>
              <a:rPr lang="en-US" sz="2000" dirty="0" smtClean="0">
                <a:latin typeface="Garamond" pitchFamily="18" charset="0"/>
              </a:rPr>
              <a:t>It </a:t>
            </a:r>
            <a:r>
              <a:rPr lang="en-US" sz="2000" dirty="0" smtClean="0">
                <a:latin typeface="Garamond" pitchFamily="18" charset="0"/>
              </a:rPr>
              <a:t>is essential that the Data Protection solution can integrate with SIEM, thus exercising control over access to sensitive data, while taking into account the user’s role in the organization.</a:t>
            </a:r>
            <a:endParaRPr lang="it-IT" sz="2000" dirty="0" smtClean="0">
              <a:latin typeface="Garamond" pitchFamily="18" charset="0"/>
            </a:endParaRP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28</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142984"/>
            <a:ext cx="8229600" cy="4929222"/>
          </a:xfrm>
        </p:spPr>
        <p:txBody>
          <a:bodyPr>
            <a:normAutofit/>
          </a:bodyPr>
          <a:lstStyle/>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ACCESS MANAGEMENT</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Identity &amp; Access Management (IAM) defines a perimeter in which the protection of resources and data are guaranteed by establishing which users have access to which resources, through authorizations assigned in accordance with the separation of roles. In this way, users only see the information necessary to carry out their activities.</a:t>
            </a:r>
          </a:p>
          <a:p>
            <a:pPr marL="0" indent="0" algn="just">
              <a:buNone/>
            </a:pPr>
            <a:r>
              <a:rPr lang="en-US" sz="2000" dirty="0" smtClean="0">
                <a:latin typeface="Garamond" pitchFamily="18" charset="0"/>
              </a:rPr>
              <a:t>In order to achieve these objectives, IAM does the following:</a:t>
            </a:r>
          </a:p>
          <a:p>
            <a:pPr marL="0" indent="0" algn="just">
              <a:buNone/>
            </a:pPr>
            <a:r>
              <a:rPr lang="en-US" sz="2000" dirty="0" smtClean="0">
                <a:latin typeface="Garamond" pitchFamily="18" charset="0"/>
              </a:rPr>
              <a:t>• </a:t>
            </a:r>
            <a:r>
              <a:rPr lang="en-US" sz="2000" u="sng" dirty="0" smtClean="0">
                <a:latin typeface="Garamond" pitchFamily="18" charset="0"/>
              </a:rPr>
              <a:t>Store user information</a:t>
            </a:r>
            <a:r>
              <a:rPr lang="en-US" sz="2000" dirty="0" smtClean="0">
                <a:latin typeface="Garamond" pitchFamily="18" charset="0"/>
              </a:rPr>
              <a:t> so digital identities are stored and managed in a centralized repository;</a:t>
            </a:r>
          </a:p>
          <a:p>
            <a:pPr marL="0" indent="0" algn="just">
              <a:buNone/>
            </a:pPr>
            <a:r>
              <a:rPr lang="en-US" sz="2000" dirty="0" smtClean="0">
                <a:latin typeface="Garamond" pitchFamily="18" charset="0"/>
              </a:rPr>
              <a:t>• </a:t>
            </a:r>
            <a:r>
              <a:rPr lang="en-US" sz="2000" u="sng" dirty="0" smtClean="0">
                <a:latin typeface="Garamond" pitchFamily="18" charset="0"/>
              </a:rPr>
              <a:t>Provision users through operations</a:t>
            </a:r>
            <a:r>
              <a:rPr lang="en-US" sz="2000" dirty="0" smtClean="0">
                <a:latin typeface="Garamond" pitchFamily="18" charset="0"/>
              </a:rPr>
              <a:t> that lead to the management of identity and access rights in accordance with the user’s role in the organization;</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29</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Freccia a destra 8"/>
          <p:cNvSpPr/>
          <p:nvPr/>
        </p:nvSpPr>
        <p:spPr>
          <a:xfrm>
            <a:off x="7572396" y="5643578"/>
            <a:ext cx="621218"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142984"/>
            <a:ext cx="8229600" cy="4929222"/>
          </a:xfrm>
        </p:spPr>
        <p:txBody>
          <a:bodyPr>
            <a:normAutofit/>
          </a:bodyPr>
          <a:lstStyle/>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t>
            </a:r>
            <a:r>
              <a:rPr lang="en-US" sz="2000" u="sng" dirty="0" smtClean="0">
                <a:latin typeface="Garamond" pitchFamily="18" charset="0"/>
              </a:rPr>
              <a:t>Approve workflow to support provisioning process.</a:t>
            </a:r>
            <a:r>
              <a:rPr lang="en-US" sz="2000" dirty="0" smtClean="0">
                <a:latin typeface="Garamond" pitchFamily="18" charset="0"/>
              </a:rPr>
              <a:t> With the workflow component, this process is automated, involving only those who approve the resources concerned;</a:t>
            </a:r>
          </a:p>
          <a:p>
            <a:pPr marL="0" indent="0" algn="just">
              <a:buNone/>
            </a:pPr>
            <a:r>
              <a:rPr lang="en-US" sz="2000" dirty="0" smtClean="0">
                <a:latin typeface="Garamond" pitchFamily="18" charset="0"/>
              </a:rPr>
              <a:t>• </a:t>
            </a:r>
            <a:r>
              <a:rPr lang="en-US" sz="2000" u="sng" dirty="0" smtClean="0">
                <a:latin typeface="Garamond" pitchFamily="18" charset="0"/>
              </a:rPr>
              <a:t>Authenticate users.</a:t>
            </a:r>
            <a:r>
              <a:rPr lang="en-US" sz="2000" dirty="0" smtClean="0">
                <a:latin typeface="Garamond" pitchFamily="18" charset="0"/>
              </a:rPr>
              <a:t> The identity of the user is verified and, as a consequence, access to the resources involved is guaranteed only to authorized users. Authentication techniques start from a login with a username and password to more complex mechanisms based on the use of two or more authentication methods.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30</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142984"/>
            <a:ext cx="8229600" cy="4929222"/>
          </a:xfrm>
        </p:spPr>
        <p:txBody>
          <a:bodyPr>
            <a:normAutofit/>
          </a:bodyPr>
          <a:lstStyle/>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PRIVILEGED ACCESS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To have a complete view of internal access to an organization, IAM must be connected to the Privileged Access Management (PAM) solution.</a:t>
            </a:r>
          </a:p>
          <a:p>
            <a:pPr marL="0" indent="0" algn="just">
              <a:buNone/>
            </a:pPr>
            <a:r>
              <a:rPr lang="en-US" sz="2000" dirty="0" smtClean="0">
                <a:latin typeface="Garamond" pitchFamily="18" charset="0"/>
              </a:rPr>
              <a:t>PAM allows you to overcome the criticality following the sharing of a privileged account with multiple </a:t>
            </a:r>
            <a:r>
              <a:rPr lang="en-US" sz="2000" dirty="0" smtClean="0">
                <a:latin typeface="Garamond" pitchFamily="18" charset="0"/>
              </a:rPr>
              <a:t>users. </a:t>
            </a:r>
            <a:r>
              <a:rPr lang="en-US" sz="2000" dirty="0" smtClean="0">
                <a:latin typeface="Garamond" pitchFamily="18" charset="0"/>
              </a:rPr>
              <a:t>It is possible to achieve this thanks to the features offered by PAM:</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31</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142984"/>
            <a:ext cx="8229600" cy="4929222"/>
          </a:xfrm>
        </p:spPr>
        <p:txBody>
          <a:bodyPr>
            <a:normAutofit/>
          </a:bodyPr>
          <a:lstStyle/>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t>
            </a:r>
            <a:r>
              <a:rPr lang="en-US" sz="2000" u="sng" dirty="0" smtClean="0">
                <a:latin typeface="Garamond" pitchFamily="18" charset="0"/>
              </a:rPr>
              <a:t>User authentication:</a:t>
            </a:r>
            <a:r>
              <a:rPr lang="en-US" sz="2000" dirty="0" smtClean="0">
                <a:latin typeface="Garamond" pitchFamily="18" charset="0"/>
              </a:rPr>
              <a:t> through the integration of IAM and PAM, critical request access and the validity of user membership in a privileged group are managed through the IAM authentication module;</a:t>
            </a:r>
          </a:p>
          <a:p>
            <a:pPr marL="0" indent="0" algn="just">
              <a:buNone/>
            </a:pPr>
            <a:r>
              <a:rPr lang="en-US" sz="2000" dirty="0" smtClean="0">
                <a:latin typeface="Garamond" pitchFamily="18" charset="0"/>
              </a:rPr>
              <a:t>• </a:t>
            </a:r>
            <a:r>
              <a:rPr lang="en-US" sz="2000" u="sng" dirty="0" smtClean="0">
                <a:latin typeface="Garamond" pitchFamily="18" charset="0"/>
              </a:rPr>
              <a:t>Credential management:</a:t>
            </a:r>
            <a:r>
              <a:rPr lang="en-US" sz="2000" dirty="0" smtClean="0">
                <a:latin typeface="Garamond" pitchFamily="18" charset="0"/>
              </a:rPr>
              <a:t> access credentials of privileged accounts are managed and stored through a centralized encrypted archive, thus ensuring that they are not exposed, let alone shared among users;</a:t>
            </a:r>
          </a:p>
          <a:p>
            <a:pPr marL="0" indent="0" algn="just">
              <a:buNone/>
            </a:pPr>
            <a:r>
              <a:rPr lang="en-US" sz="2000" dirty="0" smtClean="0">
                <a:latin typeface="Garamond" pitchFamily="18" charset="0"/>
              </a:rPr>
              <a:t>• </a:t>
            </a:r>
            <a:r>
              <a:rPr lang="en-US" sz="2000" u="sng" dirty="0" smtClean="0">
                <a:latin typeface="Garamond" pitchFamily="18" charset="0"/>
              </a:rPr>
              <a:t>Session management:</a:t>
            </a:r>
            <a:r>
              <a:rPr lang="en-US" sz="2000" dirty="0" smtClean="0">
                <a:latin typeface="Garamond" pitchFamily="18" charset="0"/>
              </a:rPr>
              <a:t> the activities performed by privileged users are logged and tracked to allow monitoring and analysis during work sessions and to help prevent information breaches for auditing and compliance purposes.</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32</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928670"/>
            <a:ext cx="8229600" cy="1143000"/>
          </a:xfrm>
        </p:spPr>
        <p:txBody>
          <a:bodyPr>
            <a:normAutofit/>
          </a:bodyPr>
          <a:lstStyle/>
          <a:p>
            <a:r>
              <a:rPr lang="it-IT" sz="2200" b="1" dirty="0" smtClean="0">
                <a:solidFill>
                  <a:srgbClr val="FF0000"/>
                </a:solidFill>
                <a:latin typeface="Garamond" pitchFamily="18" charset="0"/>
              </a:rPr>
              <a:t>SECURITY MODELS</a:t>
            </a:r>
            <a:endParaRPr lang="it-IT" sz="22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Security and Safety merge with data protection, making specific skills and an unambiguous approach necessary in order to help companies clearly understand their business protection strategies, in compliance with the regulations in force, or what is defined as Security Governance.</a:t>
            </a:r>
          </a:p>
          <a:p>
            <a:pPr marL="0" indent="0" algn="just">
              <a:buNone/>
            </a:pPr>
            <a:r>
              <a:rPr lang="en-US" sz="2000" dirty="0" smtClean="0">
                <a:latin typeface="Garamond" pitchFamily="18" charset="0"/>
              </a:rPr>
              <a:t>There are many organizational and technological model design systems, aimed at governing and overseeing </a:t>
            </a:r>
            <a:r>
              <a:rPr lang="en-US" sz="2000" dirty="0" smtClean="0">
                <a:latin typeface="Garamond" pitchFamily="18" charset="0"/>
              </a:rPr>
              <a:t>security</a:t>
            </a:r>
            <a:r>
              <a:rPr lang="en-US" sz="2000" dirty="0" smtClean="0">
                <a:latin typeface="Garamond" pitchFamily="18" charset="0"/>
              </a:rPr>
              <a:t>. </a:t>
            </a: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33</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928670"/>
            <a:ext cx="8229600" cy="1143000"/>
          </a:xfrm>
        </p:spPr>
        <p:txBody>
          <a:bodyPr>
            <a:normAutofit/>
          </a:bodyPr>
          <a:lstStyle/>
          <a:p>
            <a:endParaRPr lang="it-IT" sz="2200" b="1" dirty="0">
              <a:solidFill>
                <a:srgbClr val="FF0000"/>
              </a:solidFill>
              <a:latin typeface="Garamond" pitchFamily="18" charset="0"/>
            </a:endParaRPr>
          </a:p>
        </p:txBody>
      </p:sp>
      <p:sp>
        <p:nvSpPr>
          <p:cNvPr id="11" name="Segnaposto contenuto 10"/>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Starting from the analysis of context, security solutions, and operational and management procedures in use, these systems elaborate risk-based strategies, aimed at raising the levels of protection in compliance with budgets. They also focus on raising the effectiveness and efficiency of the solutions implemented, thanks to security management through </a:t>
            </a:r>
            <a:r>
              <a:rPr lang="en-US" sz="2000" u="sng" dirty="0" smtClean="0">
                <a:latin typeface="Garamond" pitchFamily="18" charset="0"/>
              </a:rPr>
              <a:t>predefined models</a:t>
            </a:r>
            <a:r>
              <a:rPr lang="en-US" sz="2000" dirty="0" smtClean="0">
                <a:latin typeface="Garamond" pitchFamily="18" charset="0"/>
              </a:rPr>
              <a:t> resulting from the analysis carried out.</a:t>
            </a:r>
          </a:p>
          <a:p>
            <a:pPr marL="0" indent="0" algn="just">
              <a:buNone/>
            </a:pPr>
            <a:r>
              <a:rPr lang="en-US" sz="2000" dirty="0" smtClean="0">
                <a:latin typeface="Garamond" pitchFamily="18" charset="0"/>
              </a:rPr>
              <a:t>Furthermore, these systems </a:t>
            </a:r>
            <a:r>
              <a:rPr lang="en-US" sz="2000" u="sng" dirty="0" smtClean="0">
                <a:latin typeface="Garamond" pitchFamily="18" charset="0"/>
              </a:rPr>
              <a:t>optimize the results achieved thanks to the analysis of data relating to security</a:t>
            </a:r>
            <a:r>
              <a:rPr lang="en-US" sz="2000" dirty="0" smtClean="0">
                <a:latin typeface="Garamond" pitchFamily="18" charset="0"/>
              </a:rPr>
              <a:t> and help understand how the use of the product, the practices, and the operating policies can be implemented.</a:t>
            </a:r>
          </a:p>
          <a:p>
            <a:pPr marL="0" indent="0" algn="just">
              <a:buNone/>
            </a:pPr>
            <a:r>
              <a:rPr lang="en-US" sz="2000" dirty="0" smtClean="0">
                <a:latin typeface="Garamond" pitchFamily="18" charset="0"/>
              </a:rPr>
              <a:t>Based </a:t>
            </a:r>
            <a:r>
              <a:rPr lang="en-US" sz="2000" dirty="0" smtClean="0">
                <a:latin typeface="Garamond" pitchFamily="18" charset="0"/>
              </a:rPr>
              <a:t>on data analysis, consulting will strategically outline effective and efficient actions to be taken in line with any changes in the IT scenario.</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34</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1357298"/>
            <a:ext cx="8229600" cy="4525963"/>
          </a:xfrm>
        </p:spPr>
        <p:txBody>
          <a:bodyPr>
            <a:normAutofit/>
          </a:bodyPr>
          <a:lstStyle/>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IT SECURITY/CYBERSECURITY</a:t>
            </a:r>
          </a:p>
          <a:p>
            <a:pPr marL="0" indent="0" algn="ctr">
              <a:buNone/>
            </a:pPr>
            <a:r>
              <a:rPr lang="en-US" sz="2000" b="1" dirty="0" smtClean="0">
                <a:latin typeface="Garamond" pitchFamily="18" charset="0"/>
              </a:rPr>
              <a:t>GENERAL ASPECTS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Being that area of information security that depends only on technology, it often emphasizes the qualities of resilience, robustness, and responsiveness that a technology must possess in order to face attacks aimed at compromising its correct functioning and performance.</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35</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lnSpcReduction="10000"/>
          </a:bodyPr>
          <a:lstStyle/>
          <a:p>
            <a:pPr marL="0" indent="0" algn="ctr">
              <a:buNone/>
            </a:pPr>
            <a:endParaRPr lang="en-US" sz="2000" dirty="0" smtClean="0">
              <a:latin typeface="Garamond" pitchFamily="18" charset="0"/>
            </a:endParaRPr>
          </a:p>
          <a:p>
            <a:pPr marL="0" indent="0" algn="ctr">
              <a:buNone/>
            </a:pPr>
            <a:r>
              <a:rPr lang="en-US" sz="1900" b="1" dirty="0" smtClean="0">
                <a:latin typeface="Garamond" pitchFamily="18" charset="0"/>
              </a:rPr>
              <a:t>CYBERSECURITY INVOLVES TECHNICAL, ORGANIZATIONAL, LEGAL, AND HUMAN ELEMENTS.</a:t>
            </a:r>
          </a:p>
          <a:p>
            <a:pPr marL="0" indent="0" algn="just">
              <a:buNone/>
            </a:pPr>
            <a:r>
              <a:rPr lang="en-US" sz="2000" dirty="0" smtClean="0">
                <a:latin typeface="Garamond" pitchFamily="18" charset="0"/>
              </a:rPr>
              <a:t>To evaluate security, it is usually necessary to identify threats, vulnerabilities, and risks associated with IT assets, in order to protect them from possible attacks (internal or external) that could cause direct or indirect damage </a:t>
            </a:r>
            <a:r>
              <a:rPr lang="en-US" sz="2000" dirty="0" smtClean="0">
                <a:latin typeface="Garamond" pitchFamily="18" charset="0"/>
              </a:rPr>
              <a:t>to </a:t>
            </a:r>
            <a:r>
              <a:rPr lang="en-US" sz="2000" dirty="0" smtClean="0">
                <a:latin typeface="Garamond" pitchFamily="18" charset="0"/>
              </a:rPr>
              <a:t>an organization, exceeding a certain tolerability threshold.</a:t>
            </a:r>
          </a:p>
          <a:p>
            <a:pPr marL="0" indent="0" algn="just">
              <a:buNone/>
            </a:pPr>
            <a:r>
              <a:rPr lang="en-US" sz="2000" dirty="0" smtClean="0">
                <a:latin typeface="Garamond" pitchFamily="18" charset="0"/>
              </a:rPr>
              <a:t>In addition to the three fundamental properties (availability, confidentiality, integrity), the following must also be considered: </a:t>
            </a:r>
            <a:r>
              <a:rPr lang="en-US" sz="2000" u="sng" dirty="0" smtClean="0">
                <a:latin typeface="Garamond" pitchFamily="18" charset="0"/>
              </a:rPr>
              <a:t>authenticity</a:t>
            </a:r>
            <a:r>
              <a:rPr lang="en-US" sz="2000" dirty="0" smtClean="0">
                <a:latin typeface="Garamond" pitchFamily="18" charset="0"/>
              </a:rPr>
              <a:t>, </a:t>
            </a:r>
            <a:r>
              <a:rPr lang="en-US" sz="2000" u="sng" dirty="0" smtClean="0">
                <a:latin typeface="Garamond" pitchFamily="18" charset="0"/>
              </a:rPr>
              <a:t>non-repudiation</a:t>
            </a:r>
            <a:r>
              <a:rPr lang="en-US" sz="2000" dirty="0" smtClean="0">
                <a:latin typeface="Garamond" pitchFamily="18" charset="0"/>
              </a:rPr>
              <a:t>, </a:t>
            </a:r>
            <a:r>
              <a:rPr lang="en-US" sz="2000" u="sng" dirty="0" smtClean="0">
                <a:latin typeface="Garamond" pitchFamily="18" charset="0"/>
              </a:rPr>
              <a:t>responsibility</a:t>
            </a:r>
            <a:r>
              <a:rPr lang="en-US" sz="2000" dirty="0" smtClean="0">
                <a:latin typeface="Garamond" pitchFamily="18" charset="0"/>
              </a:rPr>
              <a:t>, and </a:t>
            </a:r>
            <a:r>
              <a:rPr lang="en-US" sz="2000" u="sng" dirty="0" smtClean="0">
                <a:latin typeface="Garamond" pitchFamily="18" charset="0"/>
              </a:rPr>
              <a:t>reliability</a:t>
            </a:r>
            <a:r>
              <a:rPr lang="en-US" sz="2000" dirty="0" smtClean="0">
                <a:latin typeface="Garamond" pitchFamily="18" charset="0"/>
              </a:rPr>
              <a:t>.</a:t>
            </a:r>
          </a:p>
          <a:p>
            <a:pPr marL="0" indent="0" algn="just">
              <a:buNone/>
            </a:pPr>
            <a:r>
              <a:rPr lang="en-US" sz="2000" dirty="0" err="1" smtClean="0">
                <a:latin typeface="Garamond" pitchFamily="18" charset="0"/>
              </a:rPr>
              <a:t>Cybersecurity</a:t>
            </a:r>
            <a:r>
              <a:rPr lang="en-US" sz="2000" dirty="0" smtClean="0">
                <a:latin typeface="Garamond" pitchFamily="18" charset="0"/>
              </a:rPr>
              <a:t> is a deeply felt problem in the technical-IT field, due to the growing computerization of society and services (public and private) in terms of computer equipment and systems and the parallel diffusion and specialization of attackers.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36</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ctr">
              <a:buNone/>
            </a:pPr>
            <a:endParaRPr lang="en-US" sz="2000" dirty="0" smtClean="0">
              <a:latin typeface="Garamond" pitchFamily="18" charset="0"/>
            </a:endParaRPr>
          </a:p>
          <a:p>
            <a:pPr marL="0" indent="0" algn="ctr">
              <a:buNone/>
            </a:pPr>
            <a:r>
              <a:rPr lang="en-US" sz="2000" b="1" dirty="0" smtClean="0">
                <a:latin typeface="Garamond" pitchFamily="18" charset="0"/>
              </a:rPr>
              <a:t>HOME AND BUSINESS SECURITY</a:t>
            </a:r>
          </a:p>
          <a:p>
            <a:pPr marL="0" indent="0" algn="just">
              <a:buNone/>
            </a:pPr>
            <a:r>
              <a:rPr lang="en-US" sz="2000" dirty="0" smtClean="0">
                <a:latin typeface="Garamond" pitchFamily="18" charset="0"/>
              </a:rPr>
              <a:t>Since information is a corporate asset, and now most information is stored on IT supports, every organization is interested in guaranteeing the security of its data, in a context where the IT risks caused by violations of security systems are constantly increasing.</a:t>
            </a:r>
          </a:p>
          <a:p>
            <a:pPr marL="0" indent="0" algn="just">
              <a:buNone/>
            </a:pPr>
            <a:r>
              <a:rPr lang="en-US" sz="2000" dirty="0" smtClean="0">
                <a:latin typeface="Garamond" pitchFamily="18" charset="0"/>
              </a:rPr>
              <a:t>For this there are precise rules on privacy, including the General Data Protection Regulation.</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37</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just">
              <a:buNone/>
            </a:pPr>
            <a:r>
              <a:rPr lang="en-US" sz="2000" dirty="0" smtClean="0">
                <a:latin typeface="Garamond" pitchFamily="18" charset="0"/>
              </a:rPr>
              <a:t>There is often confusion between the protection of personal data and the security of information tout court (private and confidential information which has nothing to do with personal data).</a:t>
            </a:r>
          </a:p>
          <a:p>
            <a:pPr marL="0" indent="0" algn="just">
              <a:buNone/>
            </a:pPr>
            <a:r>
              <a:rPr lang="en-US" sz="2000" dirty="0" smtClean="0">
                <a:latin typeface="Garamond" pitchFamily="18" charset="0"/>
              </a:rPr>
              <a:t>The ISO 27001 international security standard is aimed at standardizing the methods suitable for protecting the integrity, confidentiality, and availability of data and information from all kinds of threats.</a:t>
            </a:r>
          </a:p>
          <a:p>
            <a:pPr marL="0" indent="0" algn="just">
              <a:buNone/>
            </a:pPr>
            <a:r>
              <a:rPr lang="en-US" sz="2000" dirty="0" smtClean="0">
                <a:latin typeface="Garamond" pitchFamily="18" charset="0"/>
              </a:rPr>
              <a:t>The standard indicates the requirements for an adequate ISMS (Information Security Management System) aimed at the correct management of company data.</a:t>
            </a:r>
          </a:p>
          <a:p>
            <a:pPr marL="0" indent="0" algn="just">
              <a:buNone/>
            </a:pPr>
            <a:r>
              <a:rPr lang="en-US" sz="2000" u="sng" dirty="0" smtClean="0">
                <a:latin typeface="Garamond" pitchFamily="18" charset="0"/>
              </a:rPr>
              <a:t>Indispensable steps in all security planning are risk assessment and risk management.</a:t>
            </a:r>
            <a:r>
              <a:rPr lang="en-US" sz="2000" dirty="0" smtClean="0">
                <a:latin typeface="Garamond" pitchFamily="18" charset="0"/>
              </a:rPr>
              <a:t> </a:t>
            </a: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38</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p:txBody>
          <a:bodyPr>
            <a:normAutofit/>
          </a:bodyPr>
          <a:lstStyle/>
          <a:p>
            <a:pPr marL="0" indent="0" algn="ctr">
              <a:buNone/>
            </a:pPr>
            <a:r>
              <a:rPr lang="en-US" sz="2000" b="1" dirty="0" smtClean="0">
                <a:latin typeface="Garamond" pitchFamily="18" charset="0"/>
              </a:rPr>
              <a:t>SECURITY OF PROGRAMS AND OPERATING SYSTEMS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problem of program security (operating systems and applications) has come to the attention of software developers because of the significant growth in the use of IT tools and the Internet.</a:t>
            </a:r>
          </a:p>
          <a:p>
            <a:pPr marL="0" indent="0" algn="just">
              <a:buNone/>
            </a:pPr>
            <a:r>
              <a:rPr lang="en-US" sz="2000" dirty="0" smtClean="0">
                <a:latin typeface="Garamond" pitchFamily="18" charset="0"/>
              </a:rPr>
              <a:t>As far as the production of "protected" software is concerned, the concept of security can be defined as the absence of conflicting conditions, capable of producing irreparable damage to a system.</a:t>
            </a:r>
          </a:p>
          <a:p>
            <a:pPr marL="0" indent="0" algn="just">
              <a:buNone/>
            </a:pPr>
            <a:r>
              <a:rPr lang="en-US" sz="2000" dirty="0" smtClean="0">
                <a:latin typeface="Garamond" pitchFamily="18" charset="0"/>
              </a:rPr>
              <a:t>In software design, it is, therefore, essential to achieve a functional compromise </a:t>
            </a:r>
            <a:r>
              <a:rPr lang="en-US" sz="2000" u="sng" dirty="0" smtClean="0">
                <a:latin typeface="Garamond" pitchFamily="18" charset="0"/>
              </a:rPr>
              <a:t>between the efficiency of the program in question and its ability to "survive" external attacks and critical errors.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39</a:t>
            </a:fld>
            <a:endParaRPr lang="it-IT"/>
          </a:p>
        </p:txBody>
      </p:sp>
      <p:sp>
        <p:nvSpPr>
          <p:cNvPr id="14342" name="CasellaDiTesto 8"/>
          <p:cNvSpPr txBox="1">
            <a:spLocks noChangeArrowheads="1"/>
          </p:cNvSpPr>
          <p:nvPr/>
        </p:nvSpPr>
        <p:spPr bwMode="auto">
          <a:xfrm>
            <a:off x="2024584" y="6182766"/>
            <a:ext cx="4895850" cy="461665"/>
          </a:xfrm>
          <a:prstGeom prst="rect">
            <a:avLst/>
          </a:prstGeom>
          <a:noFill/>
          <a:ln w="9525">
            <a:noFill/>
            <a:miter lim="800000"/>
            <a:headEnd/>
            <a:tailEnd/>
          </a:ln>
        </p:spPr>
        <p:txBody>
          <a:bodyPr>
            <a:spAutoFit/>
          </a:bodyPr>
          <a:lstStyle/>
          <a:p>
            <a:pPr marL="14288" algn="ctr">
              <a:tabLst>
                <a:tab pos="4665663" algn="l"/>
              </a:tabLst>
            </a:pPr>
            <a:r>
              <a:rPr lang="it-IT" sz="24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olo 1"/>
          <p:cNvSpPr>
            <a:spLocks noGrp="1"/>
          </p:cNvSpPr>
          <p:nvPr>
            <p:ph type="ctrTitle"/>
          </p:nvPr>
        </p:nvSpPr>
        <p:spPr>
          <a:xfrm>
            <a:off x="539750" y="285728"/>
            <a:ext cx="8064500" cy="5643602"/>
          </a:xfrm>
        </p:spPr>
        <p:txBody>
          <a:bodyPr rtlCol="0" anchor="t">
            <a:normAutofit/>
          </a:bodyPr>
          <a:lstStyle/>
          <a:p>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a:solidFill>
                  <a:srgbClr val="FF0000"/>
                </a:solidFill>
                <a:latin typeface="Garamond" pitchFamily="18" charset="0"/>
              </a:rPr>
              <a:t/>
            </a:r>
            <a:br>
              <a:rPr lang="it-IT" sz="2400" b="1">
                <a:solidFill>
                  <a:srgbClr val="FF0000"/>
                </a:solidFill>
                <a:latin typeface="Garamond" pitchFamily="18" charset="0"/>
              </a:rPr>
            </a:br>
            <a:r>
              <a:rPr lang="it-IT" altLang="it-IT" sz="3600" b="1" smtClean="0">
                <a:solidFill>
                  <a:srgbClr val="FF0000"/>
                </a:solidFill>
                <a:latin typeface="Garamond" pitchFamily="18" charset="0"/>
              </a:rPr>
              <a:t>THANKS FOR YOUR ATTENTION</a:t>
            </a:r>
            <a:br>
              <a:rPr lang="it-IT" altLang="it-IT" sz="3600" b="1"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40</a:t>
            </a:fld>
            <a:endParaRPr lang="it-IT"/>
          </a:p>
        </p:txBody>
      </p:sp>
      <p:sp>
        <p:nvSpPr>
          <p:cNvPr id="14342" name="CasellaDiTesto 8"/>
          <p:cNvSpPr txBox="1">
            <a:spLocks noChangeArrowheads="1"/>
          </p:cNvSpPr>
          <p:nvPr/>
        </p:nvSpPr>
        <p:spPr bwMode="auto">
          <a:xfrm>
            <a:off x="1979613" y="6092825"/>
            <a:ext cx="4895850" cy="519113"/>
          </a:xfrm>
          <a:prstGeom prst="rect">
            <a:avLst/>
          </a:prstGeom>
          <a:noFill/>
          <a:ln w="9525">
            <a:noFill/>
            <a:miter lim="800000"/>
            <a:headEnd/>
            <a:tailEnd/>
          </a:ln>
        </p:spPr>
        <p:txBody>
          <a:bodyPr>
            <a:spAutoFit/>
          </a:bodyPr>
          <a:lstStyle/>
          <a:p>
            <a:pPr algn="ctr"/>
            <a:r>
              <a:rPr lang="it-IT" sz="2800" b="1" dirty="0">
                <a:latin typeface="Garamond" pitchFamily="18" charset="0"/>
              </a:rPr>
              <a:t>www.avvocatobruccoleri.it</a:t>
            </a:r>
          </a:p>
        </p:txBody>
      </p:sp>
      <p:sp>
        <p:nvSpPr>
          <p:cNvPr id="9" name="CasellaDiTesto 8"/>
          <p:cNvSpPr txBox="1">
            <a:spLocks noChangeArrowheads="1"/>
          </p:cNvSpPr>
          <p:nvPr/>
        </p:nvSpPr>
        <p:spPr bwMode="auto">
          <a:xfrm>
            <a:off x="28600" y="3804"/>
            <a:ext cx="2843213" cy="677108"/>
          </a:xfrm>
          <a:prstGeom prst="rect">
            <a:avLst/>
          </a:prstGeom>
          <a:noFill/>
          <a:ln w="9525">
            <a:noFill/>
            <a:miter lim="800000"/>
            <a:headEnd/>
            <a:tailEnd/>
          </a:ln>
        </p:spPr>
        <p:txBody>
          <a:bodyPr wrap="square">
            <a:spAutoFit/>
          </a:bodyPr>
          <a:lstStyle/>
          <a:p>
            <a:pPr eaLnBrk="1" hangingPunct="1"/>
            <a:endParaRPr lang="it-IT" altLang="it-IT" sz="2000" dirty="0">
              <a:latin typeface="Garamond" pitchFamily="18" charset="0"/>
            </a:endParaRPr>
          </a:p>
          <a:p>
            <a:pPr eaLnBrk="1" hangingPunct="1"/>
            <a:endParaRPr lang="it-IT" altLang="it-IT" dirty="0"/>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extLst>
      <p:ext uri="{BB962C8B-B14F-4D97-AF65-F5344CB8AC3E}">
        <p14:creationId xmlns="" xmlns:p14="http://schemas.microsoft.com/office/powerpoint/2010/main" val="284894450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3728</Words>
  <Application>Microsoft Office PowerPoint</Application>
  <PresentationFormat>Presentazione su schermo (4:3)</PresentationFormat>
  <Paragraphs>337</Paragraphs>
  <Slides>40</Slides>
  <Notes>40</Notes>
  <HiddenSlides>0</HiddenSlides>
  <MMClips>0</MMClips>
  <ScaleCrop>false</ScaleCrop>
  <HeadingPairs>
    <vt:vector size="4" baseType="variant">
      <vt:variant>
        <vt:lpstr>Tema</vt:lpstr>
      </vt:variant>
      <vt:variant>
        <vt:i4>1</vt:i4>
      </vt:variant>
      <vt:variant>
        <vt:lpstr>Titoli diapositive</vt:lpstr>
      </vt:variant>
      <vt:variant>
        <vt:i4>40</vt:i4>
      </vt:variant>
    </vt:vector>
  </HeadingPairs>
  <TitlesOfParts>
    <vt:vector size="41" baseType="lpstr">
      <vt:lpstr>Tema di Office</vt:lpstr>
      <vt:lpstr> CORSO DI CYBERSECURITY AWARENESS   SECURITY AWARNESS AND SECURITY GOVERNANCE N. 7</vt:lpstr>
      <vt:lpstr>INDEX </vt:lpstr>
      <vt:lpstr>CLOUD – SUSPICIOUS LINKS – EMAILS - PASSWORDS</vt:lpstr>
      <vt:lpstr>Diapositiva 4</vt:lpstr>
      <vt:lpstr>Diapositiva 5</vt:lpstr>
      <vt:lpstr>Diapositiva 6</vt:lpstr>
      <vt:lpstr>Diapositiva 7</vt:lpstr>
      <vt:lpstr>Diapositiva 8</vt:lpstr>
      <vt:lpstr>CYBERSECURITY AND TRAINING</vt:lpstr>
      <vt:lpstr>Diapositiva 10</vt:lpstr>
      <vt:lpstr>THE ITALIAN SITUATION</vt:lpstr>
      <vt:lpstr>Diapositiva 12</vt:lpstr>
      <vt:lpstr>Diapositiva 13</vt:lpstr>
      <vt:lpstr>Diapositiva 14</vt:lpstr>
      <vt:lpstr>Diapositiva 15</vt:lpstr>
      <vt:lpstr>Diapositiva 16</vt:lpstr>
      <vt:lpstr>Diapositiva 17</vt:lpstr>
      <vt:lpstr>Diapositiva 18</vt:lpstr>
      <vt:lpstr>GOVERNANCE</vt:lpstr>
      <vt:lpstr>Diapositiva 20</vt:lpstr>
      <vt:lpstr>Diapositiva 21</vt:lpstr>
      <vt:lpstr>Diapositiva 22</vt:lpstr>
      <vt:lpstr>Diapositiva 23</vt:lpstr>
      <vt:lpstr>Diapositiva 24</vt:lpstr>
      <vt:lpstr>AREAS OF SECURITY GOVERNANCE </vt:lpstr>
      <vt:lpstr>Diapositiva 26</vt:lpstr>
      <vt:lpstr>Diapositiva 27</vt:lpstr>
      <vt:lpstr>Diapositiva 28</vt:lpstr>
      <vt:lpstr>Diapositiva 29</vt:lpstr>
      <vt:lpstr>Diapositiva 30</vt:lpstr>
      <vt:lpstr>Diapositiva 31</vt:lpstr>
      <vt:lpstr>Diapositiva 32</vt:lpstr>
      <vt:lpstr>SECURITY MODELS</vt:lpstr>
      <vt:lpstr>Diapositiva 34</vt:lpstr>
      <vt:lpstr>Diapositiva 35</vt:lpstr>
      <vt:lpstr>Diapositiva 36</vt:lpstr>
      <vt:lpstr>Diapositiva 37</vt:lpstr>
      <vt:lpstr>Diapositiva 38</vt:lpstr>
      <vt:lpstr>Diapositiva 39</vt:lpstr>
      <vt:lpstr>      THANKS FOR YOUR ATTENTION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14</cp:revision>
  <dcterms:created xsi:type="dcterms:W3CDTF">2023-05-29T15:21:28Z</dcterms:created>
  <dcterms:modified xsi:type="dcterms:W3CDTF">2023-07-20T16:12:09Z</dcterms:modified>
</cp:coreProperties>
</file>