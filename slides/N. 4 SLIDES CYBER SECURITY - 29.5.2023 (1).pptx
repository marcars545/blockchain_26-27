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97" r:id="rId2"/>
    <p:sldId id="29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8" r:id="rId42"/>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1" autoAdjust="0"/>
    <p:restoredTop sz="94638" autoAdjust="0"/>
  </p:normalViewPr>
  <p:slideViewPr>
    <p:cSldViewPr>
      <p:cViewPr varScale="1">
        <p:scale>
          <a:sx n="82" d="100"/>
          <a:sy n="82" d="100"/>
        </p:scale>
        <p:origin x="-1530" y="-96"/>
      </p:cViewPr>
      <p:guideLst>
        <p:guide orient="horz" pos="2160"/>
        <p:guide pos="2880"/>
      </p:guideLst>
    </p:cSldViewPr>
  </p:slideViewPr>
  <p:outlineViewPr>
    <p:cViewPr>
      <p:scale>
        <a:sx n="33" d="100"/>
        <a:sy n="33" d="100"/>
      </p:scale>
      <p:origin x="0" y="10188"/>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9272A0-1304-4AEF-8503-80D9948CF532}" type="datetimeFigureOut">
              <a:rPr lang="it-IT" smtClean="0"/>
              <a:pPr/>
              <a:t>20/07/2023</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5FDCE6-A16E-4A3F-AD57-E86BDC950CA6}"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a:t>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a:t>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a:t>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a:t>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6</a:t>
            </a:fld>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7</a:t>
            </a:fld>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8</a:t>
            </a:fld>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9</a:t>
            </a:fld>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10</a:t>
            </a:fld>
            <a:endParaRPr 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11</a:t>
            </a:fld>
            <a:endParaRPr 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12</a:t>
            </a:fld>
            <a:endParaRPr 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13</a:t>
            </a:fld>
            <a:endParaRPr 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14</a:t>
            </a:fld>
            <a:endParaRPr 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15</a:t>
            </a:fld>
            <a:endParaRPr 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16</a:t>
            </a:fld>
            <a:endParaRPr 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17</a:t>
            </a:fld>
            <a:endParaRPr lang="it-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18</a:t>
            </a:fld>
            <a:endParaRPr lang="it-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19</a:t>
            </a:fld>
            <a:endParaRPr lang="it-I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20</a:t>
            </a:fld>
            <a:endParaRPr lang="it-I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21</a:t>
            </a:fld>
            <a:endParaRPr lang="it-I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22</a:t>
            </a:fld>
            <a:endParaRPr lang="it-IT"/>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23</a:t>
            </a:fld>
            <a:endParaRPr lang="it-IT"/>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24</a:t>
            </a:fld>
            <a:endParaRPr lang="it-I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25</a:t>
            </a:fld>
            <a:endParaRPr lang="it-I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26</a:t>
            </a:fld>
            <a:endParaRPr lang="it-IT"/>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27</a:t>
            </a:fld>
            <a:endParaRPr lang="it-IT"/>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28</a:t>
            </a:fld>
            <a:endParaRPr lang="it-IT"/>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29</a:t>
            </a:fld>
            <a:endParaRPr lang="it-IT"/>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30</a:t>
            </a:fld>
            <a:endParaRPr lang="it-IT"/>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31</a:t>
            </a:fld>
            <a:endParaRPr lang="it-IT"/>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32</a:t>
            </a:fld>
            <a:endParaRPr lang="it-IT"/>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33</a:t>
            </a:fld>
            <a:endParaRPr lang="it-IT"/>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34</a:t>
            </a:fld>
            <a:endParaRPr lang="it-IT"/>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35</a:t>
            </a:fld>
            <a:endParaRPr lang="it-IT"/>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36</a:t>
            </a:fld>
            <a:endParaRPr lang="it-IT"/>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37</a:t>
            </a:fld>
            <a:endParaRPr lang="it-IT"/>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38</a:t>
            </a:fld>
            <a:endParaRPr lang="it-IT"/>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39</a:t>
            </a:fld>
            <a:endParaRPr lang="it-IT"/>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40</a:t>
            </a:fld>
            <a:endParaRPr lang="it-IT"/>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41</a:t>
            </a:fld>
            <a:endParaRPr lang="it-IT"/>
          </a:p>
        </p:txBody>
      </p:sp>
    </p:spTree>
    <p:extLst>
      <p:ext uri="{BB962C8B-B14F-4D97-AF65-F5344CB8AC3E}">
        <p14:creationId xmlns="" xmlns:p14="http://schemas.microsoft.com/office/powerpoint/2010/main" val="417173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38BAD2FD-0DF9-49D1-A7C7-DCFBA4F6B69D}" type="datetimeFigureOut">
              <a:rPr lang="it-IT" smtClean="0"/>
              <a:pPr/>
              <a:t>20/07/2023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1663396-E0D4-4CEA-894B-9E63FB3154B1}"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38BAD2FD-0DF9-49D1-A7C7-DCFBA4F6B69D}" type="datetimeFigureOut">
              <a:rPr lang="it-IT" smtClean="0"/>
              <a:pPr/>
              <a:t>20/07/2023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1663396-E0D4-4CEA-894B-9E63FB3154B1}"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38BAD2FD-0DF9-49D1-A7C7-DCFBA4F6B69D}" type="datetimeFigureOut">
              <a:rPr lang="it-IT" smtClean="0"/>
              <a:pPr/>
              <a:t>20/07/2023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1663396-E0D4-4CEA-894B-9E63FB3154B1}"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38BAD2FD-0DF9-49D1-A7C7-DCFBA4F6B69D}" type="datetimeFigureOut">
              <a:rPr lang="it-IT" smtClean="0"/>
              <a:pPr/>
              <a:t>20/07/2023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71663396-E0D4-4CEA-894B-9E63FB3154B1}"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38BAD2FD-0DF9-49D1-A7C7-DCFBA4F6B69D}" type="datetimeFigureOut">
              <a:rPr lang="it-IT" smtClean="0"/>
              <a:pPr/>
              <a:t>20/07/2023</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71663396-E0D4-4CEA-894B-9E63FB3154B1}"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38BAD2FD-0DF9-49D1-A7C7-DCFBA4F6B69D}" type="datetimeFigureOut">
              <a:rPr lang="it-IT" smtClean="0"/>
              <a:pPr/>
              <a:t>20/07/2023</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71663396-E0D4-4CEA-894B-9E63FB3154B1}"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38BAD2FD-0DF9-49D1-A7C7-DCFBA4F6B69D}" type="datetimeFigureOut">
              <a:rPr lang="it-IT" smtClean="0"/>
              <a:pPr/>
              <a:t>20/07/2023</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71663396-E0D4-4CEA-894B-9E63FB3154B1}"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38BAD2FD-0DF9-49D1-A7C7-DCFBA4F6B69D}" type="datetimeFigureOut">
              <a:rPr lang="it-IT" smtClean="0"/>
              <a:pPr/>
              <a:t>20/07/2023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71663396-E0D4-4CEA-894B-9E63FB3154B1}"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38BAD2FD-0DF9-49D1-A7C7-DCFBA4F6B69D}" type="datetimeFigureOut">
              <a:rPr lang="it-IT" smtClean="0"/>
              <a:pPr/>
              <a:t>20/07/2023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71663396-E0D4-4CEA-894B-9E63FB3154B1}"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38BAD2FD-0DF9-49D1-A7C7-DCFBA4F6B69D}" type="datetimeFigureOut">
              <a:rPr lang="it-IT" smtClean="0"/>
              <a:pPr/>
              <a:t>20/07/2023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1663396-E0D4-4CEA-894B-9E63FB3154B1}"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38BAD2FD-0DF9-49D1-A7C7-DCFBA4F6B69D}" type="datetimeFigureOut">
              <a:rPr lang="it-IT" smtClean="0"/>
              <a:pPr/>
              <a:t>20/07/2023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1663396-E0D4-4CEA-894B-9E63FB3154B1}"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BAD2FD-0DF9-49D1-A7C7-DCFBA4F6B69D}" type="datetimeFigureOut">
              <a:rPr lang="it-IT" smtClean="0"/>
              <a:pPr/>
              <a:t>20/07/2023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663396-E0D4-4CEA-894B-9E63FB3154B1}"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Titolo 8"/>
          <p:cNvSpPr>
            <a:spLocks noGrp="1"/>
          </p:cNvSpPr>
          <p:nvPr>
            <p:ph type="ctrTitle"/>
          </p:nvPr>
        </p:nvSpPr>
        <p:spPr/>
        <p:txBody>
          <a:bodyPr>
            <a:normAutofit fontScale="90000"/>
          </a:bodyPr>
          <a:lstStyle/>
          <a:p>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CYBERSECURITY</a:t>
            </a:r>
            <a:r>
              <a:rPr lang="en-US" sz="2800" b="1" dirty="0" smtClean="0">
                <a:solidFill>
                  <a:srgbClr val="FF0000"/>
                </a:solidFill>
                <a:latin typeface="Garamond" pitchFamily="18" charset="0"/>
              </a:rPr>
              <a:t>, TYPES OF SECURITY, AND PRIVACY</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N. 4</a:t>
            </a:r>
            <a:endParaRPr lang="it-IT" sz="2800" b="1" dirty="0">
              <a:solidFill>
                <a:srgbClr val="FF0000"/>
              </a:solidFill>
              <a:latin typeface="Garamond" pitchFamily="18" charset="0"/>
            </a:endParaRP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
        <p:nvSpPr>
          <p:cNvPr id="12" name="Rettangolo 11"/>
          <p:cNvSpPr/>
          <p:nvPr/>
        </p:nvSpPr>
        <p:spPr>
          <a:xfrm>
            <a:off x="1285852" y="1357298"/>
            <a:ext cx="6786610" cy="477054"/>
          </a:xfrm>
          <a:prstGeom prst="rect">
            <a:avLst/>
          </a:prstGeom>
        </p:spPr>
        <p:txBody>
          <a:bodyPr wrap="square">
            <a:spAutoFit/>
          </a:bodyPr>
          <a:lstStyle/>
          <a:p>
            <a:pPr algn="ctr"/>
            <a:r>
              <a:rPr lang="it-IT" sz="2500" b="1" dirty="0" smtClean="0">
                <a:solidFill>
                  <a:srgbClr val="FF0000"/>
                </a:solidFill>
                <a:latin typeface="Garamond" pitchFamily="18" charset="0"/>
              </a:rPr>
              <a:t>CORSO </a:t>
            </a:r>
            <a:r>
              <a:rPr lang="it-IT" sz="2500" b="1" dirty="0" err="1" smtClean="0">
                <a:solidFill>
                  <a:srgbClr val="FF0000"/>
                </a:solidFill>
                <a:latin typeface="Garamond" pitchFamily="18" charset="0"/>
              </a:rPr>
              <a:t>DI</a:t>
            </a:r>
            <a:r>
              <a:rPr lang="it-IT" sz="2500" b="1" dirty="0" smtClean="0">
                <a:solidFill>
                  <a:srgbClr val="FF0000"/>
                </a:solidFill>
                <a:latin typeface="Garamond" pitchFamily="18" charset="0"/>
              </a:rPr>
              <a:t> CYBERSECURITY AWARENESS </a:t>
            </a:r>
            <a:endParaRPr lang="it-IT" sz="25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457200" y="1071554"/>
            <a:ext cx="8229600" cy="1143000"/>
          </a:xfrm>
        </p:spPr>
        <p:txBody>
          <a:bodyPr>
            <a:normAutofit/>
          </a:bodyPr>
          <a:lstStyle/>
          <a:p>
            <a:r>
              <a:rPr lang="it-IT" sz="2400" b="1" dirty="0" smtClean="0">
                <a:solidFill>
                  <a:srgbClr val="FF0000"/>
                </a:solidFill>
                <a:latin typeface="Garamond" pitchFamily="18" charset="0"/>
              </a:rPr>
              <a:t>INDEX</a:t>
            </a:r>
            <a:endParaRPr lang="it-IT" sz="2400" b="1" dirty="0">
              <a:solidFill>
                <a:srgbClr val="FF0000"/>
              </a:solidFill>
              <a:latin typeface="Garamond" pitchFamily="18" charset="0"/>
            </a:endParaRPr>
          </a:p>
        </p:txBody>
      </p:sp>
      <p:sp>
        <p:nvSpPr>
          <p:cNvPr id="14" name="Segnaposto contenuto 13"/>
          <p:cNvSpPr>
            <a:spLocks noGrp="1"/>
          </p:cNvSpPr>
          <p:nvPr>
            <p:ph idx="1"/>
          </p:nvPr>
        </p:nvSpPr>
        <p:spPr>
          <a:xfrm>
            <a:off x="457200" y="2117747"/>
            <a:ext cx="8229600" cy="4525963"/>
          </a:xfrm>
        </p:spPr>
        <p:txBody>
          <a:bodyPr>
            <a:normAutofit/>
          </a:bodyPr>
          <a:lstStyle/>
          <a:p>
            <a:pPr marL="514350" indent="-514350" algn="just">
              <a:buFont typeface="+mj-lt"/>
              <a:buAutoNum type="arabicPeriod"/>
            </a:pPr>
            <a:r>
              <a:rPr lang="en-US" sz="1800" b="1" dirty="0" smtClean="0">
                <a:latin typeface="Garamond" pitchFamily="18" charset="0"/>
              </a:rPr>
              <a:t>Denial of Service Attacks</a:t>
            </a:r>
          </a:p>
          <a:p>
            <a:pPr marL="514350" indent="-514350" algn="just">
              <a:buFont typeface="+mj-lt"/>
              <a:buAutoNum type="arabicPeriod"/>
            </a:pPr>
            <a:r>
              <a:rPr lang="en-US" sz="1800" b="1" dirty="0" smtClean="0">
                <a:latin typeface="Garamond" pitchFamily="18" charset="0"/>
              </a:rPr>
              <a:t>Malware</a:t>
            </a:r>
          </a:p>
          <a:p>
            <a:pPr marL="514350" indent="-514350" algn="just">
              <a:buFont typeface="+mj-lt"/>
              <a:buAutoNum type="arabicPeriod"/>
            </a:pPr>
            <a:r>
              <a:rPr lang="en-US" sz="1800" b="1" dirty="0" smtClean="0">
                <a:latin typeface="Garamond" pitchFamily="18" charset="0"/>
              </a:rPr>
              <a:t>Scraping</a:t>
            </a:r>
          </a:p>
          <a:p>
            <a:pPr marL="514350" indent="-514350" algn="just">
              <a:buFont typeface="+mj-lt"/>
              <a:buAutoNum type="arabicPeriod"/>
            </a:pPr>
            <a:r>
              <a:rPr lang="en-US" sz="1800" b="1" dirty="0" smtClean="0">
                <a:latin typeface="Garamond" pitchFamily="18" charset="0"/>
              </a:rPr>
              <a:t>Types of Cyber Attacks and Vulnerabilities.</a:t>
            </a:r>
          </a:p>
          <a:p>
            <a:pPr marL="514350" indent="-514350" algn="just">
              <a:buFont typeface="+mj-lt"/>
              <a:buAutoNum type="arabicPeriod"/>
            </a:pPr>
            <a:r>
              <a:rPr lang="en-US" sz="1800" b="1" dirty="0" smtClean="0">
                <a:latin typeface="Garamond" pitchFamily="18" charset="0"/>
              </a:rPr>
              <a:t>Information Security Culture</a:t>
            </a:r>
          </a:p>
          <a:p>
            <a:pPr marL="514350" indent="-514350" algn="just">
              <a:buFont typeface="+mj-lt"/>
              <a:buAutoNum type="arabicPeriod"/>
            </a:pPr>
            <a:r>
              <a:rPr lang="en-US" sz="1800" b="1" dirty="0" smtClean="0">
                <a:latin typeface="Garamond" pitchFamily="18" charset="0"/>
              </a:rPr>
              <a:t>Systems at Risk</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928670"/>
            <a:ext cx="8229600" cy="1143000"/>
          </a:xfrm>
        </p:spPr>
        <p:txBody>
          <a:bodyPr>
            <a:normAutofit/>
          </a:bodyPr>
          <a:lstStyle/>
          <a:p>
            <a:r>
              <a:rPr lang="it-IT" sz="2300" b="1" dirty="0" smtClean="0">
                <a:solidFill>
                  <a:srgbClr val="FF0000"/>
                </a:solidFill>
                <a:latin typeface="Garamond" pitchFamily="18" charset="0"/>
              </a:rPr>
              <a:t>DENIAL OF SERVICE ATTACKS</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a:xfrm>
            <a:off x="457200" y="2071678"/>
            <a:ext cx="8229600" cy="4054485"/>
          </a:xfrm>
        </p:spPr>
        <p:txBody>
          <a:bodyPr>
            <a:normAutofit/>
          </a:bodyPr>
          <a:lstStyle/>
          <a:p>
            <a:pPr marL="0" indent="0" algn="just">
              <a:buNone/>
            </a:pPr>
            <a:r>
              <a:rPr lang="en-US" sz="2000" dirty="0" smtClean="0">
                <a:latin typeface="Garamond" pitchFamily="18" charset="0"/>
              </a:rPr>
              <a:t>A denial-of-service (</a:t>
            </a:r>
            <a:r>
              <a:rPr lang="en-US" sz="2000" dirty="0" err="1" smtClean="0">
                <a:latin typeface="Garamond" pitchFamily="18" charset="0"/>
              </a:rPr>
              <a:t>DoS</a:t>
            </a:r>
            <a:r>
              <a:rPr lang="en-US" sz="2000" dirty="0" smtClean="0">
                <a:latin typeface="Garamond" pitchFamily="18" charset="0"/>
              </a:rPr>
              <a:t>) attack is a type of cyber </a:t>
            </a:r>
            <a:r>
              <a:rPr lang="en-US" sz="2000" dirty="0" smtClean="0">
                <a:latin typeface="Garamond" pitchFamily="18" charset="0"/>
              </a:rPr>
              <a:t>attack. These </a:t>
            </a:r>
            <a:r>
              <a:rPr lang="en-US" sz="2000" dirty="0" smtClean="0">
                <a:latin typeface="Garamond" pitchFamily="18" charset="0"/>
              </a:rPr>
              <a:t>cyber attacks are carried out by flooding a network or data center with large amounts of traffic to slow down their systems, preventing normal services from being performed for legitimate </a:t>
            </a:r>
            <a:r>
              <a:rPr lang="en-US" sz="2000" dirty="0" err="1" smtClean="0">
                <a:latin typeface="Garamond" pitchFamily="18" charset="0"/>
              </a:rPr>
              <a:t>users.Once</a:t>
            </a:r>
            <a:r>
              <a:rPr lang="en-US" sz="2000" dirty="0" smtClean="0">
                <a:latin typeface="Garamond" pitchFamily="18" charset="0"/>
              </a:rPr>
              <a:t> the system becomes unusable, an attacker can use other methods to gain access to sensitive information, which then becomes </a:t>
            </a:r>
            <a:r>
              <a:rPr lang="en-US" sz="2000" dirty="0" err="1" smtClean="0">
                <a:latin typeface="Garamond" pitchFamily="18" charset="0"/>
              </a:rPr>
              <a:t>available.The</a:t>
            </a:r>
            <a:r>
              <a:rPr lang="en-US" sz="2000" dirty="0" smtClean="0">
                <a:latin typeface="Garamond" pitchFamily="18" charset="0"/>
              </a:rPr>
              <a:t> best way to prevent these attacks is to implement different types of network security </a:t>
            </a:r>
            <a:r>
              <a:rPr lang="en-US" sz="2000" dirty="0" err="1" smtClean="0">
                <a:latin typeface="Garamond" pitchFamily="18" charset="0"/>
              </a:rPr>
              <a:t>protocols.This</a:t>
            </a:r>
            <a:r>
              <a:rPr lang="en-US" sz="2000" dirty="0" smtClean="0">
                <a:latin typeface="Garamond" pitchFamily="18" charset="0"/>
              </a:rPr>
              <a:t> can include firewalls, VPNs, content filters, email scanners, and other load balancing </a:t>
            </a:r>
            <a:r>
              <a:rPr lang="en-US" sz="2000" dirty="0" err="1" smtClean="0">
                <a:latin typeface="Garamond" pitchFamily="18" charset="0"/>
              </a:rPr>
              <a:t>techniques.The</a:t>
            </a:r>
            <a:r>
              <a:rPr lang="en-US" sz="2000" dirty="0" smtClean="0">
                <a:latin typeface="Garamond" pitchFamily="18" charset="0"/>
              </a:rPr>
              <a:t> best way to prevent or block unauthorized access to servers is to eliminate as much human error as </a:t>
            </a:r>
            <a:r>
              <a:rPr lang="en-US" sz="2000" dirty="0" smtClean="0">
                <a:latin typeface="Garamond" pitchFamily="18" charset="0"/>
              </a:rPr>
              <a:t>possible.</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928670"/>
            <a:ext cx="8229600" cy="1143000"/>
          </a:xfrm>
        </p:spPr>
        <p:txBody>
          <a:bodyPr>
            <a:normAutofit/>
          </a:bodyPr>
          <a:lstStyle/>
          <a:p>
            <a:r>
              <a:rPr lang="it-IT" sz="2300" b="1" dirty="0" smtClean="0">
                <a:solidFill>
                  <a:srgbClr val="FF0000"/>
                </a:solidFill>
                <a:latin typeface="Garamond" pitchFamily="18" charset="0"/>
              </a:rPr>
              <a:t>MALWARE</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a:xfrm>
            <a:off x="457200" y="2071678"/>
            <a:ext cx="8229600" cy="4054485"/>
          </a:xfrm>
        </p:spPr>
        <p:txBody>
          <a:bodyPr>
            <a:normAutofit/>
          </a:bodyPr>
          <a:lstStyle/>
          <a:p>
            <a:pPr marL="0" indent="0" algn="just">
              <a:buNone/>
            </a:pPr>
            <a:r>
              <a:rPr lang="en-US" sz="2000" b="1" dirty="0" smtClean="0">
                <a:latin typeface="Garamond" pitchFamily="18" charset="0"/>
              </a:rPr>
              <a:t>Malware</a:t>
            </a:r>
            <a:r>
              <a:rPr lang="en-US" sz="2000" dirty="0" smtClean="0">
                <a:latin typeface="Garamond" pitchFamily="18" charset="0"/>
              </a:rPr>
              <a:t> </a:t>
            </a:r>
            <a:r>
              <a:rPr lang="en-US" sz="2000" dirty="0" smtClean="0">
                <a:latin typeface="Garamond" pitchFamily="18" charset="0"/>
              </a:rPr>
              <a:t>used </a:t>
            </a:r>
            <a:r>
              <a:rPr lang="en-US" sz="2000" dirty="0" smtClean="0">
                <a:latin typeface="Garamond" pitchFamily="18" charset="0"/>
              </a:rPr>
              <a:t>to identify malicious software (and there are many different types) that can affect a computer system</a:t>
            </a:r>
            <a:r>
              <a:rPr lang="en-US" sz="2000" dirty="0" smtClean="0">
                <a:latin typeface="Garamond" pitchFamily="18" charset="0"/>
              </a:rPr>
              <a:t>. Terms </a:t>
            </a:r>
            <a:r>
              <a:rPr lang="en-US" sz="2000" dirty="0" smtClean="0">
                <a:latin typeface="Garamond" pitchFamily="18" charset="0"/>
              </a:rPr>
              <a:t>such as </a:t>
            </a:r>
            <a:r>
              <a:rPr lang="en-US" sz="2000" dirty="0" err="1" smtClean="0">
                <a:latin typeface="Garamond" pitchFamily="18" charset="0"/>
              </a:rPr>
              <a:t>trojans</a:t>
            </a:r>
            <a:r>
              <a:rPr lang="en-US" sz="2000" dirty="0" smtClean="0">
                <a:latin typeface="Garamond" pitchFamily="18" charset="0"/>
              </a:rPr>
              <a:t>, worms, and viruses explain how malware infects a </a:t>
            </a:r>
            <a:r>
              <a:rPr lang="en-US" sz="2000" dirty="0" smtClean="0">
                <a:latin typeface="Garamond" pitchFamily="18" charset="0"/>
              </a:rPr>
              <a:t>computer</a:t>
            </a:r>
            <a:r>
              <a:rPr lang="en-US" sz="2000" dirty="0" smtClean="0">
                <a:latin typeface="Garamond" pitchFamily="18" charset="0"/>
              </a:rPr>
              <a:t>. </a:t>
            </a:r>
            <a:endParaRPr lang="en-US" sz="2000" dirty="0" smtClean="0">
              <a:latin typeface="Garamond" pitchFamily="18" charset="0"/>
            </a:endParaRPr>
          </a:p>
          <a:p>
            <a:pPr marL="0" indent="0" algn="just">
              <a:buNone/>
            </a:pPr>
            <a:r>
              <a:rPr lang="en-US" sz="2000" b="1" dirty="0" smtClean="0">
                <a:latin typeface="Garamond" pitchFamily="18" charset="0"/>
              </a:rPr>
              <a:t>Worm</a:t>
            </a:r>
            <a:r>
              <a:rPr lang="en-US" sz="2000" dirty="0" smtClean="0">
                <a:latin typeface="Garamond" pitchFamily="18" charset="0"/>
              </a:rPr>
              <a:t>: This type of malware is a single piece of software, which reproduces itself and spreads from one computer to another.</a:t>
            </a:r>
          </a:p>
          <a:p>
            <a:pPr marL="0" indent="0" algn="just">
              <a:buNone/>
            </a:pPr>
            <a:r>
              <a:rPr lang="en-US" sz="2000" b="1" dirty="0" smtClean="0">
                <a:latin typeface="Garamond" pitchFamily="18" charset="0"/>
              </a:rPr>
              <a:t>Trojan</a:t>
            </a:r>
            <a:r>
              <a:rPr lang="en-US" sz="2000" dirty="0" smtClean="0">
                <a:latin typeface="Garamond" pitchFamily="18" charset="0"/>
              </a:rPr>
              <a:t>: This type </a:t>
            </a:r>
            <a:r>
              <a:rPr lang="en-US" sz="2000" dirty="0" smtClean="0">
                <a:latin typeface="Garamond" pitchFamily="18" charset="0"/>
              </a:rPr>
              <a:t>disguised </a:t>
            </a:r>
            <a:r>
              <a:rPr lang="en-US" sz="2000" dirty="0" smtClean="0">
                <a:latin typeface="Garamond" pitchFamily="18" charset="0"/>
              </a:rPr>
              <a:t>as a program, which the user would normally install. Once the user clicks on the executable but fake file, the program gets implanted in the hard drive and causes damage from </a:t>
            </a:r>
            <a:r>
              <a:rPr lang="en-US" sz="2000" dirty="0" err="1" smtClean="0">
                <a:latin typeface="Garamond" pitchFamily="18" charset="0"/>
              </a:rPr>
              <a:t>there.Virus</a:t>
            </a:r>
            <a:r>
              <a:rPr lang="en-US" sz="2000" dirty="0" smtClean="0">
                <a:latin typeface="Garamond" pitchFamily="18" charset="0"/>
              </a:rPr>
              <a:t>: This type of malware attack uses a standalone software program as a vehicle. The virus implants a piece of malicious code into the program and forces it to take harmful actions against the user's computer system.</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928670"/>
            <a:ext cx="8229600" cy="1143000"/>
          </a:xfrm>
        </p:spPr>
        <p:txBody>
          <a:bodyPr>
            <a:normAutofit/>
          </a:bodyPr>
          <a:lstStyle/>
          <a:p>
            <a:r>
              <a:rPr lang="it-IT" sz="2200" b="1" dirty="0" smtClean="0">
                <a:solidFill>
                  <a:srgbClr val="FF0000"/>
                </a:solidFill>
                <a:latin typeface="Garamond" pitchFamily="18" charset="0"/>
              </a:rPr>
              <a:t>MALWARE</a:t>
            </a:r>
            <a:endParaRPr lang="it-IT" sz="2200" b="1" dirty="0">
              <a:solidFill>
                <a:srgbClr val="FF0000"/>
              </a:solidFill>
              <a:latin typeface="Garamond" pitchFamily="18" charset="0"/>
            </a:endParaRPr>
          </a:p>
        </p:txBody>
      </p:sp>
      <p:sp>
        <p:nvSpPr>
          <p:cNvPr id="11" name="Segnaposto contenuto 10"/>
          <p:cNvSpPr>
            <a:spLocks noGrp="1"/>
          </p:cNvSpPr>
          <p:nvPr>
            <p:ph idx="1"/>
          </p:nvPr>
        </p:nvSpPr>
        <p:spPr>
          <a:xfrm>
            <a:off x="457200" y="2071678"/>
            <a:ext cx="8229600" cy="4054485"/>
          </a:xfrm>
        </p:spPr>
        <p:txBody>
          <a:bodyPr>
            <a:normAutofit/>
          </a:bodyPr>
          <a:lstStyle/>
          <a:p>
            <a:pPr marL="0" indent="0" algn="just">
              <a:buNone/>
            </a:pPr>
            <a:r>
              <a:rPr lang="en-US" sz="2000" b="1" dirty="0" smtClean="0">
                <a:latin typeface="Garamond" pitchFamily="18" charset="0"/>
              </a:rPr>
              <a:t>Spyware</a:t>
            </a:r>
            <a:r>
              <a:rPr lang="en-US" sz="2000" dirty="0" smtClean="0">
                <a:latin typeface="Garamond" pitchFamily="18" charset="0"/>
              </a:rPr>
              <a:t>: This type of computer threat spies on unsuspecting users and harvests information from their computer systems without their knowledge. Sometimes spyware will log keystrokes or monitor information sent and received online</a:t>
            </a:r>
            <a:r>
              <a:rPr lang="en-US" sz="2000" dirty="0" smtClean="0">
                <a:latin typeface="Garamond" pitchFamily="18" charset="0"/>
              </a:rPr>
              <a:t>. The </a:t>
            </a:r>
            <a:r>
              <a:rPr lang="en-US" sz="2000" dirty="0" smtClean="0">
                <a:latin typeface="Garamond" pitchFamily="18" charset="0"/>
              </a:rPr>
              <a:t>best way to prevent malware attacks on a computer is to be diligent when browsing the Internet</a:t>
            </a:r>
            <a:r>
              <a:rPr lang="en-US" sz="2000" dirty="0"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928670"/>
            <a:ext cx="8229600" cy="1143000"/>
          </a:xfrm>
        </p:spPr>
        <p:txBody>
          <a:bodyPr>
            <a:normAutofit/>
          </a:bodyPr>
          <a:lstStyle/>
          <a:p>
            <a:endParaRPr lang="it-IT" sz="2200" b="1" dirty="0">
              <a:solidFill>
                <a:srgbClr val="FF0000"/>
              </a:solidFill>
              <a:latin typeface="Garamond" pitchFamily="18" charset="0"/>
            </a:endParaRPr>
          </a:p>
        </p:txBody>
      </p:sp>
      <p:sp>
        <p:nvSpPr>
          <p:cNvPr id="11" name="Segnaposto contenuto 10"/>
          <p:cNvSpPr>
            <a:spLocks noGrp="1"/>
          </p:cNvSpPr>
          <p:nvPr>
            <p:ph idx="1"/>
          </p:nvPr>
        </p:nvSpPr>
        <p:spPr>
          <a:xfrm>
            <a:off x="457200" y="2071678"/>
            <a:ext cx="8229600" cy="4054485"/>
          </a:xfrm>
        </p:spPr>
        <p:txBody>
          <a:bodyPr>
            <a:normAutofit/>
          </a:bodyPr>
          <a:lstStyle/>
          <a:p>
            <a:pPr marL="0" indent="0" algn="ctr">
              <a:buNone/>
            </a:pPr>
            <a:r>
              <a:rPr lang="en-US" sz="2000" b="1" dirty="0" smtClean="0">
                <a:solidFill>
                  <a:srgbClr val="FF0000"/>
                </a:solidFill>
                <a:latin typeface="Garamond" pitchFamily="18" charset="0"/>
              </a:rPr>
              <a:t>SCRAPING </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"Scraping" is generically understood as data collection that is carried out automatically for the purpose of extracting data from a website or from an application.</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Freccia in giù 11"/>
          <p:cNvSpPr/>
          <p:nvPr/>
        </p:nvSpPr>
        <p:spPr>
          <a:xfrm>
            <a:off x="4357686" y="2786058"/>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Rettangolo 13"/>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928670"/>
            <a:ext cx="8229600" cy="1143000"/>
          </a:xfrm>
        </p:spPr>
        <p:txBody>
          <a:bodyPr>
            <a:normAutofit/>
          </a:bodyPr>
          <a:lstStyle/>
          <a:p>
            <a:r>
              <a:rPr lang="en-US" sz="2200" b="1" dirty="0" smtClean="0">
                <a:solidFill>
                  <a:srgbClr val="FF0000"/>
                </a:solidFill>
                <a:latin typeface="Garamond" pitchFamily="18" charset="0"/>
              </a:rPr>
              <a:t>TYPES OF CYBER ATTACKS AND VULNERABILITIES</a:t>
            </a:r>
            <a:endParaRPr lang="it-IT" sz="2200" b="1" dirty="0">
              <a:solidFill>
                <a:srgbClr val="FF0000"/>
              </a:solidFill>
              <a:latin typeface="Garamond" pitchFamily="18" charset="0"/>
            </a:endParaRPr>
          </a:p>
        </p:txBody>
      </p:sp>
      <p:sp>
        <p:nvSpPr>
          <p:cNvPr id="11" name="Segnaposto contenuto 10"/>
          <p:cNvSpPr>
            <a:spLocks noGrp="1"/>
          </p:cNvSpPr>
          <p:nvPr>
            <p:ph idx="1"/>
          </p:nvPr>
        </p:nvSpPr>
        <p:spPr>
          <a:xfrm>
            <a:off x="457200" y="2071678"/>
            <a:ext cx="8229600" cy="4054485"/>
          </a:xfrm>
        </p:spPr>
        <p:txBody>
          <a:bodyPr>
            <a:normAutofit/>
          </a:bodyPr>
          <a:lstStyle/>
          <a:p>
            <a:pPr marL="457200" indent="-457200" algn="ctr">
              <a:buAutoNum type="alphaUcParenR"/>
            </a:pPr>
            <a:r>
              <a:rPr lang="en-US" sz="2000" b="1" dirty="0" smtClean="0">
                <a:latin typeface="Garamond" pitchFamily="18" charset="0"/>
              </a:rPr>
              <a:t>MAN-IN-THE-MIDDLE</a:t>
            </a:r>
          </a:p>
          <a:p>
            <a:pPr marL="457200" indent="-457200" algn="ctr">
              <a:buAutoNum type="alphaUcParenR"/>
            </a:pPr>
            <a:endParaRPr lang="en-US" sz="2000" dirty="0" smtClean="0">
              <a:latin typeface="Garamond" pitchFamily="18" charset="0"/>
            </a:endParaRPr>
          </a:p>
          <a:p>
            <a:pPr marL="457200" indent="-457200" algn="ctr">
              <a:buNone/>
            </a:pPr>
            <a:r>
              <a:rPr lang="en-US" sz="2000" dirty="0" smtClean="0">
                <a:latin typeface="Garamond" pitchFamily="18" charset="0"/>
              </a:rPr>
              <a:t>A man-in-the-middle (MITM) attack is performed by a program placed between the victim and the targeted entity that the victim is trying to </a:t>
            </a:r>
            <a:r>
              <a:rPr lang="en-US" sz="2000" dirty="0" err="1" smtClean="0">
                <a:latin typeface="Garamond" pitchFamily="18" charset="0"/>
              </a:rPr>
              <a:t>access.For</a:t>
            </a:r>
            <a:r>
              <a:rPr lang="en-US" sz="2000" dirty="0" smtClean="0">
                <a:latin typeface="Garamond" pitchFamily="18" charset="0"/>
              </a:rPr>
              <a:t> example, if a user is trying to access their Google Drive for Business account and a MITM attack is under way, the user will accidentally type their Google credentials into the malicious program. The malicious program will then have access to the account</a:t>
            </a:r>
            <a:r>
              <a:rPr lang="en-US" sz="2000" dirty="0" smtClean="0">
                <a:latin typeface="Garamond" pitchFamily="18" charset="0"/>
              </a:rPr>
              <a:t>.</a:t>
            </a:r>
          </a:p>
          <a:p>
            <a:pPr marL="457200" indent="-457200" algn="ctr">
              <a:buNone/>
            </a:pPr>
            <a:r>
              <a:rPr lang="en-US" sz="2000" dirty="0" smtClean="0">
                <a:latin typeface="Garamond" pitchFamily="18" charset="0"/>
              </a:rPr>
              <a:t>An </a:t>
            </a:r>
            <a:r>
              <a:rPr lang="en-US" sz="2000" dirty="0" smtClean="0">
                <a:latin typeface="Garamond" pitchFamily="18" charset="0"/>
              </a:rPr>
              <a:t>easy way to prevent these attacks is to make sure that every website you visit starts with HTTPS. The "S" is the most important character because it indicates that the website is secure. Another preventative technique is to never connect to public </a:t>
            </a:r>
            <a:r>
              <a:rPr lang="en-US" sz="2000" dirty="0" err="1" smtClean="0">
                <a:latin typeface="Garamond" pitchFamily="18" charset="0"/>
              </a:rPr>
              <a:t>WiFi</a:t>
            </a:r>
            <a:r>
              <a:rPr lang="en-US" sz="2000" dirty="0" smtClean="0">
                <a:latin typeface="Garamond" pitchFamily="18" charset="0"/>
              </a:rPr>
              <a:t> routers.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643050"/>
            <a:ext cx="8229600" cy="4054485"/>
          </a:xfrm>
        </p:spPr>
        <p:txBody>
          <a:bodyPr>
            <a:normAutofit/>
          </a:bodyPr>
          <a:lstStyle/>
          <a:p>
            <a:pPr marL="457200" indent="-457200" algn="ctr">
              <a:buNone/>
            </a:pPr>
            <a:r>
              <a:rPr lang="en-US" sz="2000" b="1" u="sng" dirty="0" smtClean="0">
                <a:latin typeface="Garamond" pitchFamily="18" charset="0"/>
              </a:rPr>
              <a:t>B) DRIVE-BY DOWNLOADS</a:t>
            </a:r>
          </a:p>
          <a:p>
            <a:pPr marL="457200" indent="-457200" algn="ctr">
              <a:buNone/>
            </a:pPr>
            <a:endParaRPr lang="en-US" sz="2000" u="sng" dirty="0" smtClean="0">
              <a:latin typeface="Garamond" pitchFamily="18" charset="0"/>
            </a:endParaRPr>
          </a:p>
          <a:p>
            <a:pPr marL="457200" indent="-457200" algn="ctr">
              <a:buNone/>
            </a:pPr>
            <a:r>
              <a:rPr lang="en-US" sz="2000" dirty="0" smtClean="0">
                <a:latin typeface="Garamond" pitchFamily="18" charset="0"/>
              </a:rPr>
              <a:t>This is one of the more dangerous attacks because it is often not due to any user input or error </a:t>
            </a:r>
            <a:r>
              <a:rPr lang="en-US" sz="2000" dirty="0" err="1" smtClean="0">
                <a:latin typeface="Garamond" pitchFamily="18" charset="0"/>
              </a:rPr>
              <a:t>suspicious.A</a:t>
            </a:r>
            <a:r>
              <a:rPr lang="en-US" sz="2000" dirty="0" smtClean="0">
                <a:latin typeface="Garamond" pitchFamily="18" charset="0"/>
              </a:rPr>
              <a:t> </a:t>
            </a:r>
            <a:r>
              <a:rPr lang="en-US" sz="2000" dirty="0" smtClean="0">
                <a:latin typeface="Garamond" pitchFamily="18" charset="0"/>
              </a:rPr>
              <a:t>drive-by download is usually accidentally picked up from a web page. The user visits the web page and a program is implanted in the system without the user’s knowledge</a:t>
            </a:r>
            <a:r>
              <a:rPr lang="en-US" sz="2000" dirty="0" smtClean="0">
                <a:latin typeface="Garamond" pitchFamily="18" charset="0"/>
              </a:rPr>
              <a:t>. Most </a:t>
            </a:r>
            <a:r>
              <a:rPr lang="en-US" sz="2000" dirty="0" smtClean="0">
                <a:latin typeface="Garamond" pitchFamily="18" charset="0"/>
              </a:rPr>
              <a:t>popular antivirus programs will identify the threat and quarantine it before it does any harm.</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446217"/>
            <a:ext cx="8229600" cy="4054485"/>
          </a:xfrm>
        </p:spPr>
        <p:txBody>
          <a:bodyPr>
            <a:normAutofit/>
          </a:bodyPr>
          <a:lstStyle/>
          <a:p>
            <a:pPr marL="457200" indent="-457200" algn="ctr">
              <a:buNone/>
            </a:pPr>
            <a:r>
              <a:rPr lang="en-US" sz="2000" b="1" u="sng" dirty="0" smtClean="0">
                <a:latin typeface="Garamond" pitchFamily="18" charset="0"/>
              </a:rPr>
              <a:t>C) PASSWORD ATTACK</a:t>
            </a:r>
          </a:p>
          <a:p>
            <a:pPr marL="457200" indent="-457200" algn="ctr">
              <a:buNone/>
            </a:pPr>
            <a:endParaRPr lang="en-US" sz="2000" u="sng" dirty="0" smtClean="0">
              <a:latin typeface="Garamond" pitchFamily="18" charset="0"/>
            </a:endParaRPr>
          </a:p>
          <a:p>
            <a:pPr marL="457200" indent="-457200" algn="ctr">
              <a:buNone/>
            </a:pPr>
            <a:r>
              <a:rPr lang="en-US" sz="2000" dirty="0" smtClean="0">
                <a:latin typeface="Garamond" pitchFamily="18" charset="0"/>
              </a:rPr>
              <a:t>The most common type of user security is a password. It is the necessary key you use to access your computer, mobile phone, or music </a:t>
            </a:r>
            <a:r>
              <a:rPr lang="en-US" sz="2000" dirty="0" err="1" smtClean="0">
                <a:latin typeface="Garamond" pitchFamily="18" charset="0"/>
              </a:rPr>
              <a:t>device.A</a:t>
            </a:r>
            <a:r>
              <a:rPr lang="en-US" sz="2000" dirty="0" smtClean="0">
                <a:latin typeface="Garamond" pitchFamily="18" charset="0"/>
              </a:rPr>
              <a:t> common type of password attack is the use of “social engineering” to hack a user's account by sending a phishing email or by tracking social media </a:t>
            </a:r>
            <a:r>
              <a:rPr lang="en-US" sz="2000" dirty="0" err="1" smtClean="0">
                <a:latin typeface="Garamond" pitchFamily="18" charset="0"/>
              </a:rPr>
              <a:t>accounts.The</a:t>
            </a:r>
            <a:r>
              <a:rPr lang="en-US" sz="2000" dirty="0" smtClean="0">
                <a:latin typeface="Garamond" pitchFamily="18" charset="0"/>
              </a:rPr>
              <a:t> best way to prevent a password attack is to use strong passwords and change them often. </a:t>
            </a:r>
            <a:r>
              <a:rPr lang="en-US" sz="2000" dirty="0" smtClean="0">
                <a:latin typeface="Garamond" pitchFamily="18" charset="0"/>
              </a:rPr>
              <a:t>Of </a:t>
            </a:r>
            <a:r>
              <a:rPr lang="en-US" sz="2000" dirty="0" smtClean="0">
                <a:latin typeface="Garamond" pitchFamily="18" charset="0"/>
              </a:rPr>
              <a:t>course, considering the many ways cyber attacks can proliferate, the point is to increase awareness of the need for Internet security through learning about common types of cyber </a:t>
            </a:r>
            <a:r>
              <a:rPr lang="en-US" sz="2000" dirty="0" smtClean="0">
                <a:latin typeface="Garamond" pitchFamily="18" charset="0"/>
              </a:rPr>
              <a:t>attacks.</a:t>
            </a:r>
            <a:r>
              <a:rPr lang="en-US" sz="2000" dirty="0"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500034" y="1428736"/>
            <a:ext cx="8229600" cy="4054485"/>
          </a:xfrm>
        </p:spPr>
        <p:txBody>
          <a:bodyPr>
            <a:normAutofit/>
          </a:bodyPr>
          <a:lstStyle/>
          <a:p>
            <a:pPr algn="ctr">
              <a:buNone/>
            </a:pPr>
            <a:r>
              <a:rPr lang="en-US" sz="2000" b="1" dirty="0" smtClean="0">
                <a:solidFill>
                  <a:srgbClr val="FF0000"/>
                </a:solidFill>
                <a:latin typeface="Garamond" pitchFamily="18" charset="0"/>
              </a:rPr>
              <a:t>VULNERABILITY AND ATTACKS</a:t>
            </a:r>
          </a:p>
          <a:p>
            <a:pPr algn="ctr">
              <a:buNone/>
            </a:pPr>
            <a:endParaRPr lang="it-IT" sz="2000" b="1" dirty="0" smtClean="0">
              <a:latin typeface="Garamond" pitchFamily="18" charset="0"/>
            </a:endParaRPr>
          </a:p>
          <a:p>
            <a:pPr marL="0" indent="0">
              <a:buNone/>
            </a:pPr>
            <a:r>
              <a:rPr lang="en-US" sz="2000" dirty="0" smtClean="0">
                <a:latin typeface="Garamond" pitchFamily="18" charset="0"/>
              </a:rPr>
              <a:t>Vulnerability is a weakness in the design, implementation, operation, or internal control. Most of the discovered vulnerabilities are documented in a database called Common Vulnerabilities and Exposures (CVE), of American origin.</a:t>
            </a:r>
            <a:endParaRPr lang="it-IT" sz="2000" dirty="0" smtClean="0">
              <a:latin typeface="Garamond" pitchFamily="18" charset="0"/>
            </a:endParaRPr>
          </a:p>
          <a:p>
            <a:pPr marL="0" indent="0">
              <a:buNone/>
            </a:pPr>
            <a:r>
              <a:rPr lang="en-US" sz="2000" dirty="0" smtClean="0">
                <a:latin typeface="Garamond" pitchFamily="18" charset="0"/>
              </a:rPr>
              <a:t>Vulnerabilities can be searched for, reverse engineered, or exploited using automated tools or custom scripts.</a:t>
            </a:r>
            <a:endParaRPr lang="it-IT" sz="2000" dirty="0" smtClean="0">
              <a:latin typeface="Garamond" pitchFamily="18" charset="0"/>
            </a:endParaRPr>
          </a:p>
          <a:p>
            <a:pPr marL="457200" indent="-457200" algn="ctr">
              <a:buNone/>
            </a:pPr>
            <a:r>
              <a:rPr lang="en-US" sz="2000" dirty="0"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500034" y="1428736"/>
            <a:ext cx="8229600" cy="4857784"/>
          </a:xfrm>
        </p:spPr>
        <p:txBody>
          <a:bodyPr>
            <a:normAutofit/>
          </a:bodyPr>
          <a:lstStyle/>
          <a:p>
            <a:pPr marL="0" indent="0" algn="ctr">
              <a:buNone/>
            </a:pPr>
            <a:r>
              <a:rPr lang="en-US" sz="2000" b="1" dirty="0" smtClean="0">
                <a:solidFill>
                  <a:srgbClr val="FF0000"/>
                </a:solidFill>
                <a:latin typeface="Garamond" pitchFamily="18" charset="0"/>
              </a:rPr>
              <a:t>THREATS CAN GENERALLY BE CLASSIFIED INTO ONE OF THE FOLLOWING CATEGORIES:</a:t>
            </a:r>
            <a:endParaRPr lang="it-IT" sz="2000" b="1" dirty="0" smtClean="0">
              <a:solidFill>
                <a:srgbClr val="FF0000"/>
              </a:solidFill>
              <a:latin typeface="Garamond" pitchFamily="18" charset="0"/>
            </a:endParaRPr>
          </a:p>
          <a:p>
            <a:pPr marL="0" indent="0" algn="just">
              <a:buNone/>
            </a:pPr>
            <a:r>
              <a:rPr lang="en-US" sz="2000" dirty="0" smtClean="0">
                <a:latin typeface="Garamond" pitchFamily="18" charset="0"/>
              </a:rPr>
              <a:t> </a:t>
            </a:r>
            <a:endParaRPr lang="it-IT" sz="2000" dirty="0" smtClean="0">
              <a:latin typeface="Garamond" pitchFamily="18" charset="0"/>
            </a:endParaRPr>
          </a:p>
          <a:p>
            <a:pPr marL="0" indent="0" algn="just">
              <a:buNone/>
            </a:pPr>
            <a:r>
              <a:rPr lang="en-US" sz="2000" b="1" dirty="0" smtClean="0">
                <a:latin typeface="Garamond" pitchFamily="18" charset="0"/>
              </a:rPr>
              <a:t>A) </a:t>
            </a:r>
            <a:r>
              <a:rPr lang="en-US" sz="2000" b="1" u="sng" dirty="0" smtClean="0">
                <a:latin typeface="Garamond" pitchFamily="18" charset="0"/>
              </a:rPr>
              <a:t>Backdoor</a:t>
            </a:r>
            <a:endParaRPr lang="it-IT" sz="2000" b="1" dirty="0" smtClean="0">
              <a:latin typeface="Garamond" pitchFamily="18" charset="0"/>
            </a:endParaRPr>
          </a:p>
          <a:p>
            <a:pPr marL="0" indent="0" algn="just">
              <a:buNone/>
            </a:pPr>
            <a:r>
              <a:rPr lang="en-US" sz="2000" dirty="0" smtClean="0">
                <a:latin typeface="Garamond" pitchFamily="18" charset="0"/>
              </a:rPr>
              <a:t>A "backdoor" in a computer system, a cryptographic system, or an algorithm is a secret method to bypass normal authentication or security controls.</a:t>
            </a:r>
            <a:endParaRPr lang="it-IT" sz="2000" dirty="0" smtClean="0">
              <a:latin typeface="Garamond" pitchFamily="18" charset="0"/>
            </a:endParaRPr>
          </a:p>
          <a:p>
            <a:pPr marL="0" indent="0" algn="just">
              <a:buNone/>
            </a:pPr>
            <a:r>
              <a:rPr lang="en-US" sz="2000" dirty="0" smtClean="0">
                <a:latin typeface="Garamond" pitchFamily="18" charset="0"/>
              </a:rPr>
              <a:t>They can exist for many reasons, even in the original design or due to poor configuration. They could have been added by an authorized party, to allow legitimate access, or by an attacker, for criminal reasons</a:t>
            </a:r>
            <a:r>
              <a:rPr lang="en-US" sz="2000" dirty="0" smtClean="0">
                <a:latin typeface="Garamond" pitchFamily="18" charset="0"/>
              </a:rPr>
              <a:t>. They </a:t>
            </a:r>
            <a:r>
              <a:rPr lang="en-US" sz="2000" dirty="0" smtClean="0">
                <a:latin typeface="Garamond" pitchFamily="18" charset="0"/>
              </a:rPr>
              <a:t>create a vulnerability and can be very difficult to detect. Backdoor detection is usually discovered by someone who has access to the application's source code or has in-depth knowledge of the computer's operating system.</a:t>
            </a:r>
            <a:endParaRPr lang="it-IT" sz="2000" dirty="0" smtClean="0">
              <a:latin typeface="Garamond" pitchFamily="18" charset="0"/>
            </a:endParaRPr>
          </a:p>
          <a:p>
            <a:pPr marL="457200" indent="-457200" algn="ctr">
              <a:buNone/>
            </a:pPr>
            <a:r>
              <a:rPr lang="en-US" sz="2000" dirty="0"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500034" y="1142984"/>
            <a:ext cx="8229600" cy="5143536"/>
          </a:xfrm>
        </p:spPr>
        <p:txBody>
          <a:bodyPr>
            <a:normAutofit/>
          </a:bodyPr>
          <a:lstStyle/>
          <a:p>
            <a:pPr marL="0" indent="0" algn="ctr">
              <a:buNone/>
            </a:pPr>
            <a:r>
              <a:rPr lang="en-US" sz="2000" b="1" dirty="0" smtClean="0">
                <a:solidFill>
                  <a:srgbClr val="FF0000"/>
                </a:solidFill>
                <a:latin typeface="Garamond" pitchFamily="18" charset="0"/>
              </a:rPr>
              <a:t>  B) DENIAL OF SERVICE ATTACK</a:t>
            </a:r>
          </a:p>
          <a:p>
            <a:pPr marL="0" indent="0" algn="just">
              <a:buNone/>
            </a:pPr>
            <a:endParaRPr lang="en-US" sz="1900" dirty="0" smtClean="0">
              <a:latin typeface="Garamond" pitchFamily="18" charset="0"/>
            </a:endParaRPr>
          </a:p>
          <a:p>
            <a:pPr marL="0" indent="0" algn="just">
              <a:buNone/>
            </a:pPr>
            <a:r>
              <a:rPr lang="en-US" sz="1900" dirty="0" smtClean="0">
                <a:latin typeface="Garamond" pitchFamily="18" charset="0"/>
              </a:rPr>
              <a:t>Denial of Service (</a:t>
            </a:r>
            <a:r>
              <a:rPr lang="en-US" sz="1900" dirty="0" err="1" smtClean="0">
                <a:latin typeface="Garamond" pitchFamily="18" charset="0"/>
              </a:rPr>
              <a:t>DoS</a:t>
            </a:r>
            <a:r>
              <a:rPr lang="en-US" sz="1900" dirty="0" smtClean="0">
                <a:latin typeface="Garamond" pitchFamily="18" charset="0"/>
              </a:rPr>
              <a:t>) attacks are designed to make a device or network resource unavailable to its intended users.</a:t>
            </a:r>
          </a:p>
          <a:p>
            <a:pPr marL="0" indent="0" algn="just">
              <a:buNone/>
            </a:pPr>
            <a:r>
              <a:rPr lang="en-US" sz="1900" dirty="0" smtClean="0">
                <a:latin typeface="Garamond" pitchFamily="18" charset="0"/>
              </a:rPr>
              <a:t>Attackers can deny service to individual victims, for example, by deliberately entering an incorrect password enough times in succession to lock out the victim's account, or they can overload the capabilities of a device or network and block all users simultaneously.</a:t>
            </a:r>
          </a:p>
          <a:p>
            <a:pPr marL="0" indent="0" algn="just">
              <a:buNone/>
            </a:pPr>
            <a:r>
              <a:rPr lang="en-US" sz="1900" dirty="0" smtClean="0">
                <a:latin typeface="Garamond" pitchFamily="18" charset="0"/>
              </a:rPr>
              <a:t>While a network attack, from a single IP address, can be blocked by adding a new firewall, many forms of Distributed Denial of Service (</a:t>
            </a:r>
            <a:r>
              <a:rPr lang="en-US" sz="1900" dirty="0" err="1" smtClean="0">
                <a:latin typeface="Garamond" pitchFamily="18" charset="0"/>
              </a:rPr>
              <a:t>DDoS</a:t>
            </a:r>
            <a:r>
              <a:rPr lang="en-US" sz="1900" dirty="0" smtClean="0">
                <a:latin typeface="Garamond" pitchFamily="18" charset="0"/>
              </a:rPr>
              <a:t>) attacks are possible when the attack comes from many different points, making defense much more difficult.</a:t>
            </a:r>
          </a:p>
          <a:p>
            <a:pPr marL="0" indent="0" algn="just">
              <a:buNone/>
            </a:pPr>
            <a:r>
              <a:rPr lang="en-US" sz="1900" dirty="0" smtClean="0">
                <a:latin typeface="Garamond" pitchFamily="18" charset="0"/>
              </a:rPr>
              <a:t>Such attacks can come from the zombie computers of a </a:t>
            </a:r>
            <a:r>
              <a:rPr lang="en-US" sz="1900" dirty="0" err="1" smtClean="0">
                <a:latin typeface="Garamond" pitchFamily="18" charset="0"/>
              </a:rPr>
              <a:t>botnet</a:t>
            </a:r>
            <a:r>
              <a:rPr lang="en-US" sz="1900" dirty="0" smtClean="0">
                <a:latin typeface="Garamond" pitchFamily="18" charset="0"/>
              </a:rPr>
              <a:t>. </a:t>
            </a:r>
            <a:r>
              <a:rPr lang="en-US" sz="1900" dirty="0" smtClean="0">
                <a:latin typeface="Garamond" pitchFamily="18" charset="0"/>
              </a:rPr>
              <a:t>These attacks come from computers that may be spread around the globe and can be very difficult to locate.</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500034" y="1142984"/>
            <a:ext cx="8229600" cy="5143536"/>
          </a:xfrm>
        </p:spPr>
        <p:txBody>
          <a:bodyPr>
            <a:normAutofit/>
          </a:bodyPr>
          <a:lstStyle/>
          <a:p>
            <a:pPr marL="0" indent="0" algn="ctr">
              <a:buNone/>
            </a:pPr>
            <a:r>
              <a:rPr lang="en-US" sz="2000" b="1" dirty="0" smtClean="0">
                <a:solidFill>
                  <a:srgbClr val="FF0000"/>
                </a:solidFill>
                <a:latin typeface="Garamond" pitchFamily="18" charset="0"/>
              </a:rPr>
              <a:t>C) </a:t>
            </a:r>
            <a:r>
              <a:rPr lang="en-US" sz="2000" b="1" u="sng" dirty="0" smtClean="0">
                <a:solidFill>
                  <a:srgbClr val="FF0000"/>
                </a:solidFill>
                <a:latin typeface="Garamond" pitchFamily="18" charset="0"/>
              </a:rPr>
              <a:t>DIRECT ACCESS ATTACKS</a:t>
            </a:r>
          </a:p>
          <a:p>
            <a:pPr marL="0" indent="0" algn="just">
              <a:buNone/>
            </a:pPr>
            <a:endParaRPr lang="en-US" sz="2000" u="sng" dirty="0" smtClean="0">
              <a:latin typeface="Garamond" pitchFamily="18" charset="0"/>
            </a:endParaRPr>
          </a:p>
          <a:p>
            <a:pPr marL="0" indent="0" algn="just">
              <a:buNone/>
            </a:pPr>
            <a:endParaRPr lang="en-US" sz="2000" u="sng" dirty="0" smtClean="0">
              <a:latin typeface="Garamond" pitchFamily="18" charset="0"/>
            </a:endParaRPr>
          </a:p>
          <a:p>
            <a:pPr marL="0" indent="0" algn="just">
              <a:buNone/>
            </a:pPr>
            <a:r>
              <a:rPr lang="en-US" sz="2000" dirty="0" smtClean="0">
                <a:latin typeface="Garamond" pitchFamily="18" charset="0"/>
              </a:rPr>
              <a:t>Direct access </a:t>
            </a:r>
            <a:r>
              <a:rPr lang="en-US" sz="2000" dirty="0" smtClean="0">
                <a:latin typeface="Garamond" pitchFamily="18" charset="0"/>
              </a:rPr>
              <a:t>attacks can also compromise security, by making changes to the </a:t>
            </a:r>
            <a:r>
              <a:rPr lang="en-US" sz="2000" dirty="0" smtClean="0">
                <a:latin typeface="Garamond" pitchFamily="18" charset="0"/>
              </a:rPr>
              <a:t>operating </a:t>
            </a:r>
            <a:r>
              <a:rPr lang="en-US" sz="2000" dirty="0" smtClean="0">
                <a:latin typeface="Garamond" pitchFamily="18" charset="0"/>
              </a:rPr>
              <a:t>system, installing software worms, </a:t>
            </a:r>
            <a:r>
              <a:rPr lang="en-US" sz="2000" dirty="0" err="1" smtClean="0">
                <a:latin typeface="Garamond" pitchFamily="18" charset="0"/>
              </a:rPr>
              <a:t>keyloggers</a:t>
            </a:r>
            <a:r>
              <a:rPr lang="en-US" sz="2000" dirty="0" smtClean="0">
                <a:latin typeface="Garamond" pitchFamily="18" charset="0"/>
              </a:rPr>
              <a:t>, covert listening devices, or wireless microphones. Even when the system is protected by standard security measures, these can be circumvented, for example, by booting another operating system or tool from a CD-ROM or other bootable </a:t>
            </a:r>
            <a:r>
              <a:rPr lang="en-US" sz="2000" dirty="0" smtClean="0">
                <a:latin typeface="Garamond" pitchFamily="18" charset="0"/>
              </a:rPr>
              <a:t>media.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500034" y="1142984"/>
            <a:ext cx="8229600" cy="5143536"/>
          </a:xfrm>
        </p:spPr>
        <p:txBody>
          <a:bodyPr>
            <a:normAutofit/>
          </a:bodyPr>
          <a:lstStyle/>
          <a:p>
            <a:pPr marL="0" indent="0" algn="ctr">
              <a:buNone/>
            </a:pPr>
            <a:r>
              <a:rPr lang="en-US" sz="2000" b="1" dirty="0" smtClean="0">
                <a:solidFill>
                  <a:srgbClr val="FF0000"/>
                </a:solidFill>
                <a:latin typeface="Garamond" pitchFamily="18" charset="0"/>
              </a:rPr>
              <a:t>D) INTERCEPTION</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Interception is the act of eavesdropping on a "conversation" (communication) of a private computer, typically hosted on a network</a:t>
            </a:r>
            <a:r>
              <a:rPr lang="en-US" sz="2000" dirty="0" smtClean="0">
                <a:latin typeface="Garamond" pitchFamily="18" charset="0"/>
              </a:rPr>
              <a:t>. For </a:t>
            </a:r>
            <a:r>
              <a:rPr lang="en-US" sz="2000" dirty="0" smtClean="0">
                <a:latin typeface="Garamond" pitchFamily="18" charset="0"/>
              </a:rPr>
              <a:t>example, programs such as Carnivore and </a:t>
            </a:r>
            <a:r>
              <a:rPr lang="en-US" sz="2000" dirty="0" err="1" smtClean="0">
                <a:latin typeface="Garamond" pitchFamily="18" charset="0"/>
              </a:rPr>
              <a:t>NarusInSight</a:t>
            </a:r>
            <a:r>
              <a:rPr lang="en-US" sz="2000" dirty="0" smtClean="0">
                <a:latin typeface="Garamond" pitchFamily="18" charset="0"/>
              </a:rPr>
              <a:t> have been used by the FBI and the NSA to wiretap the systems of Internet service providers</a:t>
            </a:r>
            <a:r>
              <a:rPr lang="en-US" sz="2000" dirty="0" smtClean="0">
                <a:latin typeface="Garamond" pitchFamily="18" charset="0"/>
              </a:rPr>
              <a:t>. Even </a:t>
            </a:r>
            <a:r>
              <a:rPr lang="en-US" sz="2000" dirty="0" smtClean="0">
                <a:latin typeface="Garamond" pitchFamily="18" charset="0"/>
              </a:rPr>
              <a:t>machines that operate as a closed system </a:t>
            </a:r>
            <a:r>
              <a:rPr lang="en-US" sz="2000" dirty="0" smtClean="0">
                <a:latin typeface="Garamond" pitchFamily="18" charset="0"/>
              </a:rPr>
              <a:t>can </a:t>
            </a:r>
            <a:r>
              <a:rPr lang="en-US" sz="2000" dirty="0" smtClean="0">
                <a:latin typeface="Garamond" pitchFamily="18" charset="0"/>
              </a:rPr>
              <a:t>be intercepted by monitoring the weak electromagnetic transmissions generated by the hardware.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500034" y="1142984"/>
            <a:ext cx="8229600" cy="5143536"/>
          </a:xfrm>
        </p:spPr>
        <p:txBody>
          <a:bodyPr>
            <a:normAutofit/>
          </a:bodyPr>
          <a:lstStyle/>
          <a:p>
            <a:pPr marL="0" indent="0" algn="ctr">
              <a:buNone/>
            </a:pPr>
            <a:r>
              <a:rPr lang="en-US" sz="2000" b="1" dirty="0" smtClean="0">
                <a:solidFill>
                  <a:srgbClr val="FF0000"/>
                </a:solidFill>
                <a:latin typeface="Garamond" pitchFamily="18" charset="0"/>
              </a:rPr>
              <a:t>E) </a:t>
            </a:r>
            <a:r>
              <a:rPr lang="en-US" sz="2000" b="1" u="sng" dirty="0" smtClean="0">
                <a:solidFill>
                  <a:srgbClr val="FF0000"/>
                </a:solidFill>
                <a:latin typeface="Garamond" pitchFamily="18" charset="0"/>
              </a:rPr>
              <a:t>MULTIVECTOR AND POLYMORPHIC ATTACKS</a:t>
            </a:r>
          </a:p>
          <a:p>
            <a:pPr marL="0" indent="0" algn="ctr">
              <a:buNone/>
            </a:pPr>
            <a:endParaRPr lang="en-US" sz="2000" u="sng" dirty="0" smtClean="0">
              <a:latin typeface="Garamond" pitchFamily="18" charset="0"/>
            </a:endParaRPr>
          </a:p>
          <a:p>
            <a:pPr marL="0" indent="0" algn="ctr">
              <a:buNone/>
            </a:pPr>
            <a:endParaRPr lang="en-US" sz="2000" u="sng" dirty="0" smtClean="0">
              <a:latin typeface="Garamond" pitchFamily="18" charset="0"/>
            </a:endParaRPr>
          </a:p>
          <a:p>
            <a:pPr marL="0" indent="0" algn="ctr">
              <a:buNone/>
            </a:pPr>
            <a:r>
              <a:rPr lang="en-US" sz="2000" dirty="0" smtClean="0">
                <a:latin typeface="Garamond" pitchFamily="18" charset="0"/>
              </a:rPr>
              <a:t>Emerging in 2017, a new class of multi-vector and polymorphic cyber threats produced different types of attacks, changing their form, to avoid </a:t>
            </a:r>
            <a:r>
              <a:rPr lang="en-US" sz="2000" dirty="0" err="1" smtClean="0">
                <a:latin typeface="Garamond" pitchFamily="18" charset="0"/>
              </a:rPr>
              <a:t>cybersecurity</a:t>
            </a:r>
            <a:r>
              <a:rPr lang="en-US" sz="2000" dirty="0" smtClean="0">
                <a:latin typeface="Garamond" pitchFamily="18" charset="0"/>
              </a:rPr>
              <a:t> controls. The evolution of these attacks has challenged the world of </a:t>
            </a:r>
            <a:r>
              <a:rPr lang="en-US" sz="2000" dirty="0" err="1" smtClean="0">
                <a:latin typeface="Garamond" pitchFamily="18" charset="0"/>
              </a:rPr>
              <a:t>cybersecurity</a:t>
            </a:r>
            <a:r>
              <a:rPr lang="en-US" sz="2000" dirty="0" smtClean="0">
                <a:latin typeface="Garamond" pitchFamily="18" charset="0"/>
              </a:rPr>
              <a:t>. Banks and ATMs have been particularly sensitive in equipping themselves to defend themselves against this type of attack</a:t>
            </a:r>
            <a:r>
              <a:rPr lang="en-US" sz="2000" dirty="0" smtClean="0">
                <a:latin typeface="Garamond" pitchFamily="18" charset="0"/>
              </a:rPr>
              <a:t>. </a:t>
            </a:r>
            <a:r>
              <a:rPr lang="en-US" sz="2000" dirty="0" smtClean="0">
                <a:latin typeface="Garamond" pitchFamily="18" charset="0"/>
              </a:rPr>
              <a:t>The investments being made are aimed not only at greater </a:t>
            </a:r>
            <a:r>
              <a:rPr lang="en-US" sz="2000" dirty="0" err="1" smtClean="0">
                <a:latin typeface="Garamond" pitchFamily="18" charset="0"/>
              </a:rPr>
              <a:t>cybersecurity</a:t>
            </a:r>
            <a:r>
              <a:rPr lang="en-US" sz="2000" dirty="0" smtClean="0">
                <a:latin typeface="Garamond" pitchFamily="18" charset="0"/>
              </a:rPr>
              <a:t>, but also at increasing cyber </a:t>
            </a:r>
            <a:r>
              <a:rPr lang="en-US" sz="2000" dirty="0" smtClean="0">
                <a:latin typeface="Garamond" pitchFamily="18" charset="0"/>
              </a:rPr>
              <a:t>awareness.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500034" y="1142984"/>
            <a:ext cx="8229600" cy="5143536"/>
          </a:xfrm>
        </p:spPr>
        <p:txBody>
          <a:bodyPr>
            <a:normAutofit/>
          </a:bodyPr>
          <a:lstStyle/>
          <a:p>
            <a:pPr marL="0" indent="0" algn="ctr">
              <a:buNone/>
            </a:pPr>
            <a:r>
              <a:rPr lang="en-US" sz="2000" b="1" dirty="0" smtClean="0">
                <a:solidFill>
                  <a:srgbClr val="FF0000"/>
                </a:solidFill>
                <a:latin typeface="Garamond" pitchFamily="18" charset="0"/>
              </a:rPr>
              <a:t>F) </a:t>
            </a:r>
            <a:r>
              <a:rPr lang="en-US" sz="2000" b="1" u="sng" dirty="0" smtClean="0">
                <a:solidFill>
                  <a:srgbClr val="FF0000"/>
                </a:solidFill>
                <a:latin typeface="Garamond" pitchFamily="18" charset="0"/>
              </a:rPr>
              <a:t>PHISHING</a:t>
            </a:r>
          </a:p>
          <a:p>
            <a:pPr marL="0" indent="0" algn="ctr">
              <a:buNone/>
            </a:pPr>
            <a:endParaRPr lang="en-US" sz="2000" u="sng" dirty="0" smtClean="0">
              <a:latin typeface="Garamond" pitchFamily="18" charset="0"/>
            </a:endParaRPr>
          </a:p>
          <a:p>
            <a:pPr marL="0" indent="0" algn="ctr">
              <a:buNone/>
            </a:pPr>
            <a:r>
              <a:rPr lang="en-US" sz="2000" dirty="0" smtClean="0">
                <a:latin typeface="Garamond" pitchFamily="18" charset="0"/>
              </a:rPr>
              <a:t>Phishing is the attempt to obtain sensitive information, such as usernames, passwords, and credit card details, directly from users, by deceiving them. Phishing is usually done through spoofed emails or instant messaging, often directing users to enter their personal details to a fake website, which "looks" and "feels" almost identical to the legitimate one. The bogus website may ask for personal information, such as login details and passwords. </a:t>
            </a:r>
            <a:r>
              <a:rPr lang="en-US" sz="2000" dirty="0" smtClean="0">
                <a:latin typeface="Garamond" pitchFamily="18" charset="0"/>
              </a:rPr>
              <a:t>By </a:t>
            </a:r>
            <a:r>
              <a:rPr lang="en-US" sz="2000" dirty="0" smtClean="0">
                <a:latin typeface="Garamond" pitchFamily="18" charset="0"/>
              </a:rPr>
              <a:t>taking advantage of a victim's trust, phishing is classified as a form of social engineering.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500034" y="1142984"/>
            <a:ext cx="8229600" cy="5143536"/>
          </a:xfrm>
        </p:spPr>
        <p:txBody>
          <a:bodyPr>
            <a:normAutofit/>
          </a:bodyPr>
          <a:lstStyle/>
          <a:p>
            <a:pPr marL="457200" indent="-457200" algn="ctr">
              <a:buAutoNum type="alphaUcParenR" startAt="7"/>
            </a:pPr>
            <a:endParaRPr lang="en-US" sz="2000" b="1" u="sng" dirty="0" smtClean="0">
              <a:solidFill>
                <a:srgbClr val="FF0000"/>
              </a:solidFill>
              <a:latin typeface="Garamond" pitchFamily="18" charset="0"/>
            </a:endParaRPr>
          </a:p>
          <a:p>
            <a:pPr marL="457200" indent="-457200" algn="ctr">
              <a:buAutoNum type="alphaUcParenR" startAt="7"/>
            </a:pPr>
            <a:endParaRPr lang="en-US" sz="2000" b="1" u="sng" dirty="0" smtClean="0">
              <a:solidFill>
                <a:srgbClr val="FF0000"/>
              </a:solidFill>
              <a:latin typeface="Garamond" pitchFamily="18" charset="0"/>
            </a:endParaRPr>
          </a:p>
          <a:p>
            <a:pPr marL="457200" indent="-457200" algn="ctr">
              <a:buAutoNum type="alphaUcParenR" startAt="7"/>
            </a:pPr>
            <a:endParaRPr lang="en-US" sz="2000" b="1" u="sng" dirty="0" smtClean="0">
              <a:solidFill>
                <a:srgbClr val="FF0000"/>
              </a:solidFill>
              <a:latin typeface="Garamond" pitchFamily="18" charset="0"/>
            </a:endParaRPr>
          </a:p>
          <a:p>
            <a:pPr marL="457200" indent="-457200" algn="ctr">
              <a:buAutoNum type="alphaUcParenR" startAt="7"/>
            </a:pPr>
            <a:endParaRPr lang="en-US" sz="2000" b="1" u="sng" dirty="0" smtClean="0">
              <a:solidFill>
                <a:srgbClr val="FF0000"/>
              </a:solidFill>
              <a:latin typeface="Garamond" pitchFamily="18" charset="0"/>
            </a:endParaRPr>
          </a:p>
          <a:p>
            <a:pPr marL="457200" indent="-457200" algn="ctr">
              <a:buAutoNum type="alphaUcParenR" startAt="7"/>
            </a:pPr>
            <a:r>
              <a:rPr lang="en-US" sz="2000" b="1" u="sng" dirty="0" smtClean="0">
                <a:solidFill>
                  <a:srgbClr val="FF0000"/>
                </a:solidFill>
                <a:latin typeface="Garamond" pitchFamily="18" charset="0"/>
              </a:rPr>
              <a:t>PRIVILEGE ESCALATION</a:t>
            </a:r>
          </a:p>
          <a:p>
            <a:pPr marL="457200" indent="-457200" algn="ctr">
              <a:buAutoNum type="alphaUcParenR" startAt="7"/>
            </a:pPr>
            <a:endParaRPr lang="en-US" sz="2000" u="sng" dirty="0" smtClean="0">
              <a:latin typeface="Garamond" pitchFamily="18" charset="0"/>
            </a:endParaRPr>
          </a:p>
          <a:p>
            <a:pPr marL="457200" indent="-457200" algn="ctr">
              <a:buNone/>
            </a:pPr>
            <a:r>
              <a:rPr lang="en-US" sz="2000" dirty="0" smtClean="0">
                <a:latin typeface="Garamond" pitchFamily="18" charset="0"/>
              </a:rPr>
              <a:t>Privilege “escalation” describes a situation in which an attacker, with some level of limited access, is able, without authorization, to elevate his or her privileges or level of access</a:t>
            </a:r>
            <a:r>
              <a:rPr lang="en-US" sz="2000" dirty="0" smtClean="0">
                <a:latin typeface="Garamond" pitchFamily="18" charset="0"/>
              </a:rPr>
              <a:t>.</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500034" y="1142984"/>
            <a:ext cx="8229600" cy="5143536"/>
          </a:xfrm>
        </p:spPr>
        <p:txBody>
          <a:bodyPr>
            <a:normAutofit/>
          </a:bodyPr>
          <a:lstStyle/>
          <a:p>
            <a:pPr marL="457200" indent="-457200" algn="ctr">
              <a:buNone/>
            </a:pPr>
            <a:endParaRPr lang="en-US" sz="2000" b="1" u="sng" dirty="0" smtClean="0">
              <a:solidFill>
                <a:srgbClr val="FF0000"/>
              </a:solidFill>
              <a:latin typeface="Garamond" pitchFamily="18" charset="0"/>
            </a:endParaRPr>
          </a:p>
          <a:p>
            <a:pPr marL="457200" indent="-457200" algn="ctr">
              <a:buNone/>
            </a:pPr>
            <a:r>
              <a:rPr lang="en-US" sz="2000" b="1" dirty="0" smtClean="0">
                <a:solidFill>
                  <a:srgbClr val="FF0000"/>
                </a:solidFill>
                <a:latin typeface="Garamond" pitchFamily="18" charset="0"/>
              </a:rPr>
              <a:t>H) </a:t>
            </a:r>
            <a:r>
              <a:rPr lang="en-US" sz="2000" b="1" u="sng" dirty="0" smtClean="0">
                <a:solidFill>
                  <a:srgbClr val="FF0000"/>
                </a:solidFill>
                <a:latin typeface="Garamond" pitchFamily="18" charset="0"/>
              </a:rPr>
              <a:t>REVERSE ENGINEERING</a:t>
            </a:r>
          </a:p>
          <a:p>
            <a:pPr marL="457200" indent="-457200" algn="ctr">
              <a:buNone/>
            </a:pPr>
            <a:endParaRPr lang="en-US" sz="2000" u="sng" dirty="0" smtClean="0">
              <a:latin typeface="Garamond" pitchFamily="18" charset="0"/>
            </a:endParaRPr>
          </a:p>
          <a:p>
            <a:pPr marL="457200" indent="-457200" algn="ctr">
              <a:buNone/>
            </a:pPr>
            <a:r>
              <a:rPr lang="en-US" sz="2000" dirty="0" smtClean="0">
                <a:latin typeface="Garamond" pitchFamily="18" charset="0"/>
              </a:rPr>
              <a:t>Reverse engineering is the process by which a man-made object is deconstructed to reveal its design, code, and </a:t>
            </a:r>
            <a:r>
              <a:rPr lang="en-US" sz="2000" dirty="0" smtClean="0">
                <a:latin typeface="Garamond" pitchFamily="18" charset="0"/>
              </a:rPr>
              <a:t>architecture. It </a:t>
            </a:r>
            <a:r>
              <a:rPr lang="en-US" sz="2000" dirty="0" smtClean="0">
                <a:latin typeface="Garamond" pitchFamily="18" charset="0"/>
              </a:rPr>
              <a:t>is a process similar to scientific research, with the only difference that scientific research concerns a natural phenomenon, whereas reverse engineering is aimed at </a:t>
            </a:r>
            <a:r>
              <a:rPr lang="en-US" sz="2000" dirty="0" smtClean="0">
                <a:latin typeface="Garamond" pitchFamily="18" charset="0"/>
              </a:rPr>
              <a:t>stealing </a:t>
            </a:r>
            <a:r>
              <a:rPr lang="en-US" sz="2000" dirty="0" smtClean="0">
                <a:latin typeface="Garamond" pitchFamily="18" charset="0"/>
              </a:rPr>
              <a:t>the prototype of an object for criminal use. </a:t>
            </a:r>
          </a:p>
          <a:p>
            <a:pPr marL="457200" indent="-457200" algn="ctr">
              <a:buNone/>
            </a:pPr>
            <a:endParaRPr lang="en-US" sz="2000" dirty="0" smtClean="0">
              <a:latin typeface="Garamond" pitchFamily="18" charset="0"/>
            </a:endParaRPr>
          </a:p>
          <a:p>
            <a:pPr marL="457200" indent="-457200" algn="ctr">
              <a:buNone/>
            </a:pPr>
            <a:endParaRPr lang="en-US" sz="2000" b="1" u="sng" dirty="0" smtClean="0">
              <a:solidFill>
                <a:srgbClr val="FF0000"/>
              </a:solidFill>
              <a:latin typeface="Garamond" pitchFamily="18" charset="0"/>
            </a:endParaRPr>
          </a:p>
          <a:p>
            <a:pPr marL="457200" indent="-457200" algn="ctr">
              <a:buNone/>
            </a:pPr>
            <a:endParaRPr lang="en-US" sz="2000" b="1" u="sng" dirty="0" smtClean="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500034" y="1142984"/>
            <a:ext cx="8229600" cy="5143536"/>
          </a:xfrm>
        </p:spPr>
        <p:txBody>
          <a:bodyPr>
            <a:normAutofit/>
          </a:bodyPr>
          <a:lstStyle/>
          <a:p>
            <a:pPr marL="457200" indent="-457200" algn="ctr">
              <a:buNone/>
            </a:pPr>
            <a:endParaRPr lang="en-US" sz="2000" b="1" u="sng" dirty="0" smtClean="0">
              <a:solidFill>
                <a:srgbClr val="FF0000"/>
              </a:solidFill>
              <a:latin typeface="Garamond" pitchFamily="18" charset="0"/>
            </a:endParaRPr>
          </a:p>
          <a:p>
            <a:pPr marL="457200" indent="-457200" algn="ctr">
              <a:buNone/>
            </a:pPr>
            <a:endParaRPr lang="en-US" sz="2000" dirty="0" smtClean="0">
              <a:latin typeface="Garamond" pitchFamily="18" charset="0"/>
            </a:endParaRPr>
          </a:p>
          <a:p>
            <a:pPr marL="514350" indent="-514350" algn="ctr">
              <a:buAutoNum type="romanUcParenR"/>
            </a:pPr>
            <a:r>
              <a:rPr lang="en-US" sz="2000" b="1" u="sng" dirty="0" smtClean="0">
                <a:solidFill>
                  <a:srgbClr val="FF0000"/>
                </a:solidFill>
                <a:latin typeface="Garamond" pitchFamily="18" charset="0"/>
              </a:rPr>
              <a:t>SIDE CHANNEL ATTACKS</a:t>
            </a:r>
          </a:p>
          <a:p>
            <a:pPr marL="514350" indent="-514350" algn="ctr">
              <a:buAutoNum type="romanUcParenR"/>
            </a:pPr>
            <a:endParaRPr lang="en-US" sz="2000" u="sng" dirty="0" smtClean="0">
              <a:latin typeface="Garamond" pitchFamily="18" charset="0"/>
            </a:endParaRPr>
          </a:p>
          <a:p>
            <a:pPr marL="514350" indent="-514350" algn="ctr">
              <a:buNone/>
            </a:pPr>
            <a:r>
              <a:rPr lang="en-US" sz="2000" dirty="0" smtClean="0">
                <a:latin typeface="Garamond" pitchFamily="18" charset="0"/>
              </a:rPr>
              <a:t>In </a:t>
            </a:r>
            <a:r>
              <a:rPr lang="en-US" sz="2000" dirty="0" smtClean="0">
                <a:latin typeface="Garamond" pitchFamily="18" charset="0"/>
              </a:rPr>
              <a:t>side-channel attack scenarios, the attacker gathers </a:t>
            </a:r>
            <a:r>
              <a:rPr lang="en-US" sz="2000" dirty="0" smtClean="0">
                <a:latin typeface="Garamond" pitchFamily="18" charset="0"/>
              </a:rPr>
              <a:t>information </a:t>
            </a:r>
            <a:r>
              <a:rPr lang="en-US" sz="2000" dirty="0" smtClean="0">
                <a:latin typeface="Garamond" pitchFamily="18" charset="0"/>
              </a:rPr>
              <a:t>about a system or network to guess its internal state and, as a result, gains access to information the victim assumes is secure.</a:t>
            </a:r>
            <a:endParaRPr lang="en-US" sz="2000" u="sng" dirty="0" smtClean="0">
              <a:solidFill>
                <a:srgbClr val="FF0000"/>
              </a:solidFill>
              <a:latin typeface="Garamond" pitchFamily="18" charset="0"/>
            </a:endParaRPr>
          </a:p>
          <a:p>
            <a:pPr marL="457200" indent="-457200" algn="ctr">
              <a:buNone/>
            </a:pPr>
            <a:endParaRPr lang="en-US" sz="2000" b="1" u="sng" dirty="0" smtClean="0">
              <a:solidFill>
                <a:srgbClr val="FF0000"/>
              </a:solidFill>
              <a:latin typeface="Garamond" pitchFamily="18" charset="0"/>
            </a:endParaRPr>
          </a:p>
          <a:p>
            <a:pPr marL="457200" indent="-457200" algn="ctr">
              <a:buNone/>
            </a:pPr>
            <a:endParaRPr lang="en-US" sz="2000" b="1" u="sng" dirty="0" smtClean="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285720" y="928670"/>
            <a:ext cx="8229600" cy="5143536"/>
          </a:xfrm>
        </p:spPr>
        <p:txBody>
          <a:bodyPr>
            <a:normAutofit/>
          </a:bodyPr>
          <a:lstStyle/>
          <a:p>
            <a:pPr marL="457200" indent="-457200" algn="ctr">
              <a:buNone/>
            </a:pPr>
            <a:endParaRPr lang="en-US" sz="2000" b="1" u="sng" dirty="0" smtClean="0">
              <a:solidFill>
                <a:srgbClr val="FF0000"/>
              </a:solidFill>
              <a:latin typeface="Garamond" pitchFamily="18" charset="0"/>
            </a:endParaRPr>
          </a:p>
          <a:p>
            <a:pPr marL="457200" indent="-457200" algn="ctr">
              <a:buNone/>
            </a:pPr>
            <a:endParaRPr lang="en-US" sz="2000" dirty="0" smtClean="0">
              <a:latin typeface="Garamond" pitchFamily="18" charset="0"/>
            </a:endParaRPr>
          </a:p>
          <a:p>
            <a:pPr marL="457200" indent="-457200" algn="ctr">
              <a:buNone/>
            </a:pPr>
            <a:r>
              <a:rPr lang="en-US" sz="2000" b="1" dirty="0" smtClean="0">
                <a:solidFill>
                  <a:srgbClr val="FF0000"/>
                </a:solidFill>
                <a:latin typeface="Garamond" pitchFamily="18" charset="0"/>
              </a:rPr>
              <a:t>J) </a:t>
            </a:r>
            <a:r>
              <a:rPr lang="en-US" sz="2000" b="1" u="sng" dirty="0" smtClean="0">
                <a:solidFill>
                  <a:srgbClr val="FF0000"/>
                </a:solidFill>
                <a:latin typeface="Garamond" pitchFamily="18" charset="0"/>
              </a:rPr>
              <a:t>SOCIAL ENGINEERING</a:t>
            </a:r>
          </a:p>
          <a:p>
            <a:pPr marL="457200" indent="-457200" algn="ctr">
              <a:buNone/>
            </a:pPr>
            <a:endParaRPr lang="en-US" sz="2000" u="sng" dirty="0" smtClean="0">
              <a:latin typeface="Garamond" pitchFamily="18" charset="0"/>
            </a:endParaRPr>
          </a:p>
          <a:p>
            <a:pPr marL="457200" indent="-457200" algn="ctr">
              <a:buNone/>
            </a:pPr>
            <a:r>
              <a:rPr lang="en-US" sz="2000" dirty="0" smtClean="0">
                <a:latin typeface="Garamond" pitchFamily="18" charset="0"/>
              </a:rPr>
              <a:t>Social engineering, in the context of computer security, is an attack which aims to get a user to reveal passwords, card numbers, etc…, or to grant physical access to an account by impersonating a senior executive, bank, contractor, or customer</a:t>
            </a:r>
            <a:r>
              <a:rPr lang="en-US" sz="2000" dirty="0" smtClean="0">
                <a:latin typeface="Garamond" pitchFamily="18" charset="0"/>
              </a:rPr>
              <a:t>. This </a:t>
            </a:r>
            <a:r>
              <a:rPr lang="en-US" sz="2000" dirty="0" smtClean="0">
                <a:latin typeface="Garamond" pitchFamily="18" charset="0"/>
              </a:rPr>
              <a:t>generally involves exploiting people's trust by relying on their cognitive biases</a:t>
            </a:r>
            <a:r>
              <a:rPr lang="en-US" sz="2000" dirty="0" smtClean="0">
                <a:latin typeface="Garamond" pitchFamily="18" charset="0"/>
              </a:rPr>
              <a:t>. </a:t>
            </a:r>
            <a:endParaRPr lang="en-US" sz="2000" b="1" u="sng" dirty="0" smtClean="0">
              <a:solidFill>
                <a:srgbClr val="FF0000"/>
              </a:solidFill>
              <a:latin typeface="Garamond" pitchFamily="18" charset="0"/>
            </a:endParaRPr>
          </a:p>
          <a:p>
            <a:pPr marL="457200" indent="-457200" algn="ctr">
              <a:buNone/>
            </a:pPr>
            <a:endParaRPr lang="en-US" sz="2000" b="1" u="sng" dirty="0" smtClean="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285720" y="857232"/>
            <a:ext cx="8229600" cy="5143536"/>
          </a:xfrm>
        </p:spPr>
        <p:txBody>
          <a:bodyPr>
            <a:normAutofit/>
          </a:bodyPr>
          <a:lstStyle/>
          <a:p>
            <a:pPr marL="457200" indent="-457200" algn="ctr">
              <a:buNone/>
            </a:pPr>
            <a:endParaRPr lang="en-US" sz="2000" b="1" u="sng" dirty="0" smtClean="0">
              <a:solidFill>
                <a:srgbClr val="FF0000"/>
              </a:solidFill>
              <a:latin typeface="Garamond" pitchFamily="18" charset="0"/>
            </a:endParaRPr>
          </a:p>
          <a:p>
            <a:pPr marL="457200" indent="-457200" algn="ctr">
              <a:buNone/>
            </a:pPr>
            <a:endParaRPr lang="en-US" sz="2000" dirty="0" smtClean="0">
              <a:latin typeface="Garamond" pitchFamily="18" charset="0"/>
            </a:endParaRPr>
          </a:p>
          <a:p>
            <a:pPr marL="457200" indent="-457200" algn="ctr">
              <a:buNone/>
            </a:pPr>
            <a:r>
              <a:rPr lang="en-US" sz="2000" b="1" dirty="0" smtClean="0">
                <a:solidFill>
                  <a:srgbClr val="FF0000"/>
                </a:solidFill>
                <a:latin typeface="Garamond" pitchFamily="18" charset="0"/>
              </a:rPr>
              <a:t>K) </a:t>
            </a:r>
            <a:r>
              <a:rPr lang="en-US" sz="2000" b="1" u="sng" dirty="0" smtClean="0">
                <a:solidFill>
                  <a:srgbClr val="FF0000"/>
                </a:solidFill>
                <a:latin typeface="Garamond" pitchFamily="18" charset="0"/>
              </a:rPr>
              <a:t>SPOOFING</a:t>
            </a:r>
          </a:p>
          <a:p>
            <a:pPr marL="457200" indent="-457200" algn="ctr">
              <a:buNone/>
            </a:pPr>
            <a:endParaRPr lang="en-US" sz="2000" u="sng" dirty="0" smtClean="0">
              <a:latin typeface="Garamond" pitchFamily="18" charset="0"/>
            </a:endParaRPr>
          </a:p>
          <a:p>
            <a:pPr marL="0" indent="0" algn="ctr">
              <a:buNone/>
            </a:pPr>
            <a:r>
              <a:rPr lang="en-US" sz="2000" dirty="0" smtClean="0">
                <a:latin typeface="Garamond" pitchFamily="18" charset="0"/>
              </a:rPr>
              <a:t>Spoofing is the act of masquerading as a valid entity by forging data (such as an IP address or username), in order to gain access to information or resources that it would otherwise not be authorized to </a:t>
            </a:r>
            <a:r>
              <a:rPr lang="en-US" sz="2000" dirty="0" err="1" smtClean="0">
                <a:latin typeface="Garamond" pitchFamily="18" charset="0"/>
              </a:rPr>
              <a:t>obtain.There</a:t>
            </a:r>
            <a:r>
              <a:rPr lang="en-US" sz="2000" dirty="0" smtClean="0">
                <a:latin typeface="Garamond" pitchFamily="18" charset="0"/>
              </a:rPr>
              <a:t> are several types of </a:t>
            </a:r>
            <a:r>
              <a:rPr lang="en-US" sz="2000" dirty="0" err="1" smtClean="0">
                <a:latin typeface="Garamond" pitchFamily="18" charset="0"/>
              </a:rPr>
              <a:t>spoofing:</a:t>
            </a:r>
            <a:r>
              <a:rPr lang="en-US" sz="2000" b="1" dirty="0" err="1" smtClean="0">
                <a:latin typeface="Garamond" pitchFamily="18" charset="0"/>
              </a:rPr>
              <a:t>Email</a:t>
            </a:r>
            <a:r>
              <a:rPr lang="en-US" sz="2000" b="1" dirty="0" smtClean="0">
                <a:latin typeface="Garamond" pitchFamily="18" charset="0"/>
              </a:rPr>
              <a:t> spoofing</a:t>
            </a:r>
            <a:r>
              <a:rPr lang="en-US" sz="2000" dirty="0" smtClean="0">
                <a:latin typeface="Garamond" pitchFamily="18" charset="0"/>
              </a:rPr>
              <a:t>: An attacker spoofs the sender address of an </a:t>
            </a:r>
            <a:r>
              <a:rPr lang="en-US" sz="2000" dirty="0" err="1" smtClean="0">
                <a:latin typeface="Garamond" pitchFamily="18" charset="0"/>
              </a:rPr>
              <a:t>email.</a:t>
            </a:r>
            <a:r>
              <a:rPr lang="en-US" sz="2000" b="1" dirty="0" err="1" smtClean="0">
                <a:latin typeface="Garamond" pitchFamily="18" charset="0"/>
              </a:rPr>
              <a:t>IP</a:t>
            </a:r>
            <a:r>
              <a:rPr lang="en-US" sz="2000" b="1" dirty="0" smtClean="0">
                <a:latin typeface="Garamond" pitchFamily="18" charset="0"/>
              </a:rPr>
              <a:t> address spoofing</a:t>
            </a:r>
            <a:r>
              <a:rPr lang="en-US" sz="2000" dirty="0" smtClean="0">
                <a:latin typeface="Garamond" pitchFamily="18" charset="0"/>
              </a:rPr>
              <a:t>: An attacker alters the source IP address in a network packet to hide their identity or impersonate another computer system.</a:t>
            </a:r>
            <a:r>
              <a:rPr lang="en-US" sz="2000" b="1" dirty="0" smtClean="0">
                <a:latin typeface="Garamond" pitchFamily="18" charset="0"/>
              </a:rPr>
              <a:t>MAC spoofing</a:t>
            </a:r>
            <a:r>
              <a:rPr lang="en-US" sz="2000" dirty="0" smtClean="0">
                <a:latin typeface="Garamond" pitchFamily="18" charset="0"/>
              </a:rPr>
              <a:t>: Attackers change the MAC (Media Access Control) address of their network interface, to obscure their identity or to pretend to be someone </a:t>
            </a:r>
            <a:r>
              <a:rPr lang="en-US" sz="2000" dirty="0" err="1" smtClean="0">
                <a:latin typeface="Garamond" pitchFamily="18" charset="0"/>
              </a:rPr>
              <a:t>else.</a:t>
            </a:r>
            <a:r>
              <a:rPr lang="en-US" sz="2000" b="1" dirty="0" err="1" smtClean="0">
                <a:latin typeface="Garamond" pitchFamily="18" charset="0"/>
              </a:rPr>
              <a:t>Biometric</a:t>
            </a:r>
            <a:r>
              <a:rPr lang="en-US" sz="2000" b="1" dirty="0" smtClean="0">
                <a:latin typeface="Garamond" pitchFamily="18" charset="0"/>
              </a:rPr>
              <a:t> spoofing</a:t>
            </a:r>
            <a:r>
              <a:rPr lang="en-US" sz="2000" dirty="0" smtClean="0">
                <a:latin typeface="Garamond" pitchFamily="18" charset="0"/>
              </a:rPr>
              <a:t>: An attacker produces a fake biometric sample to pretend to be another user.</a:t>
            </a:r>
            <a:endParaRPr lang="en-US" sz="2000" b="1" u="sng" dirty="0" smtClean="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500034" y="1142984"/>
            <a:ext cx="8229600" cy="5143536"/>
          </a:xfrm>
        </p:spPr>
        <p:txBody>
          <a:bodyPr>
            <a:normAutofit/>
          </a:bodyPr>
          <a:lstStyle/>
          <a:p>
            <a:pPr marL="0" indent="0" algn="ctr">
              <a:buNone/>
            </a:pPr>
            <a:r>
              <a:rPr lang="en-US" sz="1900" b="1" dirty="0" smtClean="0">
                <a:solidFill>
                  <a:srgbClr val="FF0000"/>
                </a:solidFill>
                <a:latin typeface="Garamond" pitchFamily="18" charset="0"/>
              </a:rPr>
              <a:t>L) </a:t>
            </a:r>
            <a:r>
              <a:rPr lang="en-US" sz="1900" b="1" u="sng" dirty="0" smtClean="0">
                <a:solidFill>
                  <a:srgbClr val="FF0000"/>
                </a:solidFill>
                <a:latin typeface="Garamond" pitchFamily="18" charset="0"/>
              </a:rPr>
              <a:t>TAMPERING</a:t>
            </a:r>
          </a:p>
          <a:p>
            <a:pPr marL="0" indent="0" algn="ctr">
              <a:buNone/>
            </a:pPr>
            <a:endParaRPr lang="en-US" sz="1900" u="sng" dirty="0" smtClean="0">
              <a:latin typeface="Garamond" pitchFamily="18" charset="0"/>
            </a:endParaRPr>
          </a:p>
          <a:p>
            <a:pPr marL="0" indent="0" algn="ctr">
              <a:buNone/>
            </a:pPr>
            <a:r>
              <a:rPr lang="en-US" sz="1900" dirty="0" smtClean="0">
                <a:latin typeface="Garamond" pitchFamily="18" charset="0"/>
              </a:rPr>
              <a:t>Tampering describes a malicious modification or alteration of data. Examples of this type are the </a:t>
            </a:r>
            <a:r>
              <a:rPr lang="en-US" sz="1900" dirty="0" err="1" smtClean="0">
                <a:latin typeface="Garamond" pitchFamily="18" charset="0"/>
              </a:rPr>
              <a:t>EvilMaid</a:t>
            </a:r>
            <a:r>
              <a:rPr lang="en-US" sz="1900" dirty="0" smtClean="0">
                <a:latin typeface="Garamond" pitchFamily="18" charset="0"/>
              </a:rPr>
              <a:t> attacks and security services that install surveillance capabilities in routers. The latter is not necessarily negative, but it can become so if whoever appropriates it interferes in the system that was supposed to be monitored. This malicious or unauthorized third party can then access the computer. </a:t>
            </a:r>
          </a:p>
          <a:p>
            <a:pPr marL="0" indent="0" algn="ctr">
              <a:buNone/>
            </a:pPr>
            <a:endParaRPr lang="en-US" sz="1900" dirty="0" smtClean="0">
              <a:latin typeface="Garamond" pitchFamily="18" charset="0"/>
            </a:endParaRPr>
          </a:p>
          <a:p>
            <a:pPr marL="0" indent="0" algn="ctr">
              <a:buNone/>
            </a:pPr>
            <a:endParaRPr lang="en-US" sz="1900" dirty="0" smtClean="0">
              <a:latin typeface="Garamond" pitchFamily="18" charset="0"/>
            </a:endParaRPr>
          </a:p>
          <a:p>
            <a:pPr marL="0" indent="0" algn="ctr">
              <a:buNone/>
            </a:pPr>
            <a:r>
              <a:rPr lang="en-US" sz="1900" b="1" dirty="0" smtClean="0">
                <a:solidFill>
                  <a:srgbClr val="FF0000"/>
                </a:solidFill>
                <a:latin typeface="Garamond" pitchFamily="18" charset="0"/>
              </a:rPr>
              <a:t>M) </a:t>
            </a:r>
            <a:r>
              <a:rPr lang="en-US" sz="1900" b="1" u="sng" dirty="0" smtClean="0">
                <a:solidFill>
                  <a:srgbClr val="FF0000"/>
                </a:solidFill>
                <a:latin typeface="Garamond" pitchFamily="18" charset="0"/>
              </a:rPr>
              <a:t>MALWARE</a:t>
            </a:r>
          </a:p>
          <a:p>
            <a:pPr marL="0" indent="0" algn="ctr">
              <a:buNone/>
            </a:pPr>
            <a:endParaRPr lang="en-US" sz="1900" u="sng" dirty="0" smtClean="0">
              <a:latin typeface="Garamond" pitchFamily="18" charset="0"/>
            </a:endParaRPr>
          </a:p>
          <a:p>
            <a:pPr marL="0" indent="0" algn="ctr">
              <a:buNone/>
            </a:pPr>
            <a:r>
              <a:rPr lang="en-US" sz="1900" dirty="0" smtClean="0">
                <a:latin typeface="Garamond" pitchFamily="18" charset="0"/>
              </a:rPr>
              <a:t>Malware is malicious software installed on a computer which, as previously seen, can leak personal information, give control of the system to the attacker, and permanently erase data. </a:t>
            </a:r>
            <a:endParaRPr lang="en-US" sz="1900" b="1" u="sng" dirty="0" smtClean="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428596" y="1000108"/>
            <a:ext cx="8229600" cy="703282"/>
          </a:xfrm>
        </p:spPr>
        <p:txBody>
          <a:bodyPr>
            <a:normAutofit/>
          </a:bodyPr>
          <a:lstStyle/>
          <a:p>
            <a:r>
              <a:rPr lang="it-IT" sz="2200" b="1" dirty="0" smtClean="0">
                <a:solidFill>
                  <a:srgbClr val="FF0000"/>
                </a:solidFill>
                <a:latin typeface="Garamond" pitchFamily="18" charset="0"/>
              </a:rPr>
              <a:t>INFORMATION SECURITY CULTURE</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57200" y="2214554"/>
            <a:ext cx="8229600" cy="3911609"/>
          </a:xfrm>
        </p:spPr>
        <p:txBody>
          <a:bodyPr>
            <a:normAutofit/>
          </a:bodyPr>
          <a:lstStyle/>
          <a:p>
            <a:pPr marL="0" indent="0" algn="just">
              <a:buNone/>
            </a:pPr>
            <a:r>
              <a:rPr lang="en-US" sz="2000" dirty="0" smtClean="0">
                <a:latin typeface="Garamond" pitchFamily="18" charset="0"/>
              </a:rPr>
              <a:t>Employee behavior can have a huge impact on information security in organizations. </a:t>
            </a:r>
            <a:r>
              <a:rPr lang="en-US" sz="2000" u="sng" dirty="0" smtClean="0">
                <a:latin typeface="Garamond" pitchFamily="18" charset="0"/>
              </a:rPr>
              <a:t>A proper security culture can help different segments of the organization work effectively against hackers to achieve information security within an organization</a:t>
            </a:r>
            <a:r>
              <a:rPr lang="en-US" sz="2000" dirty="0" smtClean="0">
                <a:latin typeface="Garamond" pitchFamily="18" charset="0"/>
              </a:rPr>
              <a:t>."</a:t>
            </a:r>
            <a:r>
              <a:rPr lang="en-US" sz="2000" dirty="0" err="1" smtClean="0">
                <a:latin typeface="Garamond" pitchFamily="18" charset="0"/>
              </a:rPr>
              <a:t>Andersson</a:t>
            </a:r>
            <a:r>
              <a:rPr lang="en-US" sz="2000" dirty="0" smtClean="0">
                <a:latin typeface="Garamond" pitchFamily="18" charset="0"/>
              </a:rPr>
              <a:t> and </a:t>
            </a:r>
            <a:r>
              <a:rPr lang="en-US" sz="2000" dirty="0" err="1" smtClean="0">
                <a:latin typeface="Garamond" pitchFamily="18" charset="0"/>
              </a:rPr>
              <a:t>Reimers</a:t>
            </a:r>
            <a:r>
              <a:rPr lang="en-US" sz="2000" dirty="0" smtClean="0">
                <a:latin typeface="Garamond" pitchFamily="18" charset="0"/>
              </a:rPr>
              <a:t>, since 2014, have analyzed how employees often do not consider themselves part of the information security effort of their organization and how they often take actions that even hinder organizational changes, aimed at greater cyber prevention</a:t>
            </a:r>
            <a:r>
              <a:rPr lang="en-US" sz="2000" dirty="0"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428596" y="1000108"/>
            <a:ext cx="8229600" cy="703282"/>
          </a:xfrm>
        </p:spPr>
        <p:txBody>
          <a:bodyPr>
            <a:normAutofit/>
          </a:bodyPr>
          <a:lstStyle/>
          <a:p>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57200" y="2214554"/>
            <a:ext cx="8229600" cy="3911609"/>
          </a:xfrm>
        </p:spPr>
        <p:txBody>
          <a:bodyPr>
            <a:normAutofit/>
          </a:bodyPr>
          <a:lstStyle/>
          <a:p>
            <a:pPr marL="0" indent="0" algn="just">
              <a:buNone/>
            </a:pPr>
            <a:r>
              <a:rPr lang="en-US" sz="2000" dirty="0" smtClean="0">
                <a:latin typeface="Garamond" pitchFamily="18" charset="0"/>
              </a:rPr>
              <a:t>Research shows that information security culture needs to be continuously improved and transformed into ″Information Security Culture: From Analysis to Change.″ </a:t>
            </a:r>
            <a:endParaRPr lang="en-US" sz="2000" dirty="0" smtClean="0">
              <a:latin typeface="Garamond" pitchFamily="18" charset="0"/>
            </a:endParaRPr>
          </a:p>
          <a:p>
            <a:pPr marL="0" indent="0" algn="just">
              <a:buNone/>
            </a:pPr>
            <a:r>
              <a:rPr lang="en-US" sz="2000" dirty="0" smtClean="0">
                <a:latin typeface="Garamond" pitchFamily="18" charset="0"/>
              </a:rPr>
              <a:t>″</a:t>
            </a:r>
            <a:r>
              <a:rPr lang="en-US" sz="2000" dirty="0" smtClean="0">
                <a:latin typeface="Garamond" pitchFamily="18" charset="0"/>
              </a:rPr>
              <a:t>It is a never-ending process,” a cycle of evaluation, change, and maintenance that must never stop</a:t>
            </a:r>
            <a:r>
              <a:rPr lang="en-US" sz="2000" dirty="0" smtClean="0">
                <a:latin typeface="Garamond" pitchFamily="18" charset="0"/>
              </a:rPr>
              <a:t>.</a:t>
            </a:r>
          </a:p>
          <a:p>
            <a:pPr marL="0" indent="0" algn="just">
              <a:buNone/>
            </a:pPr>
            <a:r>
              <a:rPr lang="en-US" sz="2000" dirty="0" smtClean="0">
                <a:latin typeface="Garamond" pitchFamily="18" charset="0"/>
              </a:rPr>
              <a:t>To </a:t>
            </a:r>
            <a:r>
              <a:rPr lang="en-US" sz="2000" dirty="0" smtClean="0">
                <a:latin typeface="Garamond" pitchFamily="18" charset="0"/>
              </a:rPr>
              <a:t>manage the information security culture, there are five steps: pre-assessment, strategic planning, operational planning, implementation, and post-assessment.</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357158" y="857232"/>
            <a:ext cx="8229600" cy="4143404"/>
          </a:xfrm>
        </p:spPr>
        <p:txBody>
          <a:bodyPr>
            <a:normAutofit fontScale="92500" lnSpcReduction="10000"/>
          </a:bodyPr>
          <a:lstStyle/>
          <a:p>
            <a:pPr marL="0" indent="0" algn="ctr">
              <a:buAutoNum type="alphaLcParenR"/>
              <a:tabLst>
                <a:tab pos="0" algn="l"/>
              </a:tabLst>
            </a:pPr>
            <a:endParaRPr lang="en-US" sz="1900" b="1" u="sng" dirty="0" smtClean="0">
              <a:latin typeface="Garamond" pitchFamily="18" charset="0"/>
            </a:endParaRPr>
          </a:p>
          <a:p>
            <a:pPr marL="0" indent="0" algn="ctr">
              <a:buAutoNum type="alphaLcParenR"/>
              <a:tabLst>
                <a:tab pos="0" algn="l"/>
              </a:tabLst>
            </a:pPr>
            <a:endParaRPr lang="en-US" sz="1900" b="1" u="sng" dirty="0" smtClean="0">
              <a:latin typeface="Garamond" pitchFamily="18" charset="0"/>
            </a:endParaRPr>
          </a:p>
          <a:p>
            <a:pPr marL="0" indent="0" algn="ctr">
              <a:buNone/>
              <a:tabLst>
                <a:tab pos="0" algn="l"/>
              </a:tabLst>
            </a:pPr>
            <a:endParaRPr lang="en-US" sz="1900" b="1" u="sng" dirty="0" smtClean="0">
              <a:latin typeface="Garamond" pitchFamily="18" charset="0"/>
            </a:endParaRPr>
          </a:p>
          <a:p>
            <a:pPr marL="0" indent="0" algn="ctr">
              <a:buAutoNum type="alphaLcParenR"/>
              <a:tabLst>
                <a:tab pos="0" algn="l"/>
              </a:tabLst>
            </a:pPr>
            <a:endParaRPr lang="en-US" sz="1900" b="1" u="sng" dirty="0" smtClean="0">
              <a:latin typeface="Garamond" pitchFamily="18" charset="0"/>
            </a:endParaRPr>
          </a:p>
          <a:p>
            <a:pPr marL="0" indent="0" algn="ctr">
              <a:buNone/>
              <a:tabLst>
                <a:tab pos="0" algn="l"/>
              </a:tabLst>
            </a:pPr>
            <a:endParaRPr lang="en-US" sz="1900" b="1" u="sng" dirty="0" smtClean="0">
              <a:latin typeface="Garamond" pitchFamily="18" charset="0"/>
            </a:endParaRPr>
          </a:p>
          <a:p>
            <a:pPr marL="1435100" indent="0" algn="just">
              <a:buAutoNum type="alphaLcParenR"/>
              <a:tabLst>
                <a:tab pos="0" algn="l"/>
              </a:tabLst>
            </a:pPr>
            <a:r>
              <a:rPr lang="en-US" sz="1900" b="1" u="sng" dirty="0" smtClean="0">
                <a:latin typeface="Garamond" pitchFamily="18" charset="0"/>
              </a:rPr>
              <a:t>Pre-assessment</a:t>
            </a:r>
            <a:r>
              <a:rPr lang="en-US" sz="1900" dirty="0" smtClean="0">
                <a:latin typeface="Garamond" pitchFamily="18" charset="0"/>
              </a:rPr>
              <a:t>: This phase serves to identify the awareness of information security of employees and to analyze the current security policies in place.</a:t>
            </a:r>
          </a:p>
          <a:p>
            <a:pPr marL="1435100" indent="0" algn="just">
              <a:buNone/>
              <a:tabLst>
                <a:tab pos="0" algn="l"/>
              </a:tabLst>
            </a:pPr>
            <a:r>
              <a:rPr lang="en-US" sz="1900" dirty="0" smtClean="0">
                <a:latin typeface="Garamond" pitchFamily="18" charset="0"/>
              </a:rPr>
              <a:t>b) </a:t>
            </a:r>
            <a:r>
              <a:rPr lang="en-US" sz="1900" b="1" u="sng" dirty="0" smtClean="0">
                <a:latin typeface="Garamond" pitchFamily="18" charset="0"/>
              </a:rPr>
              <a:t>Strategic planning</a:t>
            </a:r>
            <a:r>
              <a:rPr lang="en-US" sz="1900" b="1" dirty="0" smtClean="0">
                <a:latin typeface="Garamond" pitchFamily="18" charset="0"/>
              </a:rPr>
              <a:t>: </a:t>
            </a:r>
            <a:r>
              <a:rPr lang="en-US" sz="1900" dirty="0" smtClean="0">
                <a:latin typeface="Garamond" pitchFamily="18" charset="0"/>
              </a:rPr>
              <a:t>This necessary phase develops a better awareness program, setting clear objectives and assembling a team of professionals, qualified to achieve it.</a:t>
            </a:r>
          </a:p>
          <a:p>
            <a:pPr marL="1435100" indent="0" algn="just">
              <a:buNone/>
              <a:tabLst>
                <a:tab pos="0" algn="l"/>
              </a:tabLst>
            </a:pPr>
            <a:r>
              <a:rPr lang="en-US" sz="1900" dirty="0" smtClean="0">
                <a:latin typeface="Garamond" pitchFamily="18" charset="0"/>
              </a:rPr>
              <a:t>c) </a:t>
            </a:r>
            <a:r>
              <a:rPr lang="en-US" sz="1900" b="1" u="sng" dirty="0" smtClean="0">
                <a:latin typeface="Garamond" pitchFamily="18" charset="0"/>
              </a:rPr>
              <a:t>Operational planning</a:t>
            </a:r>
            <a:r>
              <a:rPr lang="en-US" sz="1900" b="1" dirty="0" smtClean="0">
                <a:latin typeface="Garamond" pitchFamily="18" charset="0"/>
              </a:rPr>
              <a:t>: </a:t>
            </a:r>
            <a:r>
              <a:rPr lang="en-US" sz="1900" dirty="0" smtClean="0">
                <a:latin typeface="Garamond" pitchFamily="18" charset="0"/>
              </a:rPr>
              <a:t>This procedure establishes a good security culture, based on internal communication, management buy-ins, safety awareness, and training.</a:t>
            </a:r>
          </a:p>
          <a:p>
            <a:pPr marL="0" indent="0" algn="ctr">
              <a:buNone/>
              <a:tabLst>
                <a:tab pos="0" algn="l"/>
              </a:tabLst>
            </a:pPr>
            <a:endParaRPr lang="en-US" sz="1900" b="1"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571472" y="314324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14282" y="928670"/>
            <a:ext cx="8229600" cy="5214974"/>
          </a:xfrm>
        </p:spPr>
        <p:txBody>
          <a:bodyPr>
            <a:normAutofit/>
          </a:bodyPr>
          <a:lstStyle/>
          <a:p>
            <a:pPr marL="0" indent="0" algn="ctr">
              <a:buNone/>
              <a:tabLst>
                <a:tab pos="0" algn="l"/>
              </a:tabLst>
            </a:pPr>
            <a:endParaRPr lang="en-US" sz="1900" b="1" dirty="0" smtClean="0">
              <a:latin typeface="Garamond" pitchFamily="18" charset="0"/>
            </a:endParaRPr>
          </a:p>
          <a:p>
            <a:pPr marL="0" indent="0" algn="ctr">
              <a:buNone/>
              <a:tabLst>
                <a:tab pos="0" algn="l"/>
              </a:tabLst>
            </a:pPr>
            <a:r>
              <a:rPr lang="en-US" sz="1900" b="1" dirty="0" smtClean="0">
                <a:latin typeface="Garamond" pitchFamily="18" charset="0"/>
              </a:rPr>
              <a:t>d) </a:t>
            </a:r>
            <a:r>
              <a:rPr lang="en-US" sz="1900" b="1" u="sng" dirty="0" smtClean="0">
                <a:latin typeface="Garamond" pitchFamily="18" charset="0"/>
              </a:rPr>
              <a:t>Implementation</a:t>
            </a:r>
            <a:r>
              <a:rPr lang="en-US" sz="1900" b="1" dirty="0" smtClean="0">
                <a:latin typeface="Garamond" pitchFamily="18" charset="0"/>
              </a:rPr>
              <a:t>: </a:t>
            </a:r>
          </a:p>
          <a:p>
            <a:pPr marL="0" indent="0" algn="ctr">
              <a:buNone/>
              <a:tabLst>
                <a:tab pos="0" algn="l"/>
              </a:tabLst>
            </a:pPr>
            <a:endParaRPr lang="en-US" sz="1900" dirty="0" smtClean="0">
              <a:latin typeface="Garamond" pitchFamily="18" charset="0"/>
            </a:endParaRPr>
          </a:p>
          <a:p>
            <a:pPr marL="0" indent="0" algn="ctr">
              <a:buNone/>
              <a:tabLst>
                <a:tab pos="0" algn="l"/>
              </a:tabLst>
            </a:pPr>
            <a:r>
              <a:rPr lang="en-US" sz="1900" dirty="0" smtClean="0">
                <a:latin typeface="Garamond" pitchFamily="18" charset="0"/>
              </a:rPr>
              <a:t>This phase serves to implement information security culture. It entails 4 steps: </a:t>
            </a:r>
          </a:p>
          <a:p>
            <a:pPr marL="0" indent="0" algn="ctr">
              <a:buAutoNum type="arabicPeriod"/>
              <a:tabLst>
                <a:tab pos="0" algn="l"/>
              </a:tabLst>
            </a:pPr>
            <a:r>
              <a:rPr lang="en-US" sz="1900" dirty="0" smtClean="0">
                <a:latin typeface="Garamond" pitchFamily="18" charset="0"/>
              </a:rPr>
              <a:t>Management commitment </a:t>
            </a:r>
          </a:p>
          <a:p>
            <a:pPr marL="0" indent="0" algn="ctr">
              <a:buAutoNum type="arabicPeriod"/>
              <a:tabLst>
                <a:tab pos="0" algn="l"/>
              </a:tabLst>
            </a:pPr>
            <a:r>
              <a:rPr lang="en-US" sz="1900" dirty="0" smtClean="0">
                <a:latin typeface="Garamond" pitchFamily="18" charset="0"/>
              </a:rPr>
              <a:t>Communication with members of the organization</a:t>
            </a:r>
          </a:p>
          <a:p>
            <a:pPr marL="0" indent="0" algn="ctr">
              <a:buNone/>
              <a:tabLst>
                <a:tab pos="0" algn="l"/>
              </a:tabLst>
            </a:pPr>
            <a:r>
              <a:rPr lang="en-US" sz="1900" dirty="0" smtClean="0">
                <a:latin typeface="Garamond" pitchFamily="18" charset="0"/>
              </a:rPr>
              <a:t>3. Courses for all members of the organization</a:t>
            </a:r>
          </a:p>
          <a:p>
            <a:pPr marL="0" indent="0" algn="ctr">
              <a:buNone/>
              <a:tabLst>
                <a:tab pos="0" algn="l"/>
              </a:tabLst>
            </a:pPr>
            <a:r>
              <a:rPr lang="en-US" sz="1900" dirty="0" smtClean="0">
                <a:latin typeface="Garamond" pitchFamily="18" charset="0"/>
              </a:rPr>
              <a:t>4. Employee engagement</a:t>
            </a:r>
          </a:p>
          <a:p>
            <a:pPr marL="0" indent="0" algn="ctr">
              <a:buNone/>
              <a:tabLst>
                <a:tab pos="0" algn="l"/>
              </a:tabLst>
            </a:pPr>
            <a:endParaRPr lang="en-US" sz="1900" dirty="0" smtClean="0">
              <a:latin typeface="Garamond" pitchFamily="18" charset="0"/>
            </a:endParaRPr>
          </a:p>
          <a:p>
            <a:pPr marL="0" indent="0" algn="ctr">
              <a:buNone/>
              <a:tabLst>
                <a:tab pos="0" algn="l"/>
              </a:tabLst>
            </a:pPr>
            <a:r>
              <a:rPr lang="en-US" sz="1900" b="1" dirty="0" smtClean="0">
                <a:latin typeface="Garamond" pitchFamily="18" charset="0"/>
              </a:rPr>
              <a:t>e) </a:t>
            </a:r>
            <a:r>
              <a:rPr lang="en-US" sz="1900" b="1" u="sng" dirty="0" smtClean="0">
                <a:latin typeface="Garamond" pitchFamily="18" charset="0"/>
              </a:rPr>
              <a:t>Post-evaluation</a:t>
            </a:r>
            <a:r>
              <a:rPr lang="en-US" sz="1900" b="1" dirty="0" smtClean="0">
                <a:latin typeface="Garamond" pitchFamily="18" charset="0"/>
              </a:rPr>
              <a:t>: </a:t>
            </a:r>
            <a:r>
              <a:rPr lang="en-US" sz="1900" dirty="0" smtClean="0">
                <a:latin typeface="Garamond" pitchFamily="18" charset="0"/>
              </a:rPr>
              <a:t>This phase serves to evaluate the success of the planning and implementation and to identify the unresolved areas of interest which need intervention.</a:t>
            </a:r>
            <a:endParaRPr lang="it-IT" sz="19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785794"/>
            <a:ext cx="8229600" cy="1143000"/>
          </a:xfrm>
        </p:spPr>
        <p:txBody>
          <a:bodyPr>
            <a:normAutofit/>
          </a:bodyPr>
          <a:lstStyle/>
          <a:p>
            <a:r>
              <a:rPr lang="en-US" sz="2200" b="1" dirty="0" smtClean="0">
                <a:solidFill>
                  <a:srgbClr val="FF0000"/>
                </a:solidFill>
                <a:latin typeface="Garamond" pitchFamily="18" charset="0"/>
              </a:rPr>
              <a:t>SYSTEMS AT RISK</a:t>
            </a:r>
            <a:endParaRPr lang="it-IT" sz="2200" b="1" dirty="0">
              <a:solidFill>
                <a:srgbClr val="FF0000"/>
              </a:solidFill>
              <a:latin typeface="Garamond" pitchFamily="18" charset="0"/>
            </a:endParaRPr>
          </a:p>
        </p:txBody>
      </p:sp>
      <p:sp>
        <p:nvSpPr>
          <p:cNvPr id="11" name="Segnaposto contenuto 10"/>
          <p:cNvSpPr>
            <a:spLocks noGrp="1"/>
          </p:cNvSpPr>
          <p:nvPr>
            <p:ph idx="1"/>
          </p:nvPr>
        </p:nvSpPr>
        <p:spPr>
          <a:xfrm>
            <a:off x="457200" y="1785927"/>
            <a:ext cx="8229600" cy="4786346"/>
          </a:xfrm>
        </p:spPr>
        <p:txBody>
          <a:bodyPr>
            <a:normAutofit fontScale="70000" lnSpcReduction="20000"/>
          </a:bodyPr>
          <a:lstStyle/>
          <a:p>
            <a:pPr marL="0" indent="0" algn="just">
              <a:buNone/>
            </a:pPr>
            <a:r>
              <a:rPr lang="en-US" dirty="0" smtClean="0">
                <a:latin typeface="Garamond" pitchFamily="18" charset="0"/>
              </a:rPr>
              <a:t>The growth in the number of computer systems and the soaring reliance on them by individuals, businesses, industries, and governments, </a:t>
            </a:r>
            <a:r>
              <a:rPr lang="en-US" dirty="0" smtClean="0">
                <a:latin typeface="Garamond" pitchFamily="18" charset="0"/>
              </a:rPr>
              <a:t>means </a:t>
            </a:r>
            <a:r>
              <a:rPr lang="en-US" dirty="0" smtClean="0">
                <a:latin typeface="Garamond" pitchFamily="18" charset="0"/>
              </a:rPr>
              <a:t>that there is an increasing number of systems at risk. Several systems can be identified and the ones most exposed to risk are indicated below. </a:t>
            </a:r>
          </a:p>
          <a:p>
            <a:pPr marL="0" indent="0" algn="just">
              <a:buNone/>
            </a:pPr>
            <a:endParaRPr lang="en-US" dirty="0" smtClean="0">
              <a:latin typeface="Garamond" pitchFamily="18" charset="0"/>
            </a:endParaRPr>
          </a:p>
          <a:p>
            <a:pPr marL="514350" indent="-514350" algn="ctr">
              <a:buAutoNum type="alphaUcParenR"/>
            </a:pPr>
            <a:r>
              <a:rPr lang="en-US" b="1" dirty="0" smtClean="0">
                <a:latin typeface="Garamond" pitchFamily="18" charset="0"/>
              </a:rPr>
              <a:t>FINANCIAL SYSTEMS. </a:t>
            </a:r>
          </a:p>
          <a:p>
            <a:pPr marL="514350" indent="-514350" algn="ctr">
              <a:buNone/>
            </a:pPr>
            <a:endParaRPr lang="en-US" b="1" dirty="0" smtClean="0">
              <a:latin typeface="Garamond" pitchFamily="18" charset="0"/>
            </a:endParaRPr>
          </a:p>
          <a:p>
            <a:pPr marL="0" indent="0" algn="just">
              <a:buNone/>
            </a:pPr>
            <a:r>
              <a:rPr lang="en-US" dirty="0" smtClean="0">
                <a:latin typeface="Garamond" pitchFamily="18" charset="0"/>
              </a:rPr>
              <a:t>The computer systems of financial regulators and financial institutions, such as the US Securities and Exchange Commission, SWIFT, investment banks, and commercial banks are major hacking targets for cybercriminals interested in manipulating the markets for ill-gotten gains</a:t>
            </a:r>
            <a:r>
              <a:rPr lang="en-US" dirty="0" smtClean="0">
                <a:latin typeface="Garamond" pitchFamily="18" charset="0"/>
              </a:rPr>
              <a:t>. Websites </a:t>
            </a:r>
            <a:r>
              <a:rPr lang="en-US" dirty="0" smtClean="0">
                <a:latin typeface="Garamond" pitchFamily="18" charset="0"/>
              </a:rPr>
              <a:t>and apps that accept or store credit card numbers, brokerage accounts, and bank account information are also hacking </a:t>
            </a:r>
            <a:r>
              <a:rPr lang="en-US" dirty="0" smtClean="0">
                <a:latin typeface="Garamond" pitchFamily="18" charset="0"/>
              </a:rPr>
              <a:t>targets</a:t>
            </a:r>
            <a:r>
              <a:rPr lang="en-US" dirty="0" smtClean="0">
                <a:latin typeface="Garamond" pitchFamily="18" charset="0"/>
              </a:rPr>
              <a:t>. </a:t>
            </a:r>
            <a:endParaRPr lang="it-IT"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571612"/>
            <a:ext cx="8229600" cy="4786346"/>
          </a:xfrm>
        </p:spPr>
        <p:txBody>
          <a:bodyPr>
            <a:normAutofit/>
          </a:bodyPr>
          <a:lstStyle/>
          <a:p>
            <a:pPr marL="0" indent="0" algn="ctr">
              <a:buNone/>
            </a:pPr>
            <a:r>
              <a:rPr lang="en-US" sz="2000" b="1" dirty="0" smtClean="0">
                <a:latin typeface="Garamond" pitchFamily="18" charset="0"/>
              </a:rPr>
              <a:t>B) UTILITIES AND INDUSTRIAL EQUIPMENT </a:t>
            </a:r>
          </a:p>
          <a:p>
            <a:pPr marL="0" indent="0" algn="just">
              <a:buNone/>
            </a:pPr>
            <a:endParaRPr lang="en-US" sz="2200" dirty="0" smtClean="0">
              <a:latin typeface="Garamond" pitchFamily="18" charset="0"/>
            </a:endParaRPr>
          </a:p>
          <a:p>
            <a:pPr marL="0" indent="0" algn="just">
              <a:buNone/>
            </a:pPr>
            <a:r>
              <a:rPr lang="en-US" sz="2000" dirty="0" smtClean="0">
                <a:latin typeface="Garamond" pitchFamily="18" charset="0"/>
              </a:rPr>
              <a:t>Computers control the functions of many public services, including the coordination of telecommunications, the electrical grid, nuclear power plants, and the opening and closing of valves in water and gas networks. The Internet is a potential attack vector for such machines when </a:t>
            </a:r>
            <a:r>
              <a:rPr lang="en-US" sz="2000" dirty="0" smtClean="0">
                <a:latin typeface="Garamond" pitchFamily="18" charset="0"/>
              </a:rPr>
              <a:t>connected</a:t>
            </a:r>
            <a:r>
              <a:rPr lang="en-US" sz="2000" dirty="0"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14422"/>
            <a:ext cx="8229600" cy="4786346"/>
          </a:xfrm>
        </p:spPr>
        <p:txBody>
          <a:bodyPr>
            <a:normAutofit/>
          </a:bodyPr>
          <a:lstStyle/>
          <a:p>
            <a:pPr marL="0" indent="0" algn="ctr">
              <a:buNone/>
            </a:pPr>
            <a:r>
              <a:rPr lang="en-US" sz="2000" b="1" dirty="0" smtClean="0">
                <a:latin typeface="Garamond" pitchFamily="18" charset="0"/>
              </a:rPr>
              <a:t>C) AVIATION</a:t>
            </a:r>
          </a:p>
          <a:p>
            <a:pPr marL="0" indent="0" algn="ctr">
              <a:buNone/>
            </a:pPr>
            <a:endParaRPr lang="en-US" sz="2200" dirty="0" smtClean="0">
              <a:latin typeface="Garamond" pitchFamily="18" charset="0"/>
            </a:endParaRPr>
          </a:p>
          <a:p>
            <a:pPr marL="0" indent="0" algn="ctr">
              <a:buNone/>
            </a:pPr>
            <a:r>
              <a:rPr lang="en-US" sz="2000" dirty="0" smtClean="0">
                <a:latin typeface="Garamond" pitchFamily="18" charset="0"/>
              </a:rPr>
              <a:t>The aviation industry relies heavily on a number of complex systems that could be attacked</a:t>
            </a:r>
            <a:r>
              <a:rPr lang="en-US" sz="2000" dirty="0" smtClean="0">
                <a:latin typeface="Garamond" pitchFamily="18" charset="0"/>
              </a:rPr>
              <a:t>. A </a:t>
            </a:r>
            <a:r>
              <a:rPr lang="en-US" sz="2000" dirty="0" smtClean="0">
                <a:latin typeface="Garamond" pitchFamily="18" charset="0"/>
              </a:rPr>
              <a:t>simple power outage at an airport can cause worldwide repercussions, and much of the system relies on radio transmissions, which could be disrupted. Aircraft control over the oceans is particularly </a:t>
            </a:r>
            <a:r>
              <a:rPr lang="en-US" sz="2000" dirty="0" smtClean="0">
                <a:latin typeface="Garamond" pitchFamily="18" charset="0"/>
              </a:rPr>
              <a:t>dangerous.</a:t>
            </a:r>
          </a:p>
          <a:p>
            <a:pPr marL="0" indent="0" algn="ctr">
              <a:buNone/>
            </a:pPr>
            <a:r>
              <a:rPr lang="en-US" sz="2000" dirty="0" smtClean="0">
                <a:latin typeface="Garamond" pitchFamily="18" charset="0"/>
              </a:rPr>
              <a:t>The </a:t>
            </a:r>
            <a:r>
              <a:rPr lang="en-US" sz="2000" dirty="0" smtClean="0">
                <a:latin typeface="Garamond" pitchFamily="18" charset="0"/>
              </a:rPr>
              <a:t>consequences of a successful attack range from loss of confidentiality to loss of system integrity, and from the disruption of air traffic control to the loss of aircrafts and even the loss of life.</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85860"/>
            <a:ext cx="8329642" cy="4929221"/>
          </a:xfrm>
        </p:spPr>
        <p:txBody>
          <a:bodyPr>
            <a:normAutofit/>
          </a:bodyPr>
          <a:lstStyle/>
          <a:p>
            <a:pPr marL="0" indent="0" algn="ctr">
              <a:buNone/>
            </a:pPr>
            <a:r>
              <a:rPr lang="en-US" sz="2000" b="1" dirty="0" smtClean="0">
                <a:latin typeface="Garamond" pitchFamily="18" charset="0"/>
              </a:rPr>
              <a:t>D) </a:t>
            </a:r>
            <a:r>
              <a:rPr lang="en-US" sz="2000" b="1" u="sng" dirty="0" smtClean="0">
                <a:latin typeface="Garamond" pitchFamily="18" charset="0"/>
              </a:rPr>
              <a:t>CONSUMER DEVICES</a:t>
            </a:r>
          </a:p>
          <a:p>
            <a:pPr marL="0" indent="0" algn="ctr">
              <a:buNone/>
            </a:pPr>
            <a:endParaRPr lang="en-US" sz="2100" u="sng" dirty="0" smtClean="0">
              <a:latin typeface="Garamond" pitchFamily="18" charset="0"/>
            </a:endParaRPr>
          </a:p>
          <a:p>
            <a:pPr marL="0" indent="0" algn="ctr">
              <a:buNone/>
            </a:pPr>
            <a:r>
              <a:rPr lang="en-US" sz="2000" dirty="0" smtClean="0">
                <a:latin typeface="Garamond" pitchFamily="18" charset="0"/>
              </a:rPr>
              <a:t>Desktop computers and laptops are commonly targeted to harvest passwords or financial account information, or to build a </a:t>
            </a:r>
            <a:r>
              <a:rPr lang="en-US" sz="2000" dirty="0" err="1" smtClean="0">
                <a:latin typeface="Garamond" pitchFamily="18" charset="0"/>
              </a:rPr>
              <a:t>botnet</a:t>
            </a:r>
            <a:r>
              <a:rPr lang="en-US" sz="2000" dirty="0" smtClean="0">
                <a:latin typeface="Garamond" pitchFamily="18" charset="0"/>
              </a:rPr>
              <a:t> to attack another target. </a:t>
            </a:r>
            <a:r>
              <a:rPr lang="en-US" sz="2000" dirty="0" err="1" smtClean="0">
                <a:latin typeface="Garamond" pitchFamily="18" charset="0"/>
              </a:rPr>
              <a:t>Smartphones</a:t>
            </a:r>
            <a:r>
              <a:rPr lang="en-US" sz="2000" dirty="0" smtClean="0">
                <a:latin typeface="Garamond" pitchFamily="18" charset="0"/>
              </a:rPr>
              <a:t>, tablets, smart watches, and other mobile devices, including automated quantified devices like activity trackers, have sensors (cameras, microphones, GPS receivers, compasses, and accelerometers) that can be used to collect sensitive personal and health information via </a:t>
            </a:r>
            <a:r>
              <a:rPr lang="en-US" sz="2000" dirty="0" err="1" smtClean="0">
                <a:latin typeface="Garamond" pitchFamily="18" charset="0"/>
              </a:rPr>
              <a:t>WiFi</a:t>
            </a:r>
            <a:r>
              <a:rPr lang="en-US" sz="2000" dirty="0" smtClean="0">
                <a:latin typeface="Garamond" pitchFamily="18" charset="0"/>
              </a:rPr>
              <a:t>, Bluetooth, and cell phone networks. Any of these devices could be used as an attack </a:t>
            </a:r>
            <a:r>
              <a:rPr lang="en-US" sz="2000" dirty="0" smtClean="0">
                <a:latin typeface="Garamond" pitchFamily="18" charset="0"/>
              </a:rPr>
              <a:t>vector</a:t>
            </a:r>
            <a:r>
              <a:rPr lang="en-US" sz="2000" dirty="0"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85860"/>
            <a:ext cx="8229600" cy="4929221"/>
          </a:xfrm>
        </p:spPr>
        <p:txBody>
          <a:bodyPr>
            <a:normAutofit/>
          </a:bodyPr>
          <a:lstStyle/>
          <a:p>
            <a:pPr marL="0" indent="0" algn="ctr">
              <a:buNone/>
            </a:pPr>
            <a:r>
              <a:rPr lang="en-US" sz="2100" b="1" dirty="0" smtClean="0">
                <a:latin typeface="Garamond" pitchFamily="18" charset="0"/>
              </a:rPr>
              <a:t>E) LARGE COMPANIES</a:t>
            </a:r>
          </a:p>
          <a:p>
            <a:pPr marL="0" indent="0" algn="ctr">
              <a:buNone/>
            </a:pPr>
            <a:endParaRPr lang="en-US" sz="2100" dirty="0" smtClean="0">
              <a:latin typeface="Garamond" pitchFamily="18" charset="0"/>
            </a:endParaRPr>
          </a:p>
          <a:p>
            <a:pPr marL="0" indent="0" algn="ctr">
              <a:buNone/>
            </a:pPr>
            <a:r>
              <a:rPr lang="en-US" sz="2100" dirty="0" smtClean="0">
                <a:latin typeface="Garamond" pitchFamily="18" charset="0"/>
              </a:rPr>
              <a:t>Large companies are common targets</a:t>
            </a:r>
            <a:r>
              <a:rPr lang="en-US" sz="2100" dirty="0" smtClean="0">
                <a:latin typeface="Garamond" pitchFamily="18" charset="0"/>
              </a:rPr>
              <a:t>. In </a:t>
            </a:r>
            <a:r>
              <a:rPr lang="en-US" sz="2100" dirty="0" smtClean="0">
                <a:latin typeface="Garamond" pitchFamily="18" charset="0"/>
              </a:rPr>
              <a:t>many cases, the attacks aim for financial gain through identity theft and involve data breaches</a:t>
            </a:r>
            <a:r>
              <a:rPr lang="en-US" sz="2100" dirty="0" smtClean="0">
                <a:latin typeface="Garamond" pitchFamily="18" charset="0"/>
              </a:rPr>
              <a:t>. Examples </a:t>
            </a:r>
            <a:r>
              <a:rPr lang="en-US" sz="2100" dirty="0" smtClean="0">
                <a:latin typeface="Garamond" pitchFamily="18" charset="0"/>
              </a:rPr>
              <a:t>include the loss of credit card details of millions of customers by </a:t>
            </a:r>
            <a:r>
              <a:rPr lang="en-US" sz="2100" dirty="0" smtClean="0">
                <a:latin typeface="Garamond" pitchFamily="18" charset="0"/>
              </a:rPr>
              <a:t>platforms.  </a:t>
            </a:r>
          </a:p>
          <a:p>
            <a:pPr marL="0" indent="0" algn="ctr">
              <a:buNone/>
            </a:pPr>
            <a:r>
              <a:rPr lang="en-US" sz="2100" dirty="0" smtClean="0">
                <a:latin typeface="Garamond" pitchFamily="18" charset="0"/>
              </a:rPr>
              <a:t>Patient </a:t>
            </a:r>
            <a:r>
              <a:rPr lang="en-US" sz="2100" dirty="0" smtClean="0">
                <a:latin typeface="Garamond" pitchFamily="18" charset="0"/>
              </a:rPr>
              <a:t>records, for example, have generally been targeted for theft, health insurance fraud, and patient impersonation to obtain prescription drugs for personal use, or worse, or for resale.</a:t>
            </a:r>
            <a:endParaRPr lang="it-IT" sz="21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143768" y="5643578"/>
            <a:ext cx="978408" cy="2143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357158" y="857232"/>
            <a:ext cx="8229600" cy="4929221"/>
          </a:xfrm>
        </p:spPr>
        <p:txBody>
          <a:bodyPr>
            <a:normAutofit/>
          </a:bodyPr>
          <a:lstStyle/>
          <a:p>
            <a:pPr marL="0" indent="0" algn="ctr">
              <a:buNone/>
            </a:pPr>
            <a:endParaRPr lang="en-US" sz="2100" dirty="0" smtClean="0">
              <a:latin typeface="Garamond" pitchFamily="18" charset="0"/>
            </a:endParaRPr>
          </a:p>
          <a:p>
            <a:pPr marL="0" indent="0" algn="ctr">
              <a:buNone/>
            </a:pPr>
            <a:endParaRPr lang="en-US" sz="2100" dirty="0" smtClean="0">
              <a:latin typeface="Garamond" pitchFamily="18" charset="0"/>
            </a:endParaRPr>
          </a:p>
          <a:p>
            <a:pPr marL="0" indent="0" algn="ctr">
              <a:buNone/>
            </a:pPr>
            <a:r>
              <a:rPr lang="en-US" sz="2100" dirty="0" smtClean="0">
                <a:latin typeface="Garamond" pitchFamily="18" charset="0"/>
              </a:rPr>
              <a:t>While cyber threats continue to rise, a 2015 survey found that 62% of all organizations have not increased security training for their businesses</a:t>
            </a:r>
            <a:r>
              <a:rPr lang="en-US" sz="2100" dirty="0" smtClean="0">
                <a:latin typeface="Garamond" pitchFamily="18" charset="0"/>
              </a:rPr>
              <a:t>. It </a:t>
            </a:r>
            <a:r>
              <a:rPr lang="en-US" sz="2100" dirty="0" smtClean="0">
                <a:latin typeface="Garamond" pitchFamily="18" charset="0"/>
              </a:rPr>
              <a:t>should also be added that not all attacks are financially motivated. </a:t>
            </a:r>
            <a:endParaRPr lang="en-US" sz="2100" dirty="0" smtClean="0">
              <a:latin typeface="Garamond" pitchFamily="18" charset="0"/>
            </a:endParaRPr>
          </a:p>
          <a:p>
            <a:pPr marL="0" indent="0" algn="ctr">
              <a:buNone/>
            </a:pPr>
            <a:r>
              <a:rPr lang="en-US" sz="2100" dirty="0" smtClean="0">
                <a:latin typeface="Garamond" pitchFamily="18" charset="0"/>
              </a:rPr>
              <a:t>Sony </a:t>
            </a:r>
            <a:r>
              <a:rPr lang="en-US" sz="2100" dirty="0" smtClean="0">
                <a:latin typeface="Garamond" pitchFamily="18" charset="0"/>
              </a:rPr>
              <a:t>Pictures was also hacked in 2014, with the apparent dual motivation of embarrassing the company through data leaks and crippling the company by deleting workstations and servers, all just to damage its reputation. </a:t>
            </a:r>
            <a:endParaRPr lang="it-IT" sz="21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85860"/>
            <a:ext cx="8229600" cy="4929221"/>
          </a:xfrm>
        </p:spPr>
        <p:txBody>
          <a:bodyPr>
            <a:normAutofit/>
          </a:bodyPr>
          <a:lstStyle/>
          <a:p>
            <a:pPr marL="0" indent="0" algn="ctr">
              <a:buNone/>
            </a:pPr>
            <a:endParaRPr lang="en-US" sz="2100" dirty="0" smtClean="0">
              <a:latin typeface="Garamond" pitchFamily="18" charset="0"/>
            </a:endParaRPr>
          </a:p>
          <a:p>
            <a:pPr marL="0" indent="0" algn="ctr">
              <a:buNone/>
            </a:pPr>
            <a:r>
              <a:rPr lang="en-US" sz="2100" b="1" dirty="0" smtClean="0">
                <a:latin typeface="Garamond" pitchFamily="18" charset="0"/>
              </a:rPr>
              <a:t>F) AUTOMOBILES</a:t>
            </a:r>
          </a:p>
          <a:p>
            <a:pPr marL="0" indent="0" algn="ctr">
              <a:buNone/>
            </a:pPr>
            <a:endParaRPr lang="en-US" sz="2100" dirty="0" smtClean="0">
              <a:latin typeface="Garamond" pitchFamily="18" charset="0"/>
            </a:endParaRPr>
          </a:p>
          <a:p>
            <a:pPr marL="0" indent="0" algn="ctr">
              <a:buNone/>
            </a:pPr>
            <a:r>
              <a:rPr lang="en-US" sz="2100" dirty="0" smtClean="0">
                <a:latin typeface="Garamond" pitchFamily="18" charset="0"/>
              </a:rPr>
              <a:t>Vehicles are increasingly computerized, with engine timing, cruise control, anti-lock brakes, seat belt </a:t>
            </a:r>
            <a:r>
              <a:rPr lang="en-US" sz="2100" dirty="0" err="1" smtClean="0">
                <a:latin typeface="Garamond" pitchFamily="18" charset="0"/>
              </a:rPr>
              <a:t>pretensioners</a:t>
            </a:r>
            <a:r>
              <a:rPr lang="en-US" sz="2100" dirty="0" smtClean="0">
                <a:latin typeface="Garamond" pitchFamily="18" charset="0"/>
              </a:rPr>
              <a:t>, door locks, airbags, and advanced driver assistance systems on many models. In addition, connected cars can use Wi-Fi and Bluetooth to communicate with on-board devices and cellular phone networks. All of these systems pose certain safety risks, and these problems have garnered widespread attention from automakers.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572396" y="5572140"/>
            <a:ext cx="621218" cy="428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642918"/>
            <a:ext cx="8229600" cy="4929221"/>
          </a:xfrm>
        </p:spPr>
        <p:txBody>
          <a:bodyPr>
            <a:normAutofit/>
          </a:bodyPr>
          <a:lstStyle/>
          <a:p>
            <a:pPr marL="0" indent="0" algn="ctr">
              <a:buNone/>
            </a:pPr>
            <a:endParaRPr lang="en-US" sz="2100" dirty="0" smtClean="0">
              <a:latin typeface="Garamond" pitchFamily="18" charset="0"/>
            </a:endParaRPr>
          </a:p>
          <a:p>
            <a:pPr marL="0" indent="0" algn="ctr">
              <a:buNone/>
            </a:pPr>
            <a:endParaRPr lang="en-US" sz="2100" dirty="0" smtClean="0">
              <a:latin typeface="Garamond" pitchFamily="18" charset="0"/>
            </a:endParaRPr>
          </a:p>
          <a:p>
            <a:pPr marL="0" indent="0" algn="ctr">
              <a:buNone/>
            </a:pPr>
            <a:endParaRPr lang="en-US" sz="2100" dirty="0" smtClean="0">
              <a:latin typeface="Garamond" pitchFamily="18" charset="0"/>
            </a:endParaRPr>
          </a:p>
          <a:p>
            <a:pPr marL="0" indent="0" algn="ctr">
              <a:buNone/>
            </a:pPr>
            <a:r>
              <a:rPr lang="en-US" sz="2100" dirty="0" smtClean="0">
                <a:latin typeface="Garamond" pitchFamily="18" charset="0"/>
              </a:rPr>
              <a:t>However, if one gains access to a car's internal controller area network, the danger is much greater. </a:t>
            </a:r>
            <a:r>
              <a:rPr lang="en-US" sz="2100" dirty="0" smtClean="0">
                <a:latin typeface="Garamond" pitchFamily="18" charset="0"/>
              </a:rPr>
              <a:t>Manufacturers </a:t>
            </a:r>
            <a:r>
              <a:rPr lang="en-US" sz="2100" dirty="0" smtClean="0">
                <a:latin typeface="Garamond" pitchFamily="18" charset="0"/>
              </a:rPr>
              <a:t>are reacting in different ways. Tesla, for instance, has been placing "over the air" security solutions into its car computer systems since 2016.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85860"/>
            <a:ext cx="8229600" cy="4929221"/>
          </a:xfrm>
        </p:spPr>
        <p:txBody>
          <a:bodyPr>
            <a:normAutofit/>
          </a:bodyPr>
          <a:lstStyle/>
          <a:p>
            <a:pPr marL="0" indent="0" algn="ctr">
              <a:buNone/>
            </a:pPr>
            <a:endParaRPr lang="en-US" sz="2100" dirty="0" smtClean="0">
              <a:latin typeface="Garamond" pitchFamily="18" charset="0"/>
            </a:endParaRPr>
          </a:p>
          <a:p>
            <a:pPr marL="0" indent="0" algn="ctr">
              <a:buNone/>
            </a:pPr>
            <a:r>
              <a:rPr lang="en-US" sz="2100" b="1" dirty="0" smtClean="0">
                <a:latin typeface="Garamond" pitchFamily="18" charset="0"/>
              </a:rPr>
              <a:t>G) GOVERNMENTS</a:t>
            </a:r>
          </a:p>
          <a:p>
            <a:pPr marL="0" indent="0" algn="ctr">
              <a:buNone/>
            </a:pPr>
            <a:endParaRPr lang="en-US" sz="2100" dirty="0" smtClean="0">
              <a:latin typeface="Garamond" pitchFamily="18" charset="0"/>
            </a:endParaRPr>
          </a:p>
          <a:p>
            <a:pPr marL="0" indent="0" algn="ctr">
              <a:buNone/>
            </a:pPr>
            <a:r>
              <a:rPr lang="en-US" sz="2100" dirty="0" smtClean="0">
                <a:latin typeface="Garamond" pitchFamily="18" charset="0"/>
              </a:rPr>
              <a:t>Governmental and military computer systems of different countries are commonly attacked by foreign powers and activists. A country’s local and regional governmental infrastructure, which can include traffic light controls, police and intelligence communications, personnel records, student records, and financial systems are all potential targets since just about everything has been largely computerized by now. </a:t>
            </a:r>
          </a:p>
          <a:p>
            <a:pPr marL="0" indent="0" algn="ctr">
              <a:buNone/>
            </a:pPr>
            <a:endParaRPr lang="en-US" sz="21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85860"/>
            <a:ext cx="8229600" cy="4929221"/>
          </a:xfrm>
        </p:spPr>
        <p:txBody>
          <a:bodyPr>
            <a:normAutofit/>
          </a:bodyPr>
          <a:lstStyle/>
          <a:p>
            <a:pPr marL="0" indent="0" algn="ctr">
              <a:buNone/>
            </a:pPr>
            <a:endParaRPr lang="en-US" sz="2100" dirty="0" smtClean="0">
              <a:latin typeface="Garamond" pitchFamily="18" charset="0"/>
            </a:endParaRPr>
          </a:p>
          <a:p>
            <a:pPr marL="0" indent="0" algn="ctr">
              <a:buNone/>
            </a:pPr>
            <a:r>
              <a:rPr lang="en-US" sz="2000" b="1" dirty="0" smtClean="0">
                <a:latin typeface="Garamond" pitchFamily="18" charset="0"/>
              </a:rPr>
              <a:t>H) INTERNET OF THINGS AND PHYSICAL VULNERABILITIES</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Internet of Things (</a:t>
            </a:r>
            <a:r>
              <a:rPr lang="en-US" sz="2000" dirty="0" err="1" smtClean="0">
                <a:latin typeface="Garamond" pitchFamily="18" charset="0"/>
              </a:rPr>
              <a:t>IoT</a:t>
            </a:r>
            <a:r>
              <a:rPr lang="en-US" sz="2000" dirty="0" smtClean="0">
                <a:latin typeface="Garamond" pitchFamily="18" charset="0"/>
              </a:rPr>
              <a:t>) is a network of physical objects in which devices, vehicles, and buildings are integrated with electronics, software, sensors, and network connectivity allowing them to collect and exchange data, even within a domestic environment. Concerns have been expressed that this sector is being developed without proper consideration of the security challenges involved</a:t>
            </a:r>
            <a:r>
              <a:rPr lang="en-US" sz="2000" dirty="0" smtClean="0">
                <a:latin typeface="Garamond" pitchFamily="18" charset="0"/>
              </a:rPr>
              <a:t>. </a:t>
            </a:r>
          </a:p>
          <a:p>
            <a:pPr marL="0" indent="0" algn="ctr">
              <a:buNone/>
            </a:pPr>
            <a:r>
              <a:rPr lang="en-US" sz="2000" dirty="0" smtClean="0">
                <a:latin typeface="Garamond" pitchFamily="18" charset="0"/>
              </a:rPr>
              <a:t>In </a:t>
            </a:r>
            <a:r>
              <a:rPr lang="en-US" sz="2000" dirty="0" smtClean="0">
                <a:latin typeface="Garamond" pitchFamily="18" charset="0"/>
              </a:rPr>
              <a:t>particular, as the Internet of Things spreads, cyber attacks are likely to become an increasingly physical (rather than merely virtual) threat.</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358082" y="5929330"/>
            <a:ext cx="714380" cy="3417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85860"/>
            <a:ext cx="8229600" cy="4929221"/>
          </a:xfrm>
        </p:spPr>
        <p:txBody>
          <a:bodyPr>
            <a:normAutofit/>
          </a:bodyPr>
          <a:lstStyle/>
          <a:p>
            <a:pPr marL="0" indent="0" algn="ctr">
              <a:buNone/>
            </a:pPr>
            <a:endParaRPr lang="en-US" sz="2100" dirty="0" smtClean="0">
              <a:latin typeface="Garamond" pitchFamily="18" charset="0"/>
            </a:endParaRPr>
          </a:p>
          <a:p>
            <a:pPr marL="0" indent="0" algn="ctr">
              <a:buNone/>
            </a:pPr>
            <a:endParaRPr lang="en-US" sz="2100" dirty="0" smtClean="0">
              <a:latin typeface="Garamond" pitchFamily="18" charset="0"/>
            </a:endParaRPr>
          </a:p>
          <a:p>
            <a:pPr marL="0" indent="0" algn="ctr">
              <a:buNone/>
            </a:pPr>
            <a:r>
              <a:rPr lang="en-US" sz="2000" dirty="0" smtClean="0">
                <a:latin typeface="Garamond" pitchFamily="18" charset="0"/>
              </a:rPr>
              <a:t>If a front door lock is connected to the Internet and can be locked/unlocked from a phone, a criminal could enter your home by simply pressing a button from a stolen or hacked phone.  A recent example saw burglars using electronic means to bypass hotel door locks, even when not connected to the Internet. An attack that targets physical infrastructure and human life is sometimes referred to as a cyber-kinetic attack. As </a:t>
            </a:r>
            <a:r>
              <a:rPr lang="en-US" sz="2000" dirty="0" err="1" smtClean="0">
                <a:latin typeface="Garamond" pitchFamily="18" charset="0"/>
              </a:rPr>
              <a:t>IoT</a:t>
            </a:r>
            <a:r>
              <a:rPr lang="en-US" sz="2000" dirty="0" smtClean="0">
                <a:latin typeface="Garamond" pitchFamily="18" charset="0"/>
              </a:rPr>
              <a:t> devices and appliances become more widespread, cyber-kinetic attacks could become pervasive and significantly harmful to the community.</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85860"/>
            <a:ext cx="8229600" cy="4929221"/>
          </a:xfrm>
        </p:spPr>
        <p:txBody>
          <a:bodyPr>
            <a:normAutofit/>
          </a:bodyPr>
          <a:lstStyle/>
          <a:p>
            <a:pPr marL="0" indent="0" algn="ctr">
              <a:buNone/>
            </a:pPr>
            <a:endParaRPr lang="en-US" sz="2100" dirty="0" smtClean="0">
              <a:latin typeface="Garamond" pitchFamily="18" charset="0"/>
            </a:endParaRPr>
          </a:p>
          <a:p>
            <a:pPr marL="0" indent="0" algn="ctr">
              <a:buNone/>
            </a:pPr>
            <a:r>
              <a:rPr lang="en-US" sz="2000" b="1" dirty="0" smtClean="0">
                <a:latin typeface="Garamond" pitchFamily="18" charset="0"/>
              </a:rPr>
              <a:t>I)MEDICAL SYSTEMS </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Medical devices have been successfully attacked in recent </a:t>
            </a:r>
            <a:r>
              <a:rPr lang="en-US" sz="2000" dirty="0" smtClean="0">
                <a:latin typeface="Garamond" pitchFamily="18" charset="0"/>
              </a:rPr>
              <a:t>years. </a:t>
            </a:r>
          </a:p>
          <a:p>
            <a:pPr marL="0" indent="0" algn="ctr">
              <a:buNone/>
            </a:pPr>
            <a:r>
              <a:rPr lang="en-US" sz="2000" dirty="0" smtClean="0">
                <a:latin typeface="Garamond" pitchFamily="18" charset="0"/>
              </a:rPr>
              <a:t>There </a:t>
            </a:r>
            <a:r>
              <a:rPr lang="en-US" sz="2000" dirty="0" smtClean="0">
                <a:latin typeface="Garamond" pitchFamily="18" charset="0"/>
              </a:rPr>
              <a:t>are many reports of hospitals and hospital organizations being hacked through </a:t>
            </a:r>
            <a:r>
              <a:rPr lang="en-US" sz="2000" dirty="0" err="1" smtClean="0">
                <a:latin typeface="Garamond" pitchFamily="18" charset="0"/>
              </a:rPr>
              <a:t>ransomware</a:t>
            </a:r>
            <a:r>
              <a:rPr lang="en-US" sz="2000" dirty="0" smtClean="0">
                <a:latin typeface="Garamond" pitchFamily="18" charset="0"/>
              </a:rPr>
              <a:t> attacks, Windows XP exploits, viruses, and breaches of sensitive data stored on hospital servers</a:t>
            </a:r>
            <a:r>
              <a:rPr lang="en-US" sz="2000" dirty="0" smtClean="0">
                <a:latin typeface="Garamond" pitchFamily="18" charset="0"/>
              </a:rPr>
              <a:t>. </a:t>
            </a: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85860"/>
            <a:ext cx="8229600" cy="4929221"/>
          </a:xfrm>
        </p:spPr>
        <p:txBody>
          <a:bodyPr>
            <a:normAutofit/>
          </a:bodyPr>
          <a:lstStyle/>
          <a:p>
            <a:pPr marL="0" indent="0" algn="ctr">
              <a:buNone/>
            </a:pPr>
            <a:r>
              <a:rPr lang="en-US" sz="2000" b="1" dirty="0" smtClean="0">
                <a:latin typeface="Garamond" pitchFamily="18" charset="0"/>
              </a:rPr>
              <a:t>J) ENERGY SECTOR</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“In distributed energy generation systems, the risk of a cyber attack is real,” according to the Daily Energy Insider. An attack could cause a loss of power in a large area, over a long period of time, with consequences as serious as a natural disaster.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215206" y="5500702"/>
            <a:ext cx="785818"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85860"/>
            <a:ext cx="8229600" cy="4929221"/>
          </a:xfrm>
        </p:spPr>
        <p:txBody>
          <a:bodyPr>
            <a:normAutofit/>
          </a:bodyPr>
          <a:lstStyle/>
          <a:p>
            <a:pPr marL="0" indent="0" algn="ctr">
              <a:buNone/>
            </a:pPr>
            <a:endParaRPr lang="en-US" sz="2100" dirty="0" smtClean="0">
              <a:latin typeface="Garamond" pitchFamily="18" charset="0"/>
            </a:endParaRPr>
          </a:p>
          <a:p>
            <a:pPr marL="0" indent="0" algn="ctr">
              <a:buNone/>
            </a:pPr>
            <a:endParaRPr lang="en-US" sz="2100" dirty="0" smtClean="0">
              <a:latin typeface="Garamond" pitchFamily="18" charset="0"/>
            </a:endParaRPr>
          </a:p>
          <a:p>
            <a:pPr marL="0" indent="0" algn="ctr">
              <a:buNone/>
            </a:pPr>
            <a:endParaRPr lang="en-US" sz="2100" dirty="0" smtClean="0">
              <a:latin typeface="Garamond" pitchFamily="18" charset="0"/>
            </a:endParaRPr>
          </a:p>
          <a:p>
            <a:pPr marL="0" indent="0" algn="ctr">
              <a:buNone/>
            </a:pPr>
            <a:r>
              <a:rPr lang="en-US" sz="2100" smtClean="0">
                <a:latin typeface="Garamond" pitchFamily="18" charset="0"/>
              </a:rPr>
              <a:t>Currently</a:t>
            </a:r>
            <a:r>
              <a:rPr lang="en-US" sz="2100" dirty="0" smtClean="0">
                <a:latin typeface="Garamond" pitchFamily="18" charset="0"/>
              </a:rPr>
              <a:t>, decentralization is seen as secure only through the use of blockchain technology.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olo 1"/>
          <p:cNvSpPr>
            <a:spLocks noGrp="1"/>
          </p:cNvSpPr>
          <p:nvPr>
            <p:ph type="ctrTitle"/>
          </p:nvPr>
        </p:nvSpPr>
        <p:spPr>
          <a:xfrm>
            <a:off x="539750" y="285728"/>
            <a:ext cx="8064500" cy="5643602"/>
          </a:xfrm>
        </p:spPr>
        <p:txBody>
          <a:bodyPr rtlCol="0" anchor="t">
            <a:normAutofit/>
          </a:bodyPr>
          <a:lstStyle/>
          <a:p>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a:solidFill>
                  <a:srgbClr val="FF0000"/>
                </a:solidFill>
                <a:latin typeface="Garamond" pitchFamily="18" charset="0"/>
              </a:rPr>
              <a:t/>
            </a:r>
            <a:br>
              <a:rPr lang="it-IT" sz="2400" b="1">
                <a:solidFill>
                  <a:srgbClr val="FF0000"/>
                </a:solidFill>
                <a:latin typeface="Garamond" pitchFamily="18" charset="0"/>
              </a:rPr>
            </a:br>
            <a:r>
              <a:rPr lang="it-IT" altLang="it-IT" sz="3600" b="1" smtClean="0">
                <a:solidFill>
                  <a:srgbClr val="FF0000"/>
                </a:solidFill>
                <a:latin typeface="Garamond" pitchFamily="18" charset="0"/>
              </a:rPr>
              <a:t>THANKS FOR YOUR ATTENTION</a:t>
            </a:r>
            <a:br>
              <a:rPr lang="it-IT" altLang="it-IT" sz="3600" b="1"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41</a:t>
            </a:fld>
            <a:endParaRPr lang="it-IT"/>
          </a:p>
        </p:txBody>
      </p:sp>
      <p:sp>
        <p:nvSpPr>
          <p:cNvPr id="14342" name="CasellaDiTesto 8"/>
          <p:cNvSpPr txBox="1">
            <a:spLocks noChangeArrowheads="1"/>
          </p:cNvSpPr>
          <p:nvPr/>
        </p:nvSpPr>
        <p:spPr bwMode="auto">
          <a:xfrm>
            <a:off x="1979613" y="6092825"/>
            <a:ext cx="4895850" cy="519113"/>
          </a:xfrm>
          <a:prstGeom prst="rect">
            <a:avLst/>
          </a:prstGeom>
          <a:noFill/>
          <a:ln w="9525">
            <a:noFill/>
            <a:miter lim="800000"/>
            <a:headEnd/>
            <a:tailEnd/>
          </a:ln>
        </p:spPr>
        <p:txBody>
          <a:bodyPr>
            <a:spAutoFit/>
          </a:bodyPr>
          <a:lstStyle/>
          <a:p>
            <a:pPr algn="ctr"/>
            <a:r>
              <a:rPr lang="it-IT" sz="2800" b="1" dirty="0">
                <a:latin typeface="Garamond" pitchFamily="18" charset="0"/>
              </a:rPr>
              <a:t>www.avvocatobruccoleri.it</a:t>
            </a:r>
          </a:p>
        </p:txBody>
      </p:sp>
      <p:sp>
        <p:nvSpPr>
          <p:cNvPr id="9" name="CasellaDiTesto 8"/>
          <p:cNvSpPr txBox="1">
            <a:spLocks noChangeArrowheads="1"/>
          </p:cNvSpPr>
          <p:nvPr/>
        </p:nvSpPr>
        <p:spPr bwMode="auto">
          <a:xfrm>
            <a:off x="28600" y="3804"/>
            <a:ext cx="2843213" cy="677108"/>
          </a:xfrm>
          <a:prstGeom prst="rect">
            <a:avLst/>
          </a:prstGeom>
          <a:noFill/>
          <a:ln w="9525">
            <a:noFill/>
            <a:miter lim="800000"/>
            <a:headEnd/>
            <a:tailEnd/>
          </a:ln>
        </p:spPr>
        <p:txBody>
          <a:bodyPr wrap="square">
            <a:spAutoFit/>
          </a:bodyPr>
          <a:lstStyle/>
          <a:p>
            <a:pPr eaLnBrk="1" hangingPunct="1"/>
            <a:endParaRPr lang="it-IT" altLang="it-IT" sz="2000" dirty="0">
              <a:latin typeface="Garamond" pitchFamily="18" charset="0"/>
            </a:endParaRPr>
          </a:p>
          <a:p>
            <a:pPr eaLnBrk="1" hangingPunct="1"/>
            <a:endParaRPr lang="it-IT" altLang="it-IT" dirty="0"/>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extLst>
      <p:ext uri="{BB962C8B-B14F-4D97-AF65-F5344CB8AC3E}">
        <p14:creationId xmlns="" xmlns:p14="http://schemas.microsoft.com/office/powerpoint/2010/main" val="284894450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3000</Words>
  <Application>Microsoft Office PowerPoint</Application>
  <PresentationFormat>Presentazione su schermo (4:3)</PresentationFormat>
  <Paragraphs>346</Paragraphs>
  <Slides>41</Slides>
  <Notes>41</Notes>
  <HiddenSlides>0</HiddenSlides>
  <MMClips>0</MMClips>
  <ScaleCrop>false</ScaleCrop>
  <HeadingPairs>
    <vt:vector size="4" baseType="variant">
      <vt:variant>
        <vt:lpstr>Tema</vt:lpstr>
      </vt:variant>
      <vt:variant>
        <vt:i4>1</vt:i4>
      </vt:variant>
      <vt:variant>
        <vt:lpstr>Titoli diapositive</vt:lpstr>
      </vt:variant>
      <vt:variant>
        <vt:i4>41</vt:i4>
      </vt:variant>
    </vt:vector>
  </HeadingPairs>
  <TitlesOfParts>
    <vt:vector size="42" baseType="lpstr">
      <vt:lpstr>Tema di Office</vt:lpstr>
      <vt:lpstr>    CYBERSECURITY, TYPES OF SECURITY, AND PRIVACY  N. 4</vt:lpstr>
      <vt:lpstr>INDEX</vt:lpstr>
      <vt:lpstr>DENIAL OF SERVICE ATTACKS</vt:lpstr>
      <vt:lpstr>MALWARE</vt:lpstr>
      <vt:lpstr>MALWARE</vt:lpstr>
      <vt:lpstr>Diapositiva 6</vt:lpstr>
      <vt:lpstr>TYPES OF CYBER ATTACKS AND VULNERABILITIES</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INFORMATION SECURITY CULTURE</vt:lpstr>
      <vt:lpstr>Diapositiva 24</vt:lpstr>
      <vt:lpstr>Diapositiva 25</vt:lpstr>
      <vt:lpstr>Diapositiva 26</vt:lpstr>
      <vt:lpstr>SYSTEMS AT RISK</vt:lpstr>
      <vt:lpstr>Diapositiva 28</vt:lpstr>
      <vt:lpstr>Diapositiva 29</vt:lpstr>
      <vt:lpstr>Diapositiva 30</vt:lpstr>
      <vt:lpstr>Diapositiva 31</vt:lpstr>
      <vt:lpstr>Diapositiva 32</vt:lpstr>
      <vt:lpstr>Diapositiva 33</vt:lpstr>
      <vt:lpstr>Diapositiva 34</vt:lpstr>
      <vt:lpstr>Diapositiva 35</vt:lpstr>
      <vt:lpstr>Diapositiva 36</vt:lpstr>
      <vt:lpstr>Diapositiva 37</vt:lpstr>
      <vt:lpstr>Diapositiva 38</vt:lpstr>
      <vt:lpstr>Diapositiva 39</vt:lpstr>
      <vt:lpstr>Diapositiva 40</vt:lpstr>
      <vt:lpstr>      THANKS FOR YOUR ATTENTION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31</cp:revision>
  <dcterms:created xsi:type="dcterms:W3CDTF">2023-05-29T15:08:51Z</dcterms:created>
  <dcterms:modified xsi:type="dcterms:W3CDTF">2023-07-20T15:05:01Z</dcterms:modified>
</cp:coreProperties>
</file>