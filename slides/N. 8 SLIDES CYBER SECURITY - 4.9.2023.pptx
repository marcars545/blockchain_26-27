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310" r:id="rId2"/>
    <p:sldId id="30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11B699-91F8-42A6-ADA3-2906ACD5342D}" type="datetimeFigureOut">
              <a:rPr lang="it-IT" smtClean="0"/>
              <a:pPr/>
              <a:t>04/09/2023</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97F5A2-9472-4443-9CB2-71DA57F542D4}"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19</a:t>
            </a:fld>
            <a:endParaRPr 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20</a:t>
            </a:fld>
            <a:endParaRPr 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21</a:t>
            </a:fld>
            <a:endParaRPr 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22</a:t>
            </a:fld>
            <a:endParaRPr 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23</a:t>
            </a:fld>
            <a:endParaRPr 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24</a:t>
            </a:fld>
            <a:endParaRPr 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25</a:t>
            </a:fld>
            <a:endParaRPr 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26</a:t>
            </a:fld>
            <a:endParaRPr lang="it-I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27</a:t>
            </a:fld>
            <a:endParaRPr lang="it-IT"/>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28</a:t>
            </a:fld>
            <a:endParaRPr lang="it-IT"/>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29</a:t>
            </a:fld>
            <a:endParaRPr lang="it-IT"/>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30</a:t>
            </a:fld>
            <a:endParaRPr lang="it-IT"/>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31</a:t>
            </a:fld>
            <a:endParaRPr lang="it-IT"/>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32</a:t>
            </a:fld>
            <a:endParaRPr lang="it-IT"/>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33</a:t>
            </a:fld>
            <a:endParaRPr lang="it-IT"/>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34</a:t>
            </a:fld>
            <a:endParaRPr lang="it-IT"/>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35</a:t>
            </a:fld>
            <a:endParaRPr lang="it-IT"/>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36</a:t>
            </a:fld>
            <a:endParaRPr lang="it-IT"/>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37</a:t>
            </a:fld>
            <a:endParaRPr lang="it-IT"/>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38</a:t>
            </a:fld>
            <a:endParaRPr lang="it-IT"/>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39</a:t>
            </a:fld>
            <a:endParaRPr lang="it-IT"/>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40</a:t>
            </a:fld>
            <a:endParaRPr lang="it-IT"/>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41</a:t>
            </a:fld>
            <a:endParaRPr lang="it-IT"/>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42</a:t>
            </a:fld>
            <a:endParaRPr lang="it-IT"/>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43</a:t>
            </a:fld>
            <a:endParaRPr lang="it-IT"/>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44</a:t>
            </a:fld>
            <a:endParaRPr lang="it-IT"/>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45</a:t>
            </a:fld>
            <a:endParaRPr lang="it-IT"/>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46</a:t>
            </a:fld>
            <a:endParaRPr lang="it-IT"/>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47</a:t>
            </a:fld>
            <a:endParaRPr lang="it-IT"/>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48</a:t>
            </a:fld>
            <a:endParaRPr lang="it-IT"/>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49</a:t>
            </a:fld>
            <a:endParaRPr lang="it-IT"/>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50</a:t>
            </a:fld>
            <a:endParaRPr lang="it-IT"/>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51</a:t>
            </a:fld>
            <a:endParaRPr lang="it-IT"/>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52</a:t>
            </a:fld>
            <a:endParaRPr lang="it-IT"/>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53</a:t>
            </a:fld>
            <a:endParaRPr lang="it-IT"/>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54</a:t>
            </a:fld>
            <a:endParaRPr lang="it-IT"/>
          </a:p>
        </p:txBody>
      </p:sp>
    </p:spTree>
    <p:extLst>
      <p:ext uri="{BB962C8B-B14F-4D97-AF65-F5344CB8AC3E}">
        <p14:creationId xmlns="" xmlns:p14="http://schemas.microsoft.com/office/powerpoint/2010/main"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BBF4330A-053B-4223-BD23-C5C628B48702}" type="datetimeFigureOut">
              <a:rPr lang="it-IT" smtClean="0"/>
              <a:pPr/>
              <a:t>04/09/2023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17E9233-8E8B-449A-A9B0-C10D71C9E1A0}"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F4330A-053B-4223-BD23-C5C628B48702}" type="datetimeFigureOut">
              <a:rPr lang="it-IT" smtClean="0"/>
              <a:pPr/>
              <a:t>04/09/2023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E9233-8E8B-449A-A9B0-C10D71C9E1A0}"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Titolo 8"/>
          <p:cNvSpPr>
            <a:spLocks noGrp="1"/>
          </p:cNvSpPr>
          <p:nvPr>
            <p:ph type="ctrTitle"/>
          </p:nvPr>
        </p:nvSpPr>
        <p:spPr/>
        <p:txBody>
          <a:bodyPr>
            <a:normAutofit fontScale="90000"/>
          </a:bodyPr>
          <a:lstStyle/>
          <a:p>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it-IT" sz="2800" b="1" dirty="0" smtClean="0">
                <a:solidFill>
                  <a:srgbClr val="FF0000"/>
                </a:solidFill>
                <a:latin typeface="Garamond" pitchFamily="18" charset="0"/>
              </a:rPr>
              <a:t> CORSO </a:t>
            </a:r>
            <a:r>
              <a:rPr lang="it-IT" sz="2800" b="1" dirty="0" err="1" smtClean="0">
                <a:solidFill>
                  <a:srgbClr val="FF0000"/>
                </a:solidFill>
                <a:latin typeface="Garamond" pitchFamily="18" charset="0"/>
              </a:rPr>
              <a:t>DI</a:t>
            </a:r>
            <a:r>
              <a:rPr lang="it-IT" sz="2800" b="1" dirty="0" smtClean="0">
                <a:solidFill>
                  <a:srgbClr val="FF0000"/>
                </a:solidFill>
                <a:latin typeface="Garamond" pitchFamily="18" charset="0"/>
              </a:rPr>
              <a:t> CYBERSECURITY AWARENESS </a:t>
            </a: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SECURITY AWARNESS AND SECURITY GOVERNANCE</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N. 8</a:t>
            </a:r>
            <a:endParaRPr lang="it-IT" sz="2800" b="1" dirty="0">
              <a:solidFill>
                <a:srgbClr val="FF0000"/>
              </a:solidFill>
              <a:latin typeface="Garamond" pitchFamily="18" charset="0"/>
            </a:endParaRP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200" b="1" dirty="0" smtClean="0">
                <a:solidFill>
                  <a:srgbClr val="FF0000"/>
                </a:solidFill>
                <a:latin typeface="Garamond" pitchFamily="18" charset="0"/>
              </a:rPr>
              <a:t>INDEX </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1785926"/>
            <a:ext cx="8229600" cy="4340237"/>
          </a:xfrm>
        </p:spPr>
        <p:txBody>
          <a:bodyPr>
            <a:normAutofit/>
          </a:bodyPr>
          <a:lstStyle/>
          <a:p>
            <a:pPr marL="457200" indent="-457200" algn="just">
              <a:buFont typeface="+mj-lt"/>
              <a:buAutoNum type="arabicPeriod"/>
            </a:pPr>
            <a:endParaRPr lang="en-US" sz="2000" b="1" dirty="0" smtClean="0">
              <a:latin typeface="Garamond" pitchFamily="18" charset="0"/>
            </a:endParaRPr>
          </a:p>
          <a:p>
            <a:pPr marL="457200" indent="-457200" algn="just">
              <a:buFont typeface="+mj-lt"/>
              <a:buAutoNum type="arabicPeriod"/>
            </a:pPr>
            <a:r>
              <a:rPr lang="en-US" sz="2000" b="1" dirty="0" smtClean="0">
                <a:latin typeface="Garamond" pitchFamily="18" charset="0"/>
              </a:rPr>
              <a:t>Security Features and Verification</a:t>
            </a:r>
          </a:p>
          <a:p>
            <a:pPr marL="457200" indent="-457200" algn="just">
              <a:buFont typeface="+mj-lt"/>
              <a:buAutoNum type="arabicPeriod"/>
            </a:pPr>
            <a:r>
              <a:rPr lang="en-US" sz="2000" b="1" dirty="0" smtClean="0">
                <a:latin typeface="Garamond" pitchFamily="18" charset="0"/>
              </a:rPr>
              <a:t>Program Errors and Countermeasures</a:t>
            </a:r>
          </a:p>
          <a:p>
            <a:pPr marL="457200" indent="-457200" algn="just">
              <a:buFont typeface="+mj-lt"/>
              <a:buAutoNum type="arabicPeriod"/>
            </a:pPr>
            <a:r>
              <a:rPr lang="en-US" sz="2000" b="1" dirty="0" smtClean="0">
                <a:latin typeface="Garamond" pitchFamily="18" charset="0"/>
              </a:rPr>
              <a:t>Risk Analysis and Vulnerability</a:t>
            </a:r>
          </a:p>
          <a:p>
            <a:pPr marL="457200" indent="-457200" algn="just">
              <a:buFont typeface="+mj-lt"/>
              <a:buAutoNum type="arabicPeriod"/>
            </a:pPr>
            <a:r>
              <a:rPr lang="en-US" sz="2000" b="1" dirty="0" smtClean="0">
                <a:latin typeface="Garamond" pitchFamily="18" charset="0"/>
              </a:rPr>
              <a:t>Main Causes of Data Loss and Effects</a:t>
            </a:r>
          </a:p>
          <a:p>
            <a:pPr marL="457200" indent="-457200" algn="just">
              <a:buFont typeface="+mj-lt"/>
              <a:buAutoNum type="arabicPeriod"/>
            </a:pPr>
            <a:r>
              <a:rPr lang="en-US" sz="2000" b="1" dirty="0" smtClean="0">
                <a:latin typeface="Garamond" pitchFamily="18" charset="0"/>
              </a:rPr>
              <a:t>The Human Factor</a:t>
            </a:r>
          </a:p>
          <a:p>
            <a:pPr marL="457200" indent="-457200" algn="just">
              <a:buFont typeface="+mj-lt"/>
              <a:buAutoNum type="arabicPeriod"/>
            </a:pPr>
            <a:r>
              <a:rPr lang="en-US" sz="2000" b="1" dirty="0" smtClean="0">
                <a:latin typeface="Garamond" pitchFamily="18" charset="0"/>
              </a:rPr>
              <a:t>Protection Parameters</a:t>
            </a:r>
          </a:p>
          <a:p>
            <a:pPr marL="457200" indent="-457200" algn="just">
              <a:buFont typeface="+mj-lt"/>
              <a:buAutoNum type="arabicPeriod"/>
            </a:pPr>
            <a:r>
              <a:rPr lang="en-US" sz="2000" b="1" dirty="0" smtClean="0">
                <a:latin typeface="Garamond" pitchFamily="18" charset="0"/>
              </a:rPr>
              <a:t>Cyber Threats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r>
              <a:rPr lang="en-US" sz="2200" b="1" dirty="0" smtClean="0">
                <a:solidFill>
                  <a:srgbClr val="FF0000"/>
                </a:solidFill>
                <a:latin typeface="Garamond" pitchFamily="18" charset="0"/>
              </a:rPr>
              <a:t>SECURITY AND VERIFICATION FEATURES</a:t>
            </a:r>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2189185"/>
            <a:ext cx="8229600" cy="3597269"/>
          </a:xfrm>
        </p:spPr>
        <p:txBody>
          <a:bodyPr>
            <a:normAutofit/>
          </a:bodyPr>
          <a:lstStyle/>
          <a:p>
            <a:pPr marL="0" indent="0" algn="just">
              <a:buNone/>
            </a:pPr>
            <a:r>
              <a:rPr lang="en-US" sz="2000" dirty="0" smtClean="0">
                <a:latin typeface="Garamond" pitchFamily="18" charset="0"/>
              </a:rPr>
              <a:t>Two fundamental characteristics explain the concept of security:</a:t>
            </a:r>
          </a:p>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Security</a:t>
            </a:r>
            <a:r>
              <a:rPr lang="en-US" sz="2000" dirty="0" smtClean="0">
                <a:latin typeface="Garamond" pitchFamily="18" charset="0"/>
              </a:rPr>
              <a:t>: a series of expedients aimed at eliminating the production of irreparable damage within the system.</a:t>
            </a:r>
          </a:p>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Reliability</a:t>
            </a:r>
            <a:r>
              <a:rPr lang="en-US" sz="2000" dirty="0" smtClean="0">
                <a:latin typeface="Garamond" pitchFamily="18" charset="0"/>
              </a:rPr>
              <a:t>: prevention from events that can cause damage to the system.</a:t>
            </a:r>
          </a:p>
          <a:p>
            <a:pPr marL="0" indent="0" algn="ctr">
              <a:buNone/>
            </a:pPr>
            <a:r>
              <a:rPr lang="en-US" sz="2000" dirty="0" smtClean="0">
                <a:latin typeface="Garamond" pitchFamily="18" charset="0"/>
              </a:rPr>
              <a:t>The more secure a software program is, the less the probability of a failure and severe damage.</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2189185"/>
            <a:ext cx="8229600" cy="3597269"/>
          </a:xfrm>
        </p:spPr>
        <p:txBody>
          <a:bodyPr>
            <a:normAutofit/>
          </a:bodyPr>
          <a:lstStyle/>
          <a:p>
            <a:pPr marL="0" indent="0" algn="ctr">
              <a:buNone/>
            </a:pPr>
            <a:r>
              <a:rPr lang="en-US" sz="2000" b="1" dirty="0" smtClean="0">
                <a:latin typeface="Garamond" pitchFamily="18" charset="0"/>
              </a:rPr>
              <a:t>In ascending order, the possible effects of software failures are:</a:t>
            </a:r>
          </a:p>
          <a:p>
            <a:pPr marL="0" indent="0" algn="just">
              <a:buNone/>
            </a:pPr>
            <a:r>
              <a:rPr lang="en-US" sz="2000" dirty="0" smtClean="0">
                <a:latin typeface="Garamond" pitchFamily="18" charset="0"/>
              </a:rPr>
              <a:t> </a:t>
            </a:r>
          </a:p>
          <a:p>
            <a:pPr marL="0" indent="0" algn="ctr">
              <a:buFont typeface="Wingdings" pitchFamily="2" charset="2"/>
              <a:buChar char="Ø"/>
            </a:pPr>
            <a:r>
              <a:rPr lang="en-US" sz="2000" dirty="0" smtClean="0">
                <a:latin typeface="Garamond" pitchFamily="18" charset="0"/>
              </a:rPr>
              <a:t> No effect</a:t>
            </a:r>
          </a:p>
          <a:p>
            <a:pPr marL="0" indent="0" algn="ctr">
              <a:buFont typeface="Wingdings" pitchFamily="2" charset="2"/>
              <a:buChar char="Ø"/>
            </a:pPr>
            <a:r>
              <a:rPr lang="en-US" sz="2000" dirty="0" smtClean="0">
                <a:latin typeface="Garamond" pitchFamily="18" charset="0"/>
              </a:rPr>
              <a:t> Negligible damage</a:t>
            </a:r>
          </a:p>
          <a:p>
            <a:pPr marL="0" indent="0" algn="ctr">
              <a:buFont typeface="Wingdings" pitchFamily="2" charset="2"/>
              <a:buChar char="Ø"/>
            </a:pPr>
            <a:r>
              <a:rPr lang="en-US" sz="2000" dirty="0" smtClean="0">
                <a:latin typeface="Garamond" pitchFamily="18" charset="0"/>
              </a:rPr>
              <a:t> Significant damage</a:t>
            </a:r>
          </a:p>
          <a:p>
            <a:pPr marL="0" indent="0" algn="ctr">
              <a:buFont typeface="Wingdings" pitchFamily="2" charset="2"/>
              <a:buChar char="Ø"/>
            </a:pPr>
            <a:r>
              <a:rPr lang="en-US" sz="2000" dirty="0" smtClean="0">
                <a:latin typeface="Garamond" pitchFamily="18" charset="0"/>
              </a:rPr>
              <a:t> Severe damage</a:t>
            </a:r>
          </a:p>
          <a:p>
            <a:pPr marL="0" indent="0" algn="ctr">
              <a:buFont typeface="Wingdings" pitchFamily="2" charset="2"/>
              <a:buChar char="Ø"/>
            </a:pPr>
            <a:r>
              <a:rPr lang="en-US" sz="2000" dirty="0" smtClean="0">
                <a:latin typeface="Garamond" pitchFamily="18" charset="0"/>
              </a:rPr>
              <a:t> Catastrophic damage</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2189185"/>
            <a:ext cx="8229600" cy="3597269"/>
          </a:xfrm>
        </p:spPr>
        <p:txBody>
          <a:bodyPr>
            <a:normAutofit/>
          </a:bodyPr>
          <a:lstStyle/>
          <a:p>
            <a:pPr marL="0" indent="0" algn="ctr">
              <a:buNone/>
            </a:pPr>
            <a:r>
              <a:rPr lang="en-US" sz="2000" b="1" dirty="0" smtClean="0">
                <a:latin typeface="Garamond" pitchFamily="18" charset="0"/>
              </a:rPr>
              <a:t>VERIFYING THE SECURITY OF A PROGRAM</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Once the software has been produced, an extensive search for the defects and their eventual elimination is carried out. There are several security models for this type of program control, based on two different methods:</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785926"/>
            <a:ext cx="8229600" cy="3597269"/>
          </a:xfrm>
        </p:spPr>
        <p:txBody>
          <a:bodyPr>
            <a:normAutofit fontScale="92500" lnSpcReduction="10000"/>
          </a:bodyPr>
          <a:lstStyle/>
          <a:p>
            <a:pPr marL="457200" indent="-457200" algn="just">
              <a:buAutoNum type="arabicPeriod"/>
            </a:pPr>
            <a:r>
              <a:rPr lang="en-US" sz="2000" b="1" dirty="0" smtClean="0">
                <a:latin typeface="Garamond" pitchFamily="18" charset="0"/>
              </a:rPr>
              <a:t>Semantic-based security: The security of the program is examined in terms of behavior.</a:t>
            </a:r>
          </a:p>
          <a:p>
            <a:pPr marL="457200" indent="-457200" algn="just">
              <a:buNone/>
            </a:pPr>
            <a:endParaRPr lang="en-US" sz="2000" b="1" dirty="0" smtClean="0">
              <a:latin typeface="Garamond" pitchFamily="18" charset="0"/>
            </a:endParaRPr>
          </a:p>
          <a:p>
            <a:pPr marL="0" indent="0" algn="just">
              <a:buNone/>
            </a:pPr>
            <a:r>
              <a:rPr lang="en-US" sz="2000" b="1" dirty="0" smtClean="0">
                <a:latin typeface="Garamond" pitchFamily="18" charset="0"/>
              </a:rPr>
              <a:t>2. Security-typed language: (security based on the language): The types of the variables are followed by an explanation of the policies adopted for typed data.</a:t>
            </a:r>
          </a:p>
          <a:p>
            <a:pPr marL="0" indent="0" algn="just">
              <a:buNone/>
            </a:pPr>
            <a:endParaRPr lang="en-US" sz="2000" b="1" dirty="0" smtClean="0">
              <a:latin typeface="Garamond" pitchFamily="18" charset="0"/>
            </a:endParaRPr>
          </a:p>
          <a:p>
            <a:pPr marL="0" indent="0" algn="just">
              <a:buNone/>
            </a:pPr>
            <a:endParaRPr lang="en-US" sz="2000" b="1" dirty="0" smtClean="0">
              <a:latin typeface="Garamond" pitchFamily="18" charset="0"/>
            </a:endParaRPr>
          </a:p>
          <a:p>
            <a:pPr marL="2152650" indent="0" algn="just">
              <a:buNone/>
            </a:pPr>
            <a:r>
              <a:rPr lang="en-US" sz="2000" dirty="0" smtClean="0">
                <a:latin typeface="Garamond" pitchFamily="18" charset="0"/>
              </a:rPr>
              <a:t>To be effective, program specifications must be checked and free from defects in the code: for this purpose, a check of the program specifications and performance reliability is carried out; secondly, every part of the code and all system functions are analyzed. </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Freccia a destra 8"/>
          <p:cNvSpPr/>
          <p:nvPr/>
        </p:nvSpPr>
        <p:spPr>
          <a:xfrm>
            <a:off x="1000100" y="4286256"/>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r>
              <a:rPr lang="it-IT" sz="2200" b="1" dirty="0" smtClean="0">
                <a:solidFill>
                  <a:srgbClr val="FF0000"/>
                </a:solidFill>
                <a:latin typeface="Garamond" pitchFamily="18" charset="0"/>
              </a:rPr>
              <a:t>PROGRAM ERRORS AND COUNTERMEASURES</a:t>
            </a:r>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2189185"/>
            <a:ext cx="8229600" cy="3597269"/>
          </a:xfrm>
        </p:spPr>
        <p:txBody>
          <a:bodyPr>
            <a:normAutofit/>
          </a:bodyPr>
          <a:lstStyle/>
          <a:p>
            <a:pPr marL="0" indent="0" algn="ctr">
              <a:buNone/>
            </a:pPr>
            <a:r>
              <a:rPr lang="en-US" sz="2000" dirty="0" smtClean="0">
                <a:latin typeface="Garamond" pitchFamily="18" charset="0"/>
              </a:rPr>
              <a:t>The Institute of Electrical and Electronics Engineers (IEEE, founded in New York, in 1884, and now a worldwide organization among the most advanced in the development of technology in favor of humanity) has cataloged </a:t>
            </a:r>
            <a:r>
              <a:rPr lang="en-US" sz="2000" dirty="0" smtClean="0">
                <a:latin typeface="Garamond" pitchFamily="18" charset="0"/>
              </a:rPr>
              <a:t>different </a:t>
            </a:r>
            <a:r>
              <a:rPr lang="en-US" sz="2000" dirty="0" smtClean="0">
                <a:latin typeface="Garamond" pitchFamily="18" charset="0"/>
              </a:rPr>
              <a:t>areas of software error based on the nature of the errors themselves:</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 </a:t>
            </a:r>
            <a:r>
              <a:rPr lang="en-US" sz="2000" b="1" dirty="0" smtClean="0">
                <a:latin typeface="Garamond" pitchFamily="18" charset="0"/>
              </a:rPr>
              <a:t>Error</a:t>
            </a:r>
            <a:r>
              <a:rPr lang="en-US" sz="2000" dirty="0" smtClean="0">
                <a:latin typeface="Garamond" pitchFamily="18" charset="0"/>
              </a:rPr>
              <a:t>:  A human error occurs during the interpretation of specifications, the use of a method, or in the attempt to solve a problem.</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2189185"/>
            <a:ext cx="8229600" cy="4025897"/>
          </a:xfrm>
        </p:spPr>
        <p:txBody>
          <a:bodyPr>
            <a:normAutofit/>
          </a:bodyPr>
          <a:lstStyle/>
          <a:p>
            <a:pPr marL="0" indent="0" algn="just">
              <a:buNone/>
            </a:pPr>
            <a:r>
              <a:rPr lang="en-US" sz="2000" dirty="0" smtClean="0">
                <a:latin typeface="Garamond" pitchFamily="18" charset="0"/>
              </a:rPr>
              <a:t>• </a:t>
            </a:r>
            <a:r>
              <a:rPr lang="en-US" sz="2000" b="1" dirty="0" smtClean="0">
                <a:latin typeface="Garamond" pitchFamily="18" charset="0"/>
              </a:rPr>
              <a:t>Failure</a:t>
            </a:r>
            <a:r>
              <a:rPr lang="en-US" sz="2000" dirty="0" smtClean="0">
                <a:latin typeface="Garamond" pitchFamily="18" charset="0"/>
              </a:rPr>
              <a:t>: An unexpected and incongruous behavior of the software occurs with respect to the specifics of the program itself.</a:t>
            </a:r>
          </a:p>
          <a:p>
            <a:pPr marL="0" indent="0" algn="just">
              <a:buNone/>
            </a:pPr>
            <a:r>
              <a:rPr lang="en-US" sz="2000" dirty="0" smtClean="0">
                <a:latin typeface="Garamond" pitchFamily="18" charset="0"/>
              </a:rPr>
              <a:t>• </a:t>
            </a:r>
            <a:r>
              <a:rPr lang="en-US" sz="2000" b="1" dirty="0" smtClean="0">
                <a:latin typeface="Garamond" pitchFamily="18" charset="0"/>
              </a:rPr>
              <a:t>Fault</a:t>
            </a:r>
            <a:r>
              <a:rPr lang="en-US" sz="2000" dirty="0" smtClean="0">
                <a:latin typeface="Garamond" pitchFamily="18" charset="0"/>
              </a:rPr>
              <a:t>: A defect of the source code.</a:t>
            </a:r>
          </a:p>
          <a:p>
            <a:pPr marL="0" indent="0" algn="just">
              <a:buNone/>
            </a:pPr>
            <a:r>
              <a:rPr lang="en-US" sz="2000" dirty="0" smtClean="0">
                <a:latin typeface="Garamond" pitchFamily="18" charset="0"/>
              </a:rPr>
              <a:t>• </a:t>
            </a:r>
            <a:r>
              <a:rPr lang="en-US" sz="2000" b="1" dirty="0" smtClean="0">
                <a:latin typeface="Garamond" pitchFamily="18" charset="0"/>
              </a:rPr>
              <a:t>Typical attacks</a:t>
            </a:r>
          </a:p>
          <a:p>
            <a:pPr marL="0" indent="0" algn="just">
              <a:buNone/>
            </a:pPr>
            <a:r>
              <a:rPr lang="en-US" sz="2000" dirty="0" smtClean="0">
                <a:latin typeface="Garamond" pitchFamily="18" charset="0"/>
              </a:rPr>
              <a:t>• </a:t>
            </a:r>
            <a:r>
              <a:rPr lang="en-US" sz="2000" b="1" dirty="0" smtClean="0">
                <a:latin typeface="Garamond" pitchFamily="18" charset="0"/>
              </a:rPr>
              <a:t>Computer viruses</a:t>
            </a:r>
          </a:p>
          <a:p>
            <a:pPr marL="0" indent="0" algn="just">
              <a:buNone/>
            </a:pPr>
            <a:r>
              <a:rPr lang="en-US" sz="2000" dirty="0" smtClean="0">
                <a:latin typeface="Garamond" pitchFamily="18" charset="0"/>
              </a:rPr>
              <a:t>• </a:t>
            </a:r>
            <a:r>
              <a:rPr lang="en-US" sz="2000" b="1" dirty="0" smtClean="0">
                <a:latin typeface="Garamond" pitchFamily="18" charset="0"/>
              </a:rPr>
              <a:t>Trojans</a:t>
            </a:r>
          </a:p>
          <a:p>
            <a:pPr marL="0" indent="0" algn="just">
              <a:buNone/>
            </a:pPr>
            <a:r>
              <a:rPr lang="en-US" sz="2000" dirty="0" smtClean="0">
                <a:latin typeface="Garamond" pitchFamily="18" charset="0"/>
              </a:rPr>
              <a:t>• </a:t>
            </a:r>
            <a:r>
              <a:rPr lang="en-US" sz="2000" b="1" dirty="0" smtClean="0">
                <a:latin typeface="Garamond" pitchFamily="18" charset="0"/>
              </a:rPr>
              <a:t>Cracking</a:t>
            </a:r>
            <a:r>
              <a:rPr lang="en-US" sz="2000" dirty="0" smtClean="0">
                <a:latin typeface="Garamond" pitchFamily="18" charset="0"/>
              </a:rPr>
              <a:t>: A procedure for accessing an unauthorized computer system, using the most diverse computer techniques, including phishing. This is different from hacking because it tends exclusively to defraud and steal from the system it penetrates.</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2189185"/>
            <a:ext cx="8229600" cy="4025897"/>
          </a:xfrm>
        </p:spPr>
        <p:txBody>
          <a:bodyPr>
            <a:normAutofit/>
          </a:bodyPr>
          <a:lstStyle/>
          <a:p>
            <a:pPr marL="0" indent="0" algn="ctr">
              <a:buNone/>
            </a:pPr>
            <a:r>
              <a:rPr lang="en-US" sz="2000" b="1" dirty="0" smtClean="0">
                <a:latin typeface="Garamond" pitchFamily="18" charset="0"/>
              </a:rPr>
              <a:t>COUNTERMEASURES</a:t>
            </a:r>
          </a:p>
          <a:p>
            <a:pPr marL="0" indent="0" algn="ctr">
              <a:buNone/>
            </a:pPr>
            <a:endParaRPr lang="en-US" sz="2000" b="1" dirty="0" smtClean="0">
              <a:latin typeface="Garamond" pitchFamily="18" charset="0"/>
            </a:endParaRPr>
          </a:p>
          <a:p>
            <a:pPr marL="0" indent="0" algn="just">
              <a:buNone/>
            </a:pPr>
            <a:r>
              <a:rPr lang="en-US" sz="2000" dirty="0" smtClean="0">
                <a:latin typeface="Garamond" pitchFamily="18" charset="0"/>
              </a:rPr>
              <a:t>• Updating of operating systems with security patches.</a:t>
            </a:r>
          </a:p>
          <a:p>
            <a:pPr marL="0" indent="0" algn="just">
              <a:buNone/>
            </a:pPr>
            <a:r>
              <a:rPr lang="en-US" sz="2000" dirty="0" smtClean="0">
                <a:latin typeface="Garamond" pitchFamily="18" charset="0"/>
              </a:rPr>
              <a:t>• Antivirus: Helps protect your computer from harmful software, known as viruses. A good antivirus must be constantly updated to have real-time scanning functions that are continuously running.</a:t>
            </a:r>
          </a:p>
          <a:p>
            <a:pPr marL="0" indent="0" algn="just">
              <a:buNone/>
            </a:pPr>
            <a:r>
              <a:rPr lang="en-US" sz="2000" dirty="0" smtClean="0">
                <a:latin typeface="Garamond" pitchFamily="18" charset="0"/>
              </a:rPr>
              <a:t>• For better use, the user should regularly scan the computer devices (hard drives, removable drives, CDs, and DVDs), to check for viruses, worms, etc….</a:t>
            </a:r>
          </a:p>
          <a:p>
            <a:pPr marL="0" indent="0" algn="just">
              <a:buNone/>
            </a:pPr>
            <a:r>
              <a:rPr lang="en-US" sz="2000" dirty="0" smtClean="0">
                <a:latin typeface="Garamond" pitchFamily="18" charset="0"/>
              </a:rPr>
              <a:t>• To avoid the spread of viruses, it is useful to check all files received or sent by e-mail with an antivirus correctly configured for this purpose.</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2189185"/>
            <a:ext cx="8229600" cy="4025897"/>
          </a:xfrm>
        </p:spPr>
        <p:txBody>
          <a:bodyPr>
            <a:normAutofit fontScale="92500" lnSpcReduction="10000"/>
          </a:bodyPr>
          <a:lstStyle/>
          <a:p>
            <a:pPr marL="0" indent="0" algn="ctr">
              <a:buNone/>
            </a:pPr>
            <a:r>
              <a:rPr lang="en-US" sz="2000" b="1" dirty="0" smtClean="0">
                <a:latin typeface="Garamond" pitchFamily="18" charset="0"/>
              </a:rPr>
              <a:t>COMPUTER SYSTEMS SECURITY</a:t>
            </a:r>
          </a:p>
          <a:p>
            <a:pPr marL="0" indent="0" algn="ctr">
              <a:buNone/>
            </a:pPr>
            <a:endParaRPr lang="en-US" sz="2000" b="1" dirty="0" smtClean="0">
              <a:latin typeface="Garamond" pitchFamily="18" charset="0"/>
            </a:endParaRPr>
          </a:p>
          <a:p>
            <a:pPr marL="0" indent="0" algn="just">
              <a:buNone/>
            </a:pPr>
            <a:r>
              <a:rPr lang="en-US" sz="2000" dirty="0" smtClean="0">
                <a:latin typeface="Garamond" pitchFamily="18" charset="0"/>
              </a:rPr>
              <a:t>Today's approach to </a:t>
            </a:r>
            <a:r>
              <a:rPr lang="en-US" sz="2000" dirty="0" err="1" smtClean="0">
                <a:latin typeface="Garamond" pitchFamily="18" charset="0"/>
              </a:rPr>
              <a:t>cybersecurity</a:t>
            </a:r>
            <a:r>
              <a:rPr lang="en-US" sz="2000" dirty="0" smtClean="0">
                <a:latin typeface="Garamond" pitchFamily="18" charset="0"/>
              </a:rPr>
              <a:t> focuses on how to prevent a security incident and what to do if such an incident occurs.</a:t>
            </a:r>
          </a:p>
          <a:p>
            <a:pPr marL="0" indent="0" algn="just">
              <a:buNone/>
            </a:pPr>
            <a:r>
              <a:rPr lang="en-US" sz="2000" dirty="0" smtClean="0">
                <a:latin typeface="Garamond" pitchFamily="18" charset="0"/>
              </a:rPr>
              <a:t>This is also confirmed by the </a:t>
            </a:r>
            <a:r>
              <a:rPr lang="en-US" sz="2000" dirty="0" err="1" smtClean="0">
                <a:latin typeface="Garamond" pitchFamily="18" charset="0"/>
              </a:rPr>
              <a:t>cybersecurity</a:t>
            </a:r>
            <a:r>
              <a:rPr lang="en-US" sz="2000" dirty="0" smtClean="0">
                <a:latin typeface="Garamond" pitchFamily="18" charset="0"/>
              </a:rPr>
              <a:t> framework issued by the National Institute of Standards and Technology (NIST) which provides the following macro-processes:</a:t>
            </a: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 Identify </a:t>
            </a:r>
          </a:p>
          <a:p>
            <a:pPr marL="0" indent="0" algn="just">
              <a:buNone/>
            </a:pPr>
            <a:r>
              <a:rPr lang="en-US" sz="2000" dirty="0" smtClean="0">
                <a:latin typeface="Garamond" pitchFamily="18" charset="0"/>
              </a:rPr>
              <a:t>• Protect </a:t>
            </a:r>
          </a:p>
          <a:p>
            <a:pPr marL="0" indent="0" algn="just">
              <a:buNone/>
            </a:pPr>
            <a:r>
              <a:rPr lang="en-US" sz="2000" dirty="0" smtClean="0">
                <a:latin typeface="Garamond" pitchFamily="18" charset="0"/>
              </a:rPr>
              <a:t>• Detect</a:t>
            </a:r>
          </a:p>
          <a:p>
            <a:pPr marL="0" indent="0" algn="just">
              <a:buNone/>
            </a:pPr>
            <a:r>
              <a:rPr lang="en-US" sz="2000" dirty="0" smtClean="0">
                <a:latin typeface="Garamond" pitchFamily="18" charset="0"/>
              </a:rPr>
              <a:t>• Respond </a:t>
            </a:r>
          </a:p>
          <a:p>
            <a:pPr marL="0" indent="0" algn="just">
              <a:buNone/>
            </a:pPr>
            <a:r>
              <a:rPr lang="en-US" sz="2000" dirty="0" smtClean="0">
                <a:latin typeface="Garamond" pitchFamily="18" charset="0"/>
              </a:rPr>
              <a:t>• Recover</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r>
              <a:rPr lang="it-IT" sz="2200" b="1" dirty="0" smtClean="0">
                <a:solidFill>
                  <a:srgbClr val="FF0000"/>
                </a:solidFill>
                <a:latin typeface="Garamond" pitchFamily="18" charset="0"/>
              </a:rPr>
              <a:t>RISK ANALYSIS AND VULNERABILITY</a:t>
            </a:r>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2189185"/>
            <a:ext cx="8229600" cy="4025897"/>
          </a:xfrm>
        </p:spPr>
        <p:txBody>
          <a:bodyPr>
            <a:normAutofit/>
          </a:bodyPr>
          <a:lstStyle/>
          <a:p>
            <a:pPr marL="0" indent="0" algn="just">
              <a:buNone/>
            </a:pPr>
            <a:r>
              <a:rPr lang="en-US" sz="2000" dirty="0" smtClean="0">
                <a:latin typeface="Garamond" pitchFamily="18" charset="0"/>
              </a:rPr>
              <a:t>Risk analysis starts from the identification of the assets to be protected, and then evaluates the possible threats in terms of probability of occurrence and relative potential damage (severity).</a:t>
            </a:r>
          </a:p>
          <a:p>
            <a:pPr marL="0" indent="0" algn="just">
              <a:buNone/>
            </a:pPr>
            <a:r>
              <a:rPr lang="en-US" sz="2000" dirty="0" smtClean="0">
                <a:latin typeface="Garamond" pitchFamily="18" charset="0"/>
              </a:rPr>
              <a:t>Based on risk estimation, one decides whether, how, and which security countermeasures to adopt (risk plan).</a:t>
            </a:r>
          </a:p>
          <a:p>
            <a:pPr marL="0" indent="0" algn="just">
              <a:buNone/>
            </a:pPr>
            <a:r>
              <a:rPr lang="en-US" sz="2000" dirty="0" smtClean="0">
                <a:latin typeface="Garamond" pitchFamily="18" charset="0"/>
              </a:rPr>
              <a:t>The risk analysis typically precedes the IT system commissioning phase.</a:t>
            </a:r>
          </a:p>
          <a:p>
            <a:pPr marL="0" indent="0" algn="just">
              <a:buNone/>
            </a:pPr>
            <a:r>
              <a:rPr lang="en-US" sz="2000" dirty="0" smtClean="0">
                <a:latin typeface="Garamond" pitchFamily="18" charset="0"/>
              </a:rPr>
              <a:t>Often the attacker's goal is not the computer systems themselves, but rather the data they </a:t>
            </a:r>
            <a:r>
              <a:rPr lang="en-US" sz="2000" dirty="0" smtClean="0">
                <a:latin typeface="Garamond" pitchFamily="18" charset="0"/>
              </a:rPr>
              <a:t>contain</a:t>
            </a:r>
            <a:r>
              <a:rPr lang="en-US" sz="2000" dirty="0" smtClean="0">
                <a:latin typeface="Garamond" pitchFamily="18" charset="0"/>
              </a:rPr>
              <a:t>.</a:t>
            </a:r>
            <a:r>
              <a:rPr lang="en-US" sz="2000" dirty="0" smtClean="0">
                <a:latin typeface="Garamond" pitchFamily="18" charset="0"/>
              </a:rPr>
              <a:t> </a:t>
            </a:r>
            <a:r>
              <a:rPr lang="en-US" sz="2000" dirty="0" smtClean="0">
                <a:latin typeface="Garamond" pitchFamily="18" charset="0"/>
              </a:rPr>
              <a:t>This can prevent data belonging to the computer system from being copied, modified, or cancelled.</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2189185"/>
            <a:ext cx="8229600" cy="4025897"/>
          </a:xfrm>
        </p:spPr>
        <p:txBody>
          <a:bodyPr>
            <a:normAutofit/>
          </a:bodyPr>
          <a:lstStyle/>
          <a:p>
            <a:pPr marL="0" indent="0" algn="just">
              <a:buNone/>
            </a:pPr>
            <a:r>
              <a:rPr lang="en-US" sz="2000" dirty="0" smtClean="0">
                <a:latin typeface="Garamond" pitchFamily="18" charset="0"/>
              </a:rPr>
              <a:t>The violations are many: there can be unauthorized attempts to access restricted areas, theft of digital identity or confidential files, use of resources that the user should not be able to access, etc….</a:t>
            </a:r>
          </a:p>
          <a:p>
            <a:pPr marL="0" indent="0" algn="just">
              <a:buNone/>
            </a:pPr>
            <a:r>
              <a:rPr lang="en-US" sz="2000" dirty="0" smtClean="0">
                <a:latin typeface="Garamond" pitchFamily="18" charset="0"/>
              </a:rPr>
              <a:t>Computer security is also concerned with preventing any denial of service (</a:t>
            </a:r>
            <a:r>
              <a:rPr lang="en-US" sz="2000" dirty="0" err="1" smtClean="0">
                <a:latin typeface="Garamond" pitchFamily="18" charset="0"/>
              </a:rPr>
              <a:t>DoS</a:t>
            </a:r>
            <a:r>
              <a:rPr lang="en-US" sz="2000" dirty="0" smtClean="0">
                <a:latin typeface="Garamond" pitchFamily="18" charset="0"/>
              </a:rPr>
              <a:t>) situations, which are attacks launched on the system with the aim of rendering some resources unusable in order to harm system users.</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r>
              <a:rPr lang="it-IT" sz="2200" b="1" dirty="0" smtClean="0">
                <a:solidFill>
                  <a:srgbClr val="FF0000"/>
                </a:solidFill>
                <a:latin typeface="Garamond" pitchFamily="18" charset="0"/>
              </a:rPr>
              <a:t>PENTEST</a:t>
            </a:r>
            <a:br>
              <a:rPr lang="it-IT"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1928802"/>
            <a:ext cx="8229600" cy="4025897"/>
          </a:xfrm>
        </p:spPr>
        <p:txBody>
          <a:bodyPr>
            <a:normAutofit/>
          </a:bodyPr>
          <a:lstStyle/>
          <a:p>
            <a:pPr marL="0" indent="0" algn="just">
              <a:buNone/>
            </a:pPr>
            <a:r>
              <a:rPr lang="en-US" sz="2000" dirty="0" smtClean="0">
                <a:latin typeface="Garamond" pitchFamily="18" charset="0"/>
              </a:rPr>
              <a:t>In addition to risk analysis, penetration testing, colloquially known as </a:t>
            </a:r>
            <a:r>
              <a:rPr lang="en-US" sz="2000" dirty="0" err="1" smtClean="0">
                <a:latin typeface="Garamond" pitchFamily="18" charset="0"/>
              </a:rPr>
              <a:t>pentest</a:t>
            </a:r>
            <a:r>
              <a:rPr lang="en-US" sz="2000" dirty="0" smtClean="0">
                <a:latin typeface="Garamond" pitchFamily="18" charset="0"/>
              </a:rPr>
              <a:t> or ethical hacking, is often performed; it is an authorized, simulated cyber-attack on a computer system, performed to evaluate the system's security. Testing is performed to identify both strengths and weaknesses (also called vulnerabilities), including the ability for unauthorized parties to access system features and data. This enables a comprehensive risk assessment and should not be confused with a simple vulnerability test.</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r>
              <a:rPr lang="it-IT" sz="2200" b="1" dirty="0" smtClean="0">
                <a:solidFill>
                  <a:srgbClr val="FF0000"/>
                </a:solidFill>
                <a:latin typeface="Garamond" pitchFamily="18" charset="0"/>
              </a:rPr>
              <a:t>THREATS AND VULNERABILITIES</a:t>
            </a:r>
            <a:br>
              <a:rPr lang="it-IT"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1928802"/>
            <a:ext cx="8229600" cy="4025897"/>
          </a:xfrm>
        </p:spPr>
        <p:txBody>
          <a:bodyPr>
            <a:normAutofit/>
          </a:bodyPr>
          <a:lstStyle/>
          <a:p>
            <a:pPr marL="0" indent="0" algn="just">
              <a:buNone/>
            </a:pPr>
            <a:r>
              <a:rPr lang="en-US" sz="2000" dirty="0" smtClean="0">
                <a:latin typeface="Garamond" pitchFamily="18" charset="0"/>
              </a:rPr>
              <a:t>Computer systems are subject to threats that can exploit vulnerabilities (threat and vulnerability are contiguous but distinct concepts) leading to attacks aimed at accessing the data contained therein or at undermining a system’s functionality or service availability. </a:t>
            </a:r>
            <a:r>
              <a:rPr lang="en-US" sz="2000" dirty="0" smtClean="0">
                <a:latin typeface="Garamond" pitchFamily="18" charset="0"/>
              </a:rPr>
              <a:t>The </a:t>
            </a:r>
            <a:r>
              <a:rPr lang="en-US" sz="2000" dirty="0" smtClean="0">
                <a:latin typeface="Garamond" pitchFamily="18" charset="0"/>
              </a:rPr>
              <a:t>causes of “out of service” computer systems can be grouped into two classes of events:</a:t>
            </a:r>
          </a:p>
          <a:p>
            <a:pPr marL="0" indent="0" algn="just">
              <a:buNone/>
            </a:pPr>
            <a:r>
              <a:rPr lang="en-US" sz="2000" dirty="0" smtClean="0">
                <a:latin typeface="Garamond" pitchFamily="18" charset="0"/>
              </a:rPr>
              <a:t>• Accidental events;</a:t>
            </a:r>
          </a:p>
          <a:p>
            <a:pPr marL="0" indent="0" algn="just">
              <a:buNone/>
            </a:pPr>
            <a:r>
              <a:rPr lang="en-US" sz="2000" dirty="0" smtClean="0">
                <a:latin typeface="Garamond" pitchFamily="18" charset="0"/>
              </a:rPr>
              <a:t>• Unwanted events.</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r>
              <a:rPr lang="it-IT" sz="2200" b="1" dirty="0" smtClean="0">
                <a:solidFill>
                  <a:srgbClr val="FF0000"/>
                </a:solidFill>
                <a:latin typeface="Garamond" pitchFamily="18" charset="0"/>
              </a:rPr>
              <a:t>ACCIDENTAL EVENTS</a:t>
            </a:r>
            <a:br>
              <a:rPr lang="it-IT"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1928802"/>
            <a:ext cx="8229600" cy="4025897"/>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Accidental events do not concern malicious attacks, but refer to events accidentally caused by the user. These include the use of some system not recommended, incompatibility of hardware parts, unexpected failures, etc…. All these events compromise the security of the system especially in terms of availability. There are no general solutions to avoid accidental events; a first remedy is to regularly make a backup copy of the system, including data and </a:t>
            </a:r>
            <a:r>
              <a:rPr lang="en-US" sz="2000" dirty="0" smtClean="0">
                <a:latin typeface="Garamond" pitchFamily="18" charset="0"/>
              </a:rPr>
              <a:t>applications. </a:t>
            </a: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r>
              <a:rPr lang="it-IT" sz="2200" b="1" dirty="0" smtClean="0">
                <a:solidFill>
                  <a:srgbClr val="FF0000"/>
                </a:solidFill>
                <a:latin typeface="Garamond" pitchFamily="18" charset="0"/>
              </a:rPr>
              <a:t/>
            </a:r>
            <a:br>
              <a:rPr lang="it-IT" sz="2200" b="1" dirty="0" smtClean="0">
                <a:solidFill>
                  <a:srgbClr val="FF0000"/>
                </a:solidFill>
                <a:latin typeface="Garamond" pitchFamily="18" charset="0"/>
              </a:rPr>
            </a:br>
            <a:r>
              <a:rPr lang="it-IT" sz="2200" b="1" dirty="0" smtClean="0">
                <a:solidFill>
                  <a:srgbClr val="FF0000"/>
                </a:solidFill>
                <a:latin typeface="Garamond" pitchFamily="18" charset="0"/>
              </a:rPr>
              <a:t>UNWANTED EVENTS</a:t>
            </a:r>
            <a:br>
              <a:rPr lang="it-IT"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1928802"/>
            <a:ext cx="8229600" cy="4025897"/>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Unwanted </a:t>
            </a:r>
            <a:r>
              <a:rPr lang="en-US" sz="2000" dirty="0" smtClean="0">
                <a:latin typeface="Garamond" pitchFamily="18" charset="0"/>
              </a:rPr>
              <a:t>events are mostly unexpected, and even if it is prudent to expect anything, there are the so-called attacks by users who are not authorized to process data or use services. Some of the undesirable events one may suffer are:</a:t>
            </a:r>
          </a:p>
          <a:p>
            <a:pPr marL="0" indent="0" algn="just">
              <a:buNone/>
            </a:pPr>
            <a:r>
              <a:rPr lang="en-US" sz="2000" dirty="0" smtClean="0">
                <a:latin typeface="Garamond" pitchFamily="18" charset="0"/>
              </a:rPr>
              <a:t>• Malicious attacks;</a:t>
            </a:r>
          </a:p>
          <a:p>
            <a:pPr marL="0" indent="0" algn="just">
              <a:buNone/>
            </a:pPr>
            <a:r>
              <a:rPr lang="en-US" sz="2000" dirty="0" smtClean="0">
                <a:latin typeface="Garamond" pitchFamily="18" charset="0"/>
              </a:rPr>
              <a:t>• Use of authorizations for access to systems or areas by unauthorized users (privilege escalation).</a:t>
            </a:r>
          </a:p>
          <a:p>
            <a:pPr marL="0" indent="0" algn="just">
              <a:buNone/>
            </a:pPr>
            <a:r>
              <a:rPr lang="en-US" sz="2000" dirty="0" smtClean="0">
                <a:latin typeface="Garamond" pitchFamily="18" charset="0"/>
              </a:rPr>
              <a:t> </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p:cNvSpPr>
            <a:spLocks noGrp="1"/>
          </p:cNvSpPr>
          <p:nvPr>
            <p:ph type="title"/>
          </p:nvPr>
        </p:nvSpPr>
        <p:spPr>
          <a:xfrm>
            <a:off x="457200" y="1000116"/>
            <a:ext cx="8229600" cy="1143000"/>
          </a:xfrm>
        </p:spPr>
        <p:txBody>
          <a:bodyPr>
            <a:normAutofit/>
          </a:bodyPr>
          <a:lstStyle/>
          <a:p>
            <a:r>
              <a:rPr lang="en-US" sz="2200" b="1" dirty="0" smtClean="0">
                <a:solidFill>
                  <a:srgbClr val="FF0000"/>
                </a:solidFill>
                <a:latin typeface="Garamond" pitchFamily="18" charset="0"/>
              </a:rPr>
              <a:t>MAJOR CAUSES OF DATA LOSS AND EFFECTS</a:t>
            </a:r>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1928802"/>
            <a:ext cx="8229600" cy="4025897"/>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The causes of probable data loss in computer systems can be classified into:</a:t>
            </a:r>
          </a:p>
          <a:p>
            <a:pPr marL="0" indent="0" algn="just">
              <a:buNone/>
            </a:pPr>
            <a:r>
              <a:rPr lang="en-US" sz="2000" dirty="0" smtClean="0">
                <a:latin typeface="Garamond" pitchFamily="18" charset="0"/>
              </a:rPr>
              <a:t> </a:t>
            </a:r>
          </a:p>
          <a:p>
            <a:pPr marL="0" indent="0" algn="just">
              <a:buFont typeface="Wingdings" pitchFamily="2" charset="2"/>
              <a:buChar char="ü"/>
            </a:pPr>
            <a:r>
              <a:rPr lang="en-US" sz="2000" b="1" dirty="0" smtClean="0">
                <a:latin typeface="Garamond" pitchFamily="18" charset="0"/>
              </a:rPr>
              <a:t>Malware.</a:t>
            </a:r>
          </a:p>
          <a:p>
            <a:pPr marL="0" indent="0" algn="just">
              <a:buFont typeface="Wingdings" pitchFamily="2" charset="2"/>
              <a:buChar char="ü"/>
            </a:pPr>
            <a:r>
              <a:rPr lang="en-US" sz="2000" b="1" dirty="0" smtClean="0">
                <a:latin typeface="Garamond" pitchFamily="18" charset="0"/>
              </a:rPr>
              <a:t>Loss or theft of documents or devices.</a:t>
            </a:r>
          </a:p>
          <a:p>
            <a:pPr marL="0" indent="0" algn="just">
              <a:buFont typeface="Wingdings" pitchFamily="2" charset="2"/>
              <a:buChar char="ü"/>
            </a:pPr>
            <a:r>
              <a:rPr lang="en-US" sz="2000" b="1" dirty="0" smtClean="0">
                <a:latin typeface="Garamond" pitchFamily="18" charset="0"/>
              </a:rPr>
              <a:t>Unintentional Disclosure.</a:t>
            </a:r>
          </a:p>
          <a:p>
            <a:pPr marL="0" indent="0" algn="just">
              <a:buFont typeface="Wingdings" pitchFamily="2" charset="2"/>
              <a:buChar char="ü"/>
            </a:pPr>
            <a:r>
              <a:rPr lang="en-US" sz="2000" b="1" dirty="0" smtClean="0">
                <a:latin typeface="Garamond" pitchFamily="18" charset="0"/>
              </a:rPr>
              <a:t>Payment card fraud.</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357158" y="1285860"/>
            <a:ext cx="8229600" cy="4025897"/>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r>
              <a:rPr lang="en-US" sz="2000" dirty="0" smtClean="0">
                <a:latin typeface="Garamond" pitchFamily="18" charset="0"/>
              </a:rPr>
              <a:t> </a:t>
            </a:r>
            <a:r>
              <a:rPr lang="en-US" sz="2000" b="1" dirty="0" smtClean="0">
                <a:latin typeface="Garamond" pitchFamily="18" charset="0"/>
              </a:rPr>
              <a:t>TYPICAL ATTACKS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Malicious attacks are made, via the Internet or other connections, by remote users who, using particular software, sometimes created by themselves, enter the system illegally. They then obtain availability of the device and are able manage resources and data without having the right requirements.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142984"/>
            <a:ext cx="8229600" cy="4811715"/>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Font typeface="Wingdings" pitchFamily="2" charset="2"/>
              <a:buChar char="Ø"/>
            </a:pPr>
            <a:r>
              <a:rPr lang="en-US" sz="2000" dirty="0" smtClean="0">
                <a:latin typeface="Garamond" pitchFamily="18" charset="0"/>
              </a:rPr>
              <a:t>Typical cases of attack are:</a:t>
            </a:r>
          </a:p>
          <a:p>
            <a:pPr marL="0" indent="0" algn="just">
              <a:buFont typeface="Wingdings" pitchFamily="2" charset="2"/>
              <a:buChar char="Ø"/>
            </a:pPr>
            <a:r>
              <a:rPr lang="en-US" sz="2000" dirty="0" smtClean="0">
                <a:latin typeface="Garamond" pitchFamily="18" charset="0"/>
              </a:rPr>
              <a:t>Buffer overflow</a:t>
            </a:r>
          </a:p>
          <a:p>
            <a:pPr marL="0" indent="0" algn="just">
              <a:buFont typeface="Wingdings" pitchFamily="2" charset="2"/>
              <a:buChar char="Ø"/>
            </a:pPr>
            <a:r>
              <a:rPr lang="en-US" sz="2000" dirty="0" smtClean="0">
                <a:latin typeface="Garamond" pitchFamily="18" charset="0"/>
              </a:rPr>
              <a:t>Denial of service</a:t>
            </a:r>
          </a:p>
          <a:p>
            <a:pPr marL="0" indent="0" algn="just">
              <a:buFont typeface="Wingdings" pitchFamily="2" charset="2"/>
              <a:buChar char="Ø"/>
            </a:pPr>
            <a:r>
              <a:rPr lang="en-US" sz="2000" dirty="0" smtClean="0">
                <a:latin typeface="Garamond" pitchFamily="18" charset="0"/>
              </a:rPr>
              <a:t>Hacking</a:t>
            </a:r>
          </a:p>
          <a:p>
            <a:pPr marL="0" indent="0" algn="just">
              <a:buFont typeface="Wingdings" pitchFamily="2" charset="2"/>
              <a:buChar char="Ø"/>
            </a:pPr>
            <a:r>
              <a:rPr lang="en-US" sz="2000" dirty="0" smtClean="0">
                <a:latin typeface="Garamond" pitchFamily="18" charset="0"/>
              </a:rPr>
              <a:t>Social engineering</a:t>
            </a:r>
          </a:p>
          <a:p>
            <a:pPr marL="0" indent="0" algn="just">
              <a:buFont typeface="Wingdings" pitchFamily="2" charset="2"/>
              <a:buChar char="Ø"/>
            </a:pPr>
            <a:r>
              <a:rPr lang="en-US" sz="2000" dirty="0" err="1" smtClean="0">
                <a:latin typeface="Garamond" pitchFamily="18" charset="0"/>
              </a:rPr>
              <a:t>Keylogging</a:t>
            </a:r>
            <a:endParaRPr lang="en-US" sz="2000" dirty="0" smtClean="0">
              <a:latin typeface="Garamond" pitchFamily="18" charset="0"/>
            </a:endParaRPr>
          </a:p>
          <a:p>
            <a:pPr marL="0" indent="0" algn="just">
              <a:buFont typeface="Wingdings" pitchFamily="2" charset="2"/>
              <a:buChar char="Ø"/>
            </a:pPr>
            <a:r>
              <a:rPr lang="en-US" sz="2000" dirty="0" smtClean="0">
                <a:latin typeface="Garamond" pitchFamily="18" charset="0"/>
              </a:rPr>
              <a:t>Backdoors</a:t>
            </a:r>
          </a:p>
          <a:p>
            <a:pPr marL="0" indent="0" algn="just">
              <a:buFont typeface="Wingdings" pitchFamily="2" charset="2"/>
              <a:buChar char="Ø"/>
            </a:pPr>
            <a:r>
              <a:rPr lang="en-US" sz="2000" dirty="0" smtClean="0">
                <a:latin typeface="Garamond" pitchFamily="18" charset="0"/>
              </a:rPr>
              <a:t>Spoofing</a:t>
            </a:r>
          </a:p>
          <a:p>
            <a:pPr marL="0" indent="0" algn="just">
              <a:buFont typeface="Wingdings" pitchFamily="2" charset="2"/>
              <a:buChar char="Ø"/>
            </a:pPr>
            <a:r>
              <a:rPr lang="en-US" sz="2000" dirty="0" smtClean="0">
                <a:latin typeface="Garamond" pitchFamily="18" charset="0"/>
              </a:rPr>
              <a:t>Social network poisoning</a:t>
            </a:r>
          </a:p>
          <a:p>
            <a:pPr marL="0" indent="0" algn="just">
              <a:buFont typeface="Wingdings" pitchFamily="2" charset="2"/>
              <a:buChar char="Ø"/>
            </a:pPr>
            <a:r>
              <a:rPr lang="en-US" sz="2000" dirty="0" smtClean="0">
                <a:latin typeface="Garamond" pitchFamily="18" charset="0"/>
              </a:rPr>
              <a:t>Spyware</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142984"/>
            <a:ext cx="8229600" cy="4811715"/>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EFFECTS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a:t>
            </a:r>
            <a:r>
              <a:rPr lang="en-US" sz="2000" dirty="0" smtClean="0">
                <a:latin typeface="Garamond" pitchFamily="18" charset="0"/>
              </a:rPr>
              <a:t>danger of the most common attacks consists not only in taking possession of a user’s access requirements, data, and services, but also in undermining the “robbed” victim’s sense of security in computer systems, the extent of their use, and what amounts to an essential part of everyday life. </a:t>
            </a:r>
          </a:p>
          <a:p>
            <a:pPr marL="0" indent="0" algn="just">
              <a:buNone/>
            </a:pPr>
            <a:r>
              <a:rPr lang="en-US" sz="2000" dirty="0" smtClean="0">
                <a:latin typeface="Garamond" pitchFamily="18" charset="0"/>
              </a:rPr>
              <a:t>An alternative and neutral term for the effect is "impact," which must be evaluated on the basis of the danger and damage it has produced.</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20</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142984"/>
            <a:ext cx="8229600" cy="4811715"/>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SECURITY MEASURES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Protection from cyber attacks is achieved by acting at two main levels:</a:t>
            </a:r>
          </a:p>
          <a:p>
            <a:pPr marL="0" indent="0" algn="just">
              <a:buNone/>
            </a:pPr>
            <a:endParaRPr lang="en-US" sz="2000" dirty="0" smtClean="0">
              <a:latin typeface="Garamond" pitchFamily="18" charset="0"/>
            </a:endParaRPr>
          </a:p>
          <a:p>
            <a:pPr marL="0" indent="0" algn="just">
              <a:buFont typeface="Wingdings" pitchFamily="2" charset="2"/>
              <a:buChar char="Ø"/>
            </a:pPr>
            <a:r>
              <a:rPr lang="en-US" sz="2000" dirty="0" smtClean="0">
                <a:latin typeface="Garamond" pitchFamily="18" charset="0"/>
              </a:rPr>
              <a:t>Physical security</a:t>
            </a:r>
          </a:p>
          <a:p>
            <a:pPr marL="0" indent="0" algn="just">
              <a:buFont typeface="Wingdings" pitchFamily="2" charset="2"/>
              <a:buChar char="Ø"/>
            </a:pPr>
            <a:r>
              <a:rPr lang="en-US" sz="2000" dirty="0" smtClean="0">
                <a:latin typeface="Garamond" pitchFamily="18" charset="0"/>
              </a:rPr>
              <a:t>Logical security</a:t>
            </a:r>
          </a:p>
          <a:p>
            <a:pPr marL="0" indent="0" algn="just">
              <a:buFont typeface="Wingdings" pitchFamily="2" charset="2"/>
              <a:buChar char="Ø"/>
            </a:pPr>
            <a:r>
              <a:rPr lang="en-US" sz="2000" dirty="0" smtClean="0">
                <a:latin typeface="Garamond" pitchFamily="18" charset="0"/>
              </a:rPr>
              <a:t>For some, there is also the "organizational" level consisting of procedures, policies, authorities and responsibilities, and objectives and oversight.</a:t>
            </a:r>
          </a:p>
          <a:p>
            <a:pPr marL="0" indent="0" algn="just">
              <a:buFont typeface="Wingdings" pitchFamily="2" charset="2"/>
              <a:buChar char="Ø"/>
            </a:pPr>
            <a:r>
              <a:rPr lang="en-US" sz="2000" dirty="0" smtClean="0">
                <a:latin typeface="Garamond" pitchFamily="18" charset="0"/>
              </a:rPr>
              <a:t>In the past decade, in particular, evidence points to the increasing importance of the human factor in cyber attacks.</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21</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142984"/>
            <a:ext cx="8229600" cy="4811715"/>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PASSIVE SECURITY (PHYSICAL SECURITY)</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Passive security normally means defensive techniques and tools that include a complex of technical-practical solutions whose objective is to prevent unauthorized users from accessing resources, systems, devices, equipment, information, and data confidential in nature.</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142984"/>
            <a:ext cx="8229600" cy="4811715"/>
          </a:xfrm>
        </p:spPr>
        <p:txBody>
          <a:bodyPr>
            <a:normAutofit/>
          </a:bodyPr>
          <a:lstStyle/>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First of all, on a physical and material level, servers should be secured in the safest possible place, equipped with surveillance and access control and protected from damage (fire, water, power surges, catastrophic events, etc...). Even if these precautions constitute normal security, and are not specifically considered part of "</a:t>
            </a:r>
            <a:r>
              <a:rPr lang="en-US" sz="2000" dirty="0" err="1" smtClean="0">
                <a:latin typeface="Garamond" pitchFamily="18" charset="0"/>
              </a:rPr>
              <a:t>cybersecurity</a:t>
            </a:r>
            <a:r>
              <a:rPr lang="en-US" sz="2000" dirty="0" smtClean="0">
                <a:latin typeface="Garamond" pitchFamily="18" charset="0"/>
              </a:rPr>
              <a:t>," often adopting the most sophisticated cyber techniques generates </a:t>
            </a:r>
            <a:r>
              <a:rPr lang="en-US" sz="2000" u="sng" dirty="0" smtClean="0">
                <a:latin typeface="Garamond" pitchFamily="18" charset="0"/>
              </a:rPr>
              <a:t>a false sense of security that can lead to neglecting the simplest precautions.</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142984"/>
            <a:ext cx="8229600" cy="4811715"/>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ACTIVE SECURITY (LOGICAL SECURITY)</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Active security means the techniques and tools by which information and data (as well as applications) of a confidential nature are made secure, protecting them both from the possibility of unauthorized user access (confidentiality) and unauthorized user modification (integrity). This category includes both hardware and software tools.</a:t>
            </a:r>
          </a:p>
          <a:p>
            <a:pPr marL="0" indent="0" algn="ctr">
              <a:buNone/>
            </a:pPr>
            <a:r>
              <a:rPr lang="en-US" sz="2000" dirty="0" smtClean="0">
                <a:latin typeface="Garamond" pitchFamily="18" charset="0"/>
              </a:rPr>
              <a:t>This level is usually logical and involves authentication and authorization of an entity representing the user in the system. The operations performed by the user during the authentication process are traced in log files.</a:t>
            </a:r>
          </a:p>
          <a:p>
            <a:pPr marL="0" indent="0" algn="ctr">
              <a:buNone/>
            </a:pPr>
            <a:r>
              <a:rPr lang="en-US" sz="2000" dirty="0" smtClean="0">
                <a:latin typeface="Garamond" pitchFamily="18" charset="0"/>
              </a:rPr>
              <a:t>This activity tracking process is called accountability. </a:t>
            </a:r>
          </a:p>
          <a:p>
            <a:pPr marL="0" indent="0" algn="ctr">
              <a:buNone/>
            </a:pPr>
            <a:r>
              <a:rPr lang="en-US" sz="2000" dirty="0" smtClean="0">
                <a:latin typeface="Garamond" pitchFamily="18" charset="0"/>
              </a:rPr>
              <a:t>Passive and active security are </a:t>
            </a:r>
            <a:r>
              <a:rPr lang="en-US" sz="2000" dirty="0" smtClean="0">
                <a:latin typeface="Garamond" pitchFamily="18" charset="0"/>
              </a:rPr>
              <a:t>complementary.  </a:t>
            </a: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428596" y="928670"/>
            <a:ext cx="8229600" cy="1143000"/>
          </a:xfrm>
        </p:spPr>
        <p:txBody>
          <a:bodyPr>
            <a:normAutofit/>
          </a:bodyPr>
          <a:lstStyle/>
          <a:p>
            <a:r>
              <a:rPr lang="it-IT" sz="2200" b="1" dirty="0" smtClean="0">
                <a:solidFill>
                  <a:srgbClr val="FF0000"/>
                </a:solidFill>
                <a:latin typeface="Garamond" pitchFamily="18" charset="0"/>
              </a:rPr>
              <a:t>THE HUMAN FACTOR</a:t>
            </a:r>
            <a:endParaRPr lang="it-IT" sz="2200" b="1" dirty="0">
              <a:solidFill>
                <a:srgbClr val="FF0000"/>
              </a:solidFill>
              <a:latin typeface="Garamond" pitchFamily="18" charset="0"/>
            </a:endParaRPr>
          </a:p>
        </p:txBody>
      </p:sp>
      <p:sp>
        <p:nvSpPr>
          <p:cNvPr id="15" name="Segnaposto contenuto 14"/>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recent years, much research has highlighted how the human factor is an essential component of a cyber attack.</a:t>
            </a:r>
          </a:p>
          <a:p>
            <a:pPr marL="0" indent="0" algn="just">
              <a:buNone/>
            </a:pPr>
            <a:r>
              <a:rPr lang="en-US" sz="2000" u="sng" dirty="0" smtClean="0">
                <a:latin typeface="Garamond" pitchFamily="18" charset="0"/>
              </a:rPr>
              <a:t>The end user is now considered the weak link in the man-machine system</a:t>
            </a:r>
            <a:r>
              <a:rPr lang="en-US" sz="2000" dirty="0" smtClean="0">
                <a:latin typeface="Garamond" pitchFamily="18" charset="0"/>
              </a:rPr>
              <a:t>, and it is estimated that more than 90% of security incidents originate from some form of human error.</a:t>
            </a:r>
          </a:p>
          <a:p>
            <a:pPr marL="0" indent="0" algn="just">
              <a:buNone/>
            </a:pPr>
            <a:r>
              <a:rPr lang="en-US" sz="2000" dirty="0" smtClean="0">
                <a:latin typeface="Garamond" pitchFamily="18" charset="0"/>
              </a:rPr>
              <a:t>Among the most commonly encountered forms of errors and risky habits are poor password management, inability to recognize fraudulent sites, dangerous email attachments, and deceptive URLs.</a:t>
            </a:r>
          </a:p>
          <a:p>
            <a:pPr marL="0" indent="0" algn="just">
              <a:buNone/>
            </a:pPr>
            <a:r>
              <a:rPr lang="en-US" sz="2000" dirty="0" smtClean="0">
                <a:latin typeface="Garamond" pitchFamily="18" charset="0"/>
              </a:rPr>
              <a:t>Given the importance of the human component in determining the overall cyber-risk to which an organization is exposed, IT security training, aimed at increasing awareness of the end user, at all </a:t>
            </a:r>
            <a:r>
              <a:rPr lang="en-US" sz="2000" dirty="0" smtClean="0">
                <a:latin typeface="Garamond" pitchFamily="18" charset="0"/>
              </a:rPr>
              <a:t>levels. </a:t>
            </a: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Attention to the end user represents a profound cultural change for many </a:t>
            </a:r>
            <a:r>
              <a:rPr lang="en-US" sz="2000" dirty="0" err="1" smtClean="0">
                <a:latin typeface="Garamond" pitchFamily="18" charset="0"/>
              </a:rPr>
              <a:t>cybersecurity</a:t>
            </a:r>
            <a:r>
              <a:rPr lang="en-US" sz="2000" dirty="0" smtClean="0">
                <a:latin typeface="Garamond" pitchFamily="18" charset="0"/>
              </a:rPr>
              <a:t> operators, who have traditionally approached the problem from an exclusively technical perspective. This follows the guidelines indicated by the world's major 'security centers,' which encourage the </a:t>
            </a:r>
            <a:r>
              <a:rPr lang="en-US" sz="2000" b="1" u="sng" dirty="0" smtClean="0">
                <a:latin typeface="Garamond" pitchFamily="18" charset="0"/>
              </a:rPr>
              <a:t>development of a culture of security within a company, recognizing that an aware user constitutes an important line of defense against cyber attacks.</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357298"/>
            <a:ext cx="8229600" cy="4525963"/>
          </a:xfrm>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OTHER FACTORS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According to a research carried out by </a:t>
            </a:r>
            <a:r>
              <a:rPr lang="en-US" sz="2000" dirty="0" err="1" smtClean="0">
                <a:latin typeface="Garamond" pitchFamily="18" charset="0"/>
              </a:rPr>
              <a:t>NordVPN</a:t>
            </a:r>
            <a:r>
              <a:rPr lang="en-US" sz="2000" dirty="0" smtClean="0">
                <a:latin typeface="Garamond" pitchFamily="18" charset="0"/>
              </a:rPr>
              <a:t>, a company that deals with the production of IT protection systems, the risk of becoming a victim of cyber attacks depends on several important factors, including one’s country.</a:t>
            </a:r>
          </a:p>
          <a:p>
            <a:pPr marL="0" indent="0" algn="just">
              <a:buNone/>
            </a:pPr>
            <a:r>
              <a:rPr lang="en-US" sz="2000" u="sng" dirty="0" smtClean="0">
                <a:latin typeface="Garamond" pitchFamily="18" charset="0"/>
              </a:rPr>
              <a:t>A ranking of countries at "highest risk of cyber attacks"</a:t>
            </a:r>
            <a:r>
              <a:rPr lang="en-US" sz="2000" dirty="0" smtClean="0">
                <a:latin typeface="Garamond" pitchFamily="18" charset="0"/>
              </a:rPr>
              <a:t> has been drawn up, based on common variables for each individual country.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THEY INCLUDE:</a:t>
            </a:r>
          </a:p>
          <a:p>
            <a:pPr marL="0" indent="0" algn="just">
              <a:buFont typeface="Wingdings" pitchFamily="2" charset="2"/>
              <a:buChar char="Ø"/>
            </a:pPr>
            <a:r>
              <a:rPr lang="en-US" sz="2000" dirty="0" smtClean="0">
                <a:latin typeface="Garamond" pitchFamily="18" charset="0"/>
              </a:rPr>
              <a:t> Population</a:t>
            </a:r>
          </a:p>
          <a:p>
            <a:pPr marL="0" indent="0" algn="just">
              <a:buFont typeface="Wingdings" pitchFamily="2" charset="2"/>
              <a:buChar char="Ø"/>
            </a:pPr>
            <a:r>
              <a:rPr lang="en-US" sz="2000" dirty="0" smtClean="0">
                <a:latin typeface="Garamond" pitchFamily="18" charset="0"/>
              </a:rPr>
              <a:t> Average monthly salary</a:t>
            </a:r>
          </a:p>
          <a:p>
            <a:pPr marL="0" indent="0" algn="just">
              <a:buFont typeface="Wingdings" pitchFamily="2" charset="2"/>
              <a:buChar char="Ø"/>
            </a:pPr>
            <a:r>
              <a:rPr lang="en-US" sz="2000" dirty="0" smtClean="0">
                <a:latin typeface="Garamond" pitchFamily="18" charset="0"/>
              </a:rPr>
              <a:t> Tourism</a:t>
            </a:r>
          </a:p>
          <a:p>
            <a:pPr marL="0" indent="0" algn="just">
              <a:buFont typeface="Wingdings" pitchFamily="2" charset="2"/>
              <a:buChar char="Ø"/>
            </a:pPr>
            <a:r>
              <a:rPr lang="en-US" sz="2000" dirty="0" smtClean="0">
                <a:latin typeface="Garamond" pitchFamily="18" charset="0"/>
              </a:rPr>
              <a:t> Time spent on the Internet</a:t>
            </a:r>
          </a:p>
          <a:p>
            <a:pPr marL="0" indent="0" algn="just">
              <a:buFont typeface="Wingdings" pitchFamily="2" charset="2"/>
              <a:buChar char="Ø"/>
            </a:pPr>
            <a:r>
              <a:rPr lang="en-US" sz="2000" dirty="0" smtClean="0">
                <a:latin typeface="Garamond" pitchFamily="18" charset="0"/>
              </a:rPr>
              <a:t> Dissemination of the Internet, </a:t>
            </a:r>
            <a:r>
              <a:rPr lang="en-US" sz="2000" dirty="0" err="1" smtClean="0">
                <a:latin typeface="Garamond" pitchFamily="18" charset="0"/>
              </a:rPr>
              <a:t>smartphones</a:t>
            </a:r>
            <a:r>
              <a:rPr lang="en-US" sz="2000" dirty="0" smtClean="0">
                <a:latin typeface="Garamond" pitchFamily="18" charset="0"/>
              </a:rPr>
              <a:t>, e-commerce, online video games, streaming, </a:t>
            </a:r>
            <a:r>
              <a:rPr lang="en-US" sz="2000" dirty="0" err="1" smtClean="0">
                <a:latin typeface="Garamond" pitchFamily="18" charset="0"/>
              </a:rPr>
              <a:t>Facebook</a:t>
            </a:r>
            <a:r>
              <a:rPr lang="en-US" sz="2000" dirty="0" smtClean="0">
                <a:latin typeface="Garamond" pitchFamily="18" charset="0"/>
              </a:rPr>
              <a:t>, and </a:t>
            </a:r>
            <a:r>
              <a:rPr lang="en-US" sz="2000" dirty="0" err="1" smtClean="0">
                <a:latin typeface="Garamond" pitchFamily="18" charset="0"/>
              </a:rPr>
              <a:t>Instagram</a:t>
            </a:r>
            <a:endParaRPr lang="en-US" sz="2000" dirty="0" smtClean="0">
              <a:latin typeface="Garamond" pitchFamily="18" charset="0"/>
            </a:endParaRPr>
          </a:p>
          <a:p>
            <a:pPr marL="0" indent="0" algn="just">
              <a:buFont typeface="Wingdings" pitchFamily="2" charset="2"/>
              <a:buChar char="Ø"/>
            </a:pPr>
            <a:r>
              <a:rPr lang="en-US" sz="2000" dirty="0" smtClean="0">
                <a:latin typeface="Garamond" pitchFamily="18" charset="0"/>
              </a:rPr>
              <a:t> Crime rate</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From the analysis (which assigned each country a score between 0 and 1, based on the danger), it emerged that the more developed countries are most at risk; high profitability, advanced technological infrastructure, and a high level of digitization leads to a higher level of cyber crimes.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428596" y="928670"/>
            <a:ext cx="8229600" cy="1143000"/>
          </a:xfrm>
        </p:spPr>
        <p:txBody>
          <a:bodyPr>
            <a:normAutofit/>
          </a:bodyPr>
          <a:lstStyle/>
          <a:p>
            <a:r>
              <a:rPr lang="it-IT" sz="2200" b="1" dirty="0" smtClean="0">
                <a:solidFill>
                  <a:srgbClr val="FF0000"/>
                </a:solidFill>
                <a:latin typeface="Garamond" pitchFamily="18" charset="0"/>
              </a:rPr>
              <a:t>PROTECTION PARAMETERS</a:t>
            </a:r>
            <a:endParaRPr lang="it-IT" sz="2200" b="1" dirty="0">
              <a:solidFill>
                <a:srgbClr val="FF0000"/>
              </a:solidFill>
              <a:latin typeface="Garamond" pitchFamily="18" charset="0"/>
            </a:endParaRPr>
          </a:p>
        </p:txBody>
      </p:sp>
      <p:sp>
        <p:nvSpPr>
          <p:cNvPr id="15" name="Segnaposto contenuto 14"/>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The protection of IT assets is obtained through technical and organizational measures, both for prevention and protection, and is aimed at ensuring the following: protected and controlled access to data to guarantee the confidentiality of the information processed (confidentiality); the consistency of the data, understood as completeness and correctness of the same (integrity); access to data at the expected times and places (availability).</a:t>
            </a:r>
          </a:p>
          <a:p>
            <a:pPr marL="0" indent="0" algn="just">
              <a:buNone/>
            </a:pPr>
            <a:r>
              <a:rPr lang="en-US" sz="2000" dirty="0" smtClean="0">
                <a:latin typeface="Garamond" pitchFamily="18" charset="0"/>
              </a:rPr>
              <a:t>These three characteristics are often referred to as the "CIA Triad" (from Confidentiality, Integrity, Availability).</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30</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The properties of </a:t>
            </a:r>
            <a:r>
              <a:rPr lang="en-US" sz="2000" u="sng" dirty="0" smtClean="0">
                <a:latin typeface="Garamond" pitchFamily="18" charset="0"/>
              </a:rPr>
              <a:t>confidentiality</a:t>
            </a:r>
            <a:r>
              <a:rPr lang="en-US" sz="2000" dirty="0" smtClean="0">
                <a:latin typeface="Garamond" pitchFamily="18" charset="0"/>
              </a:rPr>
              <a:t>, </a:t>
            </a:r>
            <a:r>
              <a:rPr lang="en-US" sz="2000" u="sng" dirty="0" smtClean="0">
                <a:latin typeface="Garamond" pitchFamily="18" charset="0"/>
              </a:rPr>
              <a:t>integrity</a:t>
            </a:r>
            <a:r>
              <a:rPr lang="en-US" sz="2000" dirty="0" smtClean="0">
                <a:latin typeface="Garamond" pitchFamily="18" charset="0"/>
              </a:rPr>
              <a:t>, and </a:t>
            </a:r>
            <a:r>
              <a:rPr lang="en-US" sz="2000" u="sng" dirty="0" smtClean="0">
                <a:latin typeface="Garamond" pitchFamily="18" charset="0"/>
              </a:rPr>
              <a:t>availability</a:t>
            </a:r>
            <a:r>
              <a:rPr lang="en-US" sz="2000" dirty="0" smtClean="0">
                <a:latin typeface="Garamond" pitchFamily="18" charset="0"/>
              </a:rPr>
              <a:t> of data constitute the basic assumption on which all subsequent security assessments are carried out. These properties are generally accompanied by the premise of non-repudiation, i.e., the possibility of attributing data to a well-identified sender or owner.</a:t>
            </a:r>
          </a:p>
          <a:p>
            <a:pPr marL="0" indent="0" algn="just">
              <a:buNone/>
            </a:pPr>
            <a:r>
              <a:rPr lang="en-US" sz="2000" dirty="0" smtClean="0">
                <a:latin typeface="Garamond" pitchFamily="18" charset="0"/>
              </a:rPr>
              <a:t>Achieving availability depends on varying factors that interfere with the user and the system including the robustness of the basic software and applications, the reliability of the equipment, and the environments in which they are located.</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31</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4525963"/>
          </a:xfrm>
        </p:spPr>
        <p:txBody>
          <a:bodyPr>
            <a:normAutofit/>
          </a:bodyPr>
          <a:lstStyle/>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COUNTERMEASURES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There are many possible attack techniques, so it is necessary to use different defensive measures simultaneously to protect a computer system by placing barriers between the attacker and the target.</a:t>
            </a:r>
          </a:p>
          <a:p>
            <a:pPr marL="0" indent="0" algn="just">
              <a:buNone/>
            </a:pPr>
            <a:r>
              <a:rPr lang="en-US" sz="2000" dirty="0" smtClean="0">
                <a:latin typeface="Garamond" pitchFamily="18" charset="0"/>
              </a:rPr>
              <a:t>The computer system must be able to prevent the direct or indirect alteration of information, either by unauthorized users or by accidental </a:t>
            </a:r>
            <a:r>
              <a:rPr lang="en-US" sz="2000" dirty="0" smtClean="0">
                <a:latin typeface="Garamond" pitchFamily="18" charset="0"/>
              </a:rPr>
              <a:t>events. </a:t>
            </a:r>
            <a:r>
              <a:rPr lang="en-US" sz="2000" dirty="0" smtClean="0">
                <a:latin typeface="Garamond" pitchFamily="18" charset="0"/>
              </a:rPr>
              <a:t>Furthermore, it is not generally good practice to assume that the countermeasures adopted by a system are sufficient to prevent any attack</a:t>
            </a:r>
            <a:r>
              <a:rPr lang="en-US" sz="2000" dirty="0" smtClean="0">
                <a:latin typeface="Garamond" pitchFamily="18" charset="0"/>
              </a:rPr>
              <a:t>!</a:t>
            </a: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428596" y="928670"/>
            <a:ext cx="8229600" cy="1143000"/>
          </a:xfrm>
        </p:spPr>
        <p:txBody>
          <a:bodyPr>
            <a:normAutofit/>
          </a:bodyPr>
          <a:lstStyle/>
          <a:p>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1046177"/>
            <a:ext cx="8229600" cy="4525963"/>
          </a:xfrm>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a:t>
            </a:r>
            <a:r>
              <a:rPr lang="en-US" sz="2000" dirty="0" smtClean="0">
                <a:latin typeface="Garamond" pitchFamily="18" charset="0"/>
              </a:rPr>
              <a:t>is preferable to act in a preventive manner through disaster prevention plans.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4525963"/>
          </a:xfrm>
        </p:spPr>
        <p:txBody>
          <a:bodyPr>
            <a:normAutofit fontScale="92500" lnSpcReduction="20000"/>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r>
              <a:rPr lang="en-US" sz="2200" dirty="0" smtClean="0">
                <a:latin typeface="Garamond" pitchFamily="18" charset="0"/>
              </a:rPr>
              <a:t>Among the most common countermeasures of a logical type on a local network and its subsystems are the following:</a:t>
            </a:r>
          </a:p>
          <a:p>
            <a:pPr marL="0" indent="0" algn="ctr">
              <a:buNone/>
            </a:pPr>
            <a:endParaRPr lang="en-US" sz="2200" dirty="0" smtClean="0">
              <a:latin typeface="Garamond" pitchFamily="18" charset="0"/>
            </a:endParaRPr>
          </a:p>
          <a:p>
            <a:pPr marL="0" indent="0" algn="just">
              <a:buNone/>
            </a:pPr>
            <a:r>
              <a:rPr lang="en-US" sz="2200" b="1" dirty="0" smtClean="0">
                <a:latin typeface="Garamond" pitchFamily="18" charset="0"/>
              </a:rPr>
              <a:t>1. The authentication system</a:t>
            </a:r>
          </a:p>
          <a:p>
            <a:pPr marL="0" indent="0" algn="just">
              <a:buNone/>
            </a:pPr>
            <a:r>
              <a:rPr lang="en-US" sz="2200" dirty="0" smtClean="0">
                <a:latin typeface="Garamond" pitchFamily="18" charset="0"/>
              </a:rPr>
              <a:t>It may be useful to use secure authentication software with a second authentication element, based on a set of characters arranged in a pattern divided into rows and columns, known by the user, who will then have to enter them in a combination of values to demonstrate that he or she have the correct data. Another more sophisticated authentication system is user recognition through fingerprints or other biometric features like iris scanning.</a:t>
            </a:r>
          </a:p>
          <a:p>
            <a:pPr marL="0" indent="0" algn="just">
              <a:buNone/>
            </a:pPr>
            <a:endParaRPr lang="en-US" sz="2200" dirty="0" smtClean="0">
              <a:latin typeface="Garamond" pitchFamily="18" charset="0"/>
            </a:endParaRPr>
          </a:p>
          <a:p>
            <a:pPr marL="0" indent="0" algn="just">
              <a:buNone/>
            </a:pPr>
            <a:endParaRPr lang="en-US" sz="2200" dirty="0" smtClean="0">
              <a:latin typeface="Garamond" pitchFamily="18" charset="0"/>
            </a:endParaRPr>
          </a:p>
          <a:p>
            <a:pPr marL="0" indent="0" algn="just">
              <a:buNone/>
            </a:pPr>
            <a:r>
              <a:rPr lang="en-US" sz="2200" b="1" dirty="0" smtClean="0">
                <a:latin typeface="Garamond" pitchFamily="18" charset="0"/>
              </a:rPr>
              <a:t>2. User management and relative permissions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4525963"/>
          </a:xfrm>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b="1" dirty="0" smtClean="0">
                <a:latin typeface="Garamond" pitchFamily="18" charset="0"/>
              </a:rPr>
              <a:t>3. Mandatory Access Control </a:t>
            </a:r>
            <a:r>
              <a:rPr lang="en-US" sz="2000" dirty="0" smtClean="0">
                <a:latin typeface="Garamond" pitchFamily="18" charset="0"/>
              </a:rPr>
              <a:t>(MAC), a type of access control to a computer system.</a:t>
            </a:r>
          </a:p>
          <a:p>
            <a:pPr marL="0" indent="0" algn="just">
              <a:buNone/>
            </a:pPr>
            <a:endParaRPr lang="en-US" sz="2000" dirty="0" smtClean="0">
              <a:latin typeface="Garamond" pitchFamily="18" charset="0"/>
            </a:endParaRPr>
          </a:p>
          <a:p>
            <a:pPr marL="0" indent="0" algn="just">
              <a:buNone/>
            </a:pPr>
            <a:r>
              <a:rPr lang="en-US" sz="2000" b="1" dirty="0" smtClean="0">
                <a:latin typeface="Garamond" pitchFamily="18" charset="0"/>
              </a:rPr>
              <a:t>4. Firewalls</a:t>
            </a:r>
          </a:p>
          <a:p>
            <a:pPr marL="0" indent="0" algn="just">
              <a:buNone/>
            </a:pPr>
            <a:r>
              <a:rPr lang="en-US" sz="2000" dirty="0" smtClean="0">
                <a:latin typeface="Garamond" pitchFamily="18" charset="0"/>
              </a:rPr>
              <a:t>Installed and well configured, a firewall guarantees a flow control system, verifying all the traffic that passes through it. It protects against external attacks and blocks any programs on your computer that try to access the Internet without your control.</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1" name="Freccia circolare in giù 10"/>
          <p:cNvSpPr/>
          <p:nvPr/>
        </p:nvSpPr>
        <p:spPr>
          <a:xfrm>
            <a:off x="3643306" y="1428736"/>
            <a:ext cx="1216152"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5. The Intrusion Detection System (IDS):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is a software and hardware device (sometimes a combination of both) used to identify unauthorized access to computers. The detected intrusions can be produced by expert crackers, automatic tools, or inexperienced users using semi-automatic programs. IDSs are used to detect all attacks on computers and computer networks.</a:t>
            </a:r>
          </a:p>
          <a:p>
            <a:pPr marL="0" indent="0" algn="just">
              <a:buNone/>
            </a:pPr>
            <a:r>
              <a:rPr lang="en-US" sz="2000" u="sng" dirty="0" smtClean="0">
                <a:latin typeface="Garamond" pitchFamily="18" charset="0"/>
              </a:rPr>
              <a:t>An IDS consists of four components</a:t>
            </a:r>
            <a:r>
              <a:rPr lang="en-US" sz="2000" dirty="0" smtClean="0">
                <a:latin typeface="Garamond" pitchFamily="18" charset="0"/>
              </a:rPr>
              <a:t>: 1) one or more </a:t>
            </a:r>
            <a:r>
              <a:rPr lang="en-US" sz="2000" u="sng" dirty="0" smtClean="0">
                <a:latin typeface="Garamond" pitchFamily="18" charset="0"/>
              </a:rPr>
              <a:t>sensors</a:t>
            </a:r>
            <a:r>
              <a:rPr lang="en-US" sz="2000" dirty="0" smtClean="0">
                <a:latin typeface="Garamond" pitchFamily="18" charset="0"/>
              </a:rPr>
              <a:t> used to receive information from the network or from computers; 2) </a:t>
            </a:r>
            <a:r>
              <a:rPr lang="en-US" sz="2000" u="sng" dirty="0" smtClean="0">
                <a:latin typeface="Garamond" pitchFamily="18" charset="0"/>
              </a:rPr>
              <a:t>a conso</a:t>
            </a:r>
            <a:r>
              <a:rPr lang="en-US" sz="2000" dirty="0" smtClean="0">
                <a:latin typeface="Garamond" pitchFamily="18" charset="0"/>
              </a:rPr>
              <a:t>le used to monitor the status of the network and computers; 3) </a:t>
            </a:r>
            <a:r>
              <a:rPr lang="en-US" sz="2000" u="sng" dirty="0" smtClean="0">
                <a:latin typeface="Garamond" pitchFamily="18" charset="0"/>
              </a:rPr>
              <a:t>an engine </a:t>
            </a:r>
            <a:r>
              <a:rPr lang="en-US" sz="2000" dirty="0" smtClean="0">
                <a:latin typeface="Garamond" pitchFamily="18" charset="0"/>
              </a:rPr>
              <a:t>that analyzes the data collected by the sensors in order to identify any holes in computer security; 4) a </a:t>
            </a:r>
            <a:r>
              <a:rPr lang="en-US" sz="2000" u="sng" dirty="0" smtClean="0">
                <a:latin typeface="Garamond" pitchFamily="18" charset="0"/>
              </a:rPr>
              <a:t>database</a:t>
            </a:r>
            <a:r>
              <a:rPr lang="en-US" sz="2000" dirty="0" smtClean="0">
                <a:latin typeface="Garamond" pitchFamily="18" charset="0"/>
              </a:rPr>
              <a:t> the analysis engine relies on and where a series of rules used to identify security breaches are stored.</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6. The </a:t>
            </a:r>
            <a:r>
              <a:rPr lang="en-US" sz="2000" b="1" dirty="0" err="1" smtClean="0">
                <a:latin typeface="Garamond" pitchFamily="18" charset="0"/>
              </a:rPr>
              <a:t>Honeypot</a:t>
            </a:r>
            <a:r>
              <a:rPr lang="en-US" sz="2000" b="1" dirty="0" smtClean="0">
                <a:latin typeface="Garamond" pitchFamily="18" charset="0"/>
              </a:rPr>
              <a:t>:</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a:t>
            </a:r>
            <a:r>
              <a:rPr lang="en-US" sz="2000" dirty="0" err="1" smtClean="0">
                <a:latin typeface="Garamond" pitchFamily="18" charset="0"/>
              </a:rPr>
              <a:t>honeypot</a:t>
            </a:r>
            <a:r>
              <a:rPr lang="en-US" sz="2000" dirty="0" smtClean="0">
                <a:latin typeface="Garamond" pitchFamily="18" charset="0"/>
              </a:rPr>
              <a:t> is a system or a hardware or software component used as bait or a trap to protect against hacker attacks. It usually consists of a computer or site that appears to be part of the network and contains valuable information, but is actually well isolated and has no sensitive or critical content; it could also be a file, record, or an unused IP address.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FURTHER COUNTERMEASURES</a:t>
            </a:r>
          </a:p>
          <a:p>
            <a:pPr marL="0" indent="0" algn="just">
              <a:buNone/>
            </a:pPr>
            <a:endParaRPr lang="en-US" sz="2000" b="1" dirty="0" smtClean="0">
              <a:latin typeface="Garamond" pitchFamily="18" charset="0"/>
            </a:endParaRPr>
          </a:p>
          <a:p>
            <a:pPr marL="0" indent="0" algn="just">
              <a:buNone/>
            </a:pPr>
            <a:r>
              <a:rPr lang="en-US" sz="2000" b="1" dirty="0" smtClean="0">
                <a:latin typeface="Garamond" pitchFamily="18" charset="0"/>
              </a:rPr>
              <a:t>Backup</a:t>
            </a:r>
            <a:r>
              <a:rPr lang="en-US" sz="2000" dirty="0" smtClean="0">
                <a:latin typeface="Garamond" pitchFamily="18" charset="0"/>
              </a:rPr>
              <a:t>: More than a defense system, it is a useful method for recovering data that may have been lost or damaged (disaster recovery). The backup consists in the execution of one or more security copies of the data of a computer system, or of data considered important, in order to prevent them from being lost or becoming illegible.</a:t>
            </a:r>
          </a:p>
          <a:p>
            <a:pPr marL="0" indent="0" algn="just">
              <a:buNone/>
            </a:pPr>
            <a:endParaRPr lang="en-US" sz="2000" dirty="0" smtClean="0">
              <a:latin typeface="Garamond" pitchFamily="18" charset="0"/>
            </a:endParaRPr>
          </a:p>
          <a:p>
            <a:pPr marL="0" indent="0" algn="just">
              <a:buNone/>
            </a:pPr>
            <a:r>
              <a:rPr lang="en-US" sz="2000" b="1" dirty="0" smtClean="0">
                <a:latin typeface="Garamond" pitchFamily="18" charset="0"/>
              </a:rPr>
              <a:t>Antispyware</a:t>
            </a:r>
            <a:r>
              <a:rPr lang="en-US" sz="2000" dirty="0" smtClean="0">
                <a:latin typeface="Garamond" pitchFamily="18" charset="0"/>
              </a:rPr>
              <a:t>: It is a type of software available in many versions. It can be useful for removing spyware or "spy files," which can capture information about user activities and send it to an organization that will use it for profit.</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just">
              <a:buNone/>
            </a:pPr>
            <a:endParaRPr lang="en-US" sz="2000" dirty="0" smtClean="0">
              <a:latin typeface="Garamond" pitchFamily="18" charset="0"/>
            </a:endParaRPr>
          </a:p>
          <a:p>
            <a:pPr marL="0" indent="0" algn="just">
              <a:buNone/>
            </a:pPr>
            <a:r>
              <a:rPr lang="en-US" sz="2000" b="1" dirty="0" err="1" smtClean="0">
                <a:latin typeface="Garamond" pitchFamily="18" charset="0"/>
              </a:rPr>
              <a:t>Steganography</a:t>
            </a:r>
            <a:r>
              <a:rPr lang="en-US" sz="2000" dirty="0" smtClean="0">
                <a:latin typeface="Garamond" pitchFamily="18" charset="0"/>
              </a:rPr>
              <a:t>: It aims to keep the existence of data hidden from those who do not know the key, whereas cryptography makes the data inaccessible to those who do not know the key.</a:t>
            </a:r>
          </a:p>
          <a:p>
            <a:pPr marL="0" indent="0" algn="just">
              <a:buNone/>
            </a:pPr>
            <a:endParaRPr lang="en-US" sz="2000" dirty="0" smtClean="0">
              <a:latin typeface="Garamond" pitchFamily="18" charset="0"/>
            </a:endParaRPr>
          </a:p>
          <a:p>
            <a:pPr marL="0" indent="0" algn="just">
              <a:buNone/>
            </a:pPr>
            <a:r>
              <a:rPr lang="en-US" sz="2000" b="1" dirty="0" smtClean="0">
                <a:latin typeface="Garamond" pitchFamily="18" charset="0"/>
              </a:rPr>
              <a:t>Network Intrusion Detection System (NIDS): </a:t>
            </a:r>
            <a:r>
              <a:rPr lang="en-US" sz="2000" dirty="0" smtClean="0">
                <a:latin typeface="Garamond" pitchFamily="18" charset="0"/>
              </a:rPr>
              <a:t>These are computer tools, software or hardware, dedicated to analyzing the traffic of one or more segments of a LAN in order to identify anomalies in flows or probable computer intrusions. The most common NIDS are made up of one or more probes located on the network. The probes communicate with a centralized server and generally rely on a database. Among the anomalous activities that can occur and be detected by a NIDS are unauthorized access, the propagation of malicious software, the abusive acquisition of privileges belonging to authorized subjects, traffic interception (sniffing), and denials of service (</a:t>
            </a:r>
            <a:r>
              <a:rPr lang="en-US" sz="2000" dirty="0" err="1" smtClean="0">
                <a:latin typeface="Garamond" pitchFamily="18" charset="0"/>
              </a:rPr>
              <a:t>DoS</a:t>
            </a:r>
            <a:r>
              <a:rPr lang="en-US" sz="2000" dirty="0" smtClean="0">
                <a:latin typeface="Garamond" pitchFamily="18" charset="0"/>
              </a:rPr>
              <a:t>).</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just">
              <a:buNone/>
            </a:pPr>
            <a:endParaRPr lang="en-US" sz="2000" dirty="0" smtClean="0">
              <a:latin typeface="Garamond" pitchFamily="18" charset="0"/>
            </a:endParaRPr>
          </a:p>
          <a:p>
            <a:pPr marL="0" indent="0" algn="just">
              <a:buNone/>
            </a:pPr>
            <a:r>
              <a:rPr lang="en-US" sz="2000" b="1" dirty="0" smtClean="0">
                <a:latin typeface="Garamond" pitchFamily="18" charset="0"/>
              </a:rPr>
              <a:t>Digital signature: </a:t>
            </a:r>
            <a:r>
              <a:rPr lang="en-US" sz="2000" dirty="0" smtClean="0">
                <a:latin typeface="Garamond" pitchFamily="18" charset="0"/>
              </a:rPr>
              <a:t>Sensitive documents and data can be protected from unauthorized access using specific security mechanisms such as encryption, digital signatures, digital certificates, and cryptographic algorithms to identify the certification authority, site, subject, or software.</a:t>
            </a: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 </a:t>
            </a:r>
          </a:p>
          <a:p>
            <a:pPr marL="0" indent="0" algn="ctr">
              <a:buNone/>
            </a:pPr>
            <a:r>
              <a:rPr lang="en-US" sz="2000" b="1" dirty="0" smtClean="0">
                <a:latin typeface="Garamond" pitchFamily="18" charset="0"/>
              </a:rPr>
              <a:t>NETWORK SECURITY</a:t>
            </a:r>
          </a:p>
          <a:p>
            <a:pPr marL="0" indent="0" algn="just">
              <a:buNone/>
            </a:pPr>
            <a:r>
              <a:rPr lang="en-US" sz="2000" dirty="0" smtClean="0">
                <a:latin typeface="Garamond" pitchFamily="18" charset="0"/>
              </a:rPr>
              <a:t>Another branch of IT security deals with the security problems associated with the transmission of confidential information on the Internet or on any telecommunications </a:t>
            </a:r>
            <a:r>
              <a:rPr lang="en-US" sz="2000" dirty="0" smtClean="0">
                <a:latin typeface="Garamond" pitchFamily="18" charset="0"/>
              </a:rPr>
              <a:t>system. </a:t>
            </a: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40</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TYPICAL ATTACKS</a:t>
            </a:r>
          </a:p>
          <a:p>
            <a:pPr marL="0" indent="0" algn="just">
              <a:buNone/>
            </a:pPr>
            <a:r>
              <a:rPr lang="en-US" sz="2000" dirty="0" smtClean="0">
                <a:latin typeface="Garamond" pitchFamily="18" charset="0"/>
              </a:rPr>
              <a:t>• Sniffing</a:t>
            </a:r>
          </a:p>
          <a:p>
            <a:pPr marL="0" indent="0" algn="just">
              <a:buNone/>
            </a:pPr>
            <a:r>
              <a:rPr lang="en-US" sz="2000" dirty="0" smtClean="0">
                <a:latin typeface="Garamond" pitchFamily="18" charset="0"/>
              </a:rPr>
              <a:t>• Port scanning</a:t>
            </a:r>
          </a:p>
          <a:p>
            <a:pPr marL="0" indent="0" algn="just">
              <a:buNone/>
            </a:pPr>
            <a:r>
              <a:rPr lang="en-US" sz="2000" dirty="0" smtClean="0">
                <a:latin typeface="Garamond" pitchFamily="18" charset="0"/>
              </a:rPr>
              <a:t> </a:t>
            </a:r>
          </a:p>
          <a:p>
            <a:pPr marL="0" indent="0" algn="ctr">
              <a:buNone/>
            </a:pPr>
            <a:r>
              <a:rPr lang="en-US" sz="2000" b="1" dirty="0" smtClean="0">
                <a:latin typeface="Garamond" pitchFamily="18" charset="0"/>
              </a:rPr>
              <a:t>COUNTERMEASURES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this context, authentication techniques (Kerberos) and encryption are widespread as countermeasures to sniffing. On the technical front, network protection measures take the form of appropriate network protocols such as HTTPS, SSL, TLS, </a:t>
            </a:r>
            <a:r>
              <a:rPr lang="en-US" sz="2000" dirty="0" err="1" smtClean="0">
                <a:latin typeface="Garamond" pitchFamily="18" charset="0"/>
              </a:rPr>
              <a:t>Ipsec</a:t>
            </a:r>
            <a:r>
              <a:rPr lang="en-US" sz="2000" dirty="0" smtClean="0">
                <a:latin typeface="Garamond" pitchFamily="18" charset="0"/>
              </a:rPr>
              <a:t>.  </a:t>
            </a: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41</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INTERNET NETWORK SECURITY</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With the enormous growth of the Internet and the World Wide Web, security problems have also grown as has the need for new ideas and principles. To deal with the risks involved in using the Internet, the European Union has made its contribution through the "Safer Internet" protection program.</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SAFER INTERNET</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idea of the "Safer Internet" network protection program was developed following the growth of the Internet and the growing presence of children in contact with this world.</a:t>
            </a:r>
          </a:p>
          <a:p>
            <a:pPr marL="0" indent="0" algn="just">
              <a:buNone/>
            </a:pPr>
            <a:r>
              <a:rPr lang="en-US" sz="2000" dirty="0" smtClean="0">
                <a:latin typeface="Garamond" pitchFamily="18" charset="0"/>
              </a:rPr>
              <a:t>"Safer Internet," introduced by the European Parliament on 11 May 2005, promotes safe use of the Internet, especially for children. This program established a European network of 21 national lines through which end users can anonymously report the presence of illegal content on the Internet, and the creation of 23 national awareness nodes to promote safe use of the Internet, aimed at children, parents, and teachers.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addition to self-regulatory measures and the development of suitable technologies, education plays a key role. In fact, the instruction of parents and teachers, often unfamiliar with the Internet, is essential. </a:t>
            </a:r>
            <a:endParaRPr lang="en-US" sz="2000" dirty="0" smtClean="0">
              <a:latin typeface="Garamond" pitchFamily="18" charset="0"/>
            </a:endParaRPr>
          </a:p>
          <a:p>
            <a:pPr marL="0" indent="0" algn="just">
              <a:buNone/>
            </a:pPr>
            <a:r>
              <a:rPr lang="en-US" sz="2000" dirty="0" smtClean="0">
                <a:latin typeface="Garamond" pitchFamily="18" charset="0"/>
              </a:rPr>
              <a:t>Constantly </a:t>
            </a:r>
            <a:r>
              <a:rPr lang="en-US" sz="2000" dirty="0" smtClean="0">
                <a:latin typeface="Garamond" pitchFamily="18" charset="0"/>
              </a:rPr>
              <a:t>monitor children in their navigation.</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046177"/>
            <a:ext cx="8229600" cy="5097467"/>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CERTIFICATION</a:t>
            </a:r>
          </a:p>
          <a:p>
            <a:pPr marL="0" indent="0" algn="ctr">
              <a:buNone/>
            </a:pPr>
            <a:endParaRPr lang="en-US" sz="2000" b="1" dirty="0" smtClean="0">
              <a:latin typeface="Garamond" pitchFamily="18" charset="0"/>
            </a:endParaRPr>
          </a:p>
          <a:p>
            <a:pPr marL="0" indent="0" algn="ctr">
              <a:buNone/>
            </a:pPr>
            <a:endParaRPr lang="en-US" sz="2000" b="1" dirty="0" smtClean="0">
              <a:latin typeface="Garamond" pitchFamily="18" charset="0"/>
            </a:endParaRPr>
          </a:p>
          <a:p>
            <a:pPr marL="0" indent="0" algn="just">
              <a:buNone/>
            </a:pPr>
            <a:r>
              <a:rPr lang="en-US" sz="2000" dirty="0" smtClean="0">
                <a:latin typeface="Garamond" pitchFamily="18" charset="0"/>
              </a:rPr>
              <a:t>Software products or computer systems can have their security measures certified, with the added benefit of being able to advertize a quality security certification by recognized competent bodies, based on an Information Security Standard.</a:t>
            </a:r>
          </a:p>
          <a:p>
            <a:pPr marL="0" indent="0" algn="just">
              <a:buNone/>
            </a:pPr>
            <a:r>
              <a:rPr lang="en-US" sz="2000" dirty="0" smtClean="0">
                <a:latin typeface="Garamond" pitchFamily="18" charset="0"/>
              </a:rPr>
              <a:t>Typically, the certification process goes through a phase of product/system evaluation (i.e., the object of the evaluation) by an accredited laboratory, for which the client/developer of the operation has identified a so-called safety target (</a:t>
            </a:r>
            <a:r>
              <a:rPr lang="en-US" sz="2000" dirty="0" err="1" smtClean="0">
                <a:latin typeface="Garamond" pitchFamily="18" charset="0"/>
              </a:rPr>
              <a:t>ToS</a:t>
            </a:r>
            <a:r>
              <a:rPr lang="en-US" sz="2000" dirty="0" smtClean="0">
                <a:latin typeface="Garamond" pitchFamily="18" charset="0"/>
              </a:rPr>
              <a:t>) in terms of specifications that its product should ensure.</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28596" y="1046177"/>
            <a:ext cx="8229600" cy="5097467"/>
          </a:xfrm>
        </p:spPr>
        <p:txBody>
          <a:bodyPr>
            <a:normAutofit/>
          </a:bodyPr>
          <a:lstStyle/>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the </a:t>
            </a:r>
            <a:r>
              <a:rPr lang="en-US" sz="2000" dirty="0" err="1" smtClean="0">
                <a:latin typeface="Garamond" pitchFamily="18" charset="0"/>
              </a:rPr>
              <a:t>ToS</a:t>
            </a:r>
            <a:r>
              <a:rPr lang="en-US" sz="2000" dirty="0" smtClean="0">
                <a:latin typeface="Garamond" pitchFamily="18" charset="0"/>
              </a:rPr>
              <a:t>, the assurance level of the assessment is usually defined. The task of the evaluator is to verify the congruence of the product/system with the safety specifications required by the client/developer, through appropriate evaluation criteria, then draw up a report and a final certificate in the public domain.</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Freccia in giù 8"/>
          <p:cNvSpPr/>
          <p:nvPr/>
        </p:nvSpPr>
        <p:spPr>
          <a:xfrm>
            <a:off x="4357686" y="1714488"/>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457200" y="928678"/>
            <a:ext cx="8229600" cy="1143000"/>
          </a:xfrm>
        </p:spPr>
        <p:txBody>
          <a:bodyPr>
            <a:normAutofit/>
          </a:bodyPr>
          <a:lstStyle/>
          <a:p>
            <a:r>
              <a:rPr lang="en-US" sz="2200" b="1" dirty="0" smtClean="0">
                <a:solidFill>
                  <a:srgbClr val="FF0000"/>
                </a:solidFill>
                <a:latin typeface="Garamond" pitchFamily="18" charset="0"/>
              </a:rPr>
              <a:t>CYBER THREATS</a:t>
            </a:r>
            <a:endParaRPr lang="it-IT" sz="2200" b="1" dirty="0">
              <a:solidFill>
                <a:srgbClr val="FF0000"/>
              </a:solidFill>
              <a:latin typeface="Garamond" pitchFamily="18" charset="0"/>
            </a:endParaRPr>
          </a:p>
        </p:txBody>
      </p:sp>
      <p:sp>
        <p:nvSpPr>
          <p:cNvPr id="15" name="Segnaposto contenuto 14"/>
          <p:cNvSpPr>
            <a:spLocks noGrp="1"/>
          </p:cNvSpPr>
          <p:nvPr>
            <p:ph idx="1"/>
          </p:nvPr>
        </p:nvSpPr>
        <p:spPr>
          <a:xfrm>
            <a:off x="457200" y="1785926"/>
            <a:ext cx="8229600" cy="4340237"/>
          </a:xfrm>
        </p:spPr>
        <p:txBody>
          <a:bodyPr>
            <a:normAutofit/>
          </a:bodyPr>
          <a:lstStyle/>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Globally, cyber threats continue to evolve rapidly and the number of data breaches is increasing every year. </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Most of the breaches, attributable to malicious criminals, affected medical services, retailers, and government agencies. Though some of these industries are of particular interest to cybercriminals, who collect medical and financial data, any networked business can be affected by data breaches, corporate espionage, or customer attacks.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428736"/>
            <a:ext cx="8229600" cy="4697427"/>
          </a:xfrm>
        </p:spPr>
        <p:txBody>
          <a:bodyPr>
            <a:normAutofit/>
          </a:bodyPr>
          <a:lstStyle/>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Given the continuous increase in the scope of cyber threats, the International Data Corporation has predicted that by 2022, worldwide spending on </a:t>
            </a:r>
            <a:r>
              <a:rPr lang="en-US" sz="2000" dirty="0" err="1" smtClean="0">
                <a:latin typeface="Garamond" pitchFamily="18" charset="0"/>
              </a:rPr>
              <a:t>cybersecurity</a:t>
            </a:r>
            <a:r>
              <a:rPr lang="en-US" sz="2000" dirty="0" smtClean="0">
                <a:latin typeface="Garamond" pitchFamily="18" charset="0"/>
              </a:rPr>
              <a:t> solutions will be as much as 133.7 billion dollars.</a:t>
            </a:r>
          </a:p>
          <a:p>
            <a:pPr marL="0" indent="0" algn="just">
              <a:buNone/>
            </a:pPr>
            <a:r>
              <a:rPr lang="en-US" sz="2000" dirty="0" smtClean="0">
                <a:latin typeface="Garamond" pitchFamily="18" charset="0"/>
              </a:rPr>
              <a:t>Governments around the world have responded to this increase in cyber threats by issuing guidance to help companies implement effective </a:t>
            </a:r>
            <a:r>
              <a:rPr lang="en-US" sz="2000" dirty="0" err="1" smtClean="0">
                <a:latin typeface="Garamond" pitchFamily="18" charset="0"/>
              </a:rPr>
              <a:t>cybersecurity</a:t>
            </a:r>
            <a:r>
              <a:rPr lang="en-US" sz="2000" dirty="0" smtClean="0">
                <a:latin typeface="Garamond" pitchFamily="18" charset="0"/>
              </a:rPr>
              <a:t> practices.</a:t>
            </a:r>
          </a:p>
          <a:p>
            <a:pPr marL="0" indent="0" algn="just">
              <a:buNone/>
            </a:pPr>
            <a:r>
              <a:rPr lang="en-US" sz="2000" dirty="0" smtClean="0">
                <a:latin typeface="Garamond" pitchFamily="18" charset="0"/>
              </a:rPr>
              <a:t>In the </a:t>
            </a:r>
            <a:r>
              <a:rPr lang="en-US" sz="2000" dirty="0" smtClean="0">
                <a:latin typeface="Garamond" pitchFamily="18" charset="0"/>
              </a:rPr>
              <a:t>National </a:t>
            </a:r>
            <a:r>
              <a:rPr lang="en-US" sz="2000" dirty="0" smtClean="0">
                <a:latin typeface="Garamond" pitchFamily="18" charset="0"/>
              </a:rPr>
              <a:t>Institute of Standards and Technology (NIST) has created a </a:t>
            </a:r>
            <a:r>
              <a:rPr lang="en-US" sz="2000" dirty="0" err="1" smtClean="0">
                <a:latin typeface="Garamond" pitchFamily="18" charset="0"/>
              </a:rPr>
              <a:t>Cybersecurity</a:t>
            </a:r>
            <a:r>
              <a:rPr lang="en-US" sz="2000" dirty="0" smtClean="0">
                <a:latin typeface="Garamond" pitchFamily="18" charset="0"/>
              </a:rPr>
              <a:t> framework. To counter the proliferation of malicious code and facilitate its early detection, this framework recommends continuous, real-time monitoring of all electronic assets.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428736"/>
            <a:ext cx="8229600" cy="4697427"/>
          </a:xfrm>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importance of system monitoring is also reaffirmed in the document, "10 Steps to Cyber Security," provided by </a:t>
            </a:r>
            <a:r>
              <a:rPr lang="en-US" sz="2000" u="sng" dirty="0" smtClean="0">
                <a:latin typeface="Garamond" pitchFamily="18" charset="0"/>
              </a:rPr>
              <a:t>the British </a:t>
            </a:r>
            <a:r>
              <a:rPr lang="en-US" sz="2000" dirty="0" smtClean="0">
                <a:latin typeface="Garamond" pitchFamily="18" charset="0"/>
              </a:rPr>
              <a:t>government's National Cyber Security Centre.</a:t>
            </a:r>
          </a:p>
          <a:p>
            <a:pPr marL="0" indent="0" algn="just">
              <a:buNone/>
            </a:pPr>
            <a:r>
              <a:rPr lang="en-US" sz="2000" dirty="0" smtClean="0">
                <a:latin typeface="Garamond" pitchFamily="18" charset="0"/>
              </a:rPr>
              <a:t>In </a:t>
            </a:r>
            <a:r>
              <a:rPr lang="en-US" sz="2000" u="sng" dirty="0" smtClean="0">
                <a:latin typeface="Garamond" pitchFamily="18" charset="0"/>
              </a:rPr>
              <a:t>Australia</a:t>
            </a:r>
            <a:r>
              <a:rPr lang="en-US" sz="2000" dirty="0" smtClean="0">
                <a:latin typeface="Garamond" pitchFamily="18" charset="0"/>
              </a:rPr>
              <a:t>, the Australian Cyber Security Centre (ACSC) regularly publishes guidance on countering new </a:t>
            </a:r>
            <a:r>
              <a:rPr lang="en-US" sz="2000" dirty="0" err="1" smtClean="0">
                <a:latin typeface="Garamond" pitchFamily="18" charset="0"/>
              </a:rPr>
              <a:t>cybersecurity</a:t>
            </a:r>
            <a:r>
              <a:rPr lang="en-US" sz="2000" dirty="0" smtClean="0">
                <a:latin typeface="Garamond" pitchFamily="18" charset="0"/>
              </a:rPr>
              <a:t> threats within businesses.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428736"/>
            <a:ext cx="8229600" cy="4697427"/>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TYPES OF CYBER ATTACKS</a:t>
            </a:r>
          </a:p>
          <a:p>
            <a:pPr marL="0" indent="0" algn="ctr">
              <a:buNone/>
            </a:pPr>
            <a:endParaRPr lang="en-US" sz="2000" b="1" dirty="0" smtClean="0">
              <a:latin typeface="Garamond" pitchFamily="18" charset="0"/>
            </a:endParaRPr>
          </a:p>
          <a:p>
            <a:pPr marL="0" indent="0" algn="ctr">
              <a:buNone/>
            </a:pPr>
            <a:r>
              <a:rPr lang="en-US" sz="2000" dirty="0" err="1" smtClean="0">
                <a:latin typeface="Garamond" pitchFamily="18" charset="0"/>
              </a:rPr>
              <a:t>Cybersecurity</a:t>
            </a:r>
            <a:r>
              <a:rPr lang="en-US" sz="2000" dirty="0" smtClean="0">
                <a:latin typeface="Garamond" pitchFamily="18" charset="0"/>
              </a:rPr>
              <a:t> aims to counter three different types of threats:</a:t>
            </a:r>
          </a:p>
          <a:p>
            <a:pPr marL="0" indent="0" algn="just">
              <a:buNone/>
            </a:pPr>
            <a:endParaRPr lang="en-US" sz="2000" dirty="0" smtClean="0">
              <a:latin typeface="Garamond" pitchFamily="18" charset="0"/>
            </a:endParaRPr>
          </a:p>
          <a:p>
            <a:pPr marL="0" indent="0" algn="just">
              <a:buNone/>
            </a:pPr>
            <a:r>
              <a:rPr lang="en-US" sz="2000" b="1" dirty="0" smtClean="0">
                <a:latin typeface="Garamond" pitchFamily="18" charset="0"/>
              </a:rPr>
              <a:t>1. Cybercrime: </a:t>
            </a:r>
            <a:r>
              <a:rPr lang="en-US" sz="2000" dirty="0" smtClean="0">
                <a:latin typeface="Garamond" pitchFamily="18" charset="0"/>
              </a:rPr>
              <a:t>This includes individuals or groups who attack systems to obtain financial gain or cause business disruption.</a:t>
            </a:r>
          </a:p>
          <a:p>
            <a:pPr marL="0" indent="0" algn="just">
              <a:buNone/>
            </a:pPr>
            <a:r>
              <a:rPr lang="en-US" sz="2000" b="1" dirty="0" smtClean="0">
                <a:latin typeface="Garamond" pitchFamily="18" charset="0"/>
              </a:rPr>
              <a:t>2. </a:t>
            </a:r>
            <a:r>
              <a:rPr lang="en-US" sz="2000" b="1" dirty="0" err="1" smtClean="0">
                <a:latin typeface="Garamond" pitchFamily="18" charset="0"/>
              </a:rPr>
              <a:t>Cyberattacks</a:t>
            </a:r>
            <a:r>
              <a:rPr lang="en-US" sz="2000" dirty="0" smtClean="0">
                <a:latin typeface="Garamond" pitchFamily="18" charset="0"/>
              </a:rPr>
              <a:t>: These often aim to collect information for political purposes.</a:t>
            </a:r>
          </a:p>
          <a:p>
            <a:pPr marL="0" indent="0" algn="just">
              <a:buNone/>
            </a:pPr>
            <a:r>
              <a:rPr lang="en-US" sz="2000" b="1" dirty="0" smtClean="0">
                <a:latin typeface="Garamond" pitchFamily="18" charset="0"/>
              </a:rPr>
              <a:t>3. </a:t>
            </a:r>
            <a:r>
              <a:rPr lang="en-US" sz="2000" b="1" dirty="0" err="1" smtClean="0">
                <a:latin typeface="Garamond" pitchFamily="18" charset="0"/>
              </a:rPr>
              <a:t>Cyberterrorism</a:t>
            </a:r>
            <a:r>
              <a:rPr lang="en-US" sz="2000" b="1" dirty="0" smtClean="0">
                <a:latin typeface="Garamond" pitchFamily="18" charset="0"/>
              </a:rPr>
              <a:t>: </a:t>
            </a:r>
            <a:r>
              <a:rPr lang="en-US" sz="2000" dirty="0" smtClean="0">
                <a:latin typeface="Garamond" pitchFamily="18" charset="0"/>
              </a:rPr>
              <a:t>This aims to undermine the security of electronic systems to arouse panic or fear.</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50</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428736"/>
            <a:ext cx="8229600" cy="4697427"/>
          </a:xfrm>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Thus, </a:t>
            </a:r>
            <a:r>
              <a:rPr lang="en-US" sz="2000" dirty="0" err="1" smtClean="0">
                <a:latin typeface="Garamond" pitchFamily="18" charset="0"/>
              </a:rPr>
              <a:t>cybersecurity</a:t>
            </a:r>
            <a:r>
              <a:rPr lang="en-US" sz="2000" dirty="0" smtClean="0">
                <a:latin typeface="Garamond" pitchFamily="18" charset="0"/>
              </a:rPr>
              <a:t> consists of defending computers, servers, mobile devices, electronic systems, networks, and data from malicious attacks. It is also known as IT security or electronic information security.</a:t>
            </a:r>
          </a:p>
          <a:p>
            <a:pPr marL="0" indent="0" algn="just">
              <a:buNone/>
            </a:pPr>
            <a:r>
              <a:rPr lang="en-US" sz="2000" dirty="0" err="1" smtClean="0">
                <a:latin typeface="Garamond" pitchFamily="18" charset="0"/>
              </a:rPr>
              <a:t>Cybersecurity</a:t>
            </a:r>
            <a:r>
              <a:rPr lang="en-US" sz="2000" dirty="0" smtClean="0">
                <a:latin typeface="Garamond" pitchFamily="18" charset="0"/>
              </a:rPr>
              <a:t> applies to many contexts, from business to mobile computing, and can be divided into several categories.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51</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Freccia in giù 8"/>
          <p:cNvSpPr/>
          <p:nvPr/>
        </p:nvSpPr>
        <p:spPr>
          <a:xfrm>
            <a:off x="4429124" y="1714488"/>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428736"/>
            <a:ext cx="8229600" cy="4697427"/>
          </a:xfrm>
        </p:spPr>
        <p:txBody>
          <a:bodyPr>
            <a:normAutofit/>
          </a:bodyPr>
          <a:lstStyle/>
          <a:p>
            <a:pPr marL="0" indent="0" algn="just">
              <a:buNone/>
            </a:pPr>
            <a:endParaRPr lang="en-US" sz="2000" dirty="0" smtClean="0">
              <a:latin typeface="Garamond" pitchFamily="18" charset="0"/>
            </a:endParaRPr>
          </a:p>
          <a:p>
            <a:pPr marL="0" indent="0" algn="just">
              <a:buNone/>
            </a:pPr>
            <a:r>
              <a:rPr lang="en-US" sz="2000" b="1" dirty="0" smtClean="0">
                <a:latin typeface="Garamond" pitchFamily="18" charset="0"/>
              </a:rPr>
              <a:t>Network security: </a:t>
            </a:r>
            <a:r>
              <a:rPr lang="en-US" sz="2000" dirty="0" smtClean="0">
                <a:latin typeface="Garamond" pitchFamily="18" charset="0"/>
              </a:rPr>
              <a:t>This consists of defending computer networks from malicious actions, whether they are targeted attacks or opportunistic malware.</a:t>
            </a:r>
          </a:p>
          <a:p>
            <a:pPr marL="0" indent="0" algn="just">
              <a:buNone/>
            </a:pPr>
            <a:r>
              <a:rPr lang="en-US" sz="2000" b="1" dirty="0" smtClean="0">
                <a:latin typeface="Garamond" pitchFamily="18" charset="0"/>
              </a:rPr>
              <a:t>Application Security: </a:t>
            </a:r>
            <a:r>
              <a:rPr lang="en-US" sz="2000" dirty="0" smtClean="0">
                <a:latin typeface="Garamond" pitchFamily="18" charset="0"/>
              </a:rPr>
              <a:t>This aims to protect software and devices from all threats. A compromised application can allow access to the data it is supposed to protect. Effective security begins at the design stage, long before a program or device is deployed.</a:t>
            </a:r>
          </a:p>
          <a:p>
            <a:pPr marL="0" indent="0" algn="just">
              <a:buNone/>
            </a:pPr>
            <a:r>
              <a:rPr lang="en-US" sz="2000" b="1" dirty="0" smtClean="0">
                <a:latin typeface="Garamond" pitchFamily="18" charset="0"/>
              </a:rPr>
              <a:t>Information Security: </a:t>
            </a:r>
            <a:r>
              <a:rPr lang="en-US" sz="2000" dirty="0" smtClean="0">
                <a:latin typeface="Garamond" pitchFamily="18" charset="0"/>
              </a:rPr>
              <a:t>This protects the integrity and privacy of data, both temporary and archived.</a:t>
            </a:r>
          </a:p>
          <a:p>
            <a:pPr marL="0" indent="0" algn="just">
              <a:buNone/>
            </a:pPr>
            <a:r>
              <a:rPr lang="en-US" sz="2000" b="1" dirty="0" smtClean="0">
                <a:latin typeface="Garamond" pitchFamily="18" charset="0"/>
              </a:rPr>
              <a:t>Operational Security: </a:t>
            </a:r>
            <a:r>
              <a:rPr lang="en-US" sz="2000" dirty="0" smtClean="0">
                <a:latin typeface="Garamond" pitchFamily="18" charset="0"/>
              </a:rPr>
              <a:t>This consists of processes and decisions for managing and protecting data assets and includes all the permissions to access a network and the procedures that determine how and where data can be stored or shared.</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p:cNvSpPr>
            <a:spLocks noGrp="1"/>
          </p:cNvSpPr>
          <p:nvPr>
            <p:ph idx="1"/>
          </p:nvPr>
        </p:nvSpPr>
        <p:spPr>
          <a:xfrm>
            <a:off x="457200" y="1428736"/>
            <a:ext cx="8229600" cy="4697427"/>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b="1" dirty="0" smtClean="0">
                <a:latin typeface="Garamond" pitchFamily="18" charset="0"/>
              </a:rPr>
              <a:t>Disaster Recovery and Business Continuity: </a:t>
            </a:r>
            <a:r>
              <a:rPr lang="en-US" sz="2000" dirty="0" smtClean="0">
                <a:latin typeface="Garamond" pitchFamily="18" charset="0"/>
              </a:rPr>
              <a:t>These are strategies with which the company responds to a </a:t>
            </a:r>
            <a:r>
              <a:rPr lang="en-US" sz="2000" dirty="0" err="1" smtClean="0">
                <a:latin typeface="Garamond" pitchFamily="18" charset="0"/>
              </a:rPr>
              <a:t>cybersecurity</a:t>
            </a:r>
            <a:r>
              <a:rPr lang="en-US" sz="2000" dirty="0" smtClean="0">
                <a:latin typeface="Garamond" pitchFamily="18" charset="0"/>
              </a:rPr>
              <a:t> incident and to any other event that causes a loss in terms of operations or data. Disaster recovery policies outline the procedures one can use to restore business operations and information to the same operating capacity as before the event. Business continuity is the plan adopted by the company in an attempt to continue operating while lacking certain resources.</a:t>
            </a:r>
          </a:p>
          <a:p>
            <a:pPr marL="0" indent="0" algn="just">
              <a:buNone/>
            </a:pPr>
            <a:r>
              <a:rPr lang="en-US" sz="2000" b="1" dirty="0" smtClean="0">
                <a:latin typeface="Garamond" pitchFamily="18" charset="0"/>
              </a:rPr>
              <a:t>End User Training: </a:t>
            </a:r>
            <a:r>
              <a:rPr lang="en-US" sz="2000" dirty="0" smtClean="0">
                <a:latin typeface="Garamond" pitchFamily="18" charset="0"/>
              </a:rPr>
              <a:t>This concerns one of the most important aspects of </a:t>
            </a:r>
            <a:r>
              <a:rPr lang="en-US" sz="2000" dirty="0" err="1" smtClean="0">
                <a:latin typeface="Garamond" pitchFamily="18" charset="0"/>
              </a:rPr>
              <a:t>cybersecurity</a:t>
            </a:r>
            <a:r>
              <a:rPr lang="en-US" sz="2000" dirty="0" smtClean="0">
                <a:latin typeface="Garamond" pitchFamily="18" charset="0"/>
              </a:rPr>
              <a:t>: people.</a:t>
            </a:r>
          </a:p>
          <a:p>
            <a:pPr marL="0" indent="0" algn="just">
              <a:buNone/>
            </a:pPr>
            <a:r>
              <a:rPr lang="en-US" sz="2000" dirty="0" smtClean="0">
                <a:latin typeface="Garamond" pitchFamily="18" charset="0"/>
              </a:rPr>
              <a:t>Anyone who fails to follow security procedures risks accidentally introducing a virus into an otherwise secure system.</a:t>
            </a:r>
          </a:p>
          <a:p>
            <a:pPr marL="0" indent="0" algn="just">
              <a:buNone/>
            </a:pPr>
            <a:r>
              <a:rPr lang="en-US" sz="2000" dirty="0" smtClean="0">
                <a:latin typeface="Garamond" pitchFamily="18" charset="0"/>
              </a:rPr>
              <a:t>Training users to delete suspicious email attachments, not to insert unidentified USB drives, and to take other important precautions are essential to the security of any company.</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a:solidFill>
                  <a:srgbClr val="FF0000"/>
                </a:solidFill>
                <a:latin typeface="Garamond" pitchFamily="18" charset="0"/>
              </a:rPr>
              <a:t/>
            </a:r>
            <a:br>
              <a:rPr lang="it-IT" sz="2400" b="1">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54</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 xmlns:p14="http://schemas.microsoft.com/office/powerpoint/2010/main"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4170</Words>
  <Application>Microsoft Office PowerPoint</Application>
  <PresentationFormat>Presentazione su schermo (4:3)</PresentationFormat>
  <Paragraphs>520</Paragraphs>
  <Slides>54</Slides>
  <Notes>54</Notes>
  <HiddenSlides>0</HiddenSlides>
  <MMClips>0</MMClips>
  <ScaleCrop>false</ScaleCrop>
  <HeadingPairs>
    <vt:vector size="4" baseType="variant">
      <vt:variant>
        <vt:lpstr>Tema</vt:lpstr>
      </vt:variant>
      <vt:variant>
        <vt:i4>1</vt:i4>
      </vt:variant>
      <vt:variant>
        <vt:lpstr>Titoli diapositive</vt:lpstr>
      </vt:variant>
      <vt:variant>
        <vt:i4>54</vt:i4>
      </vt:variant>
    </vt:vector>
  </HeadingPairs>
  <TitlesOfParts>
    <vt:vector size="55" baseType="lpstr">
      <vt:lpstr>Tema di Office</vt:lpstr>
      <vt:lpstr>  CORSO DI CYBERSECURITY AWARENESS     SECURITY AWARNESS AND SECURITY GOVERNANCE N. 8</vt:lpstr>
      <vt:lpstr>INDEX </vt:lpstr>
      <vt:lpstr>SECURITY AND VERIFICATION FEATURES</vt:lpstr>
      <vt:lpstr>Diapositiva 4</vt:lpstr>
      <vt:lpstr>Diapositiva 5</vt:lpstr>
      <vt:lpstr>Diapositiva 6</vt:lpstr>
      <vt:lpstr>PROGRAM ERRORS AND COUNTERMEASURES</vt:lpstr>
      <vt:lpstr>Diapositiva 8</vt:lpstr>
      <vt:lpstr>Diapositiva 9</vt:lpstr>
      <vt:lpstr>Diapositiva 10</vt:lpstr>
      <vt:lpstr>RISK ANALYSIS AND VULNERABILITY</vt:lpstr>
      <vt:lpstr>Diapositiva 12</vt:lpstr>
      <vt:lpstr>PENTEST </vt:lpstr>
      <vt:lpstr>THREATS AND VULNERABILITIES </vt:lpstr>
      <vt:lpstr>ACCIDENTAL EVENTS </vt:lpstr>
      <vt:lpstr> UNWANTED EVENTS </vt:lpstr>
      <vt:lpstr>MAJOR CAUSES OF DATA LOSS AND EFFECTS</vt:lpstr>
      <vt:lpstr>Diapositiva 18</vt:lpstr>
      <vt:lpstr>Diapositiva 19</vt:lpstr>
      <vt:lpstr>Diapositiva 20</vt:lpstr>
      <vt:lpstr>Diapositiva 21</vt:lpstr>
      <vt:lpstr>Diapositiva 22</vt:lpstr>
      <vt:lpstr>Diapositiva 23</vt:lpstr>
      <vt:lpstr>Diapositiva 24</vt:lpstr>
      <vt:lpstr>THE HUMAN FACTOR</vt:lpstr>
      <vt:lpstr>Diapositiva 26</vt:lpstr>
      <vt:lpstr>Diapositiva 27</vt:lpstr>
      <vt:lpstr>Diapositiva 28</vt:lpstr>
      <vt:lpstr>Diapositiva 29</vt:lpstr>
      <vt:lpstr>PROTECTION PARAMETERS</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CYBER THREATS</vt:lpstr>
      <vt:lpstr>Diapositiva 48</vt:lpstr>
      <vt:lpstr>Diapositiva 49</vt:lpstr>
      <vt:lpstr>Diapositiva 50</vt:lpstr>
      <vt:lpstr>Diapositiva 51</vt:lpstr>
      <vt:lpstr>Diapositiva 52</vt:lpstr>
      <vt:lpstr>Diapositiva 53</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11</cp:revision>
  <dcterms:created xsi:type="dcterms:W3CDTF">2023-05-29T15:24:26Z</dcterms:created>
  <dcterms:modified xsi:type="dcterms:W3CDTF">2023-09-04T16:25:14Z</dcterms:modified>
</cp:coreProperties>
</file>