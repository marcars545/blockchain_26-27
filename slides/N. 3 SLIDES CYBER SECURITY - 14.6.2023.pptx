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60" r:id="rId4"/>
    <p:sldId id="261" r:id="rId5"/>
    <p:sldId id="262" r:id="rId6"/>
    <p:sldId id="263" r:id="rId7"/>
    <p:sldId id="264" r:id="rId8"/>
    <p:sldId id="265" r:id="rId9"/>
    <p:sldId id="266" r:id="rId10"/>
    <p:sldId id="267" r:id="rId11"/>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0C343E8-6F12-46A6-BB5F-80E35B67D79D}" type="datetimeFigureOut">
              <a:rPr lang="it-IT" smtClean="0"/>
              <a:pPr/>
              <a:t>07/09/2023</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2A234502-C332-4A6F-9D6D-B8030DCF3E2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3</a:t>
            </a:fld>
            <a:endParaRPr 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4</a:t>
            </a:fld>
            <a:endParaRPr 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5</a:t>
            </a:fld>
            <a:endParaRPr 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6</a:t>
            </a:fld>
            <a:endParaRPr 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15362"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it-IT"/>
          </a:p>
        </p:txBody>
      </p:sp>
      <p:sp>
        <p:nvSpPr>
          <p:cNvPr id="15363"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3EB2B08-B3EB-40B9-A823-4C48AFCCC362}" type="slidenum">
              <a:rPr lang="it-IT"/>
              <a:pPr fontAlgn="base">
                <a:spcBef>
                  <a:spcPct val="0"/>
                </a:spcBef>
                <a:spcAft>
                  <a:spcPct val="0"/>
                </a:spcAft>
              </a:pPr>
              <a:t>10</a:t>
            </a:fld>
            <a:endParaRPr lang="it-IT"/>
          </a:p>
        </p:txBody>
      </p:sp>
    </p:spTree>
    <p:extLst>
      <p:ext uri="{BB962C8B-B14F-4D97-AF65-F5344CB8AC3E}">
        <p14:creationId xmlns="" xmlns:p14="http://schemas.microsoft.com/office/powerpoint/2010/main" val="41717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A31F700-F640-4C16-91AC-56E73CD3CD3B}"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B8129C-6719-4ABB-92F2-0429A8CF1C07}" type="datetimeFigureOut">
              <a:rPr lang="it-IT" smtClean="0"/>
              <a:pPr/>
              <a:t>07/09/2023</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31F700-F640-4C16-91AC-56E73CD3CD3B}"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Titolo 8"/>
          <p:cNvSpPr>
            <a:spLocks noGrp="1"/>
          </p:cNvSpPr>
          <p:nvPr>
            <p:ph type="ctrTitle"/>
          </p:nvPr>
        </p:nvSpPr>
        <p:spPr>
          <a:xfrm>
            <a:off x="685800" y="1428737"/>
            <a:ext cx="7772400" cy="2171714"/>
          </a:xfrm>
        </p:spPr>
        <p:txBody>
          <a:bodyPr>
            <a:normAutofit fontScale="90000"/>
          </a:bodyPr>
          <a:lstStyle/>
          <a:p>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it-IT" sz="2800" b="1" dirty="0" smtClean="0">
                <a:solidFill>
                  <a:srgbClr val="FF0000"/>
                </a:solidFill>
                <a:latin typeface="Garamond" pitchFamily="18" charset="0"/>
              </a:rPr>
              <a:t> CORSO </a:t>
            </a:r>
            <a:r>
              <a:rPr lang="it-IT" sz="2800" b="1" dirty="0" err="1" smtClean="0">
                <a:solidFill>
                  <a:srgbClr val="FF0000"/>
                </a:solidFill>
                <a:latin typeface="Garamond" pitchFamily="18" charset="0"/>
              </a:rPr>
              <a:t>DI</a:t>
            </a:r>
            <a:r>
              <a:rPr lang="it-IT" sz="2800" b="1" dirty="0" smtClean="0">
                <a:solidFill>
                  <a:srgbClr val="FF0000"/>
                </a:solidFill>
                <a:latin typeface="Garamond" pitchFamily="18" charset="0"/>
              </a:rPr>
              <a:t> CYBERSECURITY AWARENESS </a:t>
            </a: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CYBERSECURITY, TYPES OF SECURITY, AND PRIVACY</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
            </a:r>
            <a:br>
              <a:rPr lang="en-US" sz="2800" b="1" dirty="0" smtClean="0">
                <a:solidFill>
                  <a:srgbClr val="FF0000"/>
                </a:solidFill>
                <a:latin typeface="Garamond" pitchFamily="18" charset="0"/>
              </a:rPr>
            </a:br>
            <a:r>
              <a:rPr lang="en-US" sz="2800" b="1" dirty="0" smtClean="0">
                <a:solidFill>
                  <a:srgbClr val="FF0000"/>
                </a:solidFill>
                <a:latin typeface="Garamond" pitchFamily="18" charset="0"/>
              </a:rPr>
              <a:t>N. 3</a:t>
            </a:r>
            <a:endParaRPr lang="it-IT" sz="2800" b="1" dirty="0">
              <a:solidFill>
                <a:srgbClr val="FF0000"/>
              </a:solidFill>
              <a:latin typeface="Garamond" pitchFamily="18" charset="0"/>
            </a:endParaRP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457200" y="1071554"/>
            <a:ext cx="8229600" cy="1143000"/>
          </a:xfrm>
        </p:spPr>
        <p:txBody>
          <a:bodyPr>
            <a:normAutofit/>
          </a:bodyPr>
          <a:lstStyle/>
          <a:p>
            <a:r>
              <a:rPr lang="it-IT" sz="2400" b="1" dirty="0" smtClean="0">
                <a:solidFill>
                  <a:srgbClr val="FF0000"/>
                </a:solidFill>
                <a:latin typeface="Garamond" pitchFamily="18" charset="0"/>
              </a:rPr>
              <a:t>INDEX</a:t>
            </a:r>
            <a:endParaRPr lang="it-IT" sz="2400" b="1" dirty="0">
              <a:solidFill>
                <a:srgbClr val="FF0000"/>
              </a:solidFill>
              <a:latin typeface="Garamond" pitchFamily="18" charset="0"/>
            </a:endParaRPr>
          </a:p>
        </p:txBody>
      </p:sp>
      <p:sp>
        <p:nvSpPr>
          <p:cNvPr id="14" name="Segnaposto contenuto 13"/>
          <p:cNvSpPr>
            <a:spLocks noGrp="1"/>
          </p:cNvSpPr>
          <p:nvPr>
            <p:ph idx="1"/>
          </p:nvPr>
        </p:nvSpPr>
        <p:spPr>
          <a:xfrm>
            <a:off x="457200" y="2117747"/>
            <a:ext cx="8229600" cy="4525963"/>
          </a:xfrm>
        </p:spPr>
        <p:txBody>
          <a:bodyPr>
            <a:normAutofit/>
          </a:bodyPr>
          <a:lstStyle/>
          <a:p>
            <a:pPr marL="514350" indent="-514350" algn="just">
              <a:buFont typeface="+mj-lt"/>
              <a:buAutoNum type="arabicPeriod"/>
            </a:pPr>
            <a:r>
              <a:rPr lang="en-US" sz="1800" b="1" dirty="0" smtClean="0">
                <a:latin typeface="Garamond" pitchFamily="18" charset="0"/>
              </a:rPr>
              <a:t>What Is </a:t>
            </a:r>
            <a:r>
              <a:rPr lang="en-US" sz="1800" b="1" dirty="0" err="1" smtClean="0">
                <a:latin typeface="Garamond" pitchFamily="18" charset="0"/>
              </a:rPr>
              <a:t>Cybersecurity</a:t>
            </a:r>
            <a:r>
              <a:rPr lang="en-US" sz="1800" b="1" dirty="0" smtClean="0">
                <a:latin typeface="Garamond" pitchFamily="18" charset="0"/>
              </a:rPr>
              <a:t> and Why It Matters?</a:t>
            </a:r>
          </a:p>
          <a:p>
            <a:pPr marL="514350" indent="-514350" algn="just">
              <a:buFont typeface="+mj-lt"/>
              <a:buAutoNum type="arabicPeriod"/>
            </a:pPr>
            <a:r>
              <a:rPr lang="en-US" sz="1800" b="1" dirty="0" smtClean="0">
                <a:latin typeface="Garamond" pitchFamily="18" charset="0"/>
              </a:rPr>
              <a:t>Overview of Types of </a:t>
            </a:r>
            <a:r>
              <a:rPr lang="en-US" sz="1800" b="1" dirty="0" err="1" smtClean="0">
                <a:latin typeface="Garamond" pitchFamily="18" charset="0"/>
              </a:rPr>
              <a:t>Cybersecurity</a:t>
            </a:r>
            <a:endParaRPr lang="en-US" sz="1800" b="1" dirty="0" smtClean="0">
              <a:latin typeface="Garamond" pitchFamily="18" charset="0"/>
            </a:endParaRPr>
          </a:p>
          <a:p>
            <a:pPr marL="514350" indent="-514350" algn="just">
              <a:buFont typeface="+mj-lt"/>
              <a:buAutoNum type="arabicPeriod"/>
            </a:pPr>
            <a:r>
              <a:rPr lang="en-US" sz="1800" b="1" dirty="0" smtClean="0">
                <a:latin typeface="Garamond" pitchFamily="18" charset="0"/>
              </a:rPr>
              <a:t>Application Security and Operational Security</a:t>
            </a:r>
          </a:p>
          <a:p>
            <a:pPr marL="514350" indent="-514350" algn="just">
              <a:buFont typeface="+mj-lt"/>
              <a:buAutoNum type="arabicPeriod"/>
            </a:pPr>
            <a:r>
              <a:rPr lang="en-US" sz="1800" b="1" dirty="0" smtClean="0">
                <a:latin typeface="Garamond" pitchFamily="18" charset="0"/>
              </a:rPr>
              <a:t>What Are the Types of </a:t>
            </a:r>
            <a:r>
              <a:rPr lang="en-US" sz="1800" b="1" dirty="0" err="1" smtClean="0">
                <a:latin typeface="Garamond" pitchFamily="18" charset="0"/>
              </a:rPr>
              <a:t>Cybersecurity</a:t>
            </a:r>
            <a:r>
              <a:rPr lang="en-US" sz="1800" b="1" dirty="0" smtClean="0">
                <a:latin typeface="Garamond" pitchFamily="18" charset="0"/>
              </a:rPr>
              <a:t> Threats and How to Prevent Them?</a:t>
            </a: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2</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0"/>
          <p:cNvSpPr>
            <a:spLocks noGrp="1"/>
          </p:cNvSpPr>
          <p:nvPr>
            <p:ph type="title"/>
          </p:nvPr>
        </p:nvSpPr>
        <p:spPr>
          <a:xfrm>
            <a:off x="500034" y="714356"/>
            <a:ext cx="8229600" cy="1143000"/>
          </a:xfrm>
        </p:spPr>
        <p:txBody>
          <a:bodyPr>
            <a:normAutofit/>
          </a:bodyPr>
          <a:lstStyle/>
          <a:p>
            <a:r>
              <a:rPr lang="en-US" sz="2300" b="1" dirty="0" smtClean="0">
                <a:solidFill>
                  <a:srgbClr val="FF0000"/>
                </a:solidFill>
                <a:latin typeface="Garamond" pitchFamily="18" charset="0"/>
              </a:rPr>
              <a:t>WHAT IS CYBERSECURITY AND WHY IT MATTERS?</a:t>
            </a:r>
            <a:endParaRPr lang="it-IT" sz="2300" b="1" dirty="0">
              <a:solidFill>
                <a:srgbClr val="FF0000"/>
              </a:solidFill>
              <a:latin typeface="Garamond" pitchFamily="18" charset="0"/>
            </a:endParaRPr>
          </a:p>
        </p:txBody>
      </p:sp>
      <p:sp>
        <p:nvSpPr>
          <p:cNvPr id="12" name="Segnaposto contenuto 11"/>
          <p:cNvSpPr>
            <a:spLocks noGrp="1"/>
          </p:cNvSpPr>
          <p:nvPr>
            <p:ph idx="1"/>
          </p:nvPr>
        </p:nvSpPr>
        <p:spPr>
          <a:xfrm>
            <a:off x="457200" y="1928802"/>
            <a:ext cx="8229600" cy="4197361"/>
          </a:xfrm>
        </p:spPr>
        <p:txBody>
          <a:bodyPr>
            <a:normAutofit/>
          </a:bodyPr>
          <a:lstStyle/>
          <a:p>
            <a:pPr marL="0" indent="0" algn="just">
              <a:buNone/>
            </a:pPr>
            <a:r>
              <a:rPr lang="en-US" sz="2000" dirty="0" err="1" smtClean="0">
                <a:latin typeface="Garamond" pitchFamily="18" charset="0"/>
              </a:rPr>
              <a:t>Cybersecurity</a:t>
            </a:r>
            <a:r>
              <a:rPr lang="en-US" sz="2000" dirty="0" smtClean="0">
                <a:latin typeface="Garamond" pitchFamily="18" charset="0"/>
              </a:rPr>
              <a:t> is the protection of Internet-connected systems such as hardware, software, and data from cyber threats. </a:t>
            </a:r>
            <a:r>
              <a:rPr lang="en-US" sz="2000" u="sng" dirty="0" err="1" smtClean="0">
                <a:latin typeface="Garamond" pitchFamily="18" charset="0"/>
              </a:rPr>
              <a:t>Cybersecurity</a:t>
            </a:r>
            <a:r>
              <a:rPr lang="en-US" sz="2000" dirty="0" smtClean="0">
                <a:latin typeface="Garamond" pitchFamily="18" charset="0"/>
              </a:rPr>
              <a:t> is used by individuals and businesses to protect against unauthorized access to data centers and other computer systems by malicious third </a:t>
            </a:r>
            <a:r>
              <a:rPr lang="en-US" sz="2000" dirty="0" err="1" smtClean="0">
                <a:latin typeface="Garamond" pitchFamily="18" charset="0"/>
              </a:rPr>
              <a:t>parties.A</a:t>
            </a:r>
            <a:r>
              <a:rPr lang="en-US" sz="2000" dirty="0" smtClean="0">
                <a:latin typeface="Garamond" pitchFamily="18" charset="0"/>
              </a:rPr>
              <a:t> solid </a:t>
            </a:r>
            <a:r>
              <a:rPr lang="en-US" sz="2000" dirty="0" err="1" smtClean="0">
                <a:latin typeface="Garamond" pitchFamily="18" charset="0"/>
              </a:rPr>
              <a:t>cybersecurity</a:t>
            </a:r>
            <a:r>
              <a:rPr lang="en-US" sz="2000" dirty="0" smtClean="0">
                <a:latin typeface="Garamond" pitchFamily="18" charset="0"/>
              </a:rPr>
              <a:t> strategy can provide a good protection from malicious attacks, designed to access, alter, delete, destroy, or extort an organization's or a user's sensitive data and </a:t>
            </a:r>
            <a:r>
              <a:rPr lang="en-US" sz="2000" dirty="0" err="1" smtClean="0">
                <a:latin typeface="Garamond" pitchFamily="18" charset="0"/>
              </a:rPr>
              <a:t>systems.Cybersecurity</a:t>
            </a:r>
            <a:r>
              <a:rPr lang="en-US" sz="2000" dirty="0" smtClean="0">
                <a:latin typeface="Garamond" pitchFamily="18" charset="0"/>
              </a:rPr>
              <a:t> is also crucial in preventing attacks which aim to disable or interrupt the operations of a system or device. With a growing number of users, devices, and programs in modern businesses, the importance of </a:t>
            </a:r>
            <a:r>
              <a:rPr lang="en-US" sz="2000" dirty="0" err="1" smtClean="0">
                <a:latin typeface="Garamond" pitchFamily="18" charset="0"/>
              </a:rPr>
              <a:t>cybersecurity</a:t>
            </a:r>
            <a:r>
              <a:rPr lang="en-US" sz="2000" dirty="0" smtClean="0">
                <a:latin typeface="Garamond" pitchFamily="18" charset="0"/>
              </a:rPr>
              <a:t> is soaring. The increasing volume and sophistication of cyber attackers and attack techniques further making it crucial to alter the approach of the operators. </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3</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428736"/>
            <a:ext cx="8229600" cy="4197361"/>
          </a:xfrm>
        </p:spPr>
        <p:txBody>
          <a:bodyPr>
            <a:normAutofit/>
          </a:bodyPr>
          <a:lstStyle/>
          <a:p>
            <a:pPr marL="0" indent="0" algn="ctr">
              <a:buNone/>
            </a:pPr>
            <a:r>
              <a:rPr lang="en-US" sz="2000" b="1" dirty="0" smtClean="0">
                <a:solidFill>
                  <a:srgbClr val="FF0000"/>
                </a:solidFill>
                <a:latin typeface="Garamond" pitchFamily="18" charset="0"/>
              </a:rPr>
              <a:t>ELEMENTS OF CYBERSECURITY.</a:t>
            </a: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field of </a:t>
            </a:r>
            <a:r>
              <a:rPr lang="en-US" sz="2000" dirty="0" err="1" smtClean="0">
                <a:latin typeface="Garamond" pitchFamily="18" charset="0"/>
              </a:rPr>
              <a:t>cybersecurity</a:t>
            </a:r>
            <a:r>
              <a:rPr lang="en-US" sz="2000" dirty="0" smtClean="0">
                <a:latin typeface="Garamond" pitchFamily="18" charset="0"/>
              </a:rPr>
              <a:t> can be divided into several sections, and a successful </a:t>
            </a:r>
            <a:r>
              <a:rPr lang="en-US" sz="2000" dirty="0" err="1" smtClean="0">
                <a:latin typeface="Garamond" pitchFamily="18" charset="0"/>
              </a:rPr>
              <a:t>cybersecurity</a:t>
            </a:r>
            <a:r>
              <a:rPr lang="en-US" sz="2000" dirty="0" smtClean="0">
                <a:latin typeface="Garamond" pitchFamily="18" charset="0"/>
              </a:rPr>
              <a:t> program needs coordination within an organization. </a:t>
            </a:r>
            <a:r>
              <a:rPr lang="en-US" sz="2000" u="sng" dirty="0" err="1" smtClean="0">
                <a:latin typeface="Garamond" pitchFamily="18" charset="0"/>
              </a:rPr>
              <a:t>Cybersecurity</a:t>
            </a:r>
            <a:r>
              <a:rPr lang="en-US" sz="2000" u="sng" dirty="0" smtClean="0">
                <a:latin typeface="Garamond" pitchFamily="18" charset="0"/>
              </a:rPr>
              <a:t> is a set of protocols,</a:t>
            </a:r>
            <a:r>
              <a:rPr lang="en-US" sz="2000" dirty="0" smtClean="0">
                <a:latin typeface="Garamond" pitchFamily="18" charset="0"/>
              </a:rPr>
              <a:t> aimed at protecting computer systems and networks from the disclosure of information, from theft, and from damage to hardware, software, or electronic data, as well as from the interruption or incorrect addressing of the services </a:t>
            </a:r>
            <a:r>
              <a:rPr lang="en-US" sz="2000" dirty="0" err="1" smtClean="0">
                <a:latin typeface="Garamond" pitchFamily="18" charset="0"/>
              </a:rPr>
              <a:t>provided.The</a:t>
            </a:r>
            <a:r>
              <a:rPr lang="en-US" sz="2000" dirty="0" smtClean="0">
                <a:latin typeface="Garamond" pitchFamily="18" charset="0"/>
              </a:rPr>
              <a:t> field is becoming increasingly important due to the growing reliance on computer systems, including the Internet, wireless networking standards (Bluetooth and Wi-Fi), and the growth of "smart" devices like </a:t>
            </a:r>
            <a:r>
              <a:rPr lang="en-US" sz="2000" dirty="0" err="1" smtClean="0">
                <a:latin typeface="Garamond" pitchFamily="18" charset="0"/>
              </a:rPr>
              <a:t>smartphones</a:t>
            </a:r>
            <a:r>
              <a:rPr lang="en-US" sz="2000" dirty="0" smtClean="0">
                <a:latin typeface="Garamond" pitchFamily="18" charset="0"/>
              </a:rPr>
              <a:t>, and all that makes up the Internet of Things. </a:t>
            </a:r>
            <a:r>
              <a:rPr lang="en-US" sz="2000" dirty="0" err="1" smtClean="0">
                <a:latin typeface="Garamond" pitchFamily="18" charset="0"/>
              </a:rPr>
              <a:t>Cybersecurity</a:t>
            </a:r>
            <a:r>
              <a:rPr lang="en-US" sz="2000" dirty="0" smtClean="0">
                <a:latin typeface="Garamond" pitchFamily="18" charset="0"/>
              </a:rPr>
              <a:t> is one of the greatest challenges of the contemporary world.</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4</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5" name="Rettangolo 14"/>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428736"/>
            <a:ext cx="8229600" cy="4197361"/>
          </a:xfrm>
        </p:spPr>
        <p:txBody>
          <a:bodyPr>
            <a:normAutofit/>
          </a:bodyPr>
          <a:lstStyle/>
          <a:p>
            <a:pPr marL="0" indent="0" algn="just">
              <a:buNone/>
            </a:pPr>
            <a:r>
              <a:rPr lang="en-US" sz="2000" dirty="0" smtClean="0">
                <a:latin typeface="Garamond" pitchFamily="18" charset="0"/>
              </a:rPr>
              <a:t>Information technology security is paramount since we spend most of our time online and connected through a myriad of different devices. So </a:t>
            </a:r>
            <a:r>
              <a:rPr lang="en-US" sz="2000" u="sng" dirty="0" smtClean="0">
                <a:latin typeface="Garamond" pitchFamily="18" charset="0"/>
              </a:rPr>
              <a:t>how do you know if your business or sensitive personal information is safe?</a:t>
            </a:r>
            <a:r>
              <a:rPr lang="en-US" sz="2000" dirty="0" smtClean="0">
                <a:latin typeface="Garamond" pitchFamily="18" charset="0"/>
              </a:rPr>
              <a:t> This is where the IT security infrastructure comes into play.  </a:t>
            </a:r>
          </a:p>
          <a:p>
            <a:pPr marL="0" indent="0" algn="just">
              <a:buNone/>
            </a:pPr>
            <a:r>
              <a:rPr lang="en-US" sz="2000" u="sng" dirty="0" smtClean="0">
                <a:latin typeface="Garamond" pitchFamily="18" charset="0"/>
              </a:rPr>
              <a:t>Everyone must be appropriately equipped, and guides must be</a:t>
            </a:r>
            <a:r>
              <a:rPr lang="en-US" sz="2000" dirty="0" smtClean="0">
                <a:latin typeface="Garamond" pitchFamily="18" charset="0"/>
              </a:rPr>
              <a:t> </a:t>
            </a:r>
            <a:r>
              <a:rPr lang="en-US" sz="2000" u="sng" dirty="0" smtClean="0">
                <a:latin typeface="Garamond" pitchFamily="18" charset="0"/>
              </a:rPr>
              <a:t>created</a:t>
            </a:r>
            <a:r>
              <a:rPr lang="en-US" sz="2000" dirty="0" smtClean="0">
                <a:latin typeface="Garamond" pitchFamily="18" charset="0"/>
              </a:rPr>
              <a:t> that provide the information necessary to combat any cyber attack and raise awareness of potential danger.</a:t>
            </a:r>
          </a:p>
          <a:p>
            <a:pPr marL="0" indent="0" algn="just">
              <a:buNone/>
            </a:pPr>
            <a:r>
              <a:rPr lang="en-US" sz="2000" u="sng" dirty="0" err="1" smtClean="0">
                <a:latin typeface="Garamond" pitchFamily="18" charset="0"/>
              </a:rPr>
              <a:t>Cybersecurity</a:t>
            </a:r>
            <a:r>
              <a:rPr lang="en-US" sz="2000" u="sng" dirty="0" smtClean="0">
                <a:latin typeface="Garamond" pitchFamily="18" charset="0"/>
              </a:rPr>
              <a:t> is the process of implementing, security measures</a:t>
            </a:r>
            <a:r>
              <a:rPr lang="en-US" sz="2000" dirty="0" smtClean="0">
                <a:latin typeface="Garamond" pitchFamily="18" charset="0"/>
              </a:rPr>
              <a:t> to protect your network, computer systems, cloud infrastructure, and online personal data from cyber threats that aim to steal your personal information. This can include credit cards, passwords, social security numbers, or other sensitive data.</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5</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egnaposto contenuto 11"/>
          <p:cNvSpPr>
            <a:spLocks noGrp="1"/>
          </p:cNvSpPr>
          <p:nvPr>
            <p:ph idx="1"/>
          </p:nvPr>
        </p:nvSpPr>
        <p:spPr>
          <a:xfrm>
            <a:off x="428596" y="1428736"/>
            <a:ext cx="8229600" cy="4197361"/>
          </a:xfrm>
        </p:spPr>
        <p:txBody>
          <a:bodyPr>
            <a:normAutofit lnSpcReduction="10000"/>
          </a:bodyPr>
          <a:lstStyle/>
          <a:p>
            <a:pPr marL="0" indent="0" algn="ctr">
              <a:buNone/>
            </a:pPr>
            <a:r>
              <a:rPr lang="en-US" sz="2000" b="1" dirty="0" smtClean="0">
                <a:solidFill>
                  <a:srgbClr val="FF0000"/>
                </a:solidFill>
                <a:latin typeface="Garamond" pitchFamily="18" charset="0"/>
              </a:rPr>
              <a:t>OVERVIEW OF TYPES OF CYBERSECURITY </a:t>
            </a:r>
          </a:p>
          <a:p>
            <a:pPr marL="0" indent="0" algn="just">
              <a:buNone/>
            </a:pPr>
            <a:endParaRPr lang="en-US" sz="2000" dirty="0" smtClean="0">
              <a:latin typeface="Garamond" pitchFamily="18" charset="0"/>
            </a:endParaRPr>
          </a:p>
          <a:p>
            <a:pPr marL="0" indent="0" algn="just">
              <a:buNone/>
            </a:pPr>
            <a:r>
              <a:rPr lang="en-US" sz="2000" u="sng" dirty="0" smtClean="0">
                <a:latin typeface="Garamond" pitchFamily="18" charset="0"/>
              </a:rPr>
              <a:t>Cyber ​​security </a:t>
            </a:r>
            <a:r>
              <a:rPr lang="en-US" sz="2000" dirty="0" smtClean="0">
                <a:latin typeface="Garamond" pitchFamily="18" charset="0"/>
              </a:rPr>
              <a:t>refers to protecting your computer network from attacks inside and outside your network. It </a:t>
            </a:r>
            <a:r>
              <a:rPr lang="en-US" sz="2000" u="sng" dirty="0" smtClean="0">
                <a:latin typeface="Garamond" pitchFamily="18" charset="0"/>
              </a:rPr>
              <a:t>employs a number of different techniques to prevent malicious access or other data breaches</a:t>
            </a:r>
            <a:r>
              <a:rPr lang="en-US" sz="2000" dirty="0" smtClean="0">
                <a:latin typeface="Garamond" pitchFamily="18" charset="0"/>
              </a:rPr>
              <a:t>. </a:t>
            </a:r>
            <a:r>
              <a:rPr lang="en-US" sz="2000" u="sng" dirty="0" smtClean="0">
                <a:latin typeface="Garamond" pitchFamily="18" charset="0"/>
              </a:rPr>
              <a:t>Network security </a:t>
            </a:r>
            <a:r>
              <a:rPr lang="en-US" sz="2000" dirty="0" smtClean="0">
                <a:latin typeface="Garamond" pitchFamily="18" charset="0"/>
              </a:rPr>
              <a:t>uses different protocols to block attacks and allows only authorized users to access the network securely.</a:t>
            </a:r>
          </a:p>
          <a:p>
            <a:pPr marL="0" indent="0" algn="just">
              <a:buNone/>
            </a:pPr>
            <a:r>
              <a:rPr lang="en-US" sz="2000" dirty="0" smtClean="0">
                <a:latin typeface="Garamond" pitchFamily="18" charset="0"/>
              </a:rPr>
              <a:t>One of the most important layers of protecting your network is a </a:t>
            </a:r>
            <a:r>
              <a:rPr lang="en-US" sz="2000" u="sng" dirty="0" smtClean="0">
                <a:latin typeface="Garamond" pitchFamily="18" charset="0"/>
              </a:rPr>
              <a:t>firewall</a:t>
            </a:r>
            <a:r>
              <a:rPr lang="en-US" sz="2000" dirty="0" smtClean="0">
                <a:latin typeface="Garamond" pitchFamily="18" charset="0"/>
              </a:rPr>
              <a:t>, which acts as a protective barrier between your network and suspicious external network </a:t>
            </a:r>
            <a:r>
              <a:rPr lang="en-US" sz="2000" dirty="0" err="1" smtClean="0">
                <a:latin typeface="Garamond" pitchFamily="18" charset="0"/>
              </a:rPr>
              <a:t>connections.A</a:t>
            </a:r>
            <a:r>
              <a:rPr lang="en-US" sz="2000" dirty="0" smtClean="0">
                <a:latin typeface="Garamond" pitchFamily="18" charset="0"/>
              </a:rPr>
              <a:t> firewall can block or allow traffic to a network based on your security settings. Since phishing attacks are the most common form of cyber attack, </a:t>
            </a:r>
            <a:r>
              <a:rPr lang="en-US" sz="2000" u="sng" dirty="0" smtClean="0">
                <a:latin typeface="Garamond" pitchFamily="18" charset="0"/>
              </a:rPr>
              <a:t>email security </a:t>
            </a:r>
            <a:r>
              <a:rPr lang="en-US" sz="2000" dirty="0" smtClean="0">
                <a:latin typeface="Garamond" pitchFamily="18" charset="0"/>
              </a:rPr>
              <a:t>is the most important factor in building a secure network. Email security can consist of a program designed to scan incoming and outgoing messages to monitor for potential phishing attacks.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6</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9" name="Rettangolo 8"/>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en-US" sz="2300" b="1" dirty="0" smtClean="0">
                <a:solidFill>
                  <a:srgbClr val="FF0000"/>
                </a:solidFill>
                <a:latin typeface="Garamond" pitchFamily="18" charset="0"/>
              </a:rPr>
              <a:t>APPLICATION SECURITY AND OPERATIONAL SECURITY</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u="sng" dirty="0" smtClean="0">
                <a:latin typeface="Garamond" pitchFamily="18" charset="0"/>
              </a:rPr>
              <a:t>Application security is defined as the process of protecting sensitive information at the app level.</a:t>
            </a:r>
            <a:r>
              <a:rPr lang="en-US" sz="2000" dirty="0" smtClean="0">
                <a:latin typeface="Garamond" pitchFamily="18" charset="0"/>
              </a:rPr>
              <a:t> Most of these security measures must be implemented before deploying the application. </a:t>
            </a:r>
          </a:p>
          <a:p>
            <a:pPr marL="0" indent="0" algn="just">
              <a:buNone/>
            </a:pPr>
            <a:r>
              <a:rPr lang="en-US" sz="2000" u="sng" dirty="0" smtClean="0">
                <a:latin typeface="Garamond" pitchFamily="18" charset="0"/>
              </a:rPr>
              <a:t>Application security involves tactics</a:t>
            </a:r>
            <a:r>
              <a:rPr lang="en-US" sz="2000" dirty="0" smtClean="0">
                <a:latin typeface="Garamond" pitchFamily="18" charset="0"/>
              </a:rPr>
              <a:t> such as requiring a strong password from the user, two-step authentication features, security questions, and other safeguards to ensure that a user is who they say they are. </a:t>
            </a:r>
          </a:p>
          <a:p>
            <a:pPr marL="0" indent="0" algn="just">
              <a:buNone/>
            </a:pPr>
            <a:r>
              <a:rPr lang="en-US" sz="2000" dirty="0" smtClean="0">
                <a:latin typeface="Garamond" pitchFamily="18" charset="0"/>
              </a:rPr>
              <a:t>Part of our life online is stored in the cloud, so it is also advisable to think about  CLOUD SECURITY. Most people use online systems like Google Drive, Microsoft </a:t>
            </a:r>
            <a:r>
              <a:rPr lang="en-US" sz="2000" dirty="0" err="1" smtClean="0">
                <a:latin typeface="Garamond" pitchFamily="18" charset="0"/>
              </a:rPr>
              <a:t>OneDrive</a:t>
            </a:r>
            <a:r>
              <a:rPr lang="en-US" sz="2000" dirty="0" smtClean="0">
                <a:latin typeface="Garamond" pitchFamily="18" charset="0"/>
              </a:rPr>
              <a:t>, and Apple </a:t>
            </a:r>
            <a:r>
              <a:rPr lang="en-US" sz="2000" dirty="0" err="1" smtClean="0">
                <a:latin typeface="Garamond" pitchFamily="18" charset="0"/>
              </a:rPr>
              <a:t>iCloud</a:t>
            </a:r>
            <a:r>
              <a:rPr lang="en-US" sz="2000" dirty="0" smtClean="0">
                <a:latin typeface="Garamond" pitchFamily="18" charset="0"/>
              </a:rPr>
              <a:t> for </a:t>
            </a:r>
            <a:r>
              <a:rPr lang="en-US" sz="2000" dirty="0" err="1" smtClean="0">
                <a:latin typeface="Garamond" pitchFamily="18" charset="0"/>
              </a:rPr>
              <a:t>storage.It</a:t>
            </a:r>
            <a:r>
              <a:rPr lang="en-US" sz="2000" dirty="0" smtClean="0">
                <a:latin typeface="Garamond" pitchFamily="18" charset="0"/>
              </a:rPr>
              <a:t> is important that these platforms remain secure at all times, due to the massive amounts of data stored on </a:t>
            </a:r>
            <a:r>
              <a:rPr lang="en-US" sz="2000" dirty="0" err="1" smtClean="0">
                <a:latin typeface="Garamond" pitchFamily="18" charset="0"/>
              </a:rPr>
              <a:t>them.Cloud</a:t>
            </a:r>
            <a:r>
              <a:rPr lang="en-US" sz="2000" dirty="0" smtClean="0">
                <a:latin typeface="Garamond" pitchFamily="18" charset="0"/>
              </a:rPr>
              <a:t> security can also include business services stored in a data center.</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7</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dirty="0" smtClean="0">
                <a:latin typeface="Garamond" pitchFamily="18" charset="0"/>
              </a:rPr>
              <a:t>To ensure that appropriate cloud security measures are in place, end user interface, data storage security, backup plans, and human error should be considered areas of network vulnerability.</a:t>
            </a:r>
          </a:p>
          <a:p>
            <a:pPr marL="0" indent="0" algn="just">
              <a:buNone/>
            </a:pPr>
            <a:r>
              <a:rPr lang="en-US" sz="2000" u="sng" dirty="0" smtClean="0">
                <a:latin typeface="Garamond" pitchFamily="18" charset="0"/>
              </a:rPr>
              <a:t>OPERATIONAL SECURITY is defined as a risk management process,</a:t>
            </a:r>
            <a:r>
              <a:rPr lang="en-US" sz="2000" dirty="0" smtClean="0">
                <a:latin typeface="Garamond" pitchFamily="18" charset="0"/>
              </a:rPr>
              <a:t> for all internal </a:t>
            </a:r>
            <a:r>
              <a:rPr lang="en-US" sz="2000" dirty="0" err="1" smtClean="0">
                <a:latin typeface="Garamond" pitchFamily="18" charset="0"/>
              </a:rPr>
              <a:t>cybersecurity</a:t>
            </a:r>
            <a:r>
              <a:rPr lang="en-US" sz="2000" dirty="0" smtClean="0">
                <a:latin typeface="Garamond" pitchFamily="18" charset="0"/>
              </a:rPr>
              <a:t>. This type of management usually employs a number of risk managers to ensure that a backup plan is in place when a user's data is compromised. </a:t>
            </a:r>
            <a:r>
              <a:rPr lang="en-US" sz="2000" u="sng" dirty="0" smtClean="0">
                <a:latin typeface="Garamond" pitchFamily="18" charset="0"/>
              </a:rPr>
              <a:t>Operational security involves ensuring that employees are educated on best practice</a:t>
            </a:r>
            <a:r>
              <a:rPr lang="en-US" sz="2000" dirty="0" smtClean="0">
                <a:latin typeface="Garamond" pitchFamily="18" charset="0"/>
              </a:rPr>
              <a:t>s for keeping personal and business information safe.</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8</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4" name="Rettangolo 13"/>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p:cNvSpPr>
            <a:spLocks noGrp="1"/>
          </p:cNvSpPr>
          <p:nvPr>
            <p:ph type="title"/>
          </p:nvPr>
        </p:nvSpPr>
        <p:spPr>
          <a:xfrm>
            <a:off x="500034" y="928670"/>
            <a:ext cx="8229600" cy="1143000"/>
          </a:xfrm>
        </p:spPr>
        <p:txBody>
          <a:bodyPr>
            <a:normAutofit/>
          </a:bodyPr>
          <a:lstStyle/>
          <a:p>
            <a:r>
              <a:rPr lang="en-US" sz="2300" b="1" dirty="0" smtClean="0">
                <a:solidFill>
                  <a:srgbClr val="FF0000"/>
                </a:solidFill>
                <a:latin typeface="Garamond" pitchFamily="18" charset="0"/>
              </a:rPr>
              <a:t>WHAT ARE THE TYPES OF CYBERSECURITY THREATS AND HOW TO PREVENT THEM?</a:t>
            </a:r>
            <a:endParaRPr lang="it-IT" sz="2300" b="1" dirty="0">
              <a:solidFill>
                <a:srgbClr val="FF0000"/>
              </a:solidFill>
              <a:latin typeface="Garamond" pitchFamily="18" charset="0"/>
            </a:endParaRPr>
          </a:p>
        </p:txBody>
      </p:sp>
      <p:sp>
        <p:nvSpPr>
          <p:cNvPr id="11" name="Segnaposto contenuto 10"/>
          <p:cNvSpPr>
            <a:spLocks noGrp="1"/>
          </p:cNvSpPr>
          <p:nvPr>
            <p:ph idx="1"/>
          </p:nvPr>
        </p:nvSpPr>
        <p:spPr>
          <a:xfrm>
            <a:off x="457200" y="2071678"/>
            <a:ext cx="8229600" cy="4054485"/>
          </a:xfrm>
        </p:spPr>
        <p:txBody>
          <a:bodyPr>
            <a:normAutofit/>
          </a:bodyPr>
          <a:lstStyle/>
          <a:p>
            <a:pPr marL="0" indent="0" algn="just">
              <a:buNone/>
            </a:pPr>
            <a:r>
              <a:rPr lang="en-US" sz="2000" dirty="0" smtClean="0">
                <a:latin typeface="Garamond" pitchFamily="18" charset="0"/>
              </a:rPr>
              <a:t>One of the most popular ways to carry out a cyber attack is to send a large number of emails to different users, asking them to click on a fake link or to provide sensitive information. Sometimes a phishing email is disguised as a legitimate and trusted software program like Office 365 or Apple. </a:t>
            </a:r>
            <a:r>
              <a:rPr lang="en-US" sz="2000" u="sng" dirty="0" smtClean="0">
                <a:latin typeface="Garamond" pitchFamily="18" charset="0"/>
              </a:rPr>
              <a:t>The hacker will ask you to click on a link and type your password,</a:t>
            </a:r>
            <a:r>
              <a:rPr lang="en-US" sz="2000" dirty="0" smtClean="0">
                <a:latin typeface="Garamond" pitchFamily="18" charset="0"/>
              </a:rPr>
              <a:t> which they will then steal and use to hack your account. </a:t>
            </a:r>
            <a:r>
              <a:rPr lang="en-US" sz="2000" u="sng" dirty="0" smtClean="0">
                <a:latin typeface="Garamond" pitchFamily="18" charset="0"/>
              </a:rPr>
              <a:t>The best way to prevent phishing attacks is to closely monitor your emails, viewing the sender's email address before opening</a:t>
            </a:r>
            <a:r>
              <a:rPr lang="en-US" sz="2000" dirty="0" smtClean="0">
                <a:latin typeface="Garamond" pitchFamily="18" charset="0"/>
              </a:rPr>
              <a:t> the </a:t>
            </a:r>
            <a:r>
              <a:rPr lang="en-US" sz="2000" dirty="0" err="1" smtClean="0">
                <a:latin typeface="Garamond" pitchFamily="18" charset="0"/>
              </a:rPr>
              <a:t>message.If</a:t>
            </a:r>
            <a:r>
              <a:rPr lang="en-US" sz="2000" dirty="0" smtClean="0">
                <a:latin typeface="Garamond" pitchFamily="18" charset="0"/>
              </a:rPr>
              <a:t> it appears to be slightly different than a typical email address; one, for instance, with lots of letters after it, then it is likely a scam </a:t>
            </a:r>
            <a:r>
              <a:rPr lang="en-US" sz="2000" dirty="0" err="1" smtClean="0">
                <a:latin typeface="Garamond" pitchFamily="18" charset="0"/>
              </a:rPr>
              <a:t>email.You</a:t>
            </a:r>
            <a:r>
              <a:rPr lang="en-US" sz="2000" dirty="0" smtClean="0">
                <a:latin typeface="Garamond" pitchFamily="18" charset="0"/>
              </a:rPr>
              <a:t> can also hover over the link to see the target website. </a:t>
            </a:r>
            <a:r>
              <a:rPr lang="en-US" sz="2000" u="sng" dirty="0" smtClean="0">
                <a:latin typeface="Garamond" pitchFamily="18" charset="0"/>
              </a:rPr>
              <a:t>To protect yourself</a:t>
            </a:r>
            <a:r>
              <a:rPr lang="en-US" sz="2000" dirty="0" smtClean="0">
                <a:latin typeface="Garamond" pitchFamily="18" charset="0"/>
              </a:rPr>
              <a:t>, you need to install an </a:t>
            </a:r>
            <a:r>
              <a:rPr lang="en-US" sz="2000" u="sng" dirty="0" smtClean="0">
                <a:latin typeface="Garamond" pitchFamily="18" charset="0"/>
              </a:rPr>
              <a:t>anti-phishing email security program</a:t>
            </a:r>
            <a:r>
              <a:rPr lang="en-US" sz="2000" dirty="0" smtClean="0">
                <a:latin typeface="Garamond" pitchFamily="18" charset="0"/>
              </a:rPr>
              <a:t>, which will scan incoming emails for viruses, malicious code, or suspicious links.</a:t>
            </a:r>
            <a:endParaRPr lang="it-IT" sz="2000" dirty="0">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9</a:t>
            </a:fld>
            <a:endParaRPr lang="it-IT"/>
          </a:p>
        </p:txBody>
      </p:sp>
      <p:sp>
        <p:nvSpPr>
          <p:cNvPr id="14342" name="CasellaDiTesto 8"/>
          <p:cNvSpPr txBox="1">
            <a:spLocks noChangeArrowheads="1"/>
          </p:cNvSpPr>
          <p:nvPr/>
        </p:nvSpPr>
        <p:spPr bwMode="auto">
          <a:xfrm>
            <a:off x="2024584" y="6182766"/>
            <a:ext cx="4895850" cy="519113"/>
          </a:xfrm>
          <a:prstGeom prst="rect">
            <a:avLst/>
          </a:prstGeom>
          <a:noFill/>
          <a:ln w="9525">
            <a:noFill/>
            <a:miter lim="800000"/>
            <a:headEnd/>
            <a:tailEnd/>
          </a:ln>
        </p:spPr>
        <p:txBody>
          <a:bodyPr>
            <a:spAutoFit/>
          </a:bodyPr>
          <a:lstStyle/>
          <a:p>
            <a:pPr marL="14288" algn="ctr">
              <a:tabLst>
                <a:tab pos="4665663" algn="l"/>
              </a:tabLst>
            </a:pPr>
            <a:r>
              <a:rPr lang="it-IT" sz="2800" b="1" dirty="0">
                <a:latin typeface="Garamond" pitchFamily="18" charset="0"/>
              </a:rPr>
              <a:t>www.avvocatobruccoleri.it</a:t>
            </a:r>
          </a:p>
        </p:txBody>
      </p:sp>
      <p:sp>
        <p:nvSpPr>
          <p:cNvPr id="12" name="Rettangolo 11"/>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olo 1"/>
          <p:cNvSpPr>
            <a:spLocks noGrp="1"/>
          </p:cNvSpPr>
          <p:nvPr>
            <p:ph type="ctrTitle"/>
          </p:nvPr>
        </p:nvSpPr>
        <p:spPr>
          <a:xfrm>
            <a:off x="539750" y="285728"/>
            <a:ext cx="8064500" cy="5643602"/>
          </a:xfrm>
        </p:spPr>
        <p:txBody>
          <a:bodyPr rtlCol="0" anchor="t">
            <a:normAutofit/>
          </a:bodyPr>
          <a:lstStyle/>
          <a:p>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dirty="0">
                <a:solidFill>
                  <a:srgbClr val="FF0000"/>
                </a:solidFill>
                <a:latin typeface="Garamond" pitchFamily="18" charset="0"/>
              </a:rPr>
              <a:t/>
            </a:r>
            <a:br>
              <a:rPr lang="it-IT" sz="2400" b="1" dirty="0">
                <a:solidFill>
                  <a:srgbClr val="FF0000"/>
                </a:solidFill>
                <a:latin typeface="Garamond" pitchFamily="18" charset="0"/>
              </a:rPr>
            </a:br>
            <a:r>
              <a:rPr lang="it-IT" sz="2400" b="1">
                <a:solidFill>
                  <a:srgbClr val="FF0000"/>
                </a:solidFill>
                <a:latin typeface="Garamond" pitchFamily="18" charset="0"/>
              </a:rPr>
              <a:t/>
            </a:r>
            <a:br>
              <a:rPr lang="it-IT" sz="2400" b="1">
                <a:solidFill>
                  <a:srgbClr val="FF0000"/>
                </a:solidFill>
                <a:latin typeface="Garamond" pitchFamily="18" charset="0"/>
              </a:rPr>
            </a:br>
            <a:r>
              <a:rPr lang="it-IT" altLang="it-IT" sz="3600" b="1" smtClean="0">
                <a:solidFill>
                  <a:srgbClr val="FF0000"/>
                </a:solidFill>
                <a:latin typeface="Garamond" pitchFamily="18" charset="0"/>
              </a:rPr>
              <a:t>THANKS FOR YOUR ATTENTION</a:t>
            </a:r>
            <a:br>
              <a:rPr lang="it-IT" altLang="it-IT" sz="3600" b="1" smtClean="0">
                <a:solidFill>
                  <a:srgbClr val="FF0000"/>
                </a:solidFill>
                <a:latin typeface="Garamond" pitchFamily="18" charset="0"/>
              </a:rPr>
            </a:br>
            <a:endParaRPr lang="it-IT" sz="3600" b="1" dirty="0">
              <a:solidFill>
                <a:srgbClr val="FF0000"/>
              </a:solidFill>
              <a:latin typeface="Garamond" pitchFamily="18" charset="0"/>
            </a:endParaRPr>
          </a:p>
        </p:txBody>
      </p:sp>
      <p:sp>
        <p:nvSpPr>
          <p:cNvPr id="13" name="Segnaposto numero diapositiva 12"/>
          <p:cNvSpPr>
            <a:spLocks noGrp="1"/>
          </p:cNvSpPr>
          <p:nvPr>
            <p:ph type="sldNum" sz="quarter" idx="12"/>
          </p:nvPr>
        </p:nvSpPr>
        <p:spPr/>
        <p:txBody>
          <a:bodyPr/>
          <a:lstStyle/>
          <a:p>
            <a:pPr>
              <a:defRPr/>
            </a:pPr>
            <a:fld id="{BDA3CD4A-E96A-43D2-A7ED-09A7935F3B01}" type="slidenum">
              <a:rPr lang="it-IT"/>
              <a:pPr>
                <a:defRPr/>
              </a:pPr>
              <a:t>10</a:t>
            </a:fld>
            <a:endParaRPr lang="it-IT"/>
          </a:p>
        </p:txBody>
      </p:sp>
      <p:sp>
        <p:nvSpPr>
          <p:cNvPr id="14342" name="CasellaDiTesto 8"/>
          <p:cNvSpPr txBox="1">
            <a:spLocks noChangeArrowheads="1"/>
          </p:cNvSpPr>
          <p:nvPr/>
        </p:nvSpPr>
        <p:spPr bwMode="auto">
          <a:xfrm>
            <a:off x="1979613" y="6092825"/>
            <a:ext cx="4895850" cy="519113"/>
          </a:xfrm>
          <a:prstGeom prst="rect">
            <a:avLst/>
          </a:prstGeom>
          <a:noFill/>
          <a:ln w="9525">
            <a:noFill/>
            <a:miter lim="800000"/>
            <a:headEnd/>
            <a:tailEnd/>
          </a:ln>
        </p:spPr>
        <p:txBody>
          <a:bodyPr>
            <a:spAutoFit/>
          </a:bodyPr>
          <a:lstStyle/>
          <a:p>
            <a:pPr algn="ctr"/>
            <a:r>
              <a:rPr lang="it-IT" sz="2800" b="1" dirty="0">
                <a:latin typeface="Garamond" pitchFamily="18" charset="0"/>
              </a:rPr>
              <a:t>www.avvocatobruccoleri.it</a:t>
            </a:r>
          </a:p>
        </p:txBody>
      </p:sp>
      <p:sp>
        <p:nvSpPr>
          <p:cNvPr id="9" name="CasellaDiTesto 8"/>
          <p:cNvSpPr txBox="1">
            <a:spLocks noChangeArrowheads="1"/>
          </p:cNvSpPr>
          <p:nvPr/>
        </p:nvSpPr>
        <p:spPr bwMode="auto">
          <a:xfrm>
            <a:off x="28600" y="3804"/>
            <a:ext cx="2843213" cy="677108"/>
          </a:xfrm>
          <a:prstGeom prst="rect">
            <a:avLst/>
          </a:prstGeom>
          <a:noFill/>
          <a:ln w="9525">
            <a:noFill/>
            <a:miter lim="800000"/>
            <a:headEnd/>
            <a:tailEnd/>
          </a:ln>
        </p:spPr>
        <p:txBody>
          <a:bodyPr wrap="square">
            <a:spAutoFit/>
          </a:bodyPr>
          <a:lstStyle/>
          <a:p>
            <a:pPr eaLnBrk="1" hangingPunct="1"/>
            <a:endParaRPr lang="it-IT" altLang="it-IT" sz="2000" dirty="0">
              <a:latin typeface="Garamond" pitchFamily="18" charset="0"/>
            </a:endParaRPr>
          </a:p>
          <a:p>
            <a:pPr eaLnBrk="1" hangingPunct="1"/>
            <a:endParaRPr lang="it-IT" altLang="it-IT" dirty="0"/>
          </a:p>
        </p:txBody>
      </p:sp>
      <p:sp>
        <p:nvSpPr>
          <p:cNvPr id="11" name="Rettangolo 10"/>
          <p:cNvSpPr/>
          <p:nvPr/>
        </p:nvSpPr>
        <p:spPr>
          <a:xfrm>
            <a:off x="3214678" y="357166"/>
            <a:ext cx="2437206" cy="369332"/>
          </a:xfrm>
          <a:prstGeom prst="rect">
            <a:avLst/>
          </a:prstGeom>
        </p:spPr>
        <p:txBody>
          <a:bodyPr wrap="none">
            <a:spAutoFit/>
          </a:bodyPr>
          <a:lstStyle/>
          <a:p>
            <a:pPr algn="ctr">
              <a:buSzPct val="25000"/>
            </a:pPr>
            <a:r>
              <a:rPr lang="en-GB" altLang="it-IT" b="1" dirty="0" smtClean="0">
                <a:latin typeface="Garamond" pitchFamily="18" charset="0"/>
                <a:ea typeface="Helvetica Neue" pitchFamily="2" charset="0"/>
                <a:cs typeface="Helvetica Neue" pitchFamily="2" charset="0"/>
                <a:sym typeface="Century Gothic" pitchFamily="34" charset="0"/>
              </a:rPr>
              <a:t>Prof.  Maria </a:t>
            </a:r>
            <a:r>
              <a:rPr lang="en-GB" altLang="it-IT" b="1" dirty="0" err="1" smtClean="0">
                <a:latin typeface="Garamond" pitchFamily="18" charset="0"/>
                <a:ea typeface="Helvetica Neue" pitchFamily="2" charset="0"/>
                <a:cs typeface="Helvetica Neue" pitchFamily="2" charset="0"/>
                <a:sym typeface="Century Gothic" pitchFamily="34" charset="0"/>
              </a:rPr>
              <a:t>Bruccoleri</a:t>
            </a:r>
            <a:endParaRPr lang="en-GB" altLang="it-IT" sz="1400" dirty="0">
              <a:latin typeface="Garamond" pitchFamily="18" charset="0"/>
              <a:ea typeface="Helvetica Neue" pitchFamily="2" charset="0"/>
              <a:cs typeface="Helvetica Neue" pitchFamily="2" charset="0"/>
              <a:sym typeface="Century Gothic" pitchFamily="34" charset="0"/>
            </a:endParaRPr>
          </a:p>
        </p:txBody>
      </p:sp>
    </p:spTree>
    <p:extLst>
      <p:ext uri="{BB962C8B-B14F-4D97-AF65-F5344CB8AC3E}">
        <p14:creationId xmlns="" xmlns:p14="http://schemas.microsoft.com/office/powerpoint/2010/main" val="2848944505"/>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944</Words>
  <Application>Microsoft Office PowerPoint</Application>
  <PresentationFormat>Presentazione su schermo (4:3)</PresentationFormat>
  <Paragraphs>67</Paragraphs>
  <Slides>10</Slides>
  <Notes>10</Notes>
  <HiddenSlides>0</HiddenSlides>
  <MMClips>0</MMClips>
  <ScaleCrop>false</ScaleCrop>
  <HeadingPairs>
    <vt:vector size="4" baseType="variant">
      <vt:variant>
        <vt:lpstr>Tema</vt:lpstr>
      </vt:variant>
      <vt:variant>
        <vt:i4>1</vt:i4>
      </vt:variant>
      <vt:variant>
        <vt:lpstr>Titoli diapositive</vt:lpstr>
      </vt:variant>
      <vt:variant>
        <vt:i4>10</vt:i4>
      </vt:variant>
    </vt:vector>
  </HeadingPairs>
  <TitlesOfParts>
    <vt:vector size="11" baseType="lpstr">
      <vt:lpstr>Tema di Office</vt:lpstr>
      <vt:lpstr>   CORSO DI CYBERSECURITY AWARENESS    CYBERSECURITY, TYPES OF SECURITY, AND PRIVACY  N. 3</vt:lpstr>
      <vt:lpstr>INDEX</vt:lpstr>
      <vt:lpstr>WHAT IS CYBERSECURITY AND WHY IT MATTERS?</vt:lpstr>
      <vt:lpstr>Diapositiva 4</vt:lpstr>
      <vt:lpstr>Diapositiva 5</vt:lpstr>
      <vt:lpstr>Diapositiva 6</vt:lpstr>
      <vt:lpstr>APPLICATION SECURITY AND OPERATIONAL SECURITY</vt:lpstr>
      <vt:lpstr>Diapositiva 8</vt:lpstr>
      <vt:lpstr>WHAT ARE THE TYPES OF CYBERSECURITY THREATS AND HOW TO PREVENT THEM?</vt:lpstr>
      <vt:lpstr>      THANKS FOR YOUR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15</cp:revision>
  <dcterms:created xsi:type="dcterms:W3CDTF">2023-05-29T14:50:21Z</dcterms:created>
  <dcterms:modified xsi:type="dcterms:W3CDTF">2023-09-07T07:43:05Z</dcterms:modified>
</cp:coreProperties>
</file>