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30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8" r:id="rId17"/>
    <p:sldId id="272" r:id="rId18"/>
    <p:sldId id="299" r:id="rId19"/>
    <p:sldId id="273" r:id="rId20"/>
    <p:sldId id="274" r:id="rId21"/>
    <p:sldId id="275" r:id="rId22"/>
    <p:sldId id="276" r:id="rId23"/>
    <p:sldId id="277" r:id="rId24"/>
    <p:sldId id="278" r:id="rId25"/>
    <p:sldId id="279" r:id="rId26"/>
    <p:sldId id="280" r:id="rId27"/>
    <p:sldId id="281" r:id="rId28"/>
    <p:sldId id="300" r:id="rId29"/>
    <p:sldId id="282" r:id="rId30"/>
    <p:sldId id="283" r:id="rId31"/>
    <p:sldId id="284" r:id="rId32"/>
    <p:sldId id="301"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302" r:id="rId4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5DB27D-685A-4EAA-BDDC-D1BCD193A09C}"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A34385-FAE9-4004-BC08-9A1371D029DA}"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5F3785ED-EBB2-4BEF-8EB4-352A22D50547}"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9FC2934-A9DA-45BD-A5FE-A8C9A0905149}"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7E0B80A3-C514-4D21-86FC-23B3657EA234}"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C0DD8AA6-F1E3-4E85-9F65-1FDD67A76992}"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163EDE8A-B30F-41FD-AA1E-C23031C54869}"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5BFCA515-AA04-4318-8EB6-C34D1E77E0EF}"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7ECFCC3-B949-4C4D-8DB0-1958648C0418}"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D494593-3CD0-498B-AEAD-CAB86C92D318}"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3ABC54E2-EF21-4054-AE7C-7B7293801E75}"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2CFFC19-7BA8-49F8-8A23-DE5155CDF677}"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3037BA8F-8B5C-485C-A170-72B05506CD3C}"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49EDE-A98F-49A3-BAD6-98E7F0D826C6}"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714348" y="857232"/>
            <a:ext cx="7772400" cy="571504"/>
          </a:xfrm>
        </p:spPr>
        <p:txBody>
          <a:bodyPr>
            <a:normAutofit/>
          </a:bodyPr>
          <a:lstStyle/>
          <a:p>
            <a:r>
              <a:rPr lang="it-IT" sz="2800" dirty="0" smtClean="0">
                <a:solidFill>
                  <a:srgbClr val="FF0000"/>
                </a:solidFill>
              </a:rPr>
              <a:t>LEZIONE N. 6</a:t>
            </a:r>
            <a:endParaRPr lang="it-IT" sz="2800" dirty="0">
              <a:solidFill>
                <a:srgbClr val="FF0000"/>
              </a:solidFill>
            </a:endParaRPr>
          </a:p>
        </p:txBody>
      </p:sp>
      <p:sp>
        <p:nvSpPr>
          <p:cNvPr id="3" name="Sottotitolo 2"/>
          <p:cNvSpPr>
            <a:spLocks noGrp="1"/>
          </p:cNvSpPr>
          <p:nvPr>
            <p:ph type="subTitle" idx="1"/>
          </p:nvPr>
        </p:nvSpPr>
        <p:spPr>
          <a:xfrm>
            <a:off x="428596" y="1785926"/>
            <a:ext cx="8429684" cy="4786346"/>
          </a:xfrm>
        </p:spPr>
        <p:txBody>
          <a:bodyPr>
            <a:normAutofit fontScale="47500" lnSpcReduction="20000"/>
          </a:bodyPr>
          <a:lstStyle/>
          <a:p>
            <a:pPr marL="457200" indent="-457200" algn="just">
              <a:buFont typeface="+mj-lt"/>
              <a:buAutoNum type="arabicPeriod"/>
            </a:pPr>
            <a:r>
              <a:rPr lang="en-US" sz="3600" b="1" dirty="0" smtClean="0">
                <a:solidFill>
                  <a:schemeClr val="tx1"/>
                </a:solidFill>
                <a:latin typeface="Garamond" pitchFamily="18" charset="0"/>
              </a:rPr>
              <a:t>Case: blockchain consensus protocols</a:t>
            </a:r>
          </a:p>
          <a:p>
            <a:pPr marL="457200" indent="-457200" algn="just">
              <a:buFont typeface="+mj-lt"/>
              <a:buAutoNum type="arabicPeriod"/>
            </a:pPr>
            <a:r>
              <a:rPr lang="en-US" sz="3600" b="1" dirty="0" smtClean="0">
                <a:solidFill>
                  <a:schemeClr val="tx1"/>
                </a:solidFill>
                <a:latin typeface="Garamond" pitchFamily="18" charset="0"/>
              </a:rPr>
              <a:t>Benefits</a:t>
            </a:r>
          </a:p>
          <a:p>
            <a:pPr marL="457200" indent="-457200" algn="just">
              <a:buFont typeface="+mj-lt"/>
              <a:buAutoNum type="arabicPeriod"/>
            </a:pPr>
            <a:r>
              <a:rPr lang="en-US" sz="3600" b="1" dirty="0" smtClean="0">
                <a:solidFill>
                  <a:schemeClr val="tx1"/>
                </a:solidFill>
                <a:latin typeface="Garamond" pitchFamily="18" charset="0"/>
              </a:rPr>
              <a:t>Disadvantages</a:t>
            </a:r>
          </a:p>
          <a:p>
            <a:pPr marL="457200" indent="-457200" algn="just">
              <a:buFont typeface="+mj-lt"/>
              <a:buAutoNum type="arabicPeriod"/>
            </a:pPr>
            <a:r>
              <a:rPr lang="en-US" sz="3600" b="1" dirty="0" smtClean="0">
                <a:solidFill>
                  <a:schemeClr val="tx1"/>
                </a:solidFill>
                <a:latin typeface="Garamond" pitchFamily="18" charset="0"/>
              </a:rPr>
              <a:t>Proof of work (</a:t>
            </a:r>
            <a:r>
              <a:rPr lang="en-US" sz="3600" b="1" dirty="0" err="1" smtClean="0">
                <a:solidFill>
                  <a:schemeClr val="tx1"/>
                </a:solidFill>
                <a:latin typeface="Garamond" pitchFamily="18" charset="0"/>
              </a:rPr>
              <a:t>pow</a:t>
            </a:r>
            <a:r>
              <a:rPr lang="en-US" sz="3600" b="1" dirty="0" smtClean="0">
                <a:solidFill>
                  <a:schemeClr val="tx1"/>
                </a:solidFill>
                <a:latin typeface="Garamond" pitchFamily="18" charset="0"/>
              </a:rPr>
              <a:t>)</a:t>
            </a:r>
          </a:p>
          <a:p>
            <a:pPr marL="457200" indent="-457200" algn="just">
              <a:buFont typeface="+mj-lt"/>
              <a:buAutoNum type="arabicPeriod"/>
            </a:pPr>
            <a:r>
              <a:rPr lang="en-US" sz="3600" b="1" dirty="0" smtClean="0">
                <a:solidFill>
                  <a:schemeClr val="tx1"/>
                </a:solidFill>
                <a:latin typeface="Garamond" pitchFamily="18" charset="0"/>
              </a:rPr>
              <a:t>Proof of stake (pos)</a:t>
            </a:r>
          </a:p>
          <a:p>
            <a:pPr marL="457200" indent="-457200" algn="just">
              <a:buFont typeface="+mj-lt"/>
              <a:buAutoNum type="arabicPeriod"/>
            </a:pPr>
            <a:r>
              <a:rPr lang="en-US" sz="3600" b="1" dirty="0" smtClean="0">
                <a:solidFill>
                  <a:schemeClr val="tx1"/>
                </a:solidFill>
                <a:latin typeface="Garamond" pitchFamily="18" charset="0"/>
              </a:rPr>
              <a:t>Delegated proof of stake (</a:t>
            </a:r>
            <a:r>
              <a:rPr lang="en-US" sz="3600" b="1" dirty="0" err="1" smtClean="0">
                <a:solidFill>
                  <a:schemeClr val="tx1"/>
                </a:solidFill>
                <a:latin typeface="Garamond" pitchFamily="18" charset="0"/>
              </a:rPr>
              <a:t>dpos</a:t>
            </a:r>
            <a:r>
              <a:rPr lang="en-US" sz="3600" b="1" dirty="0" smtClean="0">
                <a:solidFill>
                  <a:schemeClr val="tx1"/>
                </a:solidFill>
                <a:latin typeface="Garamond" pitchFamily="18" charset="0"/>
              </a:rPr>
              <a:t>)</a:t>
            </a:r>
          </a:p>
          <a:p>
            <a:pPr marL="457200" indent="-457200" algn="just">
              <a:buFont typeface="+mj-lt"/>
              <a:buAutoNum type="arabicPeriod"/>
            </a:pPr>
            <a:r>
              <a:rPr lang="en-US" sz="3600" b="1" dirty="0" err="1" smtClean="0">
                <a:solidFill>
                  <a:schemeClr val="tx1"/>
                </a:solidFill>
                <a:latin typeface="Garamond" pitchFamily="18" charset="0"/>
              </a:rPr>
              <a:t>Dpos</a:t>
            </a:r>
            <a:r>
              <a:rPr lang="en-US" sz="3600" b="1" dirty="0" smtClean="0">
                <a:solidFill>
                  <a:schemeClr val="tx1"/>
                </a:solidFill>
                <a:latin typeface="Garamond" pitchFamily="18" charset="0"/>
              </a:rPr>
              <a:t> </a:t>
            </a:r>
            <a:r>
              <a:rPr lang="en-US" sz="3600" b="1" dirty="0" err="1" smtClean="0">
                <a:solidFill>
                  <a:schemeClr val="tx1"/>
                </a:solidFill>
                <a:latin typeface="Garamond" pitchFamily="18" charset="0"/>
              </a:rPr>
              <a:t>vs</a:t>
            </a:r>
            <a:r>
              <a:rPr lang="en-US" sz="3600" b="1" dirty="0" smtClean="0">
                <a:solidFill>
                  <a:schemeClr val="tx1"/>
                </a:solidFill>
                <a:latin typeface="Garamond" pitchFamily="18" charset="0"/>
              </a:rPr>
              <a:t> pos</a:t>
            </a:r>
          </a:p>
          <a:p>
            <a:pPr marL="457200" indent="-457200" algn="just">
              <a:buFont typeface="+mj-lt"/>
              <a:buAutoNum type="arabicPeriod"/>
            </a:pPr>
            <a:r>
              <a:rPr lang="en-US" sz="3600" b="1" dirty="0" err="1" smtClean="0">
                <a:solidFill>
                  <a:schemeClr val="tx1"/>
                </a:solidFill>
                <a:latin typeface="Garamond" pitchFamily="18" charset="0"/>
              </a:rPr>
              <a:t>Dpos</a:t>
            </a:r>
            <a:r>
              <a:rPr lang="en-US" sz="3600" b="1" dirty="0" smtClean="0">
                <a:solidFill>
                  <a:schemeClr val="tx1"/>
                </a:solidFill>
                <a:latin typeface="Garamond" pitchFamily="18" charset="0"/>
              </a:rPr>
              <a:t> </a:t>
            </a:r>
            <a:r>
              <a:rPr lang="en-US" sz="3600" b="1" dirty="0" err="1" smtClean="0">
                <a:solidFill>
                  <a:schemeClr val="tx1"/>
                </a:solidFill>
                <a:latin typeface="Garamond" pitchFamily="18" charset="0"/>
              </a:rPr>
              <a:t>vs</a:t>
            </a:r>
            <a:r>
              <a:rPr lang="en-US" sz="3600" b="1" dirty="0" smtClean="0">
                <a:solidFill>
                  <a:schemeClr val="tx1"/>
                </a:solidFill>
                <a:latin typeface="Garamond" pitchFamily="18" charset="0"/>
              </a:rPr>
              <a:t> </a:t>
            </a:r>
            <a:r>
              <a:rPr lang="en-US" sz="3600" b="1" dirty="0" err="1" smtClean="0">
                <a:solidFill>
                  <a:schemeClr val="tx1"/>
                </a:solidFill>
                <a:latin typeface="Garamond" pitchFamily="18" charset="0"/>
              </a:rPr>
              <a:t>pow</a:t>
            </a:r>
            <a:r>
              <a:rPr lang="en-US" sz="3600" b="1" dirty="0" smtClean="0">
                <a:solidFill>
                  <a:schemeClr val="tx1"/>
                </a:solidFill>
                <a:latin typeface="Garamond" pitchFamily="18" charset="0"/>
              </a:rPr>
              <a:t> </a:t>
            </a:r>
          </a:p>
          <a:p>
            <a:pPr marL="457200" indent="-457200" algn="just">
              <a:buFont typeface="+mj-lt"/>
              <a:buAutoNum type="arabicPeriod"/>
            </a:pPr>
            <a:r>
              <a:rPr lang="en-US" sz="3600" b="1" dirty="0" smtClean="0">
                <a:solidFill>
                  <a:schemeClr val="tx1"/>
                </a:solidFill>
                <a:latin typeface="Garamond" pitchFamily="18" charset="0"/>
              </a:rPr>
              <a:t>Smart contracts</a:t>
            </a:r>
          </a:p>
          <a:p>
            <a:pPr marL="457200" indent="-457200" algn="just">
              <a:buFont typeface="+mj-lt"/>
              <a:buAutoNum type="arabicPeriod"/>
            </a:pPr>
            <a:r>
              <a:rPr lang="en-US" sz="3600" b="1" dirty="0" smtClean="0">
                <a:solidFill>
                  <a:schemeClr val="tx1"/>
                </a:solidFill>
                <a:latin typeface="Garamond" pitchFamily="18" charset="0"/>
              </a:rPr>
              <a:t>Distribution of information</a:t>
            </a:r>
          </a:p>
          <a:p>
            <a:pPr marL="457200" indent="-457200" algn="just">
              <a:buFont typeface="+mj-lt"/>
              <a:buAutoNum type="arabicPeriod"/>
            </a:pPr>
            <a:r>
              <a:rPr lang="en-US" sz="3600" b="1" dirty="0" smtClean="0">
                <a:solidFill>
                  <a:schemeClr val="tx1"/>
                </a:solidFill>
                <a:latin typeface="Garamond" pitchFamily="18" charset="0"/>
              </a:rPr>
              <a:t>A new model of decentralized consensus and information</a:t>
            </a:r>
          </a:p>
          <a:p>
            <a:pPr marL="457200" indent="-457200" algn="just">
              <a:buFont typeface="+mj-lt"/>
              <a:buAutoNum type="arabicPeriod"/>
            </a:pPr>
            <a:r>
              <a:rPr lang="en-US" sz="3600" b="1" dirty="0" smtClean="0">
                <a:solidFill>
                  <a:schemeClr val="tx1"/>
                </a:solidFill>
                <a:latin typeface="Garamond" pitchFamily="18" charset="0"/>
              </a:rPr>
              <a:t>Commercial finance</a:t>
            </a:r>
          </a:p>
          <a:p>
            <a:pPr marL="457200" indent="-457200" algn="just">
              <a:buFont typeface="+mj-lt"/>
              <a:buAutoNum type="arabicPeriod"/>
            </a:pPr>
            <a:r>
              <a:rPr lang="en-US" sz="3600" b="1" dirty="0" smtClean="0">
                <a:solidFill>
                  <a:schemeClr val="tx1"/>
                </a:solidFill>
                <a:latin typeface="Garamond" pitchFamily="18" charset="0"/>
              </a:rPr>
              <a:t>Information and behavior of register holders</a:t>
            </a:r>
          </a:p>
          <a:p>
            <a:pPr marL="457200" indent="-457200" algn="just">
              <a:buFont typeface="+mj-lt"/>
              <a:buAutoNum type="arabicPeriod"/>
            </a:pPr>
            <a:r>
              <a:rPr lang="en-US" sz="3600" b="1" dirty="0" smtClean="0">
                <a:solidFill>
                  <a:schemeClr val="tx1"/>
                </a:solidFill>
                <a:latin typeface="Garamond" pitchFamily="18" charset="0"/>
              </a:rPr>
              <a:t>A few notes on the literature of the information economy</a:t>
            </a:r>
          </a:p>
          <a:p>
            <a:pPr marL="457200" indent="-457200" algn="just">
              <a:buFont typeface="+mj-lt"/>
              <a:buAutoNum type="arabicPeriod"/>
            </a:pPr>
            <a:r>
              <a:rPr lang="en-US" sz="3600" b="1" dirty="0" smtClean="0">
                <a:solidFill>
                  <a:schemeClr val="tx1"/>
                </a:solidFill>
                <a:latin typeface="Garamond" pitchFamily="18" charset="0"/>
              </a:rPr>
              <a:t>Blockchain applications in the trade finance sector and the use of reliable payment platforms: </a:t>
            </a:r>
            <a:r>
              <a:rPr lang="en-US" sz="3600" b="1" dirty="0" err="1" smtClean="0">
                <a:solidFill>
                  <a:schemeClr val="tx1"/>
                </a:solidFill>
                <a:latin typeface="Garamond" pitchFamily="18" charset="0"/>
              </a:rPr>
              <a:t>bitcoin</a:t>
            </a:r>
            <a:r>
              <a:rPr lang="en-US" sz="3600" b="1" dirty="0" smtClean="0">
                <a:solidFill>
                  <a:schemeClr val="tx1"/>
                </a:solidFill>
                <a:latin typeface="Garamond" pitchFamily="18" charset="0"/>
              </a:rPr>
              <a:t>, </a:t>
            </a:r>
            <a:r>
              <a:rPr lang="en-US" sz="3600" b="1" dirty="0" err="1" smtClean="0">
                <a:solidFill>
                  <a:schemeClr val="tx1"/>
                </a:solidFill>
                <a:latin typeface="Garamond" pitchFamily="18" charset="0"/>
              </a:rPr>
              <a:t>ethereum</a:t>
            </a:r>
            <a:r>
              <a:rPr lang="en-US" sz="3600" b="1" dirty="0" smtClean="0">
                <a:solidFill>
                  <a:schemeClr val="tx1"/>
                </a:solidFill>
                <a:latin typeface="Garamond" pitchFamily="18" charset="0"/>
              </a:rPr>
              <a:t>, and ripple.</a:t>
            </a:r>
          </a:p>
          <a:p>
            <a:pPr marL="457200" indent="-457200" algn="just">
              <a:buFont typeface="+mj-lt"/>
              <a:buAutoNum type="arabicPeriod"/>
            </a:pPr>
            <a:r>
              <a:rPr lang="en-US" sz="3600" b="1" dirty="0" smtClean="0">
                <a:solidFill>
                  <a:schemeClr val="tx1"/>
                </a:solidFill>
                <a:latin typeface="Garamond" pitchFamily="18" charset="0"/>
              </a:rPr>
              <a:t>Examples</a:t>
            </a:r>
          </a:p>
          <a:p>
            <a:pPr marL="457200" indent="-457200" algn="just">
              <a:buFont typeface="+mj-lt"/>
              <a:buAutoNum type="arabicPeriod"/>
            </a:pPr>
            <a:r>
              <a:rPr lang="en-US" sz="3600" b="1" dirty="0" smtClean="0">
                <a:solidFill>
                  <a:schemeClr val="tx1"/>
                </a:solidFill>
                <a:latin typeface="Garamond" pitchFamily="18" charset="0"/>
              </a:rPr>
              <a:t>Other applications</a:t>
            </a:r>
          </a:p>
          <a:p>
            <a:endParaRPr lang="it-IT" dirty="0"/>
          </a:p>
        </p:txBody>
      </p:sp>
      <p:sp>
        <p:nvSpPr>
          <p:cNvPr id="4" name="CasellaDiTesto 3"/>
          <p:cNvSpPr txBox="1"/>
          <p:nvPr/>
        </p:nvSpPr>
        <p:spPr>
          <a:xfrm>
            <a:off x="3214678"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CASE: BLOCKCHAIN CONSENSUS PROTOCOLS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Consensus protocols in blockchain such as </a:t>
            </a:r>
            <a:r>
              <a:rPr lang="en-US" sz="2000" dirty="0" err="1" smtClean="0">
                <a:latin typeface="Garamond" pitchFamily="18" charset="0"/>
              </a:rPr>
              <a:t>PoW</a:t>
            </a:r>
            <a:r>
              <a:rPr lang="en-US" sz="2000" dirty="0" smtClean="0">
                <a:latin typeface="Garamond" pitchFamily="18" charset="0"/>
              </a:rPr>
              <a:t> tolerate Byzantine flaws. These allow a distributed network to reach consensus under Byzantine conditions. When Satoshi </a:t>
            </a:r>
            <a:r>
              <a:rPr lang="en-US" sz="2000" dirty="0" err="1" smtClean="0">
                <a:latin typeface="Garamond" pitchFamily="18" charset="0"/>
              </a:rPr>
              <a:t>Nakamoto</a:t>
            </a:r>
            <a:r>
              <a:rPr lang="en-US" sz="2000" dirty="0" smtClean="0">
                <a:latin typeface="Garamond" pitchFamily="18" charset="0"/>
              </a:rPr>
              <a:t> designed </a:t>
            </a:r>
            <a:r>
              <a:rPr lang="en-US" sz="2000" dirty="0" err="1" smtClean="0">
                <a:latin typeface="Garamond" pitchFamily="18" charset="0"/>
              </a:rPr>
              <a:t>Bitcoin</a:t>
            </a:r>
            <a:r>
              <a:rPr lang="en-US" sz="2000" dirty="0" smtClean="0">
                <a:latin typeface="Garamond" pitchFamily="18" charset="0"/>
              </a:rPr>
              <a:t>, he took this kind of tolerance into account.</a:t>
            </a:r>
          </a:p>
          <a:p>
            <a:pPr marL="0" indent="0" algn="just">
              <a:buNone/>
            </a:pPr>
            <a:r>
              <a:rPr lang="en-US" sz="2000" dirty="0" smtClean="0">
                <a:latin typeface="Garamond" pitchFamily="18" charset="0"/>
              </a:rPr>
              <a:t>To do this, he created a set of rules and applied the </a:t>
            </a:r>
            <a:r>
              <a:rPr lang="en-US" sz="2000" dirty="0" err="1" smtClean="0">
                <a:latin typeface="Garamond" pitchFamily="18" charset="0"/>
              </a:rPr>
              <a:t>PoW</a:t>
            </a:r>
            <a:r>
              <a:rPr lang="en-US" sz="2000" dirty="0" smtClean="0">
                <a:latin typeface="Garamond" pitchFamily="18" charset="0"/>
              </a:rPr>
              <a:t> consensus protocol to create fault-tolerant Byzantine software. However, this tolerance is not 100%.</a:t>
            </a:r>
          </a:p>
          <a:p>
            <a:pPr marL="0" indent="0" algn="just">
              <a:buNone/>
            </a:pPr>
            <a:r>
              <a:rPr lang="en-US" sz="2000" dirty="0" smtClean="0">
                <a:latin typeface="Garamond" pitchFamily="18" charset="0"/>
              </a:rPr>
              <a:t>Despite this, </a:t>
            </a:r>
            <a:r>
              <a:rPr lang="en-US" sz="2000" dirty="0" err="1" smtClean="0">
                <a:latin typeface="Garamond" pitchFamily="18" charset="0"/>
              </a:rPr>
              <a:t>PoW</a:t>
            </a:r>
            <a:r>
              <a:rPr lang="en-US" sz="2000" dirty="0" smtClean="0">
                <a:latin typeface="Garamond" pitchFamily="18" charset="0"/>
              </a:rPr>
              <a:t> has proven to be one of the safest and most reliable implementations for blockchain networks.</a:t>
            </a:r>
          </a:p>
          <a:p>
            <a:pPr marL="0" indent="0" algn="just">
              <a:buNone/>
            </a:pPr>
            <a:r>
              <a:rPr lang="en-US" sz="2000" dirty="0" smtClean="0">
                <a:latin typeface="Garamond" pitchFamily="18" charset="0"/>
              </a:rPr>
              <a:t>In this sense, the proof-of-work consensus algorithm, designed by Satoshi </a:t>
            </a:r>
            <a:r>
              <a:rPr lang="en-US" sz="2000" dirty="0" err="1" smtClean="0">
                <a:latin typeface="Garamond" pitchFamily="18" charset="0"/>
              </a:rPr>
              <a:t>Nakamoto</a:t>
            </a:r>
            <a:r>
              <a:rPr lang="en-US" sz="2000" dirty="0" smtClean="0">
                <a:latin typeface="Garamond" pitchFamily="18" charset="0"/>
              </a:rPr>
              <a:t>, is considered by many to be one of the best solutions for Byzantine flaws.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BENEFITS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457200" indent="-457200" algn="just">
              <a:buFont typeface="+mj-lt"/>
              <a:buAutoNum type="arabicPeriod"/>
            </a:pPr>
            <a:r>
              <a:rPr lang="en-US" sz="2000" dirty="0" smtClean="0">
                <a:latin typeface="Garamond" pitchFamily="18" charset="0"/>
              </a:rPr>
              <a:t>Guarantee the correctness of data and information in distributed systems, even in hostile scenarios.</a:t>
            </a:r>
          </a:p>
          <a:p>
            <a:pPr marL="457200" indent="-457200" algn="just">
              <a:buFont typeface="+mj-lt"/>
              <a:buAutoNum type="arabicPeriod"/>
            </a:pPr>
            <a:r>
              <a:rPr lang="en-US" sz="2000" dirty="0" smtClean="0">
                <a:latin typeface="Garamond" pitchFamily="18" charset="0"/>
              </a:rPr>
              <a:t>Solve the problem of information processing in heterogeneous environments.</a:t>
            </a:r>
          </a:p>
          <a:p>
            <a:pPr marL="457200" indent="-457200" algn="just">
              <a:buFont typeface="+mj-lt"/>
              <a:buAutoNum type="arabicPeriod"/>
            </a:pPr>
            <a:r>
              <a:rPr lang="en-US" sz="2000" dirty="0" smtClean="0">
                <a:latin typeface="Garamond" pitchFamily="18" charset="0"/>
              </a:rPr>
              <a:t>Provide high efficiency in terms of computation and energy consumption.</a:t>
            </a:r>
          </a:p>
          <a:p>
            <a:pPr marL="457200" indent="-457200" algn="just">
              <a:buFont typeface="+mj-lt"/>
              <a:buAutoNum type="arabicPeriod"/>
            </a:pPr>
            <a:r>
              <a:rPr lang="en-US" sz="2000" dirty="0" smtClean="0">
                <a:latin typeface="Garamond" pitchFamily="18" charset="0"/>
              </a:rPr>
              <a:t>Offer  well-built implementations that have a positive impact on scalability .</a:t>
            </a:r>
          </a:p>
          <a:p>
            <a:pPr marL="457200" indent="-457200" algn="just">
              <a:buFont typeface="+mj-lt"/>
              <a:buAutoNum type="arabicPeriod"/>
            </a:pPr>
            <a:r>
              <a:rPr lang="en-US" sz="2000" dirty="0" smtClean="0">
                <a:latin typeface="Garamond" pitchFamily="18" charset="0"/>
              </a:rPr>
              <a:t>The more nodes that apply Byzantine fault tolerance, the more secure  the model.</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642918"/>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solidFill>
                  <a:srgbClr val="FF0000"/>
                </a:solidFill>
                <a:latin typeface="Garamond" pitchFamily="18" charset="0"/>
              </a:rPr>
              <a:t>DISADVANTAGES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Creating these solutions is complex. This can lead to other security problems in its implementation.</a:t>
            </a:r>
          </a:p>
          <a:p>
            <a:pPr marL="0" indent="0" algn="just">
              <a:buNone/>
            </a:pPr>
            <a:r>
              <a:rPr lang="en-US" sz="2000" dirty="0" smtClean="0">
                <a:latin typeface="Garamond" pitchFamily="18" charset="0"/>
              </a:rPr>
              <a:t>Ensuring its correct functioning requires wide distribution and growth. The more nodes that apply the process, the safer it is. But this also has a negative impact on network scalability and bandwidth.</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Delegated Proof of Stake (</a:t>
            </a:r>
            <a:r>
              <a:rPr lang="en-US" sz="2000" dirty="0" err="1" smtClean="0">
                <a:latin typeface="Garamond" pitchFamily="18" charset="0"/>
              </a:rPr>
              <a:t>DPoS</a:t>
            </a:r>
            <a:r>
              <a:rPr lang="en-US" sz="2000" dirty="0" smtClean="0">
                <a:latin typeface="Garamond" pitchFamily="18" charset="0"/>
              </a:rPr>
              <a:t>) consensus algorithm is considered by many to be a more democratic and efficient version of its predecessor, the Proof of Stake.</a:t>
            </a:r>
          </a:p>
          <a:p>
            <a:pPr marL="0" indent="0" algn="just">
              <a:buNone/>
            </a:pPr>
            <a:r>
              <a:rPr lang="en-US" sz="2000" dirty="0" smtClean="0">
                <a:latin typeface="Garamond" pitchFamily="18" charset="0"/>
              </a:rPr>
              <a:t>Both </a:t>
            </a:r>
            <a:r>
              <a:rPr lang="en-US" sz="2000" dirty="0" err="1" smtClean="0">
                <a:latin typeface="Garamond" pitchFamily="18" charset="0"/>
              </a:rPr>
              <a:t>PoS</a:t>
            </a:r>
            <a:r>
              <a:rPr lang="en-US" sz="2000" dirty="0" smtClean="0">
                <a:latin typeface="Garamond" pitchFamily="18" charset="0"/>
              </a:rPr>
              <a:t> and </a:t>
            </a:r>
            <a:r>
              <a:rPr lang="en-US" sz="2000" dirty="0" err="1" smtClean="0">
                <a:latin typeface="Garamond" pitchFamily="18" charset="0"/>
              </a:rPr>
              <a:t>DPoS</a:t>
            </a:r>
            <a:r>
              <a:rPr lang="en-US" sz="2000" dirty="0" smtClean="0">
                <a:latin typeface="Garamond" pitchFamily="18" charset="0"/>
              </a:rPr>
              <a:t> are used as an alternative to the Proof of Work consensus algorithm, as a </a:t>
            </a:r>
            <a:r>
              <a:rPr lang="en-US" sz="2000" dirty="0" err="1" smtClean="0">
                <a:latin typeface="Garamond" pitchFamily="18" charset="0"/>
              </a:rPr>
              <a:t>PoW</a:t>
            </a:r>
            <a:r>
              <a:rPr lang="en-US" sz="2000" dirty="0" smtClean="0">
                <a:latin typeface="Garamond" pitchFamily="18" charset="0"/>
              </a:rPr>
              <a:t> system requires many external resources. The Proof of Work algorithm uses a large amount of computing power to protect an immutable, decentralized, and transparent distributed ledger.</a:t>
            </a:r>
          </a:p>
          <a:p>
            <a:pPr marL="0" indent="0" algn="just">
              <a:buNone/>
            </a:pPr>
            <a:r>
              <a:rPr lang="en-US" sz="2000" dirty="0" smtClean="0">
                <a:latin typeface="Garamond" pitchFamily="18" charset="0"/>
              </a:rPr>
              <a:t>Conversely, </a:t>
            </a:r>
            <a:r>
              <a:rPr lang="en-US" sz="2000" dirty="0" err="1" smtClean="0">
                <a:latin typeface="Garamond" pitchFamily="18" charset="0"/>
              </a:rPr>
              <a:t>PoS</a:t>
            </a:r>
            <a:r>
              <a:rPr lang="en-US" sz="2000" dirty="0" smtClean="0">
                <a:latin typeface="Garamond" pitchFamily="18" charset="0"/>
              </a:rPr>
              <a:t> and </a:t>
            </a:r>
            <a:r>
              <a:rPr lang="en-US" sz="2000" dirty="0" err="1" smtClean="0">
                <a:latin typeface="Garamond" pitchFamily="18" charset="0"/>
              </a:rPr>
              <a:t>DPoS</a:t>
            </a:r>
            <a:r>
              <a:rPr lang="en-US" sz="2000" dirty="0" smtClean="0">
                <a:latin typeface="Garamond" pitchFamily="18" charset="0"/>
              </a:rPr>
              <a:t> require fewer resources and are more sustainable and environmentally friendly. To understand how Delegated Proof of Stake works, it is necessary to discuss the basics of the Proof of Work and Proof of Stake algorithms that preceded it.</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571480"/>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solidFill>
                  <a:srgbClr val="FF0000"/>
                </a:solidFill>
                <a:latin typeface="Garamond" pitchFamily="18" charset="0"/>
              </a:rPr>
              <a:t>PROOF OF WORK (POW)</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Most </a:t>
            </a:r>
            <a:r>
              <a:rPr lang="en-US" sz="2000" dirty="0" err="1" smtClean="0">
                <a:latin typeface="Garamond" pitchFamily="18" charset="0"/>
              </a:rPr>
              <a:t>cryptocurrencies</a:t>
            </a:r>
            <a:r>
              <a:rPr lang="en-US" sz="2000" dirty="0" smtClean="0">
                <a:latin typeface="Garamond" pitchFamily="18" charset="0"/>
              </a:rPr>
              <a:t> use a distributed ledger called blockchain, and Proof of Work was the first consensus algorithm implemented. A central component of the </a:t>
            </a:r>
            <a:r>
              <a:rPr lang="en-US" sz="2000" dirty="0" err="1" smtClean="0">
                <a:latin typeface="Garamond" pitchFamily="18" charset="0"/>
              </a:rPr>
              <a:t>Bitcoin</a:t>
            </a:r>
            <a:r>
              <a:rPr lang="en-US" sz="2000" dirty="0" smtClean="0">
                <a:latin typeface="Garamond" pitchFamily="18" charset="0"/>
              </a:rPr>
              <a:t> protocol, </a:t>
            </a:r>
            <a:r>
              <a:rPr lang="en-US" sz="2000" dirty="0" err="1" smtClean="0">
                <a:latin typeface="Garamond" pitchFamily="18" charset="0"/>
              </a:rPr>
              <a:t>PoW</a:t>
            </a:r>
            <a:r>
              <a:rPr lang="en-US" sz="2000" dirty="0" smtClean="0">
                <a:latin typeface="Garamond" pitchFamily="18" charset="0"/>
              </a:rPr>
              <a:t> is responsible for regulating the generation of new blocks and maintaining the security of the network (through the mining process). </a:t>
            </a:r>
            <a:r>
              <a:rPr lang="en-US" sz="2000" dirty="0" err="1" smtClean="0">
                <a:latin typeface="Garamond" pitchFamily="18" charset="0"/>
              </a:rPr>
              <a:t>Bitcoin</a:t>
            </a:r>
            <a:r>
              <a:rPr lang="en-US" sz="2000" dirty="0" smtClean="0">
                <a:latin typeface="Garamond" pitchFamily="18" charset="0"/>
              </a:rPr>
              <a:t>, which applies </a:t>
            </a:r>
            <a:r>
              <a:rPr lang="en-US" sz="2000" dirty="0" err="1" smtClean="0">
                <a:latin typeface="Garamond" pitchFamily="18" charset="0"/>
              </a:rPr>
              <a:t>PoW</a:t>
            </a:r>
            <a:r>
              <a:rPr lang="en-US" sz="2000" dirty="0" smtClean="0">
                <a:latin typeface="Garamond" pitchFamily="18" charset="0"/>
              </a:rPr>
              <a:t>,   has been proposed as an alternative to the traditional, centralized, and inefficient global monetary system.</a:t>
            </a:r>
          </a:p>
          <a:p>
            <a:pPr marL="0" indent="0" algn="just">
              <a:buNone/>
            </a:pPr>
            <a:r>
              <a:rPr lang="en-US" sz="2000" dirty="0" smtClean="0">
                <a:latin typeface="Garamond" pitchFamily="18" charset="0"/>
              </a:rPr>
              <a:t>The </a:t>
            </a:r>
            <a:r>
              <a:rPr lang="en-US" sz="2000" dirty="0" err="1" smtClean="0">
                <a:latin typeface="Garamond" pitchFamily="18" charset="0"/>
              </a:rPr>
              <a:t>PoW</a:t>
            </a:r>
            <a:r>
              <a:rPr lang="en-US" sz="2000" dirty="0" smtClean="0">
                <a:latin typeface="Garamond" pitchFamily="18" charset="0"/>
              </a:rPr>
              <a:t> has introduced a valid consensus protocol, which does not require a central authority, for the transmission of money.</a:t>
            </a:r>
          </a:p>
          <a:p>
            <a:pPr marL="0" indent="0" algn="just">
              <a:buNone/>
            </a:pPr>
            <a:r>
              <a:rPr lang="en-US" sz="2000" dirty="0" smtClean="0">
                <a:latin typeface="Garamond" pitchFamily="18" charset="0"/>
              </a:rPr>
              <a:t>It has enabled the creation of an economic, peer-to-peer network capable of settling decentralized payments in real time, eliminating the need for intermediaries and reducing overall transaction costs.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Proof of Work system has different types of nodes, including the miner nodes, which makes use of specialized hardware (ASIC) to try to solve complex cryptographic puzzles.</a:t>
            </a:r>
          </a:p>
          <a:p>
            <a:pPr marL="0" indent="0" algn="just">
              <a:buNone/>
            </a:pPr>
            <a:r>
              <a:rPr lang="en-US" sz="2000" dirty="0" smtClean="0">
                <a:latin typeface="Garamond" pitchFamily="18" charset="0"/>
              </a:rPr>
              <a:t>On average, a new block is mined every 10 minutes. A miner can add a block to the blockchain by finding the solution for that block. In other words, a miner is able to do this, only after completing a 'proof of work done', and in return receives a reward, consisting of a certain sum of new coins and all transaction fees, contained in that specific block.</a:t>
            </a:r>
          </a:p>
          <a:p>
            <a:pPr marL="0" indent="0" algn="just">
              <a:buNone/>
            </a:pPr>
            <a:r>
              <a:rPr lang="en-US" sz="2000" dirty="0" smtClean="0">
                <a:latin typeface="Garamond" pitchFamily="18" charset="0"/>
              </a:rPr>
              <a:t>This process is costly, as it requires much energy and many failed attempts.    ASIC hardware is also quite expensive.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addition to the effort to maintain the system, questions remain about the limitations of </a:t>
            </a:r>
            <a:r>
              <a:rPr lang="en-US" sz="2000" dirty="0" err="1" smtClean="0">
                <a:latin typeface="Garamond" pitchFamily="18" charset="0"/>
              </a:rPr>
              <a:t>PoW</a:t>
            </a:r>
            <a:r>
              <a:rPr lang="en-US" sz="2000" dirty="0" smtClean="0">
                <a:latin typeface="Garamond" pitchFamily="18" charset="0"/>
              </a:rPr>
              <a:t> systems - especially regarding scalability - because the number of transactions per second is limited.</a:t>
            </a:r>
          </a:p>
          <a:p>
            <a:pPr marL="0" indent="0" algn="just">
              <a:buNone/>
            </a:pPr>
            <a:r>
              <a:rPr lang="en-US" sz="2000" dirty="0" smtClean="0">
                <a:latin typeface="Garamond" pitchFamily="18" charset="0"/>
              </a:rPr>
              <a:t>Despite the drawbacks, </a:t>
            </a:r>
            <a:r>
              <a:rPr lang="en-US" sz="2000" dirty="0" err="1" smtClean="0">
                <a:latin typeface="Garamond" pitchFamily="18" charset="0"/>
              </a:rPr>
              <a:t>PoW</a:t>
            </a:r>
            <a:r>
              <a:rPr lang="en-US" sz="2000" dirty="0" smtClean="0">
                <a:latin typeface="Garamond" pitchFamily="18" charset="0"/>
              </a:rPr>
              <a:t> </a:t>
            </a:r>
            <a:r>
              <a:rPr lang="en-US" sz="2000" dirty="0" err="1" smtClean="0">
                <a:latin typeface="Garamond" pitchFamily="18" charset="0"/>
              </a:rPr>
              <a:t>blockchains</a:t>
            </a:r>
            <a:r>
              <a:rPr lang="en-US" sz="2000" dirty="0" smtClean="0">
                <a:latin typeface="Garamond" pitchFamily="18" charset="0"/>
              </a:rPr>
              <a:t> are considered the most secure and reliable, and represent the standard for a fail-safe solution.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solidFill>
                  <a:srgbClr val="FF0000"/>
                </a:solidFill>
                <a:latin typeface="Garamond" pitchFamily="18" charset="0"/>
              </a:rPr>
              <a:t>PROOF OF STAKE (POS)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The Proof of Stake consensus algorithm is the most common alternative to Proof of Work.</a:t>
            </a:r>
          </a:p>
          <a:p>
            <a:pPr marL="0" indent="0" algn="just">
              <a:buNone/>
            </a:pPr>
            <a:r>
              <a:rPr lang="en-US" sz="2000" dirty="0" err="1" smtClean="0">
                <a:latin typeface="Garamond" pitchFamily="18" charset="0"/>
              </a:rPr>
              <a:t>PoS</a:t>
            </a:r>
            <a:r>
              <a:rPr lang="en-US" sz="2000" dirty="0" smtClean="0">
                <a:latin typeface="Garamond" pitchFamily="18" charset="0"/>
              </a:rPr>
              <a:t> systems are designed to address some of the emerging inefficiencies and problems common to </a:t>
            </a:r>
            <a:r>
              <a:rPr lang="en-US" sz="2000" dirty="0" err="1" smtClean="0">
                <a:latin typeface="Garamond" pitchFamily="18" charset="0"/>
              </a:rPr>
              <a:t>PoW</a:t>
            </a:r>
            <a:r>
              <a:rPr lang="en-US" sz="2000" dirty="0" smtClean="0">
                <a:latin typeface="Garamond" pitchFamily="18" charset="0"/>
              </a:rPr>
              <a:t>-based </a:t>
            </a:r>
            <a:r>
              <a:rPr lang="en-US" sz="2000" dirty="0" err="1" smtClean="0">
                <a:latin typeface="Garamond" pitchFamily="18" charset="0"/>
              </a:rPr>
              <a:t>blockchains</a:t>
            </a:r>
            <a:r>
              <a:rPr lang="en-US" sz="2000" dirty="0" smtClean="0">
                <a:latin typeface="Garamond" pitchFamily="18" charset="0"/>
              </a:rPr>
              <a:t>.</a:t>
            </a:r>
          </a:p>
          <a:p>
            <a:pPr marL="0" indent="0" algn="just">
              <a:buNone/>
            </a:pPr>
            <a:r>
              <a:rPr lang="en-US" sz="2000" dirty="0" smtClean="0">
                <a:latin typeface="Garamond" pitchFamily="18" charset="0"/>
              </a:rPr>
              <a:t>Specifically, it addresses the costs associated with </a:t>
            </a:r>
            <a:r>
              <a:rPr lang="en-US" sz="2000" dirty="0" err="1" smtClean="0">
                <a:latin typeface="Garamond" pitchFamily="18" charset="0"/>
              </a:rPr>
              <a:t>PoW</a:t>
            </a:r>
            <a:r>
              <a:rPr lang="en-US" sz="2000" dirty="0" smtClean="0">
                <a:latin typeface="Garamond" pitchFamily="18" charset="0"/>
              </a:rPr>
              <a:t> mining (energy and hardware consumption). Basically, a Proof of Stake blockchain is deterministically secured.</a:t>
            </a:r>
          </a:p>
          <a:p>
            <a:pPr marL="0" indent="0" algn="just">
              <a:buNone/>
            </a:pPr>
            <a:r>
              <a:rPr lang="en-US" sz="2000" dirty="0" smtClean="0">
                <a:latin typeface="Garamond" pitchFamily="18" charset="0"/>
              </a:rPr>
              <a:t>These systems do not have mining, and the validation of new blocks depends on the number of coins put 'in play.' The higher the stakes, the more likely you are to be selected as a block </a:t>
            </a:r>
            <a:r>
              <a:rPr lang="en-US" sz="2000" dirty="0" err="1" smtClean="0">
                <a:latin typeface="Garamond" pitchFamily="18" charset="0"/>
              </a:rPr>
              <a:t>validator</a:t>
            </a:r>
            <a:r>
              <a:rPr lang="en-US" sz="2000" dirty="0" smtClean="0">
                <a:latin typeface="Garamond" pitchFamily="18" charset="0"/>
              </a:rPr>
              <a:t> (also referred to as minter or forger).</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r>
              <a:rPr lang="en-US" sz="2000" dirty="0" smtClean="0">
                <a:latin typeface="Garamond" pitchFamily="18" charset="0"/>
              </a:rPr>
              <a:t>While </a:t>
            </a:r>
            <a:r>
              <a:rPr lang="en-US" sz="2000" dirty="0" err="1" smtClean="0">
                <a:latin typeface="Garamond" pitchFamily="18" charset="0"/>
              </a:rPr>
              <a:t>PoW</a:t>
            </a:r>
            <a:r>
              <a:rPr lang="en-US" sz="2000" dirty="0" smtClean="0">
                <a:latin typeface="Garamond" pitchFamily="18" charset="0"/>
              </a:rPr>
              <a:t> systems rely on external investments (energy and hardware consumption), a Proof of Stake blockchain is protected through an internal investment (in the </a:t>
            </a:r>
            <a:r>
              <a:rPr lang="en-US" sz="2000" dirty="0" err="1" smtClean="0">
                <a:latin typeface="Garamond" pitchFamily="18" charset="0"/>
              </a:rPr>
              <a:t>cryptocurrency</a:t>
            </a:r>
            <a:r>
              <a:rPr lang="en-US" sz="2000" dirty="0" smtClean="0">
                <a:latin typeface="Garamond" pitchFamily="18" charset="0"/>
              </a:rPr>
              <a:t> itself).</a:t>
            </a:r>
          </a:p>
          <a:p>
            <a:pPr marL="0" indent="0" algn="just">
              <a:buNone/>
            </a:pPr>
            <a:r>
              <a:rPr lang="en-US" sz="2000" dirty="0" smtClean="0">
                <a:latin typeface="Garamond" pitchFamily="18" charset="0"/>
              </a:rPr>
              <a:t>Additionally, </a:t>
            </a:r>
            <a:r>
              <a:rPr lang="en-US" sz="2000" dirty="0" err="1" smtClean="0">
                <a:latin typeface="Garamond" pitchFamily="18" charset="0"/>
              </a:rPr>
              <a:t>PoS</a:t>
            </a:r>
            <a:r>
              <a:rPr lang="en-US" sz="2000" dirty="0" smtClean="0">
                <a:latin typeface="Garamond" pitchFamily="18" charset="0"/>
              </a:rPr>
              <a:t> systems make blockchain attacks more expensive, as you need to own at least 51% of existing coins. Failed attacks would result in huge economic losses.</a:t>
            </a:r>
          </a:p>
          <a:p>
            <a:pPr marL="0" indent="0" algn="just">
              <a:buNone/>
            </a:pPr>
            <a:r>
              <a:rPr lang="en-US" sz="2000" dirty="0" smtClean="0">
                <a:latin typeface="Garamond" pitchFamily="18" charset="0"/>
              </a:rPr>
              <a:t>Despite the advantages and compelling arguments in favor of </a:t>
            </a:r>
            <a:r>
              <a:rPr lang="en-US" sz="2000" dirty="0" err="1" smtClean="0">
                <a:latin typeface="Garamond" pitchFamily="18" charset="0"/>
              </a:rPr>
              <a:t>PoS</a:t>
            </a:r>
            <a:r>
              <a:rPr lang="en-US" sz="2000" dirty="0" smtClean="0">
                <a:latin typeface="Garamond" pitchFamily="18" charset="0"/>
              </a:rPr>
              <a:t>, such systems are in an experimental phase and have yet to be tested on a larger scale.</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solidFill>
                  <a:srgbClr val="FF0000"/>
                </a:solidFill>
                <a:latin typeface="Garamond" pitchFamily="18" charset="0"/>
              </a:rPr>
              <a:t>DELEGATED PROOF OF STAKE (DPOS)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The Delegated Proof of Stake (</a:t>
            </a:r>
            <a:r>
              <a:rPr lang="en-US" sz="2000" dirty="0" err="1" smtClean="0">
                <a:latin typeface="Garamond" pitchFamily="18" charset="0"/>
              </a:rPr>
              <a:t>DPoS</a:t>
            </a:r>
            <a:r>
              <a:rPr lang="en-US" sz="2000" dirty="0" smtClean="0">
                <a:latin typeface="Garamond" pitchFamily="18" charset="0"/>
              </a:rPr>
              <a:t>) consensus algorithm was developed by Daniel Larimer in 2014.</a:t>
            </a:r>
          </a:p>
          <a:p>
            <a:pPr marL="0" indent="0" algn="just">
              <a:buNone/>
            </a:pPr>
            <a:r>
              <a:rPr lang="en-US" sz="2000" dirty="0" err="1" smtClean="0">
                <a:latin typeface="Garamond" pitchFamily="18" charset="0"/>
              </a:rPr>
              <a:t>Bitshares</a:t>
            </a:r>
            <a:r>
              <a:rPr lang="en-US" sz="2000" dirty="0" smtClean="0">
                <a:latin typeface="Garamond" pitchFamily="18" charset="0"/>
              </a:rPr>
              <a:t>, </a:t>
            </a:r>
            <a:r>
              <a:rPr lang="en-US" sz="2000" dirty="0" err="1" smtClean="0">
                <a:latin typeface="Garamond" pitchFamily="18" charset="0"/>
              </a:rPr>
              <a:t>Steem</a:t>
            </a:r>
            <a:r>
              <a:rPr lang="en-US" sz="2000" dirty="0" smtClean="0">
                <a:latin typeface="Garamond" pitchFamily="18" charset="0"/>
              </a:rPr>
              <a:t>, Ark, and </a:t>
            </a:r>
            <a:r>
              <a:rPr lang="en-US" sz="2000" dirty="0" err="1" smtClean="0">
                <a:latin typeface="Garamond" pitchFamily="18" charset="0"/>
              </a:rPr>
              <a:t>Lisk</a:t>
            </a:r>
            <a:r>
              <a:rPr lang="en-US" sz="2000" dirty="0" smtClean="0">
                <a:latin typeface="Garamond" pitchFamily="18" charset="0"/>
              </a:rPr>
              <a:t> are some of the </a:t>
            </a:r>
            <a:r>
              <a:rPr lang="en-US" sz="2000" dirty="0" err="1" smtClean="0">
                <a:latin typeface="Garamond" pitchFamily="18" charset="0"/>
              </a:rPr>
              <a:t>cryptocurrencies</a:t>
            </a:r>
            <a:r>
              <a:rPr lang="en-US" sz="2000" dirty="0" smtClean="0">
                <a:latin typeface="Garamond" pitchFamily="18" charset="0"/>
              </a:rPr>
              <a:t> that use the </a:t>
            </a:r>
            <a:r>
              <a:rPr lang="en-US" sz="2000" dirty="0" err="1" smtClean="0">
                <a:latin typeface="Garamond" pitchFamily="18" charset="0"/>
              </a:rPr>
              <a:t>DPoS</a:t>
            </a:r>
            <a:r>
              <a:rPr lang="en-US" sz="2000" dirty="0" smtClean="0">
                <a:latin typeface="Garamond" pitchFamily="18" charset="0"/>
              </a:rPr>
              <a:t> algorithm.</a:t>
            </a:r>
          </a:p>
          <a:p>
            <a:pPr marL="0" indent="0" algn="just">
              <a:buNone/>
            </a:pPr>
            <a:r>
              <a:rPr lang="en-US" sz="2000" dirty="0" smtClean="0">
                <a:latin typeface="Garamond" pitchFamily="18" charset="0"/>
              </a:rPr>
              <a:t>A </a:t>
            </a:r>
            <a:r>
              <a:rPr lang="en-US" sz="2000" dirty="0" err="1" smtClean="0">
                <a:latin typeface="Garamond" pitchFamily="18" charset="0"/>
              </a:rPr>
              <a:t>DPoS</a:t>
            </a:r>
            <a:r>
              <a:rPr lang="en-US" sz="2000" dirty="0" smtClean="0">
                <a:latin typeface="Garamond" pitchFamily="18" charset="0"/>
              </a:rPr>
              <a:t>-based blockchain uses a voting system, where stakeholders delegate their work to a third party (a delegate) who can vote to protect the network for the stakeholders.</a:t>
            </a:r>
          </a:p>
          <a:p>
            <a:pPr marL="0" indent="0" algn="just">
              <a:buNone/>
            </a:pPr>
            <a:r>
              <a:rPr lang="en-US" sz="2000" dirty="0" smtClean="0">
                <a:latin typeface="Garamond" pitchFamily="18" charset="0"/>
              </a:rPr>
              <a:t>Delegates are also called "witnesses" and are responsible for reaching consensus during the generation and validation of new blocks.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r>
              <a:rPr lang="en-US" sz="2000" dirty="0" smtClean="0">
                <a:latin typeface="Garamond" pitchFamily="18" charset="0"/>
              </a:rPr>
              <a:t>Voting power is proportional to the number of coins held by each user.</a:t>
            </a:r>
          </a:p>
          <a:p>
            <a:pPr marL="0" indent="0" algn="just">
              <a:buNone/>
            </a:pPr>
            <a:r>
              <a:rPr lang="en-US" sz="2000" dirty="0" smtClean="0">
                <a:latin typeface="Garamond" pitchFamily="18" charset="0"/>
              </a:rPr>
              <a:t>The voting system varies from project to project but, in general, each delegate presents an individual proposal which network users can evaluate before choosing who to vote for. Generally, the rewards obtained by the delegates are distributed proportionally to the respective voters.</a:t>
            </a:r>
          </a:p>
          <a:p>
            <a:pPr marL="0" indent="0" algn="just">
              <a:buNone/>
            </a:pPr>
            <a:r>
              <a:rPr lang="en-US" sz="2000" dirty="0" smtClean="0">
                <a:latin typeface="Garamond" pitchFamily="18" charset="0"/>
              </a:rPr>
              <a:t>Hence, the </a:t>
            </a:r>
            <a:r>
              <a:rPr lang="en-US" sz="2000" dirty="0" err="1" smtClean="0">
                <a:latin typeface="Garamond" pitchFamily="18" charset="0"/>
              </a:rPr>
              <a:t>DPoS</a:t>
            </a:r>
            <a:r>
              <a:rPr lang="en-US" sz="2000" dirty="0" smtClean="0">
                <a:latin typeface="Garamond" pitchFamily="18" charset="0"/>
              </a:rPr>
              <a:t> algorithm creates a voting system which depends on the reputation of the delegates.</a:t>
            </a:r>
          </a:p>
          <a:p>
            <a:pPr marL="0" indent="0" algn="just">
              <a:buNone/>
            </a:pPr>
            <a:r>
              <a:rPr lang="en-US" sz="2000" dirty="0" smtClean="0">
                <a:latin typeface="Garamond" pitchFamily="18" charset="0"/>
              </a:rPr>
              <a:t>If an elected node does something wrong or does not work efficiently, they are quickly kicked out and replaced by a new delegate.</a:t>
            </a:r>
          </a:p>
          <a:p>
            <a:pPr marL="0" indent="0" algn="just">
              <a:buNone/>
            </a:pPr>
            <a:r>
              <a:rPr lang="en-US" sz="2000" dirty="0" smtClean="0">
                <a:latin typeface="Garamond" pitchFamily="18" charset="0"/>
              </a:rPr>
              <a:t>As for performance, </a:t>
            </a:r>
            <a:r>
              <a:rPr lang="en-US" sz="2000" dirty="0" err="1" smtClean="0">
                <a:latin typeface="Garamond" pitchFamily="18" charset="0"/>
              </a:rPr>
              <a:t>DPoS</a:t>
            </a:r>
            <a:r>
              <a:rPr lang="en-US" sz="2000" dirty="0" smtClean="0">
                <a:latin typeface="Garamond" pitchFamily="18" charset="0"/>
              </a:rPr>
              <a:t> </a:t>
            </a:r>
            <a:r>
              <a:rPr lang="en-US" sz="2000" dirty="0" err="1" smtClean="0">
                <a:latin typeface="Garamond" pitchFamily="18" charset="0"/>
              </a:rPr>
              <a:t>blockchains</a:t>
            </a:r>
            <a:r>
              <a:rPr lang="en-US" sz="2000" dirty="0" smtClean="0">
                <a:latin typeface="Garamond" pitchFamily="18" charset="0"/>
              </a:rPr>
              <a:t> offer greater scalability, being able to process many more transactions per second (TPS), compared to </a:t>
            </a:r>
            <a:r>
              <a:rPr lang="en-US" sz="2000" dirty="0" err="1" smtClean="0">
                <a:latin typeface="Garamond" pitchFamily="18" charset="0"/>
              </a:rPr>
              <a:t>PoW</a:t>
            </a:r>
            <a:r>
              <a:rPr lang="en-US" sz="2000" dirty="0" smtClean="0">
                <a:latin typeface="Garamond" pitchFamily="18" charset="0"/>
              </a:rPr>
              <a:t> and </a:t>
            </a:r>
            <a:r>
              <a:rPr lang="en-US" sz="2000" dirty="0" err="1" smtClean="0">
                <a:latin typeface="Garamond" pitchFamily="18" charset="0"/>
              </a:rPr>
              <a:t>PoS.</a:t>
            </a: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solidFill>
                  <a:srgbClr val="FF0000"/>
                </a:solidFill>
                <a:latin typeface="Garamond" pitchFamily="18" charset="0"/>
              </a:rPr>
              <a:t>DPOS VS POS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Although </a:t>
            </a:r>
            <a:r>
              <a:rPr lang="en-US" sz="2000" dirty="0" err="1" smtClean="0">
                <a:latin typeface="Garamond" pitchFamily="18" charset="0"/>
              </a:rPr>
              <a:t>PoS</a:t>
            </a:r>
            <a:r>
              <a:rPr lang="en-US" sz="2000" dirty="0" smtClean="0">
                <a:latin typeface="Garamond" pitchFamily="18" charset="0"/>
              </a:rPr>
              <a:t> and </a:t>
            </a:r>
            <a:r>
              <a:rPr lang="en-US" sz="2000" dirty="0" err="1" smtClean="0">
                <a:latin typeface="Garamond" pitchFamily="18" charset="0"/>
              </a:rPr>
              <a:t>DPoS</a:t>
            </a:r>
            <a:r>
              <a:rPr lang="en-US" sz="2000" dirty="0" smtClean="0">
                <a:latin typeface="Garamond" pitchFamily="18" charset="0"/>
              </a:rPr>
              <a:t> have the element of stake in common, </a:t>
            </a:r>
            <a:r>
              <a:rPr lang="en-US" sz="2000" dirty="0" err="1" smtClean="0">
                <a:latin typeface="Garamond" pitchFamily="18" charset="0"/>
              </a:rPr>
              <a:t>DPoS</a:t>
            </a:r>
            <a:r>
              <a:rPr lang="en-US" sz="2000" dirty="0" smtClean="0">
                <a:latin typeface="Garamond" pitchFamily="18" charset="0"/>
              </a:rPr>
              <a:t> presents a new democratic voting system, through which block producers are elected.</a:t>
            </a:r>
          </a:p>
          <a:p>
            <a:pPr marL="0" indent="0" algn="just">
              <a:buNone/>
            </a:pPr>
            <a:r>
              <a:rPr lang="en-US" sz="2000" dirty="0" smtClean="0">
                <a:latin typeface="Garamond" pitchFamily="18" charset="0"/>
              </a:rPr>
              <a:t>Since a </a:t>
            </a:r>
            <a:r>
              <a:rPr lang="en-US" sz="2000" dirty="0" err="1" smtClean="0">
                <a:latin typeface="Garamond" pitchFamily="18" charset="0"/>
              </a:rPr>
              <a:t>DPoS</a:t>
            </a:r>
            <a:r>
              <a:rPr lang="en-US" sz="2000" dirty="0" smtClean="0">
                <a:latin typeface="Garamond" pitchFamily="18" charset="0"/>
              </a:rPr>
              <a:t> system is maintained by the voter, delegates are motivated to be honest and efficient, otherwise they will not be re-elected. Furthermore, </a:t>
            </a:r>
            <a:r>
              <a:rPr lang="en-US" sz="2000" dirty="0" err="1" smtClean="0">
                <a:latin typeface="Garamond" pitchFamily="18" charset="0"/>
              </a:rPr>
              <a:t>DPoS</a:t>
            </a:r>
            <a:r>
              <a:rPr lang="en-US" sz="2000" dirty="0" smtClean="0">
                <a:latin typeface="Garamond" pitchFamily="18" charset="0"/>
              </a:rPr>
              <a:t> </a:t>
            </a:r>
            <a:r>
              <a:rPr lang="en-US" sz="2000" dirty="0" err="1" smtClean="0">
                <a:latin typeface="Garamond" pitchFamily="18" charset="0"/>
              </a:rPr>
              <a:t>blockchains</a:t>
            </a:r>
            <a:r>
              <a:rPr lang="en-US" sz="2000" dirty="0" smtClean="0">
                <a:latin typeface="Garamond" pitchFamily="18" charset="0"/>
              </a:rPr>
              <a:t> tend to operate faster, in terms of transactions per second, than the </a:t>
            </a:r>
            <a:r>
              <a:rPr lang="en-US" sz="2000" dirty="0" err="1" smtClean="0">
                <a:latin typeface="Garamond" pitchFamily="18" charset="0"/>
              </a:rPr>
              <a:t>PoS</a:t>
            </a:r>
            <a:r>
              <a:rPr lang="en-US" sz="2000" dirty="0" smtClean="0">
                <a:latin typeface="Garamond" pitchFamily="18" charset="0"/>
              </a:rPr>
              <a:t> </a:t>
            </a:r>
            <a:r>
              <a:rPr lang="en-US" sz="2000" dirty="0" err="1" smtClean="0">
                <a:latin typeface="Garamond" pitchFamily="18" charset="0"/>
              </a:rPr>
              <a:t>blockchains</a:t>
            </a:r>
            <a:r>
              <a:rPr lang="en-US" sz="2000" dirty="0" smtClean="0">
                <a:latin typeface="Garamond" pitchFamily="18" charset="0"/>
              </a:rPr>
              <a: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lnSpcReduction="10000"/>
          </a:bodyPr>
          <a:lstStyle/>
          <a:p>
            <a:pPr marL="0" indent="0" algn="just">
              <a:buNone/>
            </a:pPr>
            <a:endParaRPr lang="en-US" sz="2000" dirty="0" smtClean="0">
              <a:latin typeface="Garamond" pitchFamily="18" charset="0"/>
            </a:endParaRPr>
          </a:p>
          <a:p>
            <a:pPr marL="0" indent="0" algn="ctr">
              <a:buNone/>
            </a:pPr>
            <a:r>
              <a:rPr lang="en-US" sz="2000" b="1" dirty="0" err="1" smtClean="0">
                <a:solidFill>
                  <a:srgbClr val="FF0000"/>
                </a:solidFill>
                <a:latin typeface="Garamond" pitchFamily="18" charset="0"/>
              </a:rPr>
              <a:t>DPoS</a:t>
            </a:r>
            <a:r>
              <a:rPr lang="en-US" sz="2000" b="1" dirty="0" smtClean="0">
                <a:solidFill>
                  <a:srgbClr val="FF0000"/>
                </a:solidFill>
                <a:latin typeface="Garamond" pitchFamily="18" charset="0"/>
              </a:rPr>
              <a:t> </a:t>
            </a:r>
            <a:r>
              <a:rPr lang="en-US" sz="2000" b="1" dirty="0" err="1" smtClean="0">
                <a:solidFill>
                  <a:srgbClr val="FF0000"/>
                </a:solidFill>
                <a:latin typeface="Garamond" pitchFamily="18" charset="0"/>
              </a:rPr>
              <a:t>vs</a:t>
            </a:r>
            <a:r>
              <a:rPr lang="en-US" sz="2000" b="1" dirty="0" smtClean="0">
                <a:solidFill>
                  <a:srgbClr val="FF0000"/>
                </a:solidFill>
                <a:latin typeface="Garamond" pitchFamily="18" charset="0"/>
              </a:rPr>
              <a:t> </a:t>
            </a:r>
            <a:r>
              <a:rPr lang="en-US" sz="2000" b="1" dirty="0" err="1" smtClean="0">
                <a:solidFill>
                  <a:srgbClr val="FF0000"/>
                </a:solidFill>
                <a:latin typeface="Garamond" pitchFamily="18" charset="0"/>
              </a:rPr>
              <a:t>PoW</a:t>
            </a:r>
            <a:endParaRPr lang="en-US" sz="2000" b="1" dirty="0" smtClean="0">
              <a:solidFill>
                <a:srgbClr val="FF0000"/>
              </a:solidFill>
              <a:latin typeface="Garamond" pitchFamily="18" charset="0"/>
            </a:endParaRP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While </a:t>
            </a:r>
            <a:r>
              <a:rPr lang="en-US" sz="2000" dirty="0" err="1" smtClean="0">
                <a:latin typeface="Garamond" pitchFamily="18" charset="0"/>
              </a:rPr>
              <a:t>PoS</a:t>
            </a:r>
            <a:r>
              <a:rPr lang="en-US" sz="2000" dirty="0" smtClean="0">
                <a:latin typeface="Garamond" pitchFamily="18" charset="0"/>
              </a:rPr>
              <a:t> tries to solve the </a:t>
            </a:r>
            <a:r>
              <a:rPr lang="en-US" sz="2000" dirty="0" err="1" smtClean="0">
                <a:latin typeface="Garamond" pitchFamily="18" charset="0"/>
              </a:rPr>
              <a:t>PoW</a:t>
            </a:r>
            <a:r>
              <a:rPr lang="en-US" sz="2000" dirty="0" smtClean="0">
                <a:latin typeface="Garamond" pitchFamily="18" charset="0"/>
              </a:rPr>
              <a:t> flaws, </a:t>
            </a:r>
            <a:r>
              <a:rPr lang="en-US" sz="2000" dirty="0" err="1" smtClean="0">
                <a:latin typeface="Garamond" pitchFamily="18" charset="0"/>
              </a:rPr>
              <a:t>DPoS</a:t>
            </a:r>
            <a:r>
              <a:rPr lang="en-US" sz="2000" dirty="0" smtClean="0">
                <a:latin typeface="Garamond" pitchFamily="18" charset="0"/>
              </a:rPr>
              <a:t> aims to optimize the block manufacturing process. For this reason, </a:t>
            </a:r>
            <a:r>
              <a:rPr lang="en-US" sz="2000" dirty="0" err="1" smtClean="0">
                <a:latin typeface="Garamond" pitchFamily="18" charset="0"/>
              </a:rPr>
              <a:t>DPoS</a:t>
            </a:r>
            <a:r>
              <a:rPr lang="en-US" sz="2000" dirty="0" smtClean="0">
                <a:latin typeface="Garamond" pitchFamily="18" charset="0"/>
              </a:rPr>
              <a:t> systems are able to quickly process a huge number of transactions, but to date, </a:t>
            </a:r>
            <a:r>
              <a:rPr lang="en-US" sz="2000" dirty="0" err="1" smtClean="0">
                <a:latin typeface="Garamond" pitchFamily="18" charset="0"/>
              </a:rPr>
              <a:t>DPoS</a:t>
            </a:r>
            <a:r>
              <a:rPr lang="en-US" sz="2000" dirty="0" smtClean="0">
                <a:latin typeface="Garamond" pitchFamily="18" charset="0"/>
              </a:rPr>
              <a:t> is not  used on a par with </a:t>
            </a:r>
            <a:r>
              <a:rPr lang="en-US" sz="2000" dirty="0" err="1" smtClean="0">
                <a:latin typeface="Garamond" pitchFamily="18" charset="0"/>
              </a:rPr>
              <a:t>PoW</a:t>
            </a:r>
            <a:r>
              <a:rPr lang="en-US" sz="2000" dirty="0" smtClean="0">
                <a:latin typeface="Garamond" pitchFamily="18" charset="0"/>
              </a:rPr>
              <a:t> or </a:t>
            </a:r>
            <a:r>
              <a:rPr lang="en-US" sz="2000" dirty="0" err="1" smtClean="0">
                <a:latin typeface="Garamond" pitchFamily="18" charset="0"/>
              </a:rPr>
              <a:t>PoS.</a:t>
            </a:r>
            <a:endParaRPr lang="en-US" sz="2000" dirty="0" smtClean="0">
              <a:latin typeface="Garamond" pitchFamily="18" charset="0"/>
            </a:endParaRPr>
          </a:p>
          <a:p>
            <a:pPr marL="0" indent="0" algn="just">
              <a:buNone/>
            </a:pPr>
            <a:r>
              <a:rPr lang="en-US" sz="2000" dirty="0" err="1" smtClean="0">
                <a:latin typeface="Garamond" pitchFamily="18" charset="0"/>
              </a:rPr>
              <a:t>PoW</a:t>
            </a:r>
            <a:r>
              <a:rPr lang="en-US" sz="2000" dirty="0" smtClean="0">
                <a:latin typeface="Garamond" pitchFamily="18" charset="0"/>
              </a:rPr>
              <a:t> is still considered the safest consensus algorithm and, as such, is the most popular for transmitting money.</a:t>
            </a:r>
          </a:p>
          <a:p>
            <a:pPr marL="0" indent="0" algn="just">
              <a:buNone/>
            </a:pPr>
            <a:r>
              <a:rPr lang="en-US" sz="2000" dirty="0" err="1" smtClean="0">
                <a:latin typeface="Garamond" pitchFamily="18" charset="0"/>
              </a:rPr>
              <a:t>PoS</a:t>
            </a:r>
            <a:r>
              <a:rPr lang="en-US" sz="2000" dirty="0" smtClean="0">
                <a:latin typeface="Garamond" pitchFamily="18" charset="0"/>
              </a:rPr>
              <a:t> is faster than </a:t>
            </a:r>
            <a:r>
              <a:rPr lang="en-US" sz="2000" dirty="0" err="1" smtClean="0">
                <a:latin typeface="Garamond" pitchFamily="18" charset="0"/>
              </a:rPr>
              <a:t>PoW</a:t>
            </a:r>
            <a:r>
              <a:rPr lang="en-US" sz="2000" dirty="0" smtClean="0">
                <a:latin typeface="Garamond" pitchFamily="18" charset="0"/>
              </a:rPr>
              <a:t> and has more potential use cases.</a:t>
            </a:r>
          </a:p>
          <a:p>
            <a:pPr marL="0" indent="0" algn="just">
              <a:buNone/>
            </a:pPr>
            <a:r>
              <a:rPr lang="en-US" sz="2000" dirty="0" err="1" smtClean="0">
                <a:latin typeface="Garamond" pitchFamily="18" charset="0"/>
              </a:rPr>
              <a:t>DPoS</a:t>
            </a:r>
            <a:r>
              <a:rPr lang="en-US" sz="2000" dirty="0" smtClean="0">
                <a:latin typeface="Garamond" pitchFamily="18" charset="0"/>
              </a:rPr>
              <a:t> limits the use of staking to the election of block producers. Current block production is predetermined, unlike competing </a:t>
            </a:r>
            <a:r>
              <a:rPr lang="en-US" sz="2000" dirty="0" err="1" smtClean="0">
                <a:latin typeface="Garamond" pitchFamily="18" charset="0"/>
              </a:rPr>
              <a:t>PoW</a:t>
            </a:r>
            <a:r>
              <a:rPr lang="en-US" sz="2000" dirty="0" smtClean="0">
                <a:latin typeface="Garamond" pitchFamily="18" charset="0"/>
              </a:rPr>
              <a:t>- based systems. Each delegate has a turn in the production of blocks, and there are those who argue that </a:t>
            </a:r>
            <a:r>
              <a:rPr lang="en-US" sz="2000" dirty="0" err="1" smtClean="0">
                <a:latin typeface="Garamond" pitchFamily="18" charset="0"/>
              </a:rPr>
              <a:t>DPoS</a:t>
            </a:r>
            <a:r>
              <a:rPr lang="en-US" sz="2000" dirty="0" smtClean="0">
                <a:latin typeface="Garamond" pitchFamily="18" charset="0"/>
              </a:rPr>
              <a:t> should be considered a Proof of Authority system, differing greatly in method from both </a:t>
            </a:r>
            <a:r>
              <a:rPr lang="en-US" sz="2000" dirty="0" err="1" smtClean="0">
                <a:latin typeface="Garamond" pitchFamily="18" charset="0"/>
              </a:rPr>
              <a:t>PoW</a:t>
            </a:r>
            <a:r>
              <a:rPr lang="en-US" sz="2000" dirty="0" smtClean="0">
                <a:latin typeface="Garamond" pitchFamily="18" charset="0"/>
              </a:rPr>
              <a:t> and </a:t>
            </a:r>
            <a:r>
              <a:rPr lang="en-US" sz="2000" dirty="0" err="1" smtClean="0">
                <a:latin typeface="Garamond" pitchFamily="18" charset="0"/>
              </a:rPr>
              <a:t>PoS.</a:t>
            </a:r>
            <a:r>
              <a:rPr lang="en-US" sz="2000" dirty="0" smtClean="0">
                <a:latin typeface="Garamond" pitchFamily="18" charset="0"/>
              </a:rPr>
              <a:t>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integration of the vote, for the interested parties, acts as a tool to choose and motivate the most honest and efficient delegates (or witnesses).</a:t>
            </a:r>
          </a:p>
          <a:p>
            <a:pPr marL="0" indent="0" algn="just">
              <a:buNone/>
            </a:pPr>
            <a:r>
              <a:rPr lang="en-US" sz="2000" dirty="0" smtClean="0">
                <a:latin typeface="Garamond" pitchFamily="18" charset="0"/>
              </a:rPr>
              <a:t>As mentioned, actual block production is quite different from </a:t>
            </a:r>
            <a:r>
              <a:rPr lang="en-US" sz="2000" dirty="0" err="1" smtClean="0">
                <a:latin typeface="Garamond" pitchFamily="18" charset="0"/>
              </a:rPr>
              <a:t>PoS</a:t>
            </a:r>
            <a:r>
              <a:rPr lang="en-US" sz="2000" dirty="0" smtClean="0">
                <a:latin typeface="Garamond" pitchFamily="18" charset="0"/>
              </a:rPr>
              <a:t> systems and, in most cases, has better performance in terms of transactions per second.</a:t>
            </a:r>
          </a:p>
          <a:p>
            <a:pPr marL="0" indent="0" algn="just">
              <a:buNone/>
            </a:pPr>
            <a:r>
              <a:rPr lang="en-US" sz="2000" dirty="0" smtClean="0">
                <a:latin typeface="Garamond" pitchFamily="18" charset="0"/>
              </a:rPr>
              <a:t>It is worth noting that many current algorithm designs are  still imperfect. They are, however, substantially improving and the model of a  decentralized consensus algorithm, in the abstract, is used in most existing projects.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For example, while there have been several blockchain hacking incidents and </a:t>
            </a:r>
            <a:r>
              <a:rPr lang="en-US" sz="2000" dirty="0" err="1" smtClean="0">
                <a:latin typeface="Garamond" pitchFamily="18" charset="0"/>
              </a:rPr>
              <a:t>Bitcoin</a:t>
            </a:r>
            <a:r>
              <a:rPr lang="en-US" sz="2000" dirty="0" smtClean="0">
                <a:latin typeface="Garamond" pitchFamily="18" charset="0"/>
              </a:rPr>
              <a:t> mining has been criticized for wasting electricity, there have been several proposals to address these issues by improving protocol design, favoring decentralization, and shifting from </a:t>
            </a:r>
            <a:r>
              <a:rPr lang="en-US" sz="2000" dirty="0" err="1" smtClean="0">
                <a:latin typeface="Garamond" pitchFamily="18" charset="0"/>
              </a:rPr>
              <a:t>PoW</a:t>
            </a:r>
            <a:r>
              <a:rPr lang="en-US" sz="2000" dirty="0" smtClean="0">
                <a:latin typeface="Garamond" pitchFamily="18" charset="0"/>
              </a:rPr>
              <a:t> to </a:t>
            </a:r>
            <a:r>
              <a:rPr lang="en-US" sz="2000" dirty="0" err="1" smtClean="0">
                <a:latin typeface="Garamond" pitchFamily="18" charset="0"/>
              </a:rPr>
              <a:t>PoS.</a:t>
            </a:r>
            <a:endParaRPr lang="en-US" sz="2000" dirty="0" smtClean="0">
              <a:latin typeface="Garamond" pitchFamily="18" charset="0"/>
            </a:endParaRPr>
          </a:p>
          <a:p>
            <a:pPr marL="0" indent="0" algn="just">
              <a:buNone/>
            </a:pPr>
            <a:r>
              <a:rPr lang="en-US" sz="2000" dirty="0" smtClean="0">
                <a:latin typeface="Garamond" pitchFamily="18" charset="0"/>
              </a:rPr>
              <a:t>Another problem that experts and researchers are actively addressing  is how to modify blockchain protocols when lack of consensus arises. This, in fact, would lead to a temporary "confusion" for users of the blockchain about the next steps to take, blocking the transaction over the entire network.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r>
              <a:rPr lang="it-IT" sz="2400" b="1" dirty="0" smtClean="0">
                <a:solidFill>
                  <a:srgbClr val="FF0000"/>
                </a:solidFill>
                <a:latin typeface="Garamond" pitchFamily="18" charset="0"/>
              </a:rPr>
              <a:t>SMART CONTRACTS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recent development of blockchain technology has revived the idea and facilitated the creation of smart contracts, originally outlined by </a:t>
            </a:r>
            <a:r>
              <a:rPr lang="en-US" sz="2000" dirty="0" err="1" smtClean="0">
                <a:latin typeface="Garamond" pitchFamily="18" charset="0"/>
              </a:rPr>
              <a:t>Szabo</a:t>
            </a:r>
            <a:r>
              <a:rPr lang="en-US" sz="2000" dirty="0" smtClean="0">
                <a:latin typeface="Garamond" pitchFamily="18" charset="0"/>
              </a:rPr>
              <a:t> in 1997 (and then by </a:t>
            </a:r>
            <a:r>
              <a:rPr lang="en-US" sz="2000" dirty="0" err="1" smtClean="0">
                <a:latin typeface="Garamond" pitchFamily="18" charset="0"/>
              </a:rPr>
              <a:t>Tapscott</a:t>
            </a:r>
            <a:r>
              <a:rPr lang="en-US" sz="2000" dirty="0" smtClean="0">
                <a:latin typeface="Garamond" pitchFamily="18" charset="0"/>
              </a:rPr>
              <a:t> and </a:t>
            </a:r>
            <a:r>
              <a:rPr lang="en-US" sz="2000" dirty="0" err="1" smtClean="0">
                <a:latin typeface="Garamond" pitchFamily="18" charset="0"/>
              </a:rPr>
              <a:t>Tapscott</a:t>
            </a:r>
            <a:r>
              <a:rPr lang="en-US" sz="2000" dirty="0" smtClean="0">
                <a:latin typeface="Garamond" pitchFamily="18" charset="0"/>
              </a:rPr>
              <a:t> in 2016).</a:t>
            </a:r>
          </a:p>
          <a:p>
            <a:pPr marL="0" indent="0" algn="just">
              <a:buNone/>
            </a:pPr>
            <a:r>
              <a:rPr lang="en-US" sz="2000" dirty="0" smtClean="0">
                <a:latin typeface="Garamond" pitchFamily="18" charset="0"/>
              </a:rPr>
              <a:t>While a universally accepted definition for a smart contract has yet to be achieved, their core functionality is clear: they are contracts based on contingencies reached through decentralized consensus with low-cost, automated execution.</a:t>
            </a:r>
          </a:p>
          <a:p>
            <a:pPr marL="0" indent="0" algn="just">
              <a:buNone/>
            </a:pPr>
            <a:r>
              <a:rPr lang="en-US" sz="2000" dirty="0" smtClean="0">
                <a:latin typeface="Garamond" pitchFamily="18" charset="0"/>
              </a:rPr>
              <a:t>Smart contracts are digital contracts (actually computer programs), which allow terms that are subject to decentralized consensus. They are tamper- proof and typically self-apply through automated execution.</a:t>
            </a: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definition is consistent and is shared with definitions commonly approved by lawyers and experts in the field (</a:t>
            </a:r>
            <a:r>
              <a:rPr lang="en-US" sz="2000" dirty="0" err="1" smtClean="0">
                <a:latin typeface="Garamond" pitchFamily="18" charset="0"/>
              </a:rPr>
              <a:t>Lauslahti</a:t>
            </a:r>
            <a:r>
              <a:rPr lang="en-US" sz="2000" dirty="0" smtClean="0">
                <a:latin typeface="Garamond" pitchFamily="18" charset="0"/>
              </a:rPr>
              <a:t>, </a:t>
            </a:r>
            <a:r>
              <a:rPr lang="en-US" sz="2000" dirty="0" err="1" smtClean="0">
                <a:latin typeface="Garamond" pitchFamily="18" charset="0"/>
              </a:rPr>
              <a:t>Mattila</a:t>
            </a:r>
            <a:r>
              <a:rPr lang="en-US" sz="2000" dirty="0" smtClean="0">
                <a:latin typeface="Garamond" pitchFamily="18" charset="0"/>
              </a:rPr>
              <a:t>, </a:t>
            </a:r>
            <a:r>
              <a:rPr lang="en-US" sz="2000" dirty="0" err="1" smtClean="0">
                <a:latin typeface="Garamond" pitchFamily="18" charset="0"/>
              </a:rPr>
              <a:t>Sepp</a:t>
            </a:r>
            <a:r>
              <a:rPr lang="en-US" sz="2000" dirty="0" smtClean="0">
                <a:latin typeface="Garamond" pitchFamily="18" charset="0"/>
              </a:rPr>
              <a:t> 2016;   </a:t>
            </a:r>
            <a:r>
              <a:rPr lang="en-US" sz="2000" dirty="0" err="1" smtClean="0">
                <a:latin typeface="Garamond" pitchFamily="18" charset="0"/>
              </a:rPr>
              <a:t>Szabo</a:t>
            </a:r>
            <a:r>
              <a:rPr lang="en-US" sz="2000" dirty="0" smtClean="0">
                <a:latin typeface="Garamond" pitchFamily="18" charset="0"/>
              </a:rPr>
              <a:t> 1997, 1998).</a:t>
            </a:r>
          </a:p>
          <a:p>
            <a:pPr marL="0" indent="0" algn="just">
              <a:buNone/>
            </a:pPr>
            <a:r>
              <a:rPr lang="en-US" sz="2000" dirty="0" smtClean="0">
                <a:latin typeface="Garamond" pitchFamily="18" charset="0"/>
              </a:rPr>
              <a:t>It is important to note that smart contracts are not simply digital contracts (many of which rely on trusted authorities to reach consensus and execution), nor do they involve artificial intelligence (on the contrary, they are quite robotic). They are computer programs applied to  the blockchain.</a:t>
            </a: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In the traditional version of bargaining, the party that provides centralized consensus often enjoys enormous market power, and it is this party that has the data monopoly.</a:t>
            </a:r>
          </a:p>
          <a:p>
            <a:pPr marL="0" indent="0" algn="just">
              <a:buNone/>
            </a:pPr>
            <a:r>
              <a:rPr lang="en-US" sz="2000" dirty="0" smtClean="0">
                <a:latin typeface="Garamond" pitchFamily="18" charset="0"/>
              </a:rPr>
              <a:t>Traditional third-party resolutions through courts or arbitrators,  involve high levels of human intervention, which are significantly less algorithmic. This can lead to potentially greater uncertainties and costs in terms of time and expense.</a:t>
            </a:r>
          </a:p>
          <a:p>
            <a:pPr marL="0" indent="0" algn="just">
              <a:buNone/>
            </a:pPr>
            <a:r>
              <a:rPr lang="en-US" sz="2000" dirty="0" smtClean="0">
                <a:latin typeface="Garamond" pitchFamily="18" charset="0"/>
              </a:rPr>
              <a:t>Smart contracts, on the other hand, can increase contractibility and facilitate the exchange of money, property, shares, services, or anything of value, in an automated, and potentially conflict-free, algorithmic way.</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As for the theory of contracts, decentralized consensus, achieved by blockchain technology, has the potential to significantly reduce the scope of non-contractual contingencies (i.e., conflict), at the basis of contractual discipline and its tensions.</a:t>
            </a:r>
          </a:p>
          <a:p>
            <a:pPr marL="0" indent="0" algn="just">
              <a:buNone/>
            </a:pPr>
            <a:r>
              <a:rPr lang="en-US" sz="2000" dirty="0" smtClean="0">
                <a:latin typeface="Garamond" pitchFamily="18" charset="0"/>
              </a:rPr>
              <a:t>In particular, smart contracts can increase contractibility and enforceability in certain contingencies, whether it is the blocking requirement for the withdrawal of funds or the automated payment upon receipt of goods, by the importer.</a:t>
            </a:r>
          </a:p>
          <a:p>
            <a:pPr marL="0" indent="0" algn="just">
              <a:buNone/>
            </a:pPr>
            <a:r>
              <a:rPr lang="en-US" sz="2000" dirty="0" smtClean="0">
                <a:latin typeface="Garamond" pitchFamily="18" charset="0"/>
              </a:rPr>
              <a:t>Contract default crisis is prevented because everything is pre-established and previously shared in the smart contract code by the parties. </a:t>
            </a:r>
          </a:p>
          <a:p>
            <a:pPr marL="0" indent="0" algn="just">
              <a:buNone/>
            </a:pPr>
            <a:r>
              <a:rPr lang="en-US" sz="2000" dirty="0" smtClean="0">
                <a:latin typeface="Garamond" pitchFamily="18" charset="0"/>
              </a:rPr>
              <a:t>Upon the fulfillment of the conditions of realization, the contract will be automatically executed.</a:t>
            </a:r>
          </a:p>
          <a:p>
            <a:pPr marL="0" indent="0" algn="ctr">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DISTRIBUTION OF INFORMATION</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r>
              <a:rPr lang="en-US" sz="2000" dirty="0" smtClean="0">
                <a:latin typeface="Garamond" pitchFamily="18" charset="0"/>
              </a:rPr>
              <a:t>It has been said that achieving decentralized consensus requires the distribution of information among the participants in the system.</a:t>
            </a:r>
          </a:p>
          <a:p>
            <a:pPr marL="0" indent="0" algn="just">
              <a:buNone/>
            </a:pPr>
            <a:r>
              <a:rPr lang="en-US" sz="2000" dirty="0" smtClean="0">
                <a:latin typeface="Garamond" pitchFamily="18" charset="0"/>
              </a:rPr>
              <a:t>The economic compromises, present in the distribution of information, necessary to generate a decentralized consensus, are extremely relevant from a practical or regulatory point of view.</a:t>
            </a:r>
          </a:p>
          <a:p>
            <a:pPr marL="0" indent="0" algn="just">
              <a:buNone/>
            </a:pPr>
            <a:r>
              <a:rPr lang="en-US" sz="2000" dirty="0" smtClean="0">
                <a:latin typeface="Garamond" pitchFamily="18" charset="0"/>
              </a:rPr>
              <a:t>With </a:t>
            </a:r>
            <a:r>
              <a:rPr lang="en-US" sz="2000" dirty="0" err="1" smtClean="0">
                <a:latin typeface="Garamond" pitchFamily="18" charset="0"/>
              </a:rPr>
              <a:t>Bitcoin</a:t>
            </a:r>
            <a:r>
              <a:rPr lang="en-US" sz="2000" dirty="0" smtClean="0">
                <a:latin typeface="Garamond" pitchFamily="18" charset="0"/>
              </a:rPr>
              <a:t>, for example, consensus is reached and maintained by distributing all transaction information (with the owners' addresses encrypted with a public key) to the entire blockchain population,  then all transaction details (except identities) regarding consensus are public.</a:t>
            </a:r>
          </a:p>
          <a:p>
            <a:pPr marL="0" indent="0" algn="just">
              <a:buNone/>
            </a:pPr>
            <a:r>
              <a:rPr lang="en-US" sz="2000" dirty="0" smtClean="0">
                <a:latin typeface="Garamond" pitchFamily="18" charset="0"/>
              </a:rPr>
              <a:t>Corporate privacy is an obvious problem that arises when pushing for real-world blockchain  applications.</a:t>
            </a:r>
          </a:p>
          <a:p>
            <a:pPr marL="0" indent="0" algn="just">
              <a:buNone/>
            </a:pPr>
            <a:r>
              <a:rPr lang="en-US" sz="2000" dirty="0" smtClean="0">
                <a:latin typeface="Garamond" pitchFamily="18" charset="0"/>
              </a:rPr>
              <a:t>For example, financial institutions are generally very careful about disclosing transaction details to unrelated parties.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Investors may want to hide their identities, to prevent illegal front- running practices, as well as increased information distribution, which can affect organizational and industrial competition.</a:t>
            </a:r>
          </a:p>
          <a:p>
            <a:pPr marL="0" indent="0" algn="just">
              <a:buNone/>
            </a:pPr>
            <a:r>
              <a:rPr lang="en-US" sz="2000" dirty="0" smtClean="0">
                <a:latin typeface="Garamond" pitchFamily="18" charset="0"/>
              </a:rPr>
              <a:t>Faced with this fundamental exchange, there are many proposals for better encryption, which would effectively mask sensitive information in the  generation of consensus.</a:t>
            </a:r>
          </a:p>
          <a:p>
            <a:pPr marL="0" indent="0" algn="just">
              <a:buNone/>
            </a:pPr>
            <a:r>
              <a:rPr lang="en-US" sz="2000" dirty="0" smtClean="0">
                <a:latin typeface="Garamond" pitchFamily="18" charset="0"/>
              </a:rPr>
              <a:t>The idea is to reach a decentralized consensus, only on a subset of  the most important nodes dispersed in the network or to request verification from a smaller number of nodes (record keepers) in the blockchain network.</a:t>
            </a:r>
          </a:p>
          <a:p>
            <a:pPr marL="0" indent="0" algn="just">
              <a:buNone/>
            </a:pPr>
            <a:r>
              <a:rPr lang="en-US" sz="2000" dirty="0" smtClean="0">
                <a:latin typeface="Garamond" pitchFamily="18" charset="0"/>
              </a:rPr>
              <a:t>One wonders, then, “How important is the distribution of information in relation to concerns for  privacy? Will it affect the efficacy of blockchain consensus?"  The existing theory says little about this.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A NEW MODEL OF DECENTRALIZED CONSENSUS AND INFORMATION</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One can try to build a simple economic model of the consensus generation mechanism, highlighting the role of record holders and the inevitable nature of information distribution.</a:t>
            </a:r>
          </a:p>
          <a:p>
            <a:pPr marL="0" indent="0" algn="just">
              <a:buNone/>
            </a:pPr>
            <a:r>
              <a:rPr lang="en-US" sz="2000" dirty="0" smtClean="0">
                <a:latin typeface="Garamond" pitchFamily="18" charset="0"/>
              </a:rPr>
              <a:t>This model configuration considers the application of the blockchain to commercial finance, which has been proposed and widely explored by  professionals in the sector.</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 COMMERCIAL FINANCE</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following scenario should be considered: There are more potentially international exporters (sellers), of certain perishable goods that require the special shipment (e.g., wine, which requires a constant temperature for quality maintenance).</a:t>
            </a:r>
          </a:p>
          <a:p>
            <a:pPr marL="0" indent="0" algn="just">
              <a:buNone/>
            </a:pPr>
            <a:r>
              <a:rPr lang="en-US" sz="2000" dirty="0" smtClean="0">
                <a:latin typeface="Garamond" pitchFamily="18" charset="0"/>
              </a:rPr>
              <a:t>The successful sale of these goods requires the intervention of numerous parties: logistics service providers, international ports and customs officers (for the flow of goods), notaries, and financial intermediaries (for the flow of payments).</a:t>
            </a:r>
          </a:p>
          <a:p>
            <a:pPr marL="0" indent="0" algn="just">
              <a:buNone/>
            </a:pPr>
            <a:r>
              <a:rPr lang="en-US" sz="2000" dirty="0" smtClean="0">
                <a:latin typeface="Garamond" pitchFamily="18" charset="0"/>
              </a:rPr>
              <a:t>Adopting the blockchain is crucial in generating decentralized consensus, starting from goods that have been successfully delivered, so that all the relevant information can be aggregated and then constitute a truth, accepted by the community and recorded in the blockchain.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is the job of the verifiers on the blockchain.</a:t>
            </a:r>
          </a:p>
          <a:p>
            <a:pPr marL="0" indent="0" algn="just">
              <a:buNone/>
            </a:pPr>
            <a:r>
              <a:rPr lang="en-US" sz="2000" dirty="0" smtClean="0">
                <a:latin typeface="Garamond" pitchFamily="18" charset="0"/>
              </a:rPr>
              <a:t>In the example of commercial finance, it is necessary to contact the seller-buyer pairs, logistics service providers and ports of call, so everyone will have the same knowledge about the information and its distribution. Once this is done, the successful transaction will be verifiable. </a:t>
            </a:r>
          </a:p>
          <a:p>
            <a:pPr marL="0" indent="0" algn="just">
              <a:buNone/>
            </a:pPr>
            <a:r>
              <a:rPr lang="en-US" sz="2000" dirty="0" smtClean="0">
                <a:latin typeface="Garamond" pitchFamily="18" charset="0"/>
              </a:rPr>
              <a:t>To illustrate how decentralization makes consensus more effective, at the expense of greater distribution of information, we can use a trade-finance example, applicable to public and private (authorized) </a:t>
            </a:r>
            <a:r>
              <a:rPr lang="en-US" sz="2000" dirty="0" err="1" smtClean="0">
                <a:latin typeface="Garamond" pitchFamily="18" charset="0"/>
              </a:rPr>
              <a:t>blockchains</a:t>
            </a:r>
            <a:r>
              <a:rPr lang="en-US" sz="2000" dirty="0" smtClean="0">
                <a:latin typeface="Garamond" pitchFamily="18" charset="0"/>
              </a:rPr>
              <a:t>.</a:t>
            </a:r>
          </a:p>
          <a:p>
            <a:pPr marL="0" indent="0" algn="just">
              <a:buNone/>
            </a:pPr>
            <a:r>
              <a:rPr lang="en-US" sz="2000" dirty="0" smtClean="0">
                <a:latin typeface="Garamond" pitchFamily="18" charset="0"/>
              </a:rPr>
              <a:t>Smart contracts also could refer to a contingent result,  for instance,  the "delivery" of "services or goods," and in the context of the model, the random variable will take on value only if the delivery is successful. Accordingly, the decentralized consensus will be measured on the blockchain.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particular, participants on the blockchain receive various signals with the help of </a:t>
            </a:r>
            <a:r>
              <a:rPr lang="en-US" sz="2000" dirty="0" err="1" smtClean="0">
                <a:latin typeface="Garamond" pitchFamily="18" charset="0"/>
              </a:rPr>
              <a:t>IoT</a:t>
            </a:r>
            <a:r>
              <a:rPr lang="en-US" sz="2000" dirty="0" smtClean="0">
                <a:latin typeface="Garamond" pitchFamily="18" charset="0"/>
              </a:rPr>
              <a:t> technologies in real time. In practice, to achieve decentralized consensus, </a:t>
            </a:r>
            <a:r>
              <a:rPr lang="en-US" sz="2000" dirty="0" err="1" smtClean="0">
                <a:latin typeface="Garamond" pitchFamily="18" charset="0"/>
              </a:rPr>
              <a:t>blockchains</a:t>
            </a:r>
            <a:r>
              <a:rPr lang="en-US" sz="2000" dirty="0" smtClean="0">
                <a:latin typeface="Garamond" pitchFamily="18" charset="0"/>
              </a:rPr>
              <a:t> contact a set of registrars for verification, which are typically blockchain participants, dispersed across the network.</a:t>
            </a:r>
          </a:p>
          <a:p>
            <a:pPr marL="0" indent="0" algn="just">
              <a:buNone/>
            </a:pPr>
            <a:r>
              <a:rPr lang="en-US" sz="2000" dirty="0" smtClean="0">
                <a:latin typeface="Garamond" pitchFamily="18" charset="0"/>
              </a:rPr>
              <a:t>This is why we talk about decentralized consensus.</a:t>
            </a:r>
          </a:p>
          <a:p>
            <a:pPr marL="0" indent="0" algn="just">
              <a:buNone/>
            </a:pPr>
            <a:r>
              <a:rPr lang="en-US" sz="2000" dirty="0" smtClean="0">
                <a:latin typeface="Garamond" pitchFamily="18" charset="0"/>
              </a:rPr>
              <a:t>For payments, a </a:t>
            </a:r>
            <a:r>
              <a:rPr lang="en-US" sz="2000" dirty="0" err="1" smtClean="0">
                <a:latin typeface="Garamond" pitchFamily="18" charset="0"/>
              </a:rPr>
              <a:t>cryptocurrency</a:t>
            </a:r>
            <a:r>
              <a:rPr lang="en-US" sz="2000" dirty="0" smtClean="0">
                <a:latin typeface="Garamond" pitchFamily="18" charset="0"/>
              </a:rPr>
              <a:t> mining system will be adopted as a way to keep the consensus record.</a:t>
            </a:r>
          </a:p>
          <a:p>
            <a:pPr marL="0" indent="0" algn="just">
              <a:buNone/>
            </a:pPr>
            <a:r>
              <a:rPr lang="en-US" sz="2000" dirty="0" smtClean="0">
                <a:latin typeface="Garamond" pitchFamily="18" charset="0"/>
              </a:rPr>
              <a:t>Among the most popular </a:t>
            </a:r>
            <a:r>
              <a:rPr lang="en-US" sz="2000" dirty="0" err="1" smtClean="0">
                <a:latin typeface="Garamond" pitchFamily="18" charset="0"/>
              </a:rPr>
              <a:t>cryptocurrencies</a:t>
            </a:r>
            <a:r>
              <a:rPr lang="en-US" sz="2000" dirty="0" smtClean="0">
                <a:latin typeface="Garamond" pitchFamily="18" charset="0"/>
              </a:rPr>
              <a:t> are </a:t>
            </a:r>
            <a:r>
              <a:rPr lang="en-US" sz="2000" dirty="0" err="1" smtClean="0">
                <a:latin typeface="Garamond" pitchFamily="18" charset="0"/>
              </a:rPr>
              <a:t>Bitcoin</a:t>
            </a:r>
            <a:r>
              <a:rPr lang="en-US" sz="2000" dirty="0" smtClean="0">
                <a:latin typeface="Garamond" pitchFamily="18" charset="0"/>
              </a:rPr>
              <a:t> and </a:t>
            </a:r>
            <a:r>
              <a:rPr lang="en-US" sz="2000" dirty="0" err="1" smtClean="0">
                <a:latin typeface="Garamond" pitchFamily="18" charset="0"/>
              </a:rPr>
              <a:t>Ethereum</a:t>
            </a:r>
            <a:r>
              <a:rPr lang="en-US" sz="2000" dirty="0" smtClean="0">
                <a:latin typeface="Garamond" pitchFamily="18" charset="0"/>
              </a:rPr>
              <a:t>.  Ripple and R3 CEV are two other well-known virtual currencies, which use their own consensus process, but which also rely on a community of registrars for verification.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INFORMATION AND BEHAVIOR OF REGISTER HOLDERS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While </a:t>
            </a:r>
            <a:r>
              <a:rPr lang="en-US" sz="2000" dirty="0" err="1" smtClean="0">
                <a:latin typeface="Garamond" pitchFamily="18" charset="0"/>
              </a:rPr>
              <a:t>Bitcoin</a:t>
            </a:r>
            <a:r>
              <a:rPr lang="en-US" sz="2000" dirty="0" smtClean="0">
                <a:latin typeface="Garamond" pitchFamily="18" charset="0"/>
              </a:rPr>
              <a:t> payment verifications are primarily about preventing double spending problems and require limited information distribution (since the real identities of the parties to the transaction are masked), business validations are typically more complicated, requiring potentially more nuanced information</a:t>
            </a:r>
          </a:p>
          <a:p>
            <a:pPr marL="0" indent="0" algn="just">
              <a:buNone/>
            </a:pPr>
            <a:r>
              <a:rPr lang="en-US" sz="2000" dirty="0" smtClean="0">
                <a:latin typeface="Garamond" pitchFamily="18" charset="0"/>
              </a:rPr>
              <a:t>For example, many trade-finance </a:t>
            </a:r>
            <a:r>
              <a:rPr lang="en-US" sz="2000" dirty="0" err="1" smtClean="0">
                <a:latin typeface="Garamond" pitchFamily="18" charset="0"/>
              </a:rPr>
              <a:t>blockchains</a:t>
            </a:r>
            <a:r>
              <a:rPr lang="en-US" sz="2000" dirty="0" smtClean="0">
                <a:latin typeface="Garamond" pitchFamily="18" charset="0"/>
              </a:rPr>
              <a:t>, like </a:t>
            </a:r>
            <a:r>
              <a:rPr lang="en-US" sz="2000" dirty="0" err="1" smtClean="0">
                <a:latin typeface="Garamond" pitchFamily="18" charset="0"/>
              </a:rPr>
              <a:t>Corda</a:t>
            </a:r>
            <a:r>
              <a:rPr lang="en-US" sz="2000" dirty="0" smtClean="0">
                <a:latin typeface="Garamond" pitchFamily="18" charset="0"/>
              </a:rPr>
              <a:t> and </a:t>
            </a:r>
            <a:r>
              <a:rPr lang="en-US" sz="2000" dirty="0" err="1" smtClean="0">
                <a:latin typeface="Garamond" pitchFamily="18" charset="0"/>
              </a:rPr>
              <a:t>Hyperlydger</a:t>
            </a:r>
            <a:r>
              <a:rPr lang="en-US" sz="2000" dirty="0" smtClean="0">
                <a:latin typeface="Garamond" pitchFamily="18" charset="0"/>
              </a:rPr>
              <a:t>, use information from local ships, ports, banks, and border customs to track delivery status, potentially aided by </a:t>
            </a:r>
            <a:r>
              <a:rPr lang="en-US" sz="2000" dirty="0" err="1" smtClean="0">
                <a:latin typeface="Garamond" pitchFamily="18" charset="0"/>
              </a:rPr>
              <a:t>IoT</a:t>
            </a:r>
            <a:r>
              <a:rPr lang="en-US" sz="2000" dirty="0" smtClean="0">
                <a:latin typeface="Garamond" pitchFamily="18" charset="0"/>
              </a:rPr>
              <a:t> sensors and devices, with details not entirely available to the public.</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Registrars may also receive additional information about the transaction at the time of contact.</a:t>
            </a:r>
          </a:p>
          <a:p>
            <a:pPr marL="0" indent="0" algn="just">
              <a:buNone/>
            </a:pPr>
            <a:r>
              <a:rPr lang="en-US" sz="2000" dirty="0" smtClean="0">
                <a:latin typeface="Garamond" pitchFamily="18" charset="0"/>
              </a:rPr>
              <a:t>For example, IBM currently works on commercial </a:t>
            </a:r>
            <a:r>
              <a:rPr lang="en-US" sz="2000" dirty="0" err="1" smtClean="0">
                <a:latin typeface="Garamond" pitchFamily="18" charset="0"/>
              </a:rPr>
              <a:t>blockchains</a:t>
            </a:r>
            <a:r>
              <a:rPr lang="en-US" sz="2000" dirty="0" smtClean="0">
                <a:latin typeface="Garamond" pitchFamily="18" charset="0"/>
              </a:rPr>
              <a:t>, which provide registrars with additional information on shipping and the status of goods. This is because on-chain collaborations and cross-validations, with shipping companies and import-export controls, are required to generate consensus on delivery.</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this way, registrars may be incentivized to report incorrect information.</a:t>
            </a:r>
          </a:p>
          <a:p>
            <a:pPr marL="0" indent="0" algn="just">
              <a:buNone/>
            </a:pPr>
            <a:r>
              <a:rPr lang="en-US" sz="2000" dirty="0" smtClean="0">
                <a:latin typeface="Garamond" pitchFamily="18" charset="0"/>
              </a:rPr>
              <a:t>In trade-finance applications, too, the registrars are parties involved in the transaction, and it may happen that </a:t>
            </a:r>
            <a:r>
              <a:rPr lang="en-US" sz="2000" dirty="0" err="1" smtClean="0">
                <a:latin typeface="Garamond" pitchFamily="18" charset="0"/>
              </a:rPr>
              <a:t>Bitcoin</a:t>
            </a:r>
            <a:r>
              <a:rPr lang="en-US" sz="2000" dirty="0" smtClean="0">
                <a:latin typeface="Garamond" pitchFamily="18" charset="0"/>
              </a:rPr>
              <a:t> miners (if the  platform is using </a:t>
            </a:r>
            <a:r>
              <a:rPr lang="en-US" sz="2000" dirty="0" err="1" smtClean="0">
                <a:latin typeface="Garamond" pitchFamily="18" charset="0"/>
              </a:rPr>
              <a:t>Bitcoin</a:t>
            </a:r>
            <a:r>
              <a:rPr lang="en-US" sz="2000" dirty="0" smtClean="0">
                <a:latin typeface="Garamond" pitchFamily="18" charset="0"/>
              </a:rPr>
              <a:t>) can hide the reports through "selfish mining" or even spend certain coins twice.</a:t>
            </a:r>
          </a:p>
          <a:p>
            <a:pPr marL="0" indent="0" algn="just">
              <a:buNone/>
            </a:pPr>
            <a:r>
              <a:rPr lang="en-US" sz="2000" dirty="0" smtClean="0">
                <a:latin typeface="Garamond" pitchFamily="18" charset="0"/>
              </a:rPr>
              <a:t>Such incentives also exist in traditional economies: Corporate arbitrators can favor a customer and "double spending" was already "the problem," in traditional online payments. This was, in fact, what originally inspired the creation of </a:t>
            </a:r>
            <a:r>
              <a:rPr lang="en-US" sz="2000" dirty="0" err="1" smtClean="0">
                <a:latin typeface="Garamond" pitchFamily="18" charset="0"/>
              </a:rPr>
              <a:t>Bitcoin</a:t>
            </a:r>
            <a:r>
              <a:rPr lang="en-US" sz="2000" dirty="0" smtClean="0">
                <a:latin typeface="Garamond" pitchFamily="18" charset="0"/>
              </a:rPr>
              <a:t>, in the attempt to counteract the phenomenon.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ctr">
              <a:buNone/>
            </a:pPr>
            <a:endParaRPr lang="en-US" sz="2000" dirty="0" smtClean="0">
              <a:latin typeface="Garamond" pitchFamily="18" charset="0"/>
            </a:endParaRPr>
          </a:p>
          <a:p>
            <a:pPr marL="0" indent="0" algn="just">
              <a:buNone/>
            </a:pPr>
            <a:r>
              <a:rPr lang="en-US" sz="2000" dirty="0" smtClean="0">
                <a:latin typeface="Garamond" pitchFamily="18" charset="0"/>
              </a:rPr>
              <a:t>In point of fact, news media reports and scholarly discussions have largely focused on how the blockchain helps reduce tampering, manipulation, and hacking, ultimately remaining the most secure system available.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A FEW NOTES ON THE LITERATURE OF THE INFORMATION ECONOMY </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important to highlight the difference between the analysis, typically conducted in this work, and the existing information economy literature, which focuses  on finance and trade.</a:t>
            </a:r>
          </a:p>
          <a:p>
            <a:pPr marL="0" indent="0" algn="just">
              <a:buNone/>
            </a:pPr>
            <a:r>
              <a:rPr lang="en-US" sz="2000" dirty="0" smtClean="0">
                <a:latin typeface="Garamond" pitchFamily="18" charset="0"/>
              </a:rPr>
              <a:t>The fundamental difference depends on the unique functionality provided by blockchain technology, i.e. the analysis of the so-called first phase of decentralized consensus generation, through the distribution of information among all the register holders.</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is the first stage of "decentralization."</a:t>
            </a:r>
          </a:p>
          <a:p>
            <a:pPr marL="0" indent="0" algn="just">
              <a:buNone/>
            </a:pPr>
            <a:r>
              <a:rPr lang="en-US" sz="2000" dirty="0" smtClean="0">
                <a:latin typeface="Garamond" pitchFamily="18" charset="0"/>
              </a:rPr>
              <a:t>In the trade-finance example above, the system contacts the actors (commercial partners, ports, sellers, and customers) who contribute to forming the consensus accepted by the community.</a:t>
            </a:r>
          </a:p>
          <a:p>
            <a:pPr marL="0" indent="0" algn="just">
              <a:buNone/>
            </a:pPr>
            <a:r>
              <a:rPr lang="en-US" sz="2000" dirty="0" smtClean="0">
                <a:latin typeface="Garamond" pitchFamily="18" charset="0"/>
              </a:rPr>
              <a:t>Consensus can be, and often is, further distributed to all agents on the blockchain in the second phase which is the moment of information distribution.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Although transparency affects the operators' incentives and the effectiveness of market function, it is likely that trading and aggregation may still take place, even without pre- and post-tracking transparency requirements.</a:t>
            </a:r>
          </a:p>
          <a:p>
            <a:pPr marL="0" indent="0" algn="just">
              <a:buNone/>
            </a:pPr>
            <a:r>
              <a:rPr lang="en-US" sz="2000" dirty="0" smtClean="0">
                <a:latin typeface="Garamond" pitchFamily="18" charset="0"/>
              </a:rPr>
              <a:t>In other words, in traditional settings, when more public information is considered harmful, regulators or agents may choose to distribute less information.</a:t>
            </a:r>
          </a:p>
          <a:p>
            <a:pPr marL="0" indent="0" algn="just">
              <a:buNone/>
            </a:pPr>
            <a:r>
              <a:rPr lang="en-US" sz="2000" dirty="0" smtClean="0">
                <a:latin typeface="Garamond" pitchFamily="18" charset="0"/>
              </a:rPr>
              <a:t>On the contrary, by emphasizing the first phase, i.e., the distribution of information during the generation of the consensus, it performs the main function of the blockchain in providing decentralized and tamper- proof consensus.</a:t>
            </a:r>
          </a:p>
          <a:p>
            <a:pPr marL="0" indent="0" algn="just">
              <a:buNone/>
            </a:pPr>
            <a:r>
              <a:rPr lang="en-US" sz="2000" dirty="0" smtClean="0">
                <a:latin typeface="Garamond" pitchFamily="18" charset="0"/>
              </a:rPr>
              <a:t>The higher the degree of information distribution, the higher the quality of the decentralized consensus.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general, the quality of consensus and the amount of information distribution on </a:t>
            </a:r>
            <a:r>
              <a:rPr lang="en-US" sz="2000" dirty="0" err="1" smtClean="0">
                <a:latin typeface="Garamond" pitchFamily="18" charset="0"/>
              </a:rPr>
              <a:t>blockchains</a:t>
            </a:r>
            <a:r>
              <a:rPr lang="en-US" sz="2000" dirty="0" smtClean="0">
                <a:latin typeface="Garamond" pitchFamily="18" charset="0"/>
              </a:rPr>
              <a:t> depend on their specific protocols.</a:t>
            </a:r>
          </a:p>
          <a:p>
            <a:pPr marL="0" indent="0" algn="just">
              <a:buNone/>
            </a:pPr>
            <a:r>
              <a:rPr lang="en-US" sz="2000" dirty="0" smtClean="0">
                <a:latin typeface="Garamond" pitchFamily="18" charset="0"/>
              </a:rPr>
              <a:t>There are many algorithms for building consensus, based on requirements like performance, scalability, consistency, data capacity, governance, security, and fault tolerance. These requirements are clearly strengthened by the prevalence of contractual objectives, selected over time.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000" b="1" dirty="0" smtClean="0">
                <a:solidFill>
                  <a:srgbClr val="FF0000"/>
                </a:solidFill>
                <a:latin typeface="Garamond" pitchFamily="18" charset="0"/>
              </a:rPr>
              <a:t>BLOCKCHAIN APPLICATIONS IN THE TRADE FINANCE SECTOR AND THE USE OF RELIABLE PAYMENT PLATFORMS: BITCOIN, ETHEREUM, AND RIPPLE</a:t>
            </a:r>
            <a:r>
              <a:rPr lang="en-US" sz="2400" b="1" dirty="0" smtClean="0">
                <a:solidFill>
                  <a:srgbClr val="FF0000"/>
                </a:solidFill>
                <a:latin typeface="Garamond" pitchFamily="18" charset="0"/>
              </a:rPr>
              <a:t>.</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With the main functioning of the blockchain in mind, various blockchain projects can be formulated in the real world.</a:t>
            </a:r>
          </a:p>
          <a:p>
            <a:pPr marL="0" indent="0" algn="just">
              <a:buNone/>
            </a:pPr>
            <a:r>
              <a:rPr lang="en-US" sz="2000" dirty="0" smtClean="0">
                <a:latin typeface="Garamond" pitchFamily="18" charset="0"/>
              </a:rPr>
              <a:t>The applications of blockchain technology and smart contracts are broad, and certainly go beyond the </a:t>
            </a:r>
            <a:r>
              <a:rPr lang="en-US" sz="2000" dirty="0" err="1" smtClean="0">
                <a:latin typeface="Garamond" pitchFamily="18" charset="0"/>
              </a:rPr>
              <a:t>FinTech</a:t>
            </a:r>
            <a:r>
              <a:rPr lang="en-US" sz="2000" dirty="0" smtClean="0">
                <a:latin typeface="Garamond" pitchFamily="18" charset="0"/>
              </a:rPr>
              <a:t> sector.</a:t>
            </a:r>
          </a:p>
          <a:p>
            <a:pPr marL="0" indent="0" algn="just">
              <a:buNone/>
            </a:pPr>
            <a:r>
              <a:rPr lang="en-US" sz="2000" dirty="0" smtClean="0">
                <a:latin typeface="Garamond" pitchFamily="18" charset="0"/>
              </a:rPr>
              <a:t>In traditional channels, international trade already accounted for over $10 trillion annually, according to a 2015 WTO report.</a:t>
            </a:r>
          </a:p>
          <a:p>
            <a:pPr marL="0" indent="0" algn="just">
              <a:buNone/>
            </a:pPr>
            <a:r>
              <a:rPr lang="en-US" sz="2000" dirty="0" smtClean="0">
                <a:latin typeface="Garamond" pitchFamily="18" charset="0"/>
              </a:rPr>
              <a:t>Despite technological advances, in many areas of financial services, commercial financing remains a manual process, largely paper-based, involving multiple participants, located in various jurisdictions around the world, and prone to human error and delays along the supply chain.</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35</a:t>
            </a:fld>
            <a:endParaRPr lang="it-IT"/>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An importer may not be able to conclude a deal because the bank offering the letter of credit is not known in the exporter's country.</a:t>
            </a:r>
          </a:p>
          <a:p>
            <a:pPr marL="0" indent="0" algn="just">
              <a:buNone/>
            </a:pPr>
            <a:r>
              <a:rPr lang="en-US" sz="2000" dirty="0" smtClean="0">
                <a:latin typeface="Garamond" pitchFamily="18" charset="0"/>
              </a:rPr>
              <a:t>An exporter may fail to obtain advance financing because the bank is concerned about the goods being delivered successfully, on time, and whether the importer's payments can be secured.</a:t>
            </a:r>
          </a:p>
          <a:p>
            <a:pPr marL="0" indent="0" algn="just">
              <a:buNone/>
            </a:pPr>
            <a:r>
              <a:rPr lang="en-US" sz="2000" dirty="0" smtClean="0">
                <a:latin typeface="Garamond" pitchFamily="18" charset="0"/>
              </a:rPr>
              <a:t>Blockchain technology can help alleviate these frictions in commerce. There are two classes of solutions that blockchain technology offers. One relates to the flow of goods since a decentralized ledger can better track goods, as goods are shipped, stored, and delivered (e.g. physical location, movement, temperature, etc…) with the help of modern communication technologies, such as the Internet of Things (</a:t>
            </a:r>
            <a:r>
              <a:rPr lang="en-US" sz="2000" dirty="0" err="1" smtClean="0">
                <a:latin typeface="Garamond" pitchFamily="18" charset="0"/>
              </a:rPr>
              <a:t>IoT</a:t>
            </a:r>
            <a:r>
              <a:rPr lang="en-US" sz="2000" dirty="0" smtClean="0">
                <a:latin typeface="Garamond" pitchFamily="18" charset="0"/>
              </a:rPr>
              <a:t>) and oracles (i.e., information feeders from the offline world.)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second solution concerns the flow of money associated with trade (for example, letters of credit and commercial financing, phenomena related to the aforementioned fiduciary payments).</a:t>
            </a:r>
          </a:p>
          <a:p>
            <a:pPr marL="0" indent="0" algn="just">
              <a:buNone/>
            </a:pPr>
            <a:r>
              <a:rPr lang="en-US" sz="2000" dirty="0" smtClean="0">
                <a:latin typeface="Garamond" pitchFamily="18" charset="0"/>
              </a:rPr>
              <a:t>While both solutions are currently being developed in isolation, the industry envisions a fully integrated system between the two in the future, with the potential advantage of a network of shippers, shipping carriers, ports, customs authorities, and banks, all interacting on a real-time blockchain.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EXAMPLES</a:t>
            </a: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457200" indent="-457200" algn="just">
              <a:buFont typeface="Wingdings" pitchFamily="2" charset="2"/>
              <a:buChar char="Ø"/>
            </a:pPr>
            <a:r>
              <a:rPr lang="en-US" sz="2000" dirty="0" smtClean="0">
                <a:latin typeface="Garamond" pitchFamily="18" charset="0"/>
              </a:rPr>
              <a:t>In 2016, Barclays and the start-up </a:t>
            </a:r>
            <a:r>
              <a:rPr lang="en-US" sz="2000" dirty="0" err="1" smtClean="0">
                <a:latin typeface="Garamond" pitchFamily="18" charset="0"/>
              </a:rPr>
              <a:t>Fintech</a:t>
            </a:r>
            <a:r>
              <a:rPr lang="en-US" sz="2000" dirty="0" smtClean="0">
                <a:latin typeface="Garamond" pitchFamily="18" charset="0"/>
              </a:rPr>
              <a:t> Wave  promoted a global business transaction, using the new blockchain platform Wave, managing the letter of credit (LC) transaction between </a:t>
            </a:r>
            <a:r>
              <a:rPr lang="en-US" sz="2000" dirty="0" err="1" smtClean="0">
                <a:latin typeface="Garamond" pitchFamily="18" charset="0"/>
              </a:rPr>
              <a:t>Ornua</a:t>
            </a:r>
            <a:r>
              <a:rPr lang="en-US" sz="2000" dirty="0" smtClean="0">
                <a:latin typeface="Garamond" pitchFamily="18" charset="0"/>
              </a:rPr>
              <a:t> (formerly the Irish Dairy Board) and the Seychelles Trading Company.</a:t>
            </a:r>
          </a:p>
          <a:p>
            <a:pPr marL="457200" indent="-457200" algn="just">
              <a:buFont typeface="Wingdings" pitchFamily="2" charset="2"/>
              <a:buChar char="Ø"/>
            </a:pPr>
            <a:r>
              <a:rPr lang="en-US" sz="2000" dirty="0" smtClean="0">
                <a:latin typeface="Garamond" pitchFamily="18" charset="0"/>
              </a:rPr>
              <a:t>IBM also led in the application of blockchain and smart contracts to commercial finance, launching solutions for the Indian Mahindra Group</a:t>
            </a:r>
          </a:p>
          <a:p>
            <a:pPr marL="0" indent="0" algn="just">
              <a:buNone/>
            </a:pPr>
            <a:r>
              <a:rPr lang="en-US" sz="2000" dirty="0" smtClean="0">
                <a:latin typeface="Garamond" pitchFamily="18" charset="0"/>
              </a:rPr>
              <a:t>as early as December 2016, in collaboration with the Danish shipping giant </a:t>
            </a:r>
            <a:r>
              <a:rPr lang="en-US" sz="2000" dirty="0" err="1" smtClean="0">
                <a:latin typeface="Garamond" pitchFamily="18" charset="0"/>
              </a:rPr>
              <a:t>Maersk</a:t>
            </a:r>
            <a:r>
              <a:rPr lang="en-US" sz="2000" dirty="0" smtClean="0">
                <a:latin typeface="Garamond" pitchFamily="18" charset="0"/>
              </a:rPr>
              <a:t>.</a:t>
            </a:r>
          </a:p>
          <a:p>
            <a:pPr marL="457200" indent="-457200" algn="just">
              <a:buFont typeface="Wingdings" pitchFamily="2" charset="2"/>
              <a:buChar char="Ø"/>
            </a:pPr>
            <a:r>
              <a:rPr lang="en-US" sz="2000" dirty="0" smtClean="0">
                <a:latin typeface="Garamond" pitchFamily="18" charset="0"/>
              </a:rPr>
              <a:t>In March 2017, IBM and </a:t>
            </a:r>
            <a:r>
              <a:rPr lang="en-US" sz="2000" dirty="0" err="1" smtClean="0">
                <a:latin typeface="Garamond" pitchFamily="18" charset="0"/>
              </a:rPr>
              <a:t>Maersk</a:t>
            </a:r>
            <a:r>
              <a:rPr lang="en-US" sz="2000" dirty="0" smtClean="0">
                <a:latin typeface="Garamond" pitchFamily="18" charset="0"/>
              </a:rPr>
              <a:t>, in partnership with </a:t>
            </a:r>
            <a:r>
              <a:rPr lang="en-US" sz="2000" dirty="0" err="1" smtClean="0">
                <a:latin typeface="Garamond" pitchFamily="18" charset="0"/>
              </a:rPr>
              <a:t>Hyperledger</a:t>
            </a:r>
            <a:r>
              <a:rPr lang="en-US" sz="2000" dirty="0" smtClean="0">
                <a:latin typeface="Garamond" pitchFamily="18" charset="0"/>
              </a:rPr>
              <a:t> Fabric, announced the completion of a pilot, end-to-end digitized supply chain project, using blockchain technology, and involving commercial parties, various ports, and customs authorities. </a:t>
            </a:r>
          </a:p>
          <a:p>
            <a:pPr marL="457200" indent="-457200" algn="just">
              <a:buFont typeface="Wingdings" pitchFamily="2" charset="2"/>
              <a:buChar char="Ø"/>
            </a:pPr>
            <a:r>
              <a:rPr lang="en-US" sz="2000" dirty="0" smtClean="0">
                <a:latin typeface="Garamond" pitchFamily="18" charset="0"/>
              </a:rPr>
              <a:t>In early 2017, IBM ventured further by implementing the </a:t>
            </a:r>
            <a:r>
              <a:rPr lang="en-US" sz="2000" dirty="0" err="1" smtClean="0">
                <a:latin typeface="Garamond" pitchFamily="18" charset="0"/>
              </a:rPr>
              <a:t>Yijian</a:t>
            </a:r>
            <a:r>
              <a:rPr lang="en-US" sz="2000" dirty="0" smtClean="0">
                <a:latin typeface="Garamond" pitchFamily="18" charset="0"/>
              </a:rPr>
              <a:t> Blockchain technology application system for the Chinese pharmaceutical sector.</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Font typeface="Wingdings" pitchFamily="2" charset="2"/>
              <a:buChar char="Ø"/>
            </a:pPr>
            <a:r>
              <a:rPr lang="en-US" sz="2000" dirty="0" smtClean="0">
                <a:latin typeface="Garamond" pitchFamily="18" charset="0"/>
              </a:rPr>
              <a:t>IBM also partnered with several oil companies to develop a blockchain-based financial platform for crude oil trading.</a:t>
            </a:r>
          </a:p>
          <a:p>
            <a:pPr marL="0" indent="0" algn="just">
              <a:buFont typeface="Wingdings" pitchFamily="2" charset="2"/>
              <a:buChar char="Ø"/>
            </a:pPr>
            <a:r>
              <a:rPr lang="en-US" sz="2000" dirty="0" smtClean="0">
                <a:latin typeface="Garamond" pitchFamily="18" charset="0"/>
              </a:rPr>
              <a:t>There have also been advances in applying blockchain technology to the logistics industry.</a:t>
            </a:r>
          </a:p>
          <a:p>
            <a:pPr marL="0" indent="0" algn="just">
              <a:buFont typeface="Wingdings" pitchFamily="2" charset="2"/>
              <a:buChar char="Ø"/>
            </a:pPr>
            <a:r>
              <a:rPr lang="en-US" sz="2000" dirty="0" smtClean="0">
                <a:latin typeface="Garamond" pitchFamily="18" charset="0"/>
              </a:rPr>
              <a:t>In September 2017, </a:t>
            </a:r>
            <a:r>
              <a:rPr lang="en-US" sz="2000" dirty="0" err="1" smtClean="0">
                <a:latin typeface="Garamond" pitchFamily="18" charset="0"/>
              </a:rPr>
              <a:t>Maersk</a:t>
            </a:r>
            <a:r>
              <a:rPr lang="en-US" sz="2000" dirty="0" smtClean="0">
                <a:latin typeface="Garamond" pitchFamily="18" charset="0"/>
              </a:rPr>
              <a:t> partnered with EY, Microsoft, Willis Towers Watson and several insurance companies to safely share shipping data on KSI, a blockchain developed by </a:t>
            </a:r>
            <a:r>
              <a:rPr lang="en-US" sz="2000" dirty="0" err="1" smtClean="0">
                <a:latin typeface="Garamond" pitchFamily="18" charset="0"/>
              </a:rPr>
              <a:t>Guardtime</a:t>
            </a:r>
            <a:r>
              <a:rPr lang="en-US" sz="2000" dirty="0" smtClean="0">
                <a:latin typeface="Garamond" pitchFamily="18" charset="0"/>
              </a:rPr>
              <a:t>.</a:t>
            </a:r>
          </a:p>
          <a:p>
            <a:pPr marL="0" indent="0" algn="just">
              <a:buFont typeface="Wingdings" pitchFamily="2" charset="2"/>
              <a:buChar char="Ø"/>
            </a:pPr>
            <a:r>
              <a:rPr lang="en-US" sz="2000" dirty="0" smtClean="0">
                <a:latin typeface="Garamond" pitchFamily="18" charset="0"/>
              </a:rPr>
              <a:t>In November 2017, it was reported that the Association Blockchain in Transport Alliance (https://bita.studio/), whose members include blockchain start-ups like </a:t>
            </a:r>
            <a:r>
              <a:rPr lang="en-US" sz="2000" dirty="0" err="1" smtClean="0">
                <a:latin typeface="Garamond" pitchFamily="18" charset="0"/>
              </a:rPr>
              <a:t>ShipChain</a:t>
            </a:r>
            <a:r>
              <a:rPr lang="en-US" sz="2000" dirty="0" smtClean="0">
                <a:latin typeface="Garamond" pitchFamily="18" charset="0"/>
              </a:rPr>
              <a:t>, had attracted traditional industry global giants, such as SAP and UPS.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And this is in distant 2017.</a:t>
            </a:r>
          </a:p>
          <a:p>
            <a:pPr marL="0" indent="0" algn="just">
              <a:buNone/>
            </a:pPr>
            <a:r>
              <a:rPr lang="en-US" sz="2000" dirty="0" smtClean="0">
                <a:latin typeface="Garamond" pitchFamily="18" charset="0"/>
              </a:rPr>
              <a:t>In the blockchain world, many steps have been taken, and some solutions have definitely been successful.</a:t>
            </a:r>
          </a:p>
          <a:p>
            <a:pPr marL="0" indent="0" algn="just">
              <a:buNone/>
            </a:pPr>
            <a:r>
              <a:rPr lang="en-US" sz="2000" dirty="0" smtClean="0">
                <a:latin typeface="Garamond" pitchFamily="18" charset="0"/>
              </a:rPr>
              <a:t>Also, the emphasis here goes to the payments industry, which tends to be increasingly more reliable. Currently, the major known platforms are </a:t>
            </a:r>
            <a:r>
              <a:rPr lang="en-US" sz="2000" dirty="0" err="1" smtClean="0">
                <a:latin typeface="Garamond" pitchFamily="18" charset="0"/>
              </a:rPr>
              <a:t>Bitcoin</a:t>
            </a:r>
            <a:r>
              <a:rPr lang="en-US" sz="2000" dirty="0" smtClean="0">
                <a:latin typeface="Garamond" pitchFamily="18" charset="0"/>
              </a:rPr>
              <a:t> , </a:t>
            </a:r>
            <a:r>
              <a:rPr lang="en-US" sz="2000" dirty="0" err="1" smtClean="0">
                <a:latin typeface="Garamond" pitchFamily="18" charset="0"/>
              </a:rPr>
              <a:t>Ethereum</a:t>
            </a:r>
            <a:r>
              <a:rPr lang="en-US" sz="2000" dirty="0" smtClean="0">
                <a:latin typeface="Garamond" pitchFamily="18" charset="0"/>
              </a:rPr>
              <a:t>, and Ripple .</a:t>
            </a:r>
          </a:p>
          <a:p>
            <a:pPr marL="0" indent="0" algn="just">
              <a:buNone/>
            </a:pPr>
            <a:r>
              <a:rPr lang="en-US" sz="2000" dirty="0" smtClean="0">
                <a:latin typeface="Garamond" pitchFamily="18" charset="0"/>
              </a:rPr>
              <a:t>Nowadays we know that payments at a distance or between unknown parties are problematic, due to a lack of trust.</a:t>
            </a:r>
          </a:p>
          <a:p>
            <a:pPr marL="0" indent="0" algn="just">
              <a:buNone/>
            </a:pPr>
            <a:r>
              <a:rPr lang="en-US" sz="2000" dirty="0" smtClean="0">
                <a:latin typeface="Garamond" pitchFamily="18" charset="0"/>
              </a:rPr>
              <a:t>The Society for Worldwide Interbank Financial Telecommunications, better known as SWIFT, mitigates the problem, but this often results in ineffective coordination between multiple institutions and very high fees, as well as long transaction times.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40</a:t>
            </a:fld>
            <a:endParaRPr lang="it-IT"/>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concern is further exacerbated by digital payments, which are plagued by the problem of "double spending" (an economic fraud, in which a digital currency can be spent twice).</a:t>
            </a:r>
          </a:p>
          <a:p>
            <a:pPr marL="0" indent="0" algn="just">
              <a:buNone/>
            </a:pPr>
            <a:r>
              <a:rPr lang="en-US" sz="2000" dirty="0" err="1" smtClean="0">
                <a:latin typeface="Garamond" pitchFamily="18" charset="0"/>
              </a:rPr>
              <a:t>Bitcoins</a:t>
            </a:r>
            <a:r>
              <a:rPr lang="en-US" sz="2000" dirty="0" smtClean="0">
                <a:latin typeface="Garamond" pitchFamily="18" charset="0"/>
              </a:rPr>
              <a:t> were initially offered as a solution because they allow anonymous	peer-to-peer	transactions,	recorded	on	the </a:t>
            </a:r>
            <a:r>
              <a:rPr lang="en-US" sz="2000" dirty="0" err="1" smtClean="0">
                <a:latin typeface="Garamond" pitchFamily="18" charset="0"/>
              </a:rPr>
              <a:t>Bitcoin</a:t>
            </a:r>
            <a:r>
              <a:rPr lang="en-US" sz="2000" dirty="0" smtClean="0">
                <a:latin typeface="Garamond" pitchFamily="18" charset="0"/>
              </a:rPr>
              <a:t> blockchain, which is secure, time-stamped, and tamper-proof. More importantly, in the </a:t>
            </a:r>
            <a:r>
              <a:rPr lang="en-US" sz="2000" dirty="0" err="1" smtClean="0">
                <a:latin typeface="Garamond" pitchFamily="18" charset="0"/>
              </a:rPr>
              <a:t>Bitcoin</a:t>
            </a:r>
            <a:r>
              <a:rPr lang="en-US" sz="2000" dirty="0" smtClean="0">
                <a:latin typeface="Garamond" pitchFamily="18" charset="0"/>
              </a:rPr>
              <a:t> blockchain, by publicly transmitting all candidate transactions, with the "miners" constantly competing for  the right to register new blocks (thus earning </a:t>
            </a:r>
            <a:r>
              <a:rPr lang="en-US" sz="2000" dirty="0" err="1" smtClean="0">
                <a:latin typeface="Garamond" pitchFamily="18" charset="0"/>
              </a:rPr>
              <a:t>Bitcoins</a:t>
            </a:r>
            <a:r>
              <a:rPr lang="en-US" sz="2000" dirty="0" smtClean="0">
                <a:latin typeface="Garamond" pitchFamily="18" charset="0"/>
              </a:rPr>
              <a:t>,) its distributed ledger provides  decentralized consensus on the successful transaction,  ensuring real time  knowledge for all nodes of the transaction.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Maintaining the decentralized consensus record on the </a:t>
            </a:r>
            <a:r>
              <a:rPr lang="en-US" sz="2000" dirty="0" err="1" smtClean="0">
                <a:latin typeface="Garamond" pitchFamily="18" charset="0"/>
              </a:rPr>
              <a:t>Bitcoin</a:t>
            </a:r>
            <a:r>
              <a:rPr lang="en-US" sz="2000" dirty="0" smtClean="0">
                <a:latin typeface="Garamond" pitchFamily="18" charset="0"/>
              </a:rPr>
              <a:t> blockchain requires miners to solve NP-complete computational problems (i.e., mining is a form of </a:t>
            </a:r>
            <a:r>
              <a:rPr lang="en-US" sz="2000" dirty="0" err="1" smtClean="0">
                <a:latin typeface="Garamond" pitchFamily="18" charset="0"/>
              </a:rPr>
              <a:t>PoW</a:t>
            </a:r>
            <a:r>
              <a:rPr lang="en-US" sz="2000" dirty="0" smtClean="0">
                <a:latin typeface="Garamond" pitchFamily="18" charset="0"/>
              </a:rPr>
              <a:t>), but the level of difficulty increases with the power of calculation, making it sometimes unsuitable for large volumes of financial transactions.</a:t>
            </a:r>
          </a:p>
          <a:p>
            <a:pPr marL="0" indent="0" algn="just">
              <a:buNone/>
            </a:pPr>
            <a:r>
              <a:rPr lang="en-US" sz="2000" dirty="0" smtClean="0">
                <a:latin typeface="Garamond" pitchFamily="18" charset="0"/>
              </a:rPr>
              <a:t>Later platforms like Lightning and Stellar (a separate blockchain) help improve processing capacity, through local channels and multi-signature accounts, so that unnecessary information does not have to be part of the decentralized consensus.</a:t>
            </a:r>
          </a:p>
          <a:p>
            <a:pPr marL="0" indent="0" algn="just">
              <a:buNone/>
            </a:pPr>
            <a:r>
              <a:rPr lang="en-US" sz="2000" dirty="0" smtClean="0">
                <a:latin typeface="Garamond" pitchFamily="18" charset="0"/>
              </a:rPr>
              <a:t>Having said that, the scripting language of these </a:t>
            </a:r>
            <a:r>
              <a:rPr lang="en-US" sz="2000" dirty="0" err="1" smtClean="0">
                <a:latin typeface="Garamond" pitchFamily="18" charset="0"/>
              </a:rPr>
              <a:t>blockchains</a:t>
            </a:r>
            <a:r>
              <a:rPr lang="en-US" sz="2000" dirty="0" smtClean="0">
                <a:latin typeface="Garamond" pitchFamily="18" charset="0"/>
              </a:rPr>
              <a:t> is, however, limited and this has interfered with their more extensive utilization.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err="1" smtClean="0">
                <a:latin typeface="Garamond" pitchFamily="18" charset="0"/>
              </a:rPr>
              <a:t>Ethereum</a:t>
            </a:r>
            <a:r>
              <a:rPr lang="en-US" sz="2000" dirty="0" smtClean="0">
                <a:latin typeface="Garamond" pitchFamily="18" charset="0"/>
              </a:rPr>
              <a:t>, the second blockchain platform by market capitalization, after the </a:t>
            </a:r>
            <a:r>
              <a:rPr lang="en-US" sz="2000" dirty="0" err="1" smtClean="0">
                <a:latin typeface="Garamond" pitchFamily="18" charset="0"/>
              </a:rPr>
              <a:t>Bitcoin</a:t>
            </a:r>
            <a:r>
              <a:rPr lang="en-US" sz="2000" dirty="0" smtClean="0">
                <a:latin typeface="Garamond" pitchFamily="18" charset="0"/>
              </a:rPr>
              <a:t>, uses a Turing-complete language. This allows for more complex contingent operations (Turing 1937), providing the archetypal implementation of smart contracts.</a:t>
            </a:r>
          </a:p>
          <a:p>
            <a:pPr marL="0" indent="0" algn="just">
              <a:buNone/>
            </a:pPr>
            <a:r>
              <a:rPr lang="en-US" sz="2000" dirty="0" smtClean="0">
                <a:latin typeface="Garamond" pitchFamily="18" charset="0"/>
              </a:rPr>
              <a:t>All valid contractual status updates are logged and performed automatically. A group of participants (Ether miners) maintain a decentralized record of the state of consensus, and other interacting parties use the consensus information to automate the execution of contractual terms.</a:t>
            </a:r>
          </a:p>
          <a:p>
            <a:pPr marL="0" indent="0" algn="just">
              <a:buNone/>
            </a:pPr>
            <a:r>
              <a:rPr lang="en-US" sz="2000" dirty="0" smtClean="0">
                <a:latin typeface="Garamond" pitchFamily="18" charset="0"/>
              </a:rPr>
              <a:t>Additional applications such as </a:t>
            </a:r>
            <a:r>
              <a:rPr lang="en-US" sz="2000" dirty="0" err="1" smtClean="0">
                <a:latin typeface="Garamond" pitchFamily="18" charset="0"/>
              </a:rPr>
              <a:t>Monax</a:t>
            </a:r>
            <a:r>
              <a:rPr lang="en-US" sz="2000" dirty="0" smtClean="0">
                <a:latin typeface="Garamond" pitchFamily="18" charset="0"/>
              </a:rPr>
              <a:t> and Phi (belonging to String Lab), rely on </a:t>
            </a:r>
            <a:r>
              <a:rPr lang="en-US" sz="2000" dirty="0" err="1" smtClean="0">
                <a:latin typeface="Garamond" pitchFamily="18" charset="0"/>
              </a:rPr>
              <a:t>Ethereum</a:t>
            </a:r>
            <a:r>
              <a:rPr lang="en-US" sz="2000" dirty="0" smtClean="0">
                <a:latin typeface="Garamond" pitchFamily="18" charset="0"/>
              </a:rPr>
              <a:t> to enrich and optimize their smart contract functionality and processing power, similar to how websites rely on the Internet protocol.</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Traditional players in the financial sector have started adapting blockchain technology to tackle the problem of payments.</a:t>
            </a:r>
          </a:p>
          <a:p>
            <a:pPr marL="0" indent="0" algn="just">
              <a:buNone/>
            </a:pPr>
            <a:r>
              <a:rPr lang="en-US" sz="2000" dirty="0" smtClean="0">
                <a:latin typeface="Garamond" pitchFamily="18" charset="0"/>
              </a:rPr>
              <a:t>Originally known as Ripple Labs, Ripple, the third largest platform, was founded in 2012 to provide real-time global financial transactions and cross-border payments and has since been increasingly adopted by major banks and payment networks.</a:t>
            </a:r>
          </a:p>
          <a:p>
            <a:pPr marL="0" indent="0" algn="just">
              <a:buNone/>
            </a:pPr>
            <a:r>
              <a:rPr lang="en-US" sz="2000" dirty="0" smtClean="0">
                <a:latin typeface="Garamond" pitchFamily="18" charset="0"/>
              </a:rPr>
              <a:t>A (typically large) set of validation nodes obtain decentralized consensus, using the Ripple RTXP transaction protocol. This is an interactive consensus process (and an alternative to </a:t>
            </a:r>
            <a:r>
              <a:rPr lang="en-US" sz="2000" dirty="0" err="1" smtClean="0">
                <a:latin typeface="Garamond" pitchFamily="18" charset="0"/>
              </a:rPr>
              <a:t>PoW</a:t>
            </a:r>
            <a:r>
              <a:rPr lang="en-US" sz="2000" dirty="0" smtClean="0">
                <a:latin typeface="Garamond" pitchFamily="18" charset="0"/>
              </a:rPr>
              <a:t>) in which transactions are repeatedly transmitted, through the validation node network, until an agreement is  reached.</a:t>
            </a:r>
          </a:p>
          <a:p>
            <a:pPr marL="0" indent="0" algn="just">
              <a:buNone/>
            </a:pPr>
            <a:r>
              <a:rPr lang="en-US" sz="2000" dirty="0" smtClean="0">
                <a:latin typeface="Garamond" pitchFamily="18" charset="0"/>
              </a:rPr>
              <a:t>Digital transfers are then automated by electronically linking to bank accounts or using Ripple’s native cryptographic tokens (XRP).</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a:solidFill>
                  <a:srgbClr val="FF0000"/>
                </a:solidFill>
                <a:latin typeface="Garamond" pitchFamily="18" charset="0"/>
              </a:rPr>
              <a:t>OTHER APPLICATIONS</a:t>
            </a:r>
            <a:r>
              <a:rPr lang="it-IT" sz="2400" dirty="0"/>
              <a:t/>
            </a:r>
            <a:br>
              <a:rPr lang="it-IT" sz="2400" dirty="0"/>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addition to applications in payments and trade finance, </a:t>
            </a:r>
            <a:r>
              <a:rPr lang="en-US" sz="2000" dirty="0" err="1" smtClean="0">
                <a:latin typeface="Garamond" pitchFamily="18" charset="0"/>
              </a:rPr>
              <a:t>blockchains</a:t>
            </a:r>
            <a:r>
              <a:rPr lang="en-US" sz="2000" dirty="0" smtClean="0">
                <a:latin typeface="Garamond" pitchFamily="18" charset="0"/>
              </a:rPr>
              <a:t> and smart contracts can also be used in transfers, trading, voting, and even in syndicated loans.</a:t>
            </a:r>
          </a:p>
          <a:p>
            <a:pPr marL="0" indent="0" algn="just">
              <a:buNone/>
            </a:pPr>
            <a:r>
              <a:rPr lang="en-US" sz="2000" dirty="0" smtClean="0">
                <a:latin typeface="Garamond" pitchFamily="18" charset="0"/>
              </a:rPr>
              <a:t>To this end, in 2015, </a:t>
            </a:r>
            <a:r>
              <a:rPr lang="en-US" sz="2000" dirty="0" err="1" smtClean="0">
                <a:latin typeface="Garamond" pitchFamily="18" charset="0"/>
              </a:rPr>
              <a:t>Nasdaq</a:t>
            </a:r>
            <a:r>
              <a:rPr lang="en-US" sz="2000" dirty="0" smtClean="0">
                <a:latin typeface="Garamond" pitchFamily="18" charset="0"/>
              </a:rPr>
              <a:t>, Inc launched the </a:t>
            </a:r>
            <a:r>
              <a:rPr lang="en-US" sz="2000" dirty="0" err="1" smtClean="0">
                <a:latin typeface="Garamond" pitchFamily="18" charset="0"/>
              </a:rPr>
              <a:t>Linq</a:t>
            </a:r>
            <a:r>
              <a:rPr lang="en-US" sz="2000" dirty="0" smtClean="0">
                <a:latin typeface="Garamond" pitchFamily="18" charset="0"/>
              </a:rPr>
              <a:t> platform for pre-IPO stock trading and management and in early 2017, successfully completed a test, using blockchain technology to run voting on the Estonian stock  exchange in Tallinn.</a:t>
            </a:r>
          </a:p>
          <a:p>
            <a:pPr marL="0" indent="0" algn="just">
              <a:buNone/>
            </a:pPr>
            <a:r>
              <a:rPr lang="en-US" sz="2000" dirty="0" smtClean="0">
                <a:latin typeface="Garamond" pitchFamily="18" charset="0"/>
              </a:rPr>
              <a:t>The application was used for syndicated lending, in which multiple banks agreed to extend syndicated (agreed) loans to a single borrower, so that a decentralized consensus, among participating banks, became the fundamental element of the contract.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071546"/>
            <a:ext cx="8715436" cy="485778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One such blockchain project, led by Credit Suisse and twelve other banks, along with </a:t>
            </a:r>
            <a:r>
              <a:rPr lang="en-US" sz="2000" dirty="0" err="1" smtClean="0">
                <a:latin typeface="Garamond" pitchFamily="18" charset="0"/>
              </a:rPr>
              <a:t>Symbiont</a:t>
            </a:r>
            <a:r>
              <a:rPr lang="en-US" sz="2000" dirty="0" smtClean="0">
                <a:latin typeface="Garamond" pitchFamily="18" charset="0"/>
              </a:rPr>
              <a:t>, was launched in early 2018.  Finally, </a:t>
            </a:r>
            <a:r>
              <a:rPr lang="en-US" sz="2000" dirty="0" err="1" smtClean="0">
                <a:latin typeface="Garamond" pitchFamily="18" charset="0"/>
              </a:rPr>
              <a:t>Walmart</a:t>
            </a:r>
            <a:r>
              <a:rPr lang="en-US" sz="2000" dirty="0" smtClean="0">
                <a:latin typeface="Garamond" pitchFamily="18" charset="0"/>
              </a:rPr>
              <a:t> recently partnered with IBM and JD.com on a blockchain that tracks food production, security, and distribution.</a:t>
            </a:r>
          </a:p>
          <a:p>
            <a:pPr marL="0" indent="0" algn="just">
              <a:buNone/>
            </a:pPr>
            <a:r>
              <a:rPr lang="en-US" sz="2000" dirty="0" smtClean="0">
                <a:latin typeface="Garamond" pitchFamily="18" charset="0"/>
              </a:rPr>
              <a:t>There are a myriad of projects and initiatives that have been developed and implemented in the last 5 years. Any simple online search will reveal how reality has far surpassed existing literature on the subject.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46</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TotalTime>
  <Words>4154</Words>
  <Application>Microsoft Office PowerPoint</Application>
  <PresentationFormat>Presentazione su schermo (4:3)</PresentationFormat>
  <Paragraphs>358</Paragraphs>
  <Slides>46</Slides>
  <Notes>0</Notes>
  <HiddenSlides>0</HiddenSlides>
  <MMClips>0</MMClips>
  <ScaleCrop>false</ScaleCrop>
  <HeadingPairs>
    <vt:vector size="4" baseType="variant">
      <vt:variant>
        <vt:lpstr>Tema</vt:lpstr>
      </vt:variant>
      <vt:variant>
        <vt:i4>1</vt:i4>
      </vt:variant>
      <vt:variant>
        <vt:lpstr>Titoli diapositive</vt:lpstr>
      </vt:variant>
      <vt:variant>
        <vt:i4>46</vt:i4>
      </vt:variant>
    </vt:vector>
  </HeadingPairs>
  <TitlesOfParts>
    <vt:vector size="47" baseType="lpstr">
      <vt:lpstr>Tema di Office</vt:lpstr>
      <vt:lpstr>LEZIONE N. 6</vt:lpstr>
      <vt:lpstr>CASE: BLOCKCHAIN CONSENSUS PROTOCOLS </vt:lpstr>
      <vt:lpstr>BENEFITS </vt:lpstr>
      <vt:lpstr> </vt:lpstr>
      <vt:lpstr> </vt:lpstr>
      <vt:lpstr> </vt:lpstr>
      <vt:lpstr> </vt:lpstr>
      <vt:lpstr> </vt:lpstr>
      <vt:lpstr> </vt:lpstr>
      <vt:lpstr> </vt:lpstr>
      <vt:lpstr> </vt:lpstr>
      <vt:lpstr> </vt:lpstr>
      <vt:lpstr> </vt:lpstr>
      <vt:lpstr> </vt:lpstr>
      <vt:lpstr> </vt:lpstr>
      <vt:lpstr> </vt:lpstr>
      <vt:lpstr> SMART CONTRACTS  </vt:lpstr>
      <vt:lpstr> </vt:lpstr>
      <vt:lpstr>Diapositiva 19</vt:lpstr>
      <vt:lpstr>Diapositiva 20</vt:lpstr>
      <vt:lpstr>DISTRIBUTION OF INFORMATION </vt:lpstr>
      <vt:lpstr>Diapositiva 22</vt:lpstr>
      <vt:lpstr>A NEW MODEL OF DECENTRALIZED CONSENSUS AND INFORMATION </vt:lpstr>
      <vt:lpstr> COMMERCIAL FINANCE </vt:lpstr>
      <vt:lpstr>Diapositiva 25</vt:lpstr>
      <vt:lpstr>Diapositiva 26</vt:lpstr>
      <vt:lpstr>INFORMATION AND BEHAVIOR OF REGISTER HOLDERS </vt:lpstr>
      <vt:lpstr>Diapositiva 28</vt:lpstr>
      <vt:lpstr>Diapositiva 29</vt:lpstr>
      <vt:lpstr>Diapositiva 30</vt:lpstr>
      <vt:lpstr>A FEW NOTES ON THE LITERATURE OF THE INFORMATION ECONOMY  </vt:lpstr>
      <vt:lpstr>Diapositiva 32</vt:lpstr>
      <vt:lpstr>Diapositiva 33</vt:lpstr>
      <vt:lpstr>Diapositiva 34</vt:lpstr>
      <vt:lpstr>BLOCKCHAIN APPLICATIONS IN THE TRADE FINANCE SECTOR AND THE USE OF RELIABLE PAYMENT PLATFORMS: BITCOIN, ETHEREUM, AND RIPPLE. </vt:lpstr>
      <vt:lpstr>Diapositiva 36</vt:lpstr>
      <vt:lpstr>Diapositiva 37</vt:lpstr>
      <vt:lpstr>EXAMPLES</vt:lpstr>
      <vt:lpstr>Diapositiva 39</vt:lpstr>
      <vt:lpstr>Diapositiva 40</vt:lpstr>
      <vt:lpstr>Diapositiva 41</vt:lpstr>
      <vt:lpstr>Diapositiva 42</vt:lpstr>
      <vt:lpstr>Diapositiva 43</vt:lpstr>
      <vt:lpstr>Diapositiva 44</vt:lpstr>
      <vt:lpstr>OTHER APPLICATIONS </vt:lpstr>
      <vt:lpstr>Diapositiva 46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133</cp:revision>
  <dcterms:created xsi:type="dcterms:W3CDTF">2022-09-16T10:16:52Z</dcterms:created>
  <dcterms:modified xsi:type="dcterms:W3CDTF">2024-05-15T10:41:55Z</dcterms:modified>
</cp:coreProperties>
</file>