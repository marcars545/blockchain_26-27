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79" r:id="rId2"/>
    <p:sldId id="277"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80" r:id="rId24"/>
  </p:sldIdLst>
  <p:sldSz cx="9144000" cy="6858000" type="screen4x3"/>
  <p:notesSz cx="6797675" cy="9926638"/>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2" d="100"/>
          <a:sy n="82" d="100"/>
        </p:scale>
        <p:origin x="-1530"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2065F486-2BD8-483E-8602-FB08F44294C4}" type="datetimeFigureOut">
              <a:rPr lang="it-IT" smtClean="0"/>
              <a:pPr/>
              <a:t>14/09/2023</a:t>
            </a:fld>
            <a:endParaRPr lang="it-IT"/>
          </a:p>
        </p:txBody>
      </p:sp>
      <p:sp>
        <p:nvSpPr>
          <p:cNvPr id="4" name="Segnaposto immagine diapositiva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79768" y="4715153"/>
            <a:ext cx="5438140" cy="4466987"/>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6" name="Segnaposto piè di pagina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99A43FD7-0CB4-4170-93A1-32361A638EEC}" type="slidenum">
              <a:rPr lang="it-IT" smtClean="0"/>
              <a:pPr/>
              <a:t>‹N›</a:t>
            </a:fld>
            <a:endParaRPr lang="it-IT"/>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a:t>
            </a:fld>
            <a:endParaRPr lang="it-IT"/>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a:t>
            </a:fld>
            <a:endParaRPr lang="it-IT"/>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3</a:t>
            </a:fld>
            <a:endParaRPr lang="it-IT"/>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4</a:t>
            </a:fld>
            <a:endParaRPr lang="it-IT"/>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5</a:t>
            </a:fld>
            <a:endParaRPr lang="it-IT"/>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6</a:t>
            </a:fld>
            <a:endParaRPr lang="it-IT"/>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7</a:t>
            </a:fld>
            <a:endParaRPr lang="it-IT"/>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8</a:t>
            </a:fld>
            <a:endParaRPr lang="it-IT"/>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9</a:t>
            </a:fld>
            <a:endParaRPr lang="it-IT"/>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10</a:t>
            </a:fld>
            <a:endParaRPr lang="it-IT"/>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11</a:t>
            </a:fld>
            <a:endParaRPr lang="it-IT"/>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12</a:t>
            </a:fld>
            <a:endParaRPr lang="it-IT"/>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13</a:t>
            </a:fld>
            <a:endParaRPr lang="it-IT"/>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14</a:t>
            </a:fld>
            <a:endParaRPr lang="it-IT"/>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15</a:t>
            </a:fld>
            <a:endParaRPr lang="it-IT"/>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16</a:t>
            </a:fld>
            <a:endParaRPr lang="it-IT"/>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17</a:t>
            </a:fld>
            <a:endParaRPr lang="it-IT"/>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18</a:t>
            </a:fld>
            <a:endParaRPr lang="it-IT"/>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19</a:t>
            </a:fld>
            <a:endParaRPr lang="it-IT"/>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20</a:t>
            </a:fld>
            <a:endParaRPr lang="it-IT"/>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21</a:t>
            </a:fld>
            <a:endParaRPr lang="it-IT"/>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22</a:t>
            </a:fld>
            <a:endParaRPr lang="it-IT"/>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23</a:t>
            </a:fld>
            <a:endParaRPr lang="it-IT"/>
          </a:p>
        </p:txBody>
      </p:sp>
    </p:spTree>
    <p:extLst>
      <p:ext uri="{BB962C8B-B14F-4D97-AF65-F5344CB8AC3E}">
        <p14:creationId xmlns:p14="http://schemas.microsoft.com/office/powerpoint/2010/main" xmlns="" val="41717371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p:spPr>
        <p:txBody>
          <a:bodyPr/>
          <a:lstStyle/>
          <a:p>
            <a:r>
              <a:rPr lang="it-IT" smtClean="0"/>
              <a:t>Fare clic per modificare lo stile del titolo</a:t>
            </a:r>
            <a:endParaRPr lang="it-IT"/>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smtClean="0"/>
              <a:t>Fare clic per modificare lo stile del sottotitolo dello schema</a:t>
            </a:r>
            <a:endParaRPr lang="it-IT"/>
          </a:p>
        </p:txBody>
      </p:sp>
      <p:sp>
        <p:nvSpPr>
          <p:cNvPr id="4" name="Segnaposto data 3"/>
          <p:cNvSpPr>
            <a:spLocks noGrp="1"/>
          </p:cNvSpPr>
          <p:nvPr>
            <p:ph type="dt" sz="half" idx="10"/>
          </p:nvPr>
        </p:nvSpPr>
        <p:spPr/>
        <p:txBody>
          <a:bodyPr/>
          <a:lstStyle/>
          <a:p>
            <a:fld id="{A2A6E0E6-B8C7-46B8-B5A2-30977B745602}" type="datetimeFigureOut">
              <a:rPr lang="it-IT" smtClean="0"/>
              <a:pPr/>
              <a:t>14/09/2023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186C35EB-42D2-49D0-85A8-465AAF836DF9}" type="slidenum">
              <a:rPr lang="it-IT" smtClean="0"/>
              <a:pPr/>
              <a:t>‹N›</a:t>
            </a:fld>
            <a:endParaRPr lang="it-IT"/>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idx="1"/>
          </p:nvPr>
        </p:nvSpPr>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A2A6E0E6-B8C7-46B8-B5A2-30977B745602}" type="datetimeFigureOut">
              <a:rPr lang="it-IT" smtClean="0"/>
              <a:pPr/>
              <a:t>14/09/2023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186C35EB-42D2-49D0-85A8-465AAF836DF9}" type="slidenum">
              <a:rPr lang="it-IT" smtClean="0"/>
              <a:pPr/>
              <a:t>‹N›</a:t>
            </a:fld>
            <a:endParaRPr lang="it-IT"/>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smtClean="0"/>
              <a:t>Fare clic per modificare lo stile del titolo</a:t>
            </a:r>
            <a:endParaRPr lang="it-IT"/>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smtClean="0"/>
              <a:t>Fare clic per modificare stili del testo dello schema</a:t>
            </a:r>
          </a:p>
        </p:txBody>
      </p:sp>
      <p:sp>
        <p:nvSpPr>
          <p:cNvPr id="4" name="Segnaposto data 3"/>
          <p:cNvSpPr>
            <a:spLocks noGrp="1"/>
          </p:cNvSpPr>
          <p:nvPr>
            <p:ph type="dt" sz="half" idx="10"/>
          </p:nvPr>
        </p:nvSpPr>
        <p:spPr/>
        <p:txBody>
          <a:bodyPr/>
          <a:lstStyle/>
          <a:p>
            <a:fld id="{A2A6E0E6-B8C7-46B8-B5A2-30977B745602}" type="datetimeFigureOut">
              <a:rPr lang="it-IT" smtClean="0"/>
              <a:pPr/>
              <a:t>14/09/2023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186C35EB-42D2-49D0-85A8-465AAF836DF9}" type="slidenum">
              <a:rPr lang="it-IT" smtClean="0"/>
              <a:pPr/>
              <a:t>‹N›</a:t>
            </a:fld>
            <a:endParaRPr lang="it-IT"/>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contenut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data 4"/>
          <p:cNvSpPr>
            <a:spLocks noGrp="1"/>
          </p:cNvSpPr>
          <p:nvPr>
            <p:ph type="dt" sz="half" idx="10"/>
          </p:nvPr>
        </p:nvSpPr>
        <p:spPr/>
        <p:txBody>
          <a:bodyPr/>
          <a:lstStyle/>
          <a:p>
            <a:fld id="{A2A6E0E6-B8C7-46B8-B5A2-30977B745602}" type="datetimeFigureOut">
              <a:rPr lang="it-IT" smtClean="0"/>
              <a:pPr/>
              <a:t>14/09/2023</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186C35EB-42D2-49D0-85A8-465AAF836DF9}" type="slidenum">
              <a:rPr lang="it-IT" smtClean="0"/>
              <a:pPr/>
              <a:t>‹N›</a:t>
            </a:fld>
            <a:endParaRPr lang="it-IT"/>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smtClean="0"/>
              <a:t>Fare clic per modificare lo stile del titolo</a:t>
            </a:r>
            <a:endParaRPr lang="it-IT"/>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7" name="Segnaposto data 6"/>
          <p:cNvSpPr>
            <a:spLocks noGrp="1"/>
          </p:cNvSpPr>
          <p:nvPr>
            <p:ph type="dt" sz="half" idx="10"/>
          </p:nvPr>
        </p:nvSpPr>
        <p:spPr/>
        <p:txBody>
          <a:bodyPr/>
          <a:lstStyle/>
          <a:p>
            <a:fld id="{A2A6E0E6-B8C7-46B8-B5A2-30977B745602}" type="datetimeFigureOut">
              <a:rPr lang="it-IT" smtClean="0"/>
              <a:pPr/>
              <a:t>14/09/2023</a:t>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186C35EB-42D2-49D0-85A8-465AAF836DF9}" type="slidenum">
              <a:rPr lang="it-IT" smtClean="0"/>
              <a:pPr/>
              <a:t>‹N›</a:t>
            </a:fld>
            <a:endParaRPr lang="it-IT"/>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data 2"/>
          <p:cNvSpPr>
            <a:spLocks noGrp="1"/>
          </p:cNvSpPr>
          <p:nvPr>
            <p:ph type="dt" sz="half" idx="10"/>
          </p:nvPr>
        </p:nvSpPr>
        <p:spPr/>
        <p:txBody>
          <a:bodyPr/>
          <a:lstStyle/>
          <a:p>
            <a:fld id="{A2A6E0E6-B8C7-46B8-B5A2-30977B745602}" type="datetimeFigureOut">
              <a:rPr lang="it-IT" smtClean="0"/>
              <a:pPr/>
              <a:t>14/09/2023</a:t>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186C35EB-42D2-49D0-85A8-465AAF836DF9}" type="slidenum">
              <a:rPr lang="it-IT" smtClean="0"/>
              <a:pPr/>
              <a:t>‹N›</a:t>
            </a:fld>
            <a:endParaRPr lang="it-IT"/>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A2A6E0E6-B8C7-46B8-B5A2-30977B745602}" type="datetimeFigureOut">
              <a:rPr lang="it-IT" smtClean="0"/>
              <a:pPr/>
              <a:t>14/09/2023</a:t>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186C35EB-42D2-49D0-85A8-465AAF836DF9}" type="slidenum">
              <a:rPr lang="it-IT" smtClean="0"/>
              <a:pPr/>
              <a:t>‹N›</a:t>
            </a:fld>
            <a:endParaRPr lang="it-I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smtClean="0"/>
              <a:t>Fare clic per modificare lo stile del titolo</a:t>
            </a:r>
            <a:endParaRPr lang="it-IT"/>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A2A6E0E6-B8C7-46B8-B5A2-30977B745602}" type="datetimeFigureOut">
              <a:rPr lang="it-IT" smtClean="0"/>
              <a:pPr/>
              <a:t>14/09/2023</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186C35EB-42D2-49D0-85A8-465AAF836DF9}" type="slidenum">
              <a:rPr lang="it-IT" smtClean="0"/>
              <a:pPr/>
              <a:t>‹N›</a:t>
            </a:fld>
            <a:endParaRPr lang="it-IT"/>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smtClean="0"/>
              <a:t>Fare clic per modificare lo stile del titolo</a:t>
            </a:r>
            <a:endParaRPr lang="it-IT"/>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A2A6E0E6-B8C7-46B8-B5A2-30977B745602}" type="datetimeFigureOut">
              <a:rPr lang="it-IT" smtClean="0"/>
              <a:pPr/>
              <a:t>14/09/2023</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186C35EB-42D2-49D0-85A8-465AAF836DF9}" type="slidenum">
              <a:rPr lang="it-IT" smtClean="0"/>
              <a:pPr/>
              <a:t>‹N›</a:t>
            </a:fld>
            <a:endParaRPr lang="it-IT"/>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testo verticale 2"/>
          <p:cNvSpPr>
            <a:spLocks noGrp="1"/>
          </p:cNvSpPr>
          <p:nvPr>
            <p:ph type="body" orient="vert" idx="1"/>
          </p:nvPr>
        </p:nvSpPr>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A2A6E0E6-B8C7-46B8-B5A2-30977B745602}" type="datetimeFigureOut">
              <a:rPr lang="it-IT" smtClean="0"/>
              <a:pPr/>
              <a:t>14/09/2023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186C35EB-42D2-49D0-85A8-465AAF836DF9}" type="slidenum">
              <a:rPr lang="it-IT" smtClean="0"/>
              <a:pPr/>
              <a:t>‹N›</a:t>
            </a:fld>
            <a:endParaRPr lang="it-I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74638"/>
            <a:ext cx="2057400" cy="5851525"/>
          </a:xfrm>
        </p:spPr>
        <p:txBody>
          <a:bodyPr vert="eaVert"/>
          <a:lstStyle/>
          <a:p>
            <a:r>
              <a:rPr lang="it-IT" smtClean="0"/>
              <a:t>Fare clic per modificare lo stile del titolo</a:t>
            </a:r>
            <a:endParaRPr lang="it-IT"/>
          </a:p>
        </p:txBody>
      </p:sp>
      <p:sp>
        <p:nvSpPr>
          <p:cNvPr id="3" name="Segnaposto testo verticale 2"/>
          <p:cNvSpPr>
            <a:spLocks noGrp="1"/>
          </p:cNvSpPr>
          <p:nvPr>
            <p:ph type="body" orient="vert" idx="1"/>
          </p:nvPr>
        </p:nvSpPr>
        <p:spPr>
          <a:xfrm>
            <a:off x="457200" y="274638"/>
            <a:ext cx="6019800" cy="5851525"/>
          </a:xfrm>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A2A6E0E6-B8C7-46B8-B5A2-30977B745602}" type="datetimeFigureOut">
              <a:rPr lang="it-IT" smtClean="0"/>
              <a:pPr/>
              <a:t>14/09/2023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186C35EB-42D2-49D0-85A8-465AAF836DF9}" type="slidenum">
              <a:rPr lang="it-IT" smtClean="0"/>
              <a:pPr/>
              <a:t>‹N›</a:t>
            </a:fld>
            <a:endParaRPr lang="it-IT"/>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it-IT" smtClean="0"/>
              <a:t>Fare clic per modificare lo stile del titolo</a:t>
            </a:r>
            <a:endParaRPr lang="it-IT"/>
          </a:p>
        </p:txBody>
      </p:sp>
      <p:sp>
        <p:nvSpPr>
          <p:cNvPr id="3" name="Segnaposto tes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A6E0E6-B8C7-46B8-B5A2-30977B745602}" type="datetimeFigureOut">
              <a:rPr lang="it-IT" smtClean="0"/>
              <a:pPr/>
              <a:t>14/09/2023</a:t>
            </a:fld>
            <a:endParaRPr lang="it-IT"/>
          </a:p>
        </p:txBody>
      </p:sp>
      <p:sp>
        <p:nvSpPr>
          <p:cNvPr id="5" name="Segnaposto piè di pa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6C35EB-42D2-49D0-85A8-465AAF836DF9}" type="slidenum">
              <a:rPr lang="it-IT" smtClean="0"/>
              <a:pPr/>
              <a:t>‹N›</a:t>
            </a:fld>
            <a:endParaRPr lang="it-IT"/>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Titolo 8"/>
          <p:cNvSpPr>
            <a:spLocks noGrp="1"/>
          </p:cNvSpPr>
          <p:nvPr>
            <p:ph type="ctrTitle"/>
          </p:nvPr>
        </p:nvSpPr>
        <p:spPr/>
        <p:txBody>
          <a:bodyPr>
            <a:normAutofit fontScale="90000"/>
          </a:bodyPr>
          <a:lstStyle/>
          <a:p>
            <a:r>
              <a:rPr lang="it-IT" sz="2800" b="1" dirty="0" smtClean="0">
                <a:solidFill>
                  <a:srgbClr val="FF0000"/>
                </a:solidFill>
                <a:latin typeface="Garamond" pitchFamily="18" charset="0"/>
              </a:rPr>
              <a:t>CORSO </a:t>
            </a:r>
            <a:r>
              <a:rPr lang="it-IT" sz="2800" b="1" dirty="0" err="1" smtClean="0">
                <a:solidFill>
                  <a:srgbClr val="FF0000"/>
                </a:solidFill>
                <a:latin typeface="Garamond" pitchFamily="18" charset="0"/>
              </a:rPr>
              <a:t>DI</a:t>
            </a:r>
            <a:r>
              <a:rPr lang="it-IT" sz="2800" b="1" dirty="0" smtClean="0">
                <a:solidFill>
                  <a:srgbClr val="FF0000"/>
                </a:solidFill>
                <a:latin typeface="Garamond" pitchFamily="18" charset="0"/>
              </a:rPr>
              <a:t> CYBERSECURITY AWARENESS </a:t>
            </a:r>
            <a:r>
              <a:rPr lang="en-US" sz="2800" b="1" dirty="0" smtClean="0">
                <a:solidFill>
                  <a:srgbClr val="FF0000"/>
                </a:solidFill>
                <a:latin typeface="Garamond" pitchFamily="18" charset="0"/>
              </a:rPr>
              <a:t/>
            </a:r>
            <a:br>
              <a:rPr lang="en-US" sz="2800" b="1" dirty="0" smtClean="0">
                <a:solidFill>
                  <a:srgbClr val="FF0000"/>
                </a:solidFill>
                <a:latin typeface="Garamond" pitchFamily="18" charset="0"/>
              </a:rPr>
            </a:br>
            <a:r>
              <a:rPr lang="en-US" sz="2800" b="1" dirty="0" smtClean="0">
                <a:solidFill>
                  <a:srgbClr val="FF0000"/>
                </a:solidFill>
                <a:latin typeface="Garamond" pitchFamily="18" charset="0"/>
              </a:rPr>
              <a:t/>
            </a:r>
            <a:br>
              <a:rPr lang="en-US" sz="2800" b="1" dirty="0" smtClean="0">
                <a:solidFill>
                  <a:srgbClr val="FF0000"/>
                </a:solidFill>
                <a:latin typeface="Garamond" pitchFamily="18" charset="0"/>
              </a:rPr>
            </a:br>
            <a:r>
              <a:rPr lang="en-US" sz="2800" b="1" dirty="0" smtClean="0">
                <a:solidFill>
                  <a:srgbClr val="FF0000"/>
                </a:solidFill>
                <a:latin typeface="Garamond" pitchFamily="18" charset="0"/>
              </a:rPr>
              <a:t/>
            </a:r>
            <a:br>
              <a:rPr lang="en-US" sz="2800" b="1" dirty="0" smtClean="0">
                <a:solidFill>
                  <a:srgbClr val="FF0000"/>
                </a:solidFill>
                <a:latin typeface="Garamond" pitchFamily="18" charset="0"/>
              </a:rPr>
            </a:br>
            <a:r>
              <a:rPr lang="en-US" sz="2800" b="1" dirty="0" smtClean="0">
                <a:solidFill>
                  <a:srgbClr val="FF0000"/>
                </a:solidFill>
                <a:latin typeface="Garamond" pitchFamily="18" charset="0"/>
              </a:rPr>
              <a:t>CYBERSECURITY, TYPES OF SECURITY, AND PRIVACY </a:t>
            </a:r>
            <a:br>
              <a:rPr lang="en-US" sz="2800" b="1" dirty="0" smtClean="0">
                <a:solidFill>
                  <a:srgbClr val="FF0000"/>
                </a:solidFill>
                <a:latin typeface="Garamond" pitchFamily="18" charset="0"/>
              </a:rPr>
            </a:br>
            <a:r>
              <a:rPr lang="en-US" sz="2800" b="1" dirty="0" smtClean="0">
                <a:solidFill>
                  <a:srgbClr val="FF0000"/>
                </a:solidFill>
                <a:latin typeface="Garamond" pitchFamily="18" charset="0"/>
              </a:rPr>
              <a:t/>
            </a:r>
            <a:br>
              <a:rPr lang="en-US" sz="2800" b="1" dirty="0" smtClean="0">
                <a:solidFill>
                  <a:srgbClr val="FF0000"/>
                </a:solidFill>
                <a:latin typeface="Garamond" pitchFamily="18" charset="0"/>
              </a:rPr>
            </a:br>
            <a:r>
              <a:rPr lang="en-US" sz="2800" b="1" dirty="0" smtClean="0">
                <a:solidFill>
                  <a:srgbClr val="FF0000"/>
                </a:solidFill>
                <a:latin typeface="Garamond" pitchFamily="18" charset="0"/>
              </a:rPr>
              <a:t>N. 6</a:t>
            </a:r>
            <a:endParaRPr lang="it-IT" sz="2800" b="1" dirty="0">
              <a:solidFill>
                <a:srgbClr val="FF0000"/>
              </a:solidFill>
              <a:latin typeface="Garamond" pitchFamily="18" charset="0"/>
            </a:endParaRPr>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p:cNvSpPr>
            <a:spLocks noGrp="1"/>
          </p:cNvSpPr>
          <p:nvPr>
            <p:ph type="title"/>
          </p:nvPr>
        </p:nvSpPr>
        <p:spPr>
          <a:xfrm>
            <a:off x="457200" y="1071554"/>
            <a:ext cx="8229600" cy="1143000"/>
          </a:xfrm>
        </p:spPr>
        <p:txBody>
          <a:bodyPr>
            <a:normAutofit/>
          </a:bodyPr>
          <a:lstStyle/>
          <a:p>
            <a:r>
              <a:rPr lang="it-IT" sz="2400" b="1" dirty="0" smtClean="0">
                <a:solidFill>
                  <a:srgbClr val="FF0000"/>
                </a:solidFill>
                <a:latin typeface="Garamond" pitchFamily="18" charset="0"/>
              </a:rPr>
              <a:t>INDEX</a:t>
            </a:r>
            <a:endParaRPr lang="it-IT" sz="2400" b="1" dirty="0">
              <a:solidFill>
                <a:srgbClr val="FF0000"/>
              </a:solidFill>
              <a:latin typeface="Garamond" pitchFamily="18" charset="0"/>
            </a:endParaRPr>
          </a:p>
        </p:txBody>
      </p:sp>
      <p:sp>
        <p:nvSpPr>
          <p:cNvPr id="14" name="Segnaposto contenuto 13"/>
          <p:cNvSpPr>
            <a:spLocks noGrp="1"/>
          </p:cNvSpPr>
          <p:nvPr>
            <p:ph idx="1"/>
          </p:nvPr>
        </p:nvSpPr>
        <p:spPr>
          <a:xfrm>
            <a:off x="457200" y="2117747"/>
            <a:ext cx="8229600" cy="4525963"/>
          </a:xfrm>
        </p:spPr>
        <p:txBody>
          <a:bodyPr>
            <a:normAutofit/>
          </a:bodyPr>
          <a:lstStyle/>
          <a:p>
            <a:pPr marL="514350" indent="-514350" algn="just">
              <a:buFont typeface="+mj-lt"/>
              <a:buAutoNum type="arabicPeriod"/>
            </a:pPr>
            <a:r>
              <a:rPr lang="en-US" sz="1800" b="1" dirty="0" smtClean="0">
                <a:latin typeface="Garamond" pitchFamily="18" charset="0"/>
              </a:rPr>
              <a:t>Hardware Protection Mechanisms</a:t>
            </a:r>
          </a:p>
          <a:p>
            <a:pPr marL="514350" indent="-514350" algn="just">
              <a:buFont typeface="+mj-lt"/>
              <a:buAutoNum type="arabicPeriod"/>
            </a:pPr>
            <a:r>
              <a:rPr lang="en-US" sz="1800" b="1" dirty="0" smtClean="0">
                <a:latin typeface="Garamond" pitchFamily="18" charset="0"/>
              </a:rPr>
              <a:t>Secure Operating Systems and Secure Encryption</a:t>
            </a:r>
          </a:p>
          <a:p>
            <a:pPr marL="514350" indent="-514350" algn="just">
              <a:buFont typeface="+mj-lt"/>
              <a:buAutoNum type="arabicPeriod"/>
            </a:pPr>
            <a:r>
              <a:rPr lang="en-US" sz="1800" b="1" dirty="0" smtClean="0">
                <a:latin typeface="Garamond" pitchFamily="18" charset="0"/>
              </a:rPr>
              <a:t>Functionality and Access Control Lists</a:t>
            </a:r>
          </a:p>
          <a:p>
            <a:pPr marL="514350" indent="-514350" algn="just">
              <a:buFont typeface="+mj-lt"/>
              <a:buAutoNum type="arabicPeriod"/>
            </a:pPr>
            <a:r>
              <a:rPr lang="en-US" sz="1800" b="1" dirty="0" smtClean="0">
                <a:latin typeface="Garamond" pitchFamily="18" charset="0"/>
              </a:rPr>
              <a:t>End User Security Training</a:t>
            </a:r>
          </a:p>
          <a:p>
            <a:pPr marL="514350" indent="-514350" algn="just">
              <a:buFont typeface="+mj-lt"/>
              <a:buAutoNum type="arabicPeriod"/>
            </a:pPr>
            <a:r>
              <a:rPr lang="en-US" sz="1800" b="1" dirty="0" smtClean="0">
                <a:latin typeface="Garamond" pitchFamily="18" charset="0"/>
              </a:rPr>
              <a:t>Digital Hygiene</a:t>
            </a:r>
          </a:p>
          <a:p>
            <a:pPr marL="514350" indent="-514350" algn="just">
              <a:buFont typeface="+mj-lt"/>
              <a:buAutoNum type="arabicPeriod"/>
            </a:pPr>
            <a:r>
              <a:rPr lang="en-US" sz="1800" b="1" dirty="0" smtClean="0">
                <a:latin typeface="Garamond" pitchFamily="18" charset="0"/>
              </a:rPr>
              <a:t>Response to Violations</a:t>
            </a:r>
          </a:p>
          <a:p>
            <a:pPr marL="514350" indent="-514350" algn="just">
              <a:buFont typeface="+mj-lt"/>
              <a:buAutoNum type="arabicPeriod"/>
            </a:pPr>
            <a:r>
              <a:rPr lang="en-US" sz="1800" b="1" dirty="0" smtClean="0">
                <a:latin typeface="Garamond" pitchFamily="18" charset="0"/>
              </a:rPr>
              <a:t>Terminology</a:t>
            </a:r>
            <a:endParaRPr lang="it-IT" sz="1800" dirty="0" smtClean="0">
              <a:latin typeface="Garamond" pitchFamily="18" charset="0"/>
            </a:endParaRPr>
          </a:p>
          <a:p>
            <a:pPr marL="514350" indent="-514350" algn="just">
              <a:buNone/>
            </a:pPr>
            <a:endParaRPr lang="en-US" sz="1800" b="1"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olo 11"/>
          <p:cNvSpPr>
            <a:spLocks noGrp="1"/>
          </p:cNvSpPr>
          <p:nvPr>
            <p:ph type="title"/>
          </p:nvPr>
        </p:nvSpPr>
        <p:spPr>
          <a:xfrm>
            <a:off x="457200" y="1225520"/>
            <a:ext cx="8229600" cy="560406"/>
          </a:xfrm>
        </p:spPr>
        <p:txBody>
          <a:bodyPr>
            <a:noAutofit/>
          </a:bodyPr>
          <a:lstStyle/>
          <a:p>
            <a:r>
              <a:rPr lang="it-IT" sz="2300" b="1" dirty="0" smtClean="0">
                <a:solidFill>
                  <a:srgbClr val="FF0000"/>
                </a:solidFill>
                <a:latin typeface="Garamond" pitchFamily="18" charset="0"/>
              </a:rPr>
              <a:t>HARDWARE PROTECTION MECHANISMS</a:t>
            </a:r>
            <a:endParaRPr lang="it-IT" sz="2300" b="1" dirty="0">
              <a:solidFill>
                <a:srgbClr val="FF0000"/>
              </a:solidFill>
              <a:latin typeface="Garamond" pitchFamily="18" charset="0"/>
            </a:endParaRPr>
          </a:p>
        </p:txBody>
      </p:sp>
      <p:sp>
        <p:nvSpPr>
          <p:cNvPr id="11" name="Segnaposto contenuto 10"/>
          <p:cNvSpPr>
            <a:spLocks noGrp="1"/>
          </p:cNvSpPr>
          <p:nvPr>
            <p:ph idx="1"/>
          </p:nvPr>
        </p:nvSpPr>
        <p:spPr/>
        <p:txBody>
          <a:bodyPr>
            <a:normAutofit/>
          </a:bodyPr>
          <a:lstStyle/>
          <a:p>
            <a:pPr marL="0" indent="0" algn="ctr">
              <a:buNone/>
            </a:pPr>
            <a:endParaRPr lang="en-US" sz="2100" dirty="0" smtClean="0">
              <a:latin typeface="Garamond" pitchFamily="18" charset="0"/>
            </a:endParaRPr>
          </a:p>
          <a:p>
            <a:pPr marL="0" indent="0" algn="ctr">
              <a:buNone/>
            </a:pPr>
            <a:endParaRPr lang="en-US" sz="2100" dirty="0" smtClean="0">
              <a:latin typeface="Garamond" pitchFamily="18" charset="0"/>
            </a:endParaRPr>
          </a:p>
          <a:p>
            <a:pPr marL="0" indent="0" algn="ctr">
              <a:buNone/>
            </a:pPr>
            <a:r>
              <a:rPr lang="en-US" sz="2000" dirty="0" smtClean="0">
                <a:latin typeface="Garamond" pitchFamily="18" charset="0"/>
              </a:rPr>
              <a:t>While hardware can be a source of insecurity with, for example, microchip vulnerabilities, maliciously introduced during the manufacturing process, </a:t>
            </a:r>
            <a:r>
              <a:rPr lang="en-US" sz="2000" u="sng" dirty="0" smtClean="0">
                <a:latin typeface="Garamond" pitchFamily="18" charset="0"/>
              </a:rPr>
              <a:t>hardware-based </a:t>
            </a:r>
            <a:r>
              <a:rPr lang="en-US" sz="2000" u="sng" dirty="0" err="1" smtClean="0">
                <a:latin typeface="Garamond" pitchFamily="18" charset="0"/>
              </a:rPr>
              <a:t>cybersecurity</a:t>
            </a:r>
            <a:r>
              <a:rPr lang="en-US" sz="2000" u="sng" dirty="0" smtClean="0">
                <a:latin typeface="Garamond" pitchFamily="18" charset="0"/>
              </a:rPr>
              <a:t> </a:t>
            </a:r>
            <a:r>
              <a:rPr lang="en-US" sz="2000" dirty="0" smtClean="0">
                <a:latin typeface="Garamond" pitchFamily="18" charset="0"/>
              </a:rPr>
              <a:t>can </a:t>
            </a:r>
            <a:r>
              <a:rPr lang="en-US" sz="2000" u="sng" dirty="0" smtClean="0">
                <a:latin typeface="Garamond" pitchFamily="18" charset="0"/>
              </a:rPr>
              <a:t>offer an alternative to software-only security. </a:t>
            </a:r>
            <a:r>
              <a:rPr lang="en-US" sz="2000" dirty="0" smtClean="0">
                <a:latin typeface="Garamond" pitchFamily="18" charset="0"/>
              </a:rPr>
              <a:t>Using devices and methods such as dongles, trusted platform modules, intrusion-sensitive enclosures, drive lockers, USB port disabling, and mobile-enabled access, may be considered more secure because physical access (or the more sophisticated backdoor access) is required to be compromised.</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3</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Freccia a destra 8"/>
          <p:cNvSpPr/>
          <p:nvPr/>
        </p:nvSpPr>
        <p:spPr>
          <a:xfrm>
            <a:off x="7286644" y="5643578"/>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4" name="Rettangolo 13"/>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485804" y="1214422"/>
            <a:ext cx="8229600" cy="4525963"/>
          </a:xfrm>
        </p:spPr>
        <p:txBody>
          <a:bodyPr>
            <a:normAutofit/>
          </a:bodyPr>
          <a:lstStyle/>
          <a:p>
            <a:pPr marL="0" indent="0" algn="ctr">
              <a:buNone/>
            </a:pPr>
            <a:endParaRPr lang="en-US" sz="2100" dirty="0" smtClean="0">
              <a:latin typeface="Garamond" pitchFamily="18" charset="0"/>
            </a:endParaRPr>
          </a:p>
          <a:p>
            <a:pPr marL="0" indent="0" algn="ctr">
              <a:buNone/>
            </a:pPr>
            <a:r>
              <a:rPr lang="en-US" sz="2100" dirty="0" smtClean="0">
                <a:latin typeface="Garamond" pitchFamily="18" charset="0"/>
              </a:rPr>
              <a:t>Currently, several types are known:</a:t>
            </a:r>
          </a:p>
          <a:p>
            <a:pPr marL="0" indent="0" algn="ctr">
              <a:buNone/>
            </a:pPr>
            <a:endParaRPr lang="en-US" sz="2100" dirty="0" smtClean="0">
              <a:latin typeface="Garamond" pitchFamily="18" charset="0"/>
            </a:endParaRPr>
          </a:p>
          <a:p>
            <a:pPr marL="0" indent="0" algn="ctr">
              <a:buFontTx/>
              <a:buChar char="-"/>
            </a:pPr>
            <a:r>
              <a:rPr lang="en-US" sz="2100" u="sng" dirty="0" smtClean="0">
                <a:latin typeface="Garamond" pitchFamily="18" charset="0"/>
              </a:rPr>
              <a:t>USB dongles </a:t>
            </a:r>
            <a:r>
              <a:rPr lang="en-US" sz="2100" dirty="0" smtClean="0">
                <a:latin typeface="Garamond" pitchFamily="18" charset="0"/>
              </a:rPr>
              <a:t>are typically used in software licensing schemes to unlock software features, but they can also be seen as a way to prevent unauthorized access to a computer or other device's software. </a:t>
            </a:r>
          </a:p>
          <a:p>
            <a:pPr marL="0" indent="0" algn="ctr">
              <a:buFontTx/>
              <a:buChar char="-"/>
            </a:pPr>
            <a:endParaRPr lang="en-US" sz="2100" dirty="0" smtClean="0">
              <a:latin typeface="Garamond" pitchFamily="18" charset="0"/>
            </a:endParaRPr>
          </a:p>
          <a:p>
            <a:pPr marL="0" indent="0" algn="ctr">
              <a:buFontTx/>
              <a:buChar char="-"/>
            </a:pPr>
            <a:r>
              <a:rPr lang="en-US" sz="2100" dirty="0" smtClean="0">
                <a:latin typeface="Garamond" pitchFamily="18" charset="0"/>
              </a:rPr>
              <a:t>The dongle, or key, essentially creates a secure encrypted tunnel between the software application and the key.</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4</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Freccia a destra 8"/>
          <p:cNvSpPr/>
          <p:nvPr/>
        </p:nvSpPr>
        <p:spPr>
          <a:xfrm>
            <a:off x="7286644" y="5643578"/>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2" name="Rettangolo 11"/>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457200" y="1285860"/>
            <a:ext cx="8229600" cy="4525963"/>
          </a:xfrm>
        </p:spPr>
        <p:txBody>
          <a:bodyPr>
            <a:normAutofit/>
          </a:bodyPr>
          <a:lstStyle/>
          <a:p>
            <a:pPr marL="0" indent="0" algn="ctr">
              <a:buNone/>
            </a:pPr>
            <a:endParaRPr lang="en-US" sz="2100" dirty="0" smtClean="0">
              <a:latin typeface="Garamond" pitchFamily="18" charset="0"/>
            </a:endParaRPr>
          </a:p>
          <a:p>
            <a:pPr marL="0" indent="0" algn="ctr">
              <a:buNone/>
            </a:pPr>
            <a:endParaRPr lang="en-US" sz="2100" dirty="0" smtClean="0">
              <a:latin typeface="Garamond" pitchFamily="18" charset="0"/>
            </a:endParaRPr>
          </a:p>
          <a:p>
            <a:pPr marL="0" indent="0" algn="ctr">
              <a:buNone/>
            </a:pPr>
            <a:r>
              <a:rPr lang="en-US" sz="2100" dirty="0" smtClean="0">
                <a:latin typeface="Garamond" pitchFamily="18" charset="0"/>
              </a:rPr>
              <a:t>The </a:t>
            </a:r>
            <a:r>
              <a:rPr lang="en-US" sz="2100" dirty="0" err="1" smtClean="0">
                <a:latin typeface="Garamond" pitchFamily="18" charset="0"/>
              </a:rPr>
              <a:t>dongle’s</a:t>
            </a:r>
            <a:r>
              <a:rPr lang="en-US" sz="2100" dirty="0" smtClean="0">
                <a:latin typeface="Garamond" pitchFamily="18" charset="0"/>
              </a:rPr>
              <a:t> encryption scheme, e.g., the Advanced Encryption Standard (AES), provides a stronger measure of security since the dongle is more difficult to hack and replicate. Another security application for dongles is to use them to access web-based content such as cloud software or virtual private networks (VPNs).</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5</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Freccia a destra 8"/>
          <p:cNvSpPr/>
          <p:nvPr/>
        </p:nvSpPr>
        <p:spPr>
          <a:xfrm>
            <a:off x="7286644" y="5643578"/>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2" name="Rettangolo 11"/>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457200" y="1285860"/>
            <a:ext cx="8229600" cy="4525963"/>
          </a:xfrm>
        </p:spPr>
        <p:txBody>
          <a:bodyPr>
            <a:normAutofit/>
          </a:bodyPr>
          <a:lstStyle/>
          <a:p>
            <a:pPr marL="0" indent="0" algn="ctr">
              <a:buNone/>
            </a:pPr>
            <a:endParaRPr lang="en-US" sz="2100" dirty="0" smtClean="0">
              <a:latin typeface="Garamond" pitchFamily="18" charset="0"/>
            </a:endParaRPr>
          </a:p>
          <a:p>
            <a:pPr marL="0" indent="0" algn="just">
              <a:buNone/>
            </a:pPr>
            <a:r>
              <a:rPr lang="en-US" sz="2000" u="sng" dirty="0" smtClean="0">
                <a:latin typeface="Garamond" pitchFamily="18" charset="0"/>
              </a:rPr>
              <a:t>Trusted Platform Modules </a:t>
            </a:r>
            <a:r>
              <a:rPr lang="en-US" sz="2000" dirty="0" smtClean="0">
                <a:latin typeface="Garamond" pitchFamily="18" charset="0"/>
              </a:rPr>
              <a:t>(TPM) are systems that protect devices, integrating cryptographic capabilities on access devices, through the use of microprocessors or the so-called computer-on-a-chip. </a:t>
            </a:r>
          </a:p>
          <a:p>
            <a:pPr marL="0" indent="0" algn="just">
              <a:buNone/>
            </a:pPr>
            <a:r>
              <a:rPr lang="en-US" sz="2000" dirty="0" smtClean="0">
                <a:latin typeface="Garamond" pitchFamily="18" charset="0"/>
              </a:rPr>
              <a:t>TPMs, used in conjunction with server-side software, offer a way to discover and authenticate hardware devices, preventing unauthorized access to your network and data.</a:t>
            </a:r>
          </a:p>
          <a:p>
            <a:pPr marL="0" indent="0" algn="just">
              <a:buNone/>
            </a:pPr>
            <a:r>
              <a:rPr lang="en-US" sz="2000" dirty="0" smtClean="0">
                <a:latin typeface="Garamond" pitchFamily="18" charset="0"/>
              </a:rPr>
              <a:t>Computer case intrusion detection refers to a device, usually a push button switch, that detects when the computer is opened or turned on.</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6</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p:txBody>
          <a:bodyPr>
            <a:normAutofit/>
          </a:bodyPr>
          <a:lstStyle/>
          <a:p>
            <a:pPr marL="0" indent="0" algn="ctr">
              <a:buNone/>
            </a:pPr>
            <a:r>
              <a:rPr lang="en-US" sz="2000" u="sng" dirty="0" smtClean="0">
                <a:latin typeface="Garamond" pitchFamily="18" charset="0"/>
              </a:rPr>
              <a:t>Drive locks </a:t>
            </a:r>
            <a:r>
              <a:rPr lang="en-US" sz="2000" dirty="0" smtClean="0">
                <a:latin typeface="Garamond" pitchFamily="18" charset="0"/>
              </a:rPr>
              <a:t>are essentially software tools for encrypting hard drives, making them inaccessible to thieves. There are also specific tools to encrypt external drives.</a:t>
            </a:r>
          </a:p>
          <a:p>
            <a:pPr marL="0" indent="0" algn="ctr">
              <a:buNone/>
            </a:pPr>
            <a:endParaRPr lang="en-US" sz="2000" dirty="0" smtClean="0">
              <a:latin typeface="Garamond" pitchFamily="18" charset="0"/>
            </a:endParaRPr>
          </a:p>
          <a:p>
            <a:pPr marL="0" indent="0" algn="ctr">
              <a:buNone/>
            </a:pPr>
            <a:r>
              <a:rPr lang="en-US" sz="2000" u="sng" dirty="0" smtClean="0">
                <a:latin typeface="Garamond" pitchFamily="18" charset="0"/>
              </a:rPr>
              <a:t>Disabling USB ports </a:t>
            </a:r>
            <a:r>
              <a:rPr lang="en-US" sz="2000" dirty="0" smtClean="0">
                <a:latin typeface="Garamond" pitchFamily="18" charset="0"/>
              </a:rPr>
              <a:t>is a security option to prevent unauthorized or malicious access to an otherwise secure computer. Infected USB dongles, connected to a network from a computer, inside the firewall, are considered to be the most common hardware threat to computer networks.</a:t>
            </a: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 Disconnecting or disabling peripheral devices (such as the camera, GPS, removable memory, etc…), which are not in use.</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7</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457200" y="1142984"/>
            <a:ext cx="8229600" cy="4525963"/>
          </a:xfrm>
        </p:spPr>
        <p:txBody>
          <a:bodyPr>
            <a:normAutofit/>
          </a:bodyPr>
          <a:lstStyle/>
          <a:p>
            <a:pPr marL="0" indent="0" algn="ctr">
              <a:buNone/>
            </a:pPr>
            <a:endParaRPr lang="en-US" sz="2100" dirty="0" smtClean="0">
              <a:latin typeface="Garamond" pitchFamily="18" charset="0"/>
            </a:endParaRPr>
          </a:p>
          <a:p>
            <a:pPr marL="0" indent="0" algn="ctr">
              <a:buNone/>
            </a:pPr>
            <a:endParaRPr lang="en-US" sz="2100" dirty="0" smtClean="0">
              <a:latin typeface="Garamond" pitchFamily="18" charset="0"/>
            </a:endParaRPr>
          </a:p>
          <a:p>
            <a:pPr marL="0" indent="0" algn="ctr">
              <a:buNone/>
            </a:pPr>
            <a:r>
              <a:rPr lang="en-US" sz="2000" u="sng" dirty="0" smtClean="0">
                <a:latin typeface="Garamond" pitchFamily="18" charset="0"/>
              </a:rPr>
              <a:t>Mobile-enabled access devices </a:t>
            </a:r>
            <a:r>
              <a:rPr lang="en-US" sz="2000" dirty="0" smtClean="0">
                <a:latin typeface="Garamond" pitchFamily="18" charset="0"/>
              </a:rPr>
              <a:t>are becoming increasingly popular, due to the ubiquitous nature of cell phones.</a:t>
            </a:r>
          </a:p>
          <a:p>
            <a:pPr marL="0" indent="0" algn="ctr">
              <a:buNone/>
            </a:pPr>
            <a:r>
              <a:rPr lang="en-US" sz="2000" dirty="0" smtClean="0">
                <a:latin typeface="Garamond" pitchFamily="18" charset="0"/>
              </a:rPr>
              <a:t>Integrated features such as Bluetooth, the latest Bluetooth Low Energy (LE), Near Field Communication (NFC) on non-</a:t>
            </a:r>
            <a:r>
              <a:rPr lang="en-US" sz="2000" dirty="0" err="1" smtClean="0">
                <a:latin typeface="Garamond" pitchFamily="18" charset="0"/>
              </a:rPr>
              <a:t>iOS</a:t>
            </a:r>
            <a:r>
              <a:rPr lang="en-US" sz="2000" dirty="0" smtClean="0">
                <a:latin typeface="Garamond" pitchFamily="18" charset="0"/>
              </a:rPr>
              <a:t> devices, and biometric validation such as fingerprint readers, as well as QR code reading software for mobile devices, offer new, secure ways to connect mobile phones to control systems.</a:t>
            </a:r>
          </a:p>
          <a:p>
            <a:pPr marL="0" indent="0" algn="ctr">
              <a:buNone/>
            </a:pPr>
            <a:r>
              <a:rPr lang="en-US" sz="2000" dirty="0" smtClean="0">
                <a:latin typeface="Garamond" pitchFamily="18" charset="0"/>
              </a:rPr>
              <a:t>These control systems provide computer security.</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8</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olo 11"/>
          <p:cNvSpPr>
            <a:spLocks noGrp="1"/>
          </p:cNvSpPr>
          <p:nvPr>
            <p:ph type="title"/>
          </p:nvPr>
        </p:nvSpPr>
        <p:spPr>
          <a:xfrm>
            <a:off x="457200" y="1225520"/>
            <a:ext cx="8229600" cy="560406"/>
          </a:xfrm>
        </p:spPr>
        <p:txBody>
          <a:bodyPr>
            <a:noAutofit/>
          </a:bodyPr>
          <a:lstStyle/>
          <a:p>
            <a:r>
              <a:rPr lang="en-US" sz="2300" b="1" dirty="0" smtClean="0">
                <a:solidFill>
                  <a:srgbClr val="FF0000"/>
                </a:solidFill>
                <a:latin typeface="Garamond" pitchFamily="18" charset="0"/>
              </a:rPr>
              <a:t>SECURE OPERATING SYSTEMS AND SECURE CODING</a:t>
            </a:r>
            <a:endParaRPr lang="it-IT" sz="2300" b="1" dirty="0">
              <a:solidFill>
                <a:srgbClr val="FF0000"/>
              </a:solidFill>
              <a:latin typeface="Garamond" pitchFamily="18" charset="0"/>
            </a:endParaRPr>
          </a:p>
        </p:txBody>
      </p:sp>
      <p:sp>
        <p:nvSpPr>
          <p:cNvPr id="11" name="Segnaposto contenuto 10"/>
          <p:cNvSpPr>
            <a:spLocks noGrp="1"/>
          </p:cNvSpPr>
          <p:nvPr>
            <p:ph idx="1"/>
          </p:nvPr>
        </p:nvSpPr>
        <p:spPr/>
        <p:txBody>
          <a:bodyPr>
            <a:normAutofit/>
          </a:bodyPr>
          <a:lstStyle/>
          <a:p>
            <a:pPr marL="0" indent="0" algn="ctr">
              <a:buNone/>
            </a:pPr>
            <a:endParaRPr lang="en-US" sz="2100" dirty="0" smtClean="0">
              <a:latin typeface="Garamond" pitchFamily="18" charset="0"/>
            </a:endParaRPr>
          </a:p>
          <a:p>
            <a:pPr marL="0" indent="0" algn="ctr">
              <a:buNone/>
            </a:pPr>
            <a:r>
              <a:rPr lang="en-US" sz="2000" dirty="0" smtClean="0">
                <a:latin typeface="Garamond" pitchFamily="18" charset="0"/>
              </a:rPr>
              <a:t>The term "</a:t>
            </a:r>
            <a:r>
              <a:rPr lang="en-US" sz="2000" dirty="0" err="1" smtClean="0">
                <a:latin typeface="Garamond" pitchFamily="18" charset="0"/>
              </a:rPr>
              <a:t>cybersecurity</a:t>
            </a:r>
            <a:r>
              <a:rPr lang="en-US" sz="2000" dirty="0" smtClean="0">
                <a:latin typeface="Garamond" pitchFamily="18" charset="0"/>
              </a:rPr>
              <a:t>" also refers to the technology used to implement secure operating systems. What is meant by </a:t>
            </a:r>
            <a:r>
              <a:rPr lang="en-US" sz="2000" u="sng" dirty="0" smtClean="0">
                <a:latin typeface="Garamond" pitchFamily="18" charset="0"/>
              </a:rPr>
              <a:t>secure coding?</a:t>
            </a:r>
          </a:p>
          <a:p>
            <a:pPr marL="0" indent="0" algn="ctr">
              <a:buNone/>
            </a:pPr>
            <a:r>
              <a:rPr lang="en-US" sz="2000" dirty="0" smtClean="0">
                <a:latin typeface="Garamond" pitchFamily="18" charset="0"/>
              </a:rPr>
              <a:t>In software engineering, secure coding aims to protect software from the accidental introduction of security vulnerabilities.</a:t>
            </a:r>
          </a:p>
          <a:p>
            <a:pPr marL="0" indent="0" algn="ctr">
              <a:buNone/>
            </a:pPr>
            <a:r>
              <a:rPr lang="en-US" sz="2000" dirty="0" smtClean="0">
                <a:latin typeface="Garamond" pitchFamily="18" charset="0"/>
              </a:rPr>
              <a:t>It is also possible to create software, designed from the ground up, to be secure. Such systems are "secure by design.</a:t>
            </a:r>
            <a:endParaRPr lang="en-US" sz="21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9</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olo 11"/>
          <p:cNvSpPr>
            <a:spLocks noGrp="1"/>
          </p:cNvSpPr>
          <p:nvPr>
            <p:ph type="title"/>
          </p:nvPr>
        </p:nvSpPr>
        <p:spPr>
          <a:xfrm>
            <a:off x="485804" y="1368396"/>
            <a:ext cx="8229600" cy="560406"/>
          </a:xfrm>
        </p:spPr>
        <p:txBody>
          <a:bodyPr>
            <a:noAutofit/>
          </a:bodyPr>
          <a:lstStyle/>
          <a:p>
            <a:r>
              <a:rPr lang="en-US" sz="2300" b="1" dirty="0" smtClean="0">
                <a:solidFill>
                  <a:srgbClr val="FF0000"/>
                </a:solidFill>
                <a:latin typeface="Garamond" pitchFamily="18" charset="0"/>
              </a:rPr>
              <a:t>FUNCTIONALITY AND ACCESS CONTROL LISTS</a:t>
            </a:r>
            <a:endParaRPr lang="it-IT" sz="2300" b="1" dirty="0">
              <a:solidFill>
                <a:srgbClr val="FF0000"/>
              </a:solidFill>
              <a:latin typeface="Garamond" pitchFamily="18" charset="0"/>
            </a:endParaRPr>
          </a:p>
        </p:txBody>
      </p:sp>
      <p:sp>
        <p:nvSpPr>
          <p:cNvPr id="11" name="Segnaposto contenuto 10"/>
          <p:cNvSpPr>
            <a:spLocks noGrp="1"/>
          </p:cNvSpPr>
          <p:nvPr>
            <p:ph idx="1"/>
          </p:nvPr>
        </p:nvSpPr>
        <p:spPr>
          <a:xfrm>
            <a:off x="457200" y="1903433"/>
            <a:ext cx="8229600" cy="4525963"/>
          </a:xfrm>
        </p:spPr>
        <p:txBody>
          <a:bodyPr>
            <a:normAutofit/>
          </a:bodyPr>
          <a:lstStyle/>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Within computer systems, two primary security models that enforce the separation of privileges are access control lists (ACLs) and role-based access control (RBACs).</a:t>
            </a:r>
          </a:p>
          <a:p>
            <a:pPr marL="0" indent="0" algn="ctr">
              <a:buNone/>
            </a:pPr>
            <a:r>
              <a:rPr lang="en-US" sz="2000" u="sng" dirty="0" smtClean="0">
                <a:latin typeface="Garamond" pitchFamily="18" charset="0"/>
              </a:rPr>
              <a:t>An access control list </a:t>
            </a:r>
            <a:r>
              <a:rPr lang="en-US" sz="2000" dirty="0" smtClean="0">
                <a:latin typeface="Garamond" pitchFamily="18" charset="0"/>
              </a:rPr>
              <a:t>(ACL), with respect to a computer file system, is a list of permissions associated with an object. </a:t>
            </a:r>
          </a:p>
          <a:p>
            <a:pPr marL="0" indent="0" algn="ctr">
              <a:buNone/>
            </a:pPr>
            <a:r>
              <a:rPr lang="en-US" sz="2000" dirty="0" smtClean="0">
                <a:latin typeface="Garamond" pitchFamily="18" charset="0"/>
              </a:rPr>
              <a:t>An </a:t>
            </a:r>
            <a:r>
              <a:rPr lang="en-US" sz="2000" u="sng" dirty="0" smtClean="0">
                <a:latin typeface="Garamond" pitchFamily="18" charset="0"/>
              </a:rPr>
              <a:t>ACL specifies </a:t>
            </a:r>
            <a:r>
              <a:rPr lang="en-US" sz="2000" dirty="0" smtClean="0">
                <a:latin typeface="Garamond" pitchFamily="18" charset="0"/>
              </a:rPr>
              <a:t>which users or system processes are granted access, as well as what operations are allowed on certain logins. </a:t>
            </a:r>
          </a:p>
          <a:p>
            <a:pPr marL="0" indent="0" algn="ctr">
              <a:buNone/>
            </a:pPr>
            <a:r>
              <a:rPr lang="en-US" sz="2000" u="sng" dirty="0" smtClean="0">
                <a:latin typeface="Garamond" pitchFamily="18" charset="0"/>
              </a:rPr>
              <a:t>Role-based access control</a:t>
            </a:r>
            <a:r>
              <a:rPr lang="en-US" sz="2000" dirty="0" smtClean="0">
                <a:latin typeface="Garamond" pitchFamily="18" charset="0"/>
              </a:rPr>
              <a:t> (RBAC) is an approach to restrict system access of authorized users. </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10</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p:txBody>
          <a:bodyPr>
            <a:normAutofit/>
          </a:bodyPr>
          <a:lstStyle/>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A further approach is </a:t>
            </a:r>
            <a:r>
              <a:rPr lang="en-US" sz="2000" u="sng" dirty="0" smtClean="0">
                <a:latin typeface="Garamond" pitchFamily="18" charset="0"/>
              </a:rPr>
              <a:t>capability-based security</a:t>
            </a:r>
            <a:r>
              <a:rPr lang="en-US" sz="2000" dirty="0" smtClean="0">
                <a:latin typeface="Garamond" pitchFamily="18" charset="0"/>
              </a:rPr>
              <a:t>, limited mostly to operating systems in scientific research. </a:t>
            </a:r>
          </a:p>
          <a:p>
            <a:pPr marL="0" indent="0" algn="ctr">
              <a:buNone/>
            </a:pPr>
            <a:r>
              <a:rPr lang="en-US" sz="2000" dirty="0" smtClean="0">
                <a:latin typeface="Garamond" pitchFamily="18" charset="0"/>
              </a:rPr>
              <a:t>Capabilities can, however, also be implemented at the level of language, in the style of programming, which is essentially a refinement of standard object-oriented design. </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11</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olo 11"/>
          <p:cNvSpPr>
            <a:spLocks noGrp="1"/>
          </p:cNvSpPr>
          <p:nvPr>
            <p:ph type="title"/>
          </p:nvPr>
        </p:nvSpPr>
        <p:spPr>
          <a:xfrm>
            <a:off x="457200" y="1071546"/>
            <a:ext cx="8229600" cy="560406"/>
          </a:xfrm>
        </p:spPr>
        <p:txBody>
          <a:bodyPr>
            <a:noAutofit/>
          </a:bodyPr>
          <a:lstStyle/>
          <a:p>
            <a:r>
              <a:rPr lang="it-IT" sz="2300" b="1" dirty="0" smtClean="0">
                <a:solidFill>
                  <a:srgbClr val="FF0000"/>
                </a:solidFill>
                <a:latin typeface="Garamond" pitchFamily="18" charset="0"/>
              </a:rPr>
              <a:t>END USER SECURITY TRAINING</a:t>
            </a:r>
            <a:endParaRPr lang="it-IT" sz="2300" b="1" dirty="0">
              <a:solidFill>
                <a:srgbClr val="FF0000"/>
              </a:solidFill>
              <a:latin typeface="Garamond" pitchFamily="18" charset="0"/>
            </a:endParaRPr>
          </a:p>
        </p:txBody>
      </p:sp>
      <p:sp>
        <p:nvSpPr>
          <p:cNvPr id="11" name="Segnaposto contenuto 10"/>
          <p:cNvSpPr>
            <a:spLocks noGrp="1"/>
          </p:cNvSpPr>
          <p:nvPr>
            <p:ph idx="1"/>
          </p:nvPr>
        </p:nvSpPr>
        <p:spPr/>
        <p:txBody>
          <a:bodyPr>
            <a:normAutofit/>
          </a:bodyPr>
          <a:lstStyle/>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The </a:t>
            </a:r>
            <a:r>
              <a:rPr lang="en-US" sz="2000" u="sng" dirty="0" smtClean="0">
                <a:latin typeface="Garamond" pitchFamily="18" charset="0"/>
              </a:rPr>
              <a:t>end user </a:t>
            </a:r>
            <a:r>
              <a:rPr lang="en-US" sz="2000" dirty="0" smtClean="0">
                <a:latin typeface="Garamond" pitchFamily="18" charset="0"/>
              </a:rPr>
              <a:t>is widely recognized as the weakest link in the security chain, and it is estimated that over 90% of security incidents and breaches involve some type of </a:t>
            </a:r>
            <a:r>
              <a:rPr lang="en-US" sz="2000" u="sng" dirty="0" smtClean="0">
                <a:latin typeface="Garamond" pitchFamily="18" charset="0"/>
              </a:rPr>
              <a:t>human error</a:t>
            </a:r>
            <a:r>
              <a:rPr lang="en-US" sz="2000" dirty="0" smtClean="0">
                <a:latin typeface="Garamond" pitchFamily="18" charset="0"/>
              </a:rPr>
              <a:t>. Commonly recorded forms of errors and misjudgments include bad password management, sending emails or attachments containing sensitive data to the wrong recipient, and failure to recognize misleading URLs,  fake websites, and dangerous e-mails. </a:t>
            </a:r>
          </a:p>
          <a:p>
            <a:pPr marL="0" indent="0" algn="ctr">
              <a:buNone/>
            </a:pPr>
            <a:r>
              <a:rPr lang="en-US" sz="2000" dirty="0" smtClean="0">
                <a:latin typeface="Garamond" pitchFamily="18" charset="0"/>
              </a:rPr>
              <a:t>A common mistake that users make is saving their user ID and password in their browsers to facilitate access to sites for their personal use, for banking, and for social security issues. </a:t>
            </a:r>
          </a:p>
          <a:p>
            <a:pPr marL="0" indent="0" algn="ctr">
              <a:buNone/>
            </a:pPr>
            <a:r>
              <a:rPr lang="en-US" sz="2000" dirty="0" smtClean="0">
                <a:latin typeface="Garamond" pitchFamily="18" charset="0"/>
              </a:rPr>
              <a:t>This is a gift to attackers who then gain access to a computer in the simplest way. </a:t>
            </a:r>
          </a:p>
          <a:p>
            <a:pPr marL="0" indent="0" algn="ctr">
              <a:buNone/>
            </a:pPr>
            <a:r>
              <a:rPr lang="en-US" sz="2000" dirty="0" smtClean="0">
                <a:latin typeface="Garamond" pitchFamily="18" charset="0"/>
              </a:rPr>
              <a:t>The risk can be mitigated by using two-factor authentication.</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12</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428596" y="928670"/>
            <a:ext cx="8229600" cy="4525963"/>
          </a:xfrm>
        </p:spPr>
        <p:txBody>
          <a:bodyPr>
            <a:normAutofit/>
          </a:bodyPr>
          <a:lstStyle/>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Because the human component is particularly relevant in determining the overall cyber risk an organization faces, </a:t>
            </a:r>
            <a:r>
              <a:rPr lang="en-US" sz="2000" u="sng" dirty="0" smtClean="0">
                <a:latin typeface="Garamond" pitchFamily="18" charset="0"/>
              </a:rPr>
              <a:t>security awareness training</a:t>
            </a:r>
            <a:r>
              <a:rPr lang="en-US" sz="2000" dirty="0" smtClean="0">
                <a:latin typeface="Garamond" pitchFamily="18" charset="0"/>
              </a:rPr>
              <a:t>, at all levels, not only provides formal compliance with industry and regulatory mandates, but is considered </a:t>
            </a:r>
            <a:r>
              <a:rPr lang="en-US" sz="2000" u="sng" dirty="0" smtClean="0">
                <a:latin typeface="Garamond" pitchFamily="18" charset="0"/>
              </a:rPr>
              <a:t>essential to reduce cyber risk</a:t>
            </a:r>
            <a:r>
              <a:rPr lang="en-US" sz="2000" dirty="0" smtClean="0">
                <a:latin typeface="Garamond" pitchFamily="18" charset="0"/>
              </a:rPr>
              <a:t> and protect individuals and companies from the vast majority of cyber threats. </a:t>
            </a:r>
          </a:p>
          <a:p>
            <a:pPr marL="0" indent="0" algn="ctr">
              <a:buNone/>
            </a:pPr>
            <a:r>
              <a:rPr lang="en-US" sz="2000" u="sng" dirty="0" smtClean="0">
                <a:latin typeface="Garamond" pitchFamily="18" charset="0"/>
              </a:rPr>
              <a:t>Focus on the end user represents a profound cultural shift</a:t>
            </a:r>
            <a:r>
              <a:rPr lang="en-US" sz="2000" dirty="0" smtClean="0">
                <a:latin typeface="Garamond" pitchFamily="18" charset="0"/>
              </a:rPr>
              <a:t> for many security professionals, who traditionally have approached information security exclusively from a technical point of view. Now, however, they are following suggestions by the main security centers to </a:t>
            </a:r>
            <a:r>
              <a:rPr lang="en-US" sz="2000" u="sng" dirty="0" smtClean="0">
                <a:latin typeface="Garamond" pitchFamily="18" charset="0"/>
              </a:rPr>
              <a:t>develop a culture of cyber awareness</a:t>
            </a:r>
            <a:r>
              <a:rPr lang="en-US" sz="2000" dirty="0" smtClean="0">
                <a:latin typeface="Garamond" pitchFamily="18" charset="0"/>
              </a:rPr>
              <a:t> within their organizations. </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13</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olo 11"/>
          <p:cNvSpPr>
            <a:spLocks noGrp="1"/>
          </p:cNvSpPr>
          <p:nvPr>
            <p:ph type="title"/>
          </p:nvPr>
        </p:nvSpPr>
        <p:spPr>
          <a:xfrm>
            <a:off x="457200" y="1071546"/>
            <a:ext cx="8229600" cy="560406"/>
          </a:xfrm>
        </p:spPr>
        <p:txBody>
          <a:bodyPr>
            <a:noAutofit/>
          </a:bodyPr>
          <a:lstStyle/>
          <a:p>
            <a:r>
              <a:rPr lang="it-IT" sz="2300" b="1" dirty="0" smtClean="0">
                <a:solidFill>
                  <a:srgbClr val="FF0000"/>
                </a:solidFill>
                <a:latin typeface="Garamond" pitchFamily="18" charset="0"/>
              </a:rPr>
              <a:t>DIGITAL HYGIENE</a:t>
            </a:r>
            <a:endParaRPr lang="it-IT" sz="2300" b="1" dirty="0">
              <a:solidFill>
                <a:srgbClr val="FF0000"/>
              </a:solidFill>
              <a:latin typeface="Garamond" pitchFamily="18" charset="0"/>
            </a:endParaRPr>
          </a:p>
        </p:txBody>
      </p:sp>
      <p:sp>
        <p:nvSpPr>
          <p:cNvPr id="11" name="Segnaposto contenuto 10"/>
          <p:cNvSpPr>
            <a:spLocks noGrp="1"/>
          </p:cNvSpPr>
          <p:nvPr>
            <p:ph idx="1"/>
          </p:nvPr>
        </p:nvSpPr>
        <p:spPr/>
        <p:txBody>
          <a:bodyPr>
            <a:normAutofit/>
          </a:bodyPr>
          <a:lstStyle/>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Cyber ​​hygiene, or digital hygiene, is a fundamental principle of information security and, as the analogy with personal hygiene shows, amounts to establishing simple routine measures to minimize the risks of cyber threats.</a:t>
            </a:r>
          </a:p>
          <a:p>
            <a:pPr marL="0" indent="0" algn="ctr">
              <a:buNone/>
            </a:pPr>
            <a:r>
              <a:rPr lang="en-US" sz="2000" dirty="0" smtClean="0">
                <a:latin typeface="Garamond" pitchFamily="18" charset="0"/>
              </a:rPr>
              <a:t>Good cyber hygiene practices can offer network users another layer of protection, reducing the risk that a vulnerable node will be used to mount attacks or compromise another node or network, especially in the case of common cyber attacks. Cyber ​​hygiene mainly concerns routine measures, technically simple to implement, and mostly dependent on the training and discipline of end </a:t>
            </a:r>
            <a:r>
              <a:rPr lang="en-US" sz="2000" dirty="0" err="1" smtClean="0">
                <a:latin typeface="Garamond" pitchFamily="18" charset="0"/>
              </a:rPr>
              <a:t>users.It</a:t>
            </a:r>
            <a:r>
              <a:rPr lang="en-US" sz="2000" dirty="0" smtClean="0">
                <a:latin typeface="Garamond" pitchFamily="18" charset="0"/>
              </a:rPr>
              <a:t> can be thought of as an abstract list of suggestions or measures, which have been shown to have a positive effect on personal and collective digital security.</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14</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olo 11"/>
          <p:cNvSpPr>
            <a:spLocks noGrp="1"/>
          </p:cNvSpPr>
          <p:nvPr>
            <p:ph type="title"/>
          </p:nvPr>
        </p:nvSpPr>
        <p:spPr>
          <a:xfrm>
            <a:off x="457200" y="1071546"/>
            <a:ext cx="8229600" cy="560406"/>
          </a:xfrm>
        </p:spPr>
        <p:txBody>
          <a:bodyPr>
            <a:noAutofit/>
          </a:bodyPr>
          <a:lstStyle/>
          <a:p>
            <a:endParaRPr lang="it-IT" sz="2300" b="1" dirty="0">
              <a:solidFill>
                <a:srgbClr val="FF0000"/>
              </a:solidFill>
              <a:latin typeface="Garamond" pitchFamily="18" charset="0"/>
            </a:endParaRPr>
          </a:p>
        </p:txBody>
      </p:sp>
      <p:sp>
        <p:nvSpPr>
          <p:cNvPr id="11" name="Segnaposto contenuto 10"/>
          <p:cNvSpPr>
            <a:spLocks noGrp="1"/>
          </p:cNvSpPr>
          <p:nvPr>
            <p:ph idx="1"/>
          </p:nvPr>
        </p:nvSpPr>
        <p:spPr/>
        <p:txBody>
          <a:bodyPr>
            <a:normAutofit/>
          </a:bodyPr>
          <a:lstStyle/>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Computer hygiene refers to personal hygiene, just as a computer virus refers to a biological virus (or pathogen).While the term computer virus was coined almost simultaneously with the creation of the first effective computer viruses, the term computer hygiene was coined much later, around 2000, by Internet pioneer, </a:t>
            </a:r>
            <a:r>
              <a:rPr lang="en-US" sz="2000" dirty="0" err="1" smtClean="0">
                <a:latin typeface="Garamond" pitchFamily="18" charset="0"/>
              </a:rPr>
              <a:t>VintCerf</a:t>
            </a:r>
            <a:r>
              <a:rPr lang="en-US" sz="2000" dirty="0" smtClean="0">
                <a:latin typeface="Garamond" pitchFamily="18" charset="0"/>
              </a:rPr>
              <a:t>. It has since been adopted by the US Congress and Senate, the FBI, the EU institutions, and is considered a fundamental principle of cybercrime prevention. </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15</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olo 11"/>
          <p:cNvSpPr>
            <a:spLocks noGrp="1"/>
          </p:cNvSpPr>
          <p:nvPr>
            <p:ph type="title"/>
          </p:nvPr>
        </p:nvSpPr>
        <p:spPr>
          <a:xfrm>
            <a:off x="457200" y="1071546"/>
            <a:ext cx="8229600" cy="560406"/>
          </a:xfrm>
        </p:spPr>
        <p:txBody>
          <a:bodyPr>
            <a:noAutofit/>
          </a:bodyPr>
          <a:lstStyle/>
          <a:p>
            <a:r>
              <a:rPr lang="it-IT" sz="2300" b="1" dirty="0" smtClean="0">
                <a:solidFill>
                  <a:srgbClr val="FF0000"/>
                </a:solidFill>
                <a:latin typeface="Garamond" pitchFamily="18" charset="0"/>
              </a:rPr>
              <a:t>RESPONSE TO BREACHES</a:t>
            </a:r>
            <a:endParaRPr lang="it-IT" sz="2300" b="1" dirty="0">
              <a:solidFill>
                <a:srgbClr val="FF0000"/>
              </a:solidFill>
              <a:latin typeface="Garamond" pitchFamily="18" charset="0"/>
            </a:endParaRPr>
          </a:p>
        </p:txBody>
      </p:sp>
      <p:sp>
        <p:nvSpPr>
          <p:cNvPr id="11" name="Segnaposto contenuto 10"/>
          <p:cNvSpPr>
            <a:spLocks noGrp="1"/>
          </p:cNvSpPr>
          <p:nvPr>
            <p:ph idx="1"/>
          </p:nvPr>
        </p:nvSpPr>
        <p:spPr/>
        <p:txBody>
          <a:bodyPr>
            <a:normAutofit/>
          </a:bodyPr>
          <a:lstStyle/>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Responding to attempted security breaches is often very difficult for a number of reasons. Identifying the attackers is difficult, as they may operate through proxies, temporary anonymous dial-up accounts, wireless connections, and other </a:t>
            </a:r>
            <a:r>
              <a:rPr lang="en-US" sz="2000" dirty="0" err="1" smtClean="0">
                <a:latin typeface="Garamond" pitchFamily="18" charset="0"/>
              </a:rPr>
              <a:t>anonymizing</a:t>
            </a:r>
            <a:r>
              <a:rPr lang="en-US" sz="2000" dirty="0" smtClean="0">
                <a:latin typeface="Garamond" pitchFamily="18" charset="0"/>
              </a:rPr>
              <a:t> practices, which makes back-tracing difficult. Also, they are often located in jurisdictions other than where the criminal act was committed. There are several considerations that must be made:</a:t>
            </a:r>
          </a:p>
          <a:p>
            <a:pPr marL="0" indent="0" algn="ctr">
              <a:buNone/>
            </a:pPr>
            <a:endParaRPr lang="en-US" sz="2000" dirty="0" smtClean="0">
              <a:latin typeface="Garamond" pitchFamily="18" charset="0"/>
            </a:endParaRPr>
          </a:p>
          <a:p>
            <a:pPr marL="0" indent="0" algn="ctr">
              <a:buNone/>
            </a:pPr>
            <a:r>
              <a:rPr lang="en-US" sz="2000" b="1" dirty="0" smtClean="0">
                <a:latin typeface="Garamond" pitchFamily="18" charset="0"/>
              </a:rPr>
              <a:t>a) When cybercriminals successfully breach security, they have often also gained sufficient administrative access to allow them to delete logs and cover their tracks</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16</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p:txBody>
          <a:bodyPr>
            <a:normAutofit/>
          </a:bodyPr>
          <a:lstStyle/>
          <a:p>
            <a:pPr marL="0" indent="0" algn="ctr">
              <a:buNone/>
            </a:pPr>
            <a:endParaRPr lang="en-US" sz="2000" dirty="0" smtClean="0">
              <a:latin typeface="Garamond" pitchFamily="18" charset="0"/>
            </a:endParaRPr>
          </a:p>
          <a:p>
            <a:pPr marL="0" indent="0" algn="ctr">
              <a:buNone/>
            </a:pPr>
            <a:r>
              <a:rPr lang="en-US" sz="2000" b="1" dirty="0" smtClean="0">
                <a:latin typeface="Garamond" pitchFamily="18" charset="0"/>
              </a:rPr>
              <a:t>b) The number of attack attempts, often by automated vulnerability scanners and computer worms, is so great that organizations cannot waste time chasing them and therefore decide to suffer them.</a:t>
            </a:r>
          </a:p>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r>
              <a:rPr lang="en-US" sz="2000" b="1" dirty="0" smtClean="0">
                <a:latin typeface="Garamond" pitchFamily="18" charset="0"/>
              </a:rPr>
              <a:t>c) Law enforcement agencies often do not have the ability, interest, or budget to prosecute all offenders.</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17</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olo 11"/>
          <p:cNvSpPr>
            <a:spLocks noGrp="1"/>
          </p:cNvSpPr>
          <p:nvPr>
            <p:ph type="title"/>
          </p:nvPr>
        </p:nvSpPr>
        <p:spPr>
          <a:xfrm>
            <a:off x="457200" y="1071546"/>
            <a:ext cx="8229600" cy="560406"/>
          </a:xfrm>
        </p:spPr>
        <p:txBody>
          <a:bodyPr>
            <a:noAutofit/>
          </a:bodyPr>
          <a:lstStyle/>
          <a:p>
            <a:endParaRPr lang="it-IT" sz="2300" b="1" dirty="0">
              <a:solidFill>
                <a:srgbClr val="FF0000"/>
              </a:solidFill>
              <a:latin typeface="Garamond" pitchFamily="18" charset="0"/>
            </a:endParaRPr>
          </a:p>
        </p:txBody>
      </p:sp>
      <p:sp>
        <p:nvSpPr>
          <p:cNvPr id="11" name="Segnaposto contenuto 10"/>
          <p:cNvSpPr>
            <a:spLocks noGrp="1"/>
          </p:cNvSpPr>
          <p:nvPr>
            <p:ph idx="1"/>
          </p:nvPr>
        </p:nvSpPr>
        <p:spPr/>
        <p:txBody>
          <a:bodyPr>
            <a:normAutofit/>
          </a:bodyPr>
          <a:lstStyle/>
          <a:p>
            <a:pPr marL="0" indent="0" algn="ctr">
              <a:buNone/>
            </a:pPr>
            <a:endParaRPr lang="en-US" sz="2000" b="1" dirty="0" smtClean="0">
              <a:latin typeface="Garamond" pitchFamily="18" charset="0"/>
            </a:endParaRPr>
          </a:p>
          <a:p>
            <a:pPr marL="0" indent="0" algn="ctr">
              <a:buNone/>
            </a:pPr>
            <a:r>
              <a:rPr lang="en-US" sz="2000" b="1" dirty="0" smtClean="0">
                <a:latin typeface="Garamond" pitchFamily="18" charset="0"/>
              </a:rPr>
              <a:t>d) Furthermore, identifying attackers in a network may require checking logs from various points in the network, dispersed across many countries, which can be difficult and time consuming to access and receive answers.</a:t>
            </a:r>
          </a:p>
          <a:p>
            <a:pPr marL="0" indent="0" algn="ctr">
              <a:buNone/>
            </a:pPr>
            <a:endParaRPr lang="en-US" sz="2000" b="1" dirty="0" smtClean="0">
              <a:latin typeface="Garamond" pitchFamily="18" charset="0"/>
            </a:endParaRPr>
          </a:p>
          <a:p>
            <a:pPr marL="0" indent="0" algn="ctr">
              <a:buNone/>
            </a:pPr>
            <a:r>
              <a:rPr lang="en-US" sz="2000" b="1" dirty="0" smtClean="0">
                <a:latin typeface="Garamond" pitchFamily="18" charset="0"/>
              </a:rPr>
              <a:t>e) Where an attack succeeds and a breach occurs, many jurisdictions currently have mandatory security breach notification laws in place to share information and create common alerts. </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18</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olo 11"/>
          <p:cNvSpPr>
            <a:spLocks noGrp="1"/>
          </p:cNvSpPr>
          <p:nvPr>
            <p:ph type="title"/>
          </p:nvPr>
        </p:nvSpPr>
        <p:spPr>
          <a:xfrm>
            <a:off x="457200" y="1071546"/>
            <a:ext cx="8229600" cy="560406"/>
          </a:xfrm>
        </p:spPr>
        <p:txBody>
          <a:bodyPr>
            <a:noAutofit/>
          </a:bodyPr>
          <a:lstStyle/>
          <a:p>
            <a:r>
              <a:rPr lang="it-IT" sz="2200" b="1" dirty="0" smtClean="0">
                <a:solidFill>
                  <a:srgbClr val="FF0000"/>
                </a:solidFill>
                <a:latin typeface="Garamond" pitchFamily="18" charset="0"/>
              </a:rPr>
              <a:t>TERMINOLOGY</a:t>
            </a:r>
            <a:endParaRPr lang="it-IT" sz="2200" b="1" dirty="0">
              <a:solidFill>
                <a:srgbClr val="FF0000"/>
              </a:solidFill>
              <a:latin typeface="Garamond" pitchFamily="18" charset="0"/>
            </a:endParaRPr>
          </a:p>
        </p:txBody>
      </p:sp>
      <p:sp>
        <p:nvSpPr>
          <p:cNvPr id="11" name="Segnaposto contenuto 10"/>
          <p:cNvSpPr>
            <a:spLocks noGrp="1"/>
          </p:cNvSpPr>
          <p:nvPr>
            <p:ph idx="1"/>
          </p:nvPr>
        </p:nvSpPr>
        <p:spPr/>
        <p:txBody>
          <a:bodyPr>
            <a:normAutofit/>
          </a:bodyPr>
          <a:lstStyle/>
          <a:p>
            <a:pPr marL="0" indent="0" algn="ctr">
              <a:buNone/>
            </a:pPr>
            <a:r>
              <a:rPr lang="en-US" sz="1900" dirty="0" smtClean="0">
                <a:latin typeface="Garamond" pitchFamily="18" charset="0"/>
              </a:rPr>
              <a:t>Terminology is key in talking about </a:t>
            </a:r>
            <a:r>
              <a:rPr lang="en-US" sz="1900" dirty="0" err="1" smtClean="0">
                <a:latin typeface="Garamond" pitchFamily="18" charset="0"/>
              </a:rPr>
              <a:t>cybersecurity</a:t>
            </a:r>
            <a:r>
              <a:rPr lang="en-US" sz="1900" dirty="0" smtClean="0">
                <a:latin typeface="Garamond" pitchFamily="18" charset="0"/>
              </a:rPr>
              <a:t>. </a:t>
            </a:r>
          </a:p>
          <a:p>
            <a:pPr marL="0" indent="0" algn="ctr">
              <a:buNone/>
            </a:pPr>
            <a:r>
              <a:rPr lang="en-US" sz="1900" dirty="0" smtClean="0">
                <a:latin typeface="Garamond" pitchFamily="18" charset="0"/>
              </a:rPr>
              <a:t>Here are some of the concepts fundamental to the topic.</a:t>
            </a:r>
          </a:p>
          <a:p>
            <a:pPr marL="0" indent="0" algn="ctr">
              <a:buNone/>
            </a:pPr>
            <a:endParaRPr lang="en-US" sz="1900" dirty="0" smtClean="0">
              <a:latin typeface="Garamond" pitchFamily="18" charset="0"/>
            </a:endParaRPr>
          </a:p>
          <a:p>
            <a:pPr marL="457200" indent="-457200" algn="ctr">
              <a:buAutoNum type="arabicPeriod"/>
            </a:pPr>
            <a:r>
              <a:rPr lang="en-US" sz="1900" b="1" dirty="0" smtClean="0">
                <a:latin typeface="Garamond" pitchFamily="18" charset="0"/>
              </a:rPr>
              <a:t>Antivirus</a:t>
            </a:r>
            <a:r>
              <a:rPr lang="en-US" sz="1900" dirty="0" smtClean="0">
                <a:latin typeface="Garamond" pitchFamily="18" charset="0"/>
              </a:rPr>
              <a:t> software consists of computer programs that attempt to identify, combat, and eliminate computer viruses and other harmful software (malware).</a:t>
            </a:r>
          </a:p>
          <a:p>
            <a:pPr marL="457200" indent="-457200" algn="ctr">
              <a:buAutoNum type="arabicPeriod"/>
            </a:pPr>
            <a:endParaRPr lang="en-US" sz="1900" dirty="0" smtClean="0">
              <a:latin typeface="Garamond" pitchFamily="18" charset="0"/>
            </a:endParaRPr>
          </a:p>
          <a:p>
            <a:pPr marL="457200" indent="-457200" algn="ctr">
              <a:buNone/>
            </a:pPr>
            <a:r>
              <a:rPr lang="en-US" sz="1900" dirty="0" smtClean="0">
                <a:latin typeface="Garamond" pitchFamily="18" charset="0"/>
              </a:rPr>
              <a:t>2. </a:t>
            </a:r>
            <a:r>
              <a:rPr lang="en-US" sz="1900" b="1" dirty="0" smtClean="0">
                <a:latin typeface="Garamond" pitchFamily="18" charset="0"/>
              </a:rPr>
              <a:t>Authentication</a:t>
            </a:r>
            <a:r>
              <a:rPr lang="en-US" sz="1900" dirty="0" smtClean="0">
                <a:latin typeface="Garamond" pitchFamily="18" charset="0"/>
              </a:rPr>
              <a:t> techniques are used to ensure that communication endpoints are who they say they are.</a:t>
            </a:r>
          </a:p>
          <a:p>
            <a:pPr marL="457200" indent="-457200" algn="ctr">
              <a:buNone/>
            </a:pPr>
            <a:endParaRPr lang="en-US" sz="1900" dirty="0" smtClean="0">
              <a:latin typeface="Garamond" pitchFamily="18" charset="0"/>
            </a:endParaRPr>
          </a:p>
          <a:p>
            <a:pPr marL="457200" indent="-457200" algn="ctr">
              <a:buNone/>
            </a:pPr>
            <a:r>
              <a:rPr lang="en-US" sz="1900" dirty="0" smtClean="0">
                <a:latin typeface="Garamond" pitchFamily="18" charset="0"/>
              </a:rPr>
              <a:t>3. </a:t>
            </a:r>
            <a:r>
              <a:rPr lang="en-US" sz="1900" b="1" dirty="0" smtClean="0">
                <a:latin typeface="Garamond" pitchFamily="18" charset="0"/>
              </a:rPr>
              <a:t>Backups</a:t>
            </a:r>
            <a:r>
              <a:rPr lang="en-US" sz="1900" dirty="0" smtClean="0">
                <a:latin typeface="Garamond" pitchFamily="18" charset="0"/>
              </a:rPr>
              <a:t> are one or more copies of important files kept on your computer. Typically, multiple copies will be kept in different places, so that if one copy is stolen or damaged, more still exist.</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19</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p:txBody>
          <a:bodyPr>
            <a:normAutofit fontScale="92500"/>
          </a:bodyPr>
          <a:lstStyle/>
          <a:p>
            <a:pPr marL="0" indent="0" algn="ctr">
              <a:buNone/>
            </a:pPr>
            <a:r>
              <a:rPr lang="en-US" sz="2000" dirty="0" smtClean="0">
                <a:latin typeface="Garamond" pitchFamily="18" charset="0"/>
              </a:rPr>
              <a:t>4. </a:t>
            </a:r>
            <a:r>
              <a:rPr lang="en-US" sz="2000" b="1" dirty="0" smtClean="0">
                <a:latin typeface="Garamond" pitchFamily="18" charset="0"/>
              </a:rPr>
              <a:t>Confidentiality</a:t>
            </a:r>
            <a:r>
              <a:rPr lang="en-US" sz="2000" dirty="0" smtClean="0">
                <a:latin typeface="Garamond" pitchFamily="18" charset="0"/>
              </a:rPr>
              <a:t> is the non-disclosure of information except to authorized persons.</a:t>
            </a: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5. </a:t>
            </a:r>
            <a:r>
              <a:rPr lang="en-US" sz="2000" b="1" dirty="0" smtClean="0">
                <a:latin typeface="Garamond" pitchFamily="18" charset="0"/>
              </a:rPr>
              <a:t>Cryptographic</a:t>
            </a:r>
            <a:r>
              <a:rPr lang="en-US" sz="2000" dirty="0" smtClean="0">
                <a:latin typeface="Garamond" pitchFamily="18" charset="0"/>
              </a:rPr>
              <a:t> techniques can be used to defend data in transit between systems, reducing the probability that the exchange of data between systems can be intercepted or modified.</a:t>
            </a: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6. </a:t>
            </a:r>
            <a:r>
              <a:rPr lang="en-US" sz="2000" b="1" dirty="0" smtClean="0">
                <a:latin typeface="Garamond" pitchFamily="18" charset="0"/>
              </a:rPr>
              <a:t>Data integrity </a:t>
            </a:r>
            <a:r>
              <a:rPr lang="en-US" sz="2000" dirty="0" smtClean="0">
                <a:latin typeface="Garamond" pitchFamily="18" charset="0"/>
              </a:rPr>
              <a:t>is the accuracy and consistency of stored data, indicated by the absence of any data alteration between two updates of a data record.</a:t>
            </a: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7. </a:t>
            </a:r>
            <a:r>
              <a:rPr lang="en-US" sz="2000" b="1" dirty="0" smtClean="0">
                <a:latin typeface="Garamond" pitchFamily="18" charset="0"/>
              </a:rPr>
              <a:t>Encryption</a:t>
            </a:r>
            <a:r>
              <a:rPr lang="en-US" sz="2000" dirty="0" smtClean="0">
                <a:latin typeface="Garamond" pitchFamily="18" charset="0"/>
              </a:rPr>
              <a:t> is used to protect the confidentiality of a message. Cryptographically secure codes are designed to make any practical attempt to crack them impossible. Symmetric key ciphers are suitable for mass encryption using shared keys. Public key encryption using digital certificates can provide a practical solution to the problem of secure communication when no key is shared in advance.</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20</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p:txBody>
          <a:bodyPr>
            <a:normAutofit/>
          </a:bodyPr>
          <a:lstStyle/>
          <a:p>
            <a:pPr marL="0" indent="0" algn="ctr">
              <a:buNone/>
            </a:pPr>
            <a:r>
              <a:rPr lang="en-US" sz="1900" dirty="0" smtClean="0">
                <a:latin typeface="Garamond" pitchFamily="18" charset="0"/>
              </a:rPr>
              <a:t>8. </a:t>
            </a:r>
            <a:r>
              <a:rPr lang="en-US" sz="1900" b="1" dirty="0" smtClean="0">
                <a:latin typeface="Garamond" pitchFamily="18" charset="0"/>
              </a:rPr>
              <a:t>Firewalls</a:t>
            </a:r>
            <a:r>
              <a:rPr lang="en-US" sz="1900" dirty="0" smtClean="0">
                <a:latin typeface="Garamond" pitchFamily="18" charset="0"/>
              </a:rPr>
              <a:t> act as a gatekeeper system between networks, allowing only traffic that meets defined rules. They often have detailed log-ins and may include intrusion detection and intrusion prevention capabilities. They are intended as universal between local company networks and the Internet, but can also be used internally, to enforce traffic rules between networks, when network segmentation is configured.</a:t>
            </a:r>
          </a:p>
          <a:p>
            <a:pPr marL="0" indent="0" algn="ctr">
              <a:buNone/>
            </a:pPr>
            <a:endParaRPr lang="en-US" sz="1900" dirty="0" smtClean="0">
              <a:latin typeface="Garamond" pitchFamily="18" charset="0"/>
            </a:endParaRPr>
          </a:p>
          <a:p>
            <a:pPr marL="0" indent="0" algn="ctr">
              <a:buNone/>
            </a:pPr>
            <a:r>
              <a:rPr lang="en-US" sz="1900" dirty="0" smtClean="0">
                <a:latin typeface="Garamond" pitchFamily="18" charset="0"/>
              </a:rPr>
              <a:t>9. </a:t>
            </a:r>
            <a:r>
              <a:rPr lang="en-US" sz="1900" b="1" dirty="0" err="1" smtClean="0">
                <a:latin typeface="Garamond" pitchFamily="18" charset="0"/>
              </a:rPr>
              <a:t>Honeypots</a:t>
            </a:r>
            <a:r>
              <a:rPr lang="en-US" sz="1900" dirty="0" smtClean="0">
                <a:latin typeface="Garamond" pitchFamily="18" charset="0"/>
              </a:rPr>
              <a:t> are computers intentionally left vulnerable to "cracker" attacks. They can be used to catch crackers and to identify their techniques.</a:t>
            </a:r>
          </a:p>
          <a:p>
            <a:pPr marL="0" indent="0" algn="ctr">
              <a:buNone/>
            </a:pPr>
            <a:endParaRPr lang="en-US" sz="1900" dirty="0" smtClean="0">
              <a:latin typeface="Garamond" pitchFamily="18" charset="0"/>
            </a:endParaRPr>
          </a:p>
          <a:p>
            <a:pPr marL="0" indent="0" algn="ctr">
              <a:buNone/>
            </a:pPr>
            <a:r>
              <a:rPr lang="en-US" sz="1900" dirty="0" smtClean="0">
                <a:latin typeface="Garamond" pitchFamily="18" charset="0"/>
              </a:rPr>
              <a:t>10. </a:t>
            </a:r>
            <a:r>
              <a:rPr lang="en-US" sz="1900" b="1" dirty="0" smtClean="0">
                <a:latin typeface="Garamond" pitchFamily="18" charset="0"/>
              </a:rPr>
              <a:t>Intrusion detection systems </a:t>
            </a:r>
            <a:r>
              <a:rPr lang="en-US" sz="1900" dirty="0" smtClean="0">
                <a:latin typeface="Garamond" pitchFamily="18" charset="0"/>
              </a:rPr>
              <a:t>are devices or software applications that monitor networks or systems for malicious activity or policy violations.</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21</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p:txBody>
          <a:bodyPr>
            <a:normAutofit/>
          </a:bodyPr>
          <a:lstStyle/>
          <a:p>
            <a:pPr marL="0" indent="0" algn="ctr">
              <a:buNone/>
            </a:pPr>
            <a:r>
              <a:rPr lang="en-US" sz="1900" dirty="0" smtClean="0">
                <a:latin typeface="Garamond" pitchFamily="18" charset="0"/>
              </a:rPr>
              <a:t>11. </a:t>
            </a:r>
            <a:r>
              <a:rPr lang="en-US" sz="1900" b="1" dirty="0" smtClean="0">
                <a:latin typeface="Garamond" pitchFamily="18" charset="0"/>
              </a:rPr>
              <a:t>A port scanner </a:t>
            </a:r>
            <a:r>
              <a:rPr lang="en-US" sz="1900" dirty="0" smtClean="0">
                <a:latin typeface="Garamond" pitchFamily="18" charset="0"/>
              </a:rPr>
              <a:t>is an application that is used to probe an IP address for open ports, to identify accessible network services and applications.</a:t>
            </a:r>
          </a:p>
          <a:p>
            <a:pPr marL="0" indent="0" algn="ctr">
              <a:buNone/>
            </a:pPr>
            <a:endParaRPr lang="en-US" sz="1900" dirty="0" smtClean="0">
              <a:latin typeface="Garamond" pitchFamily="18" charset="0"/>
            </a:endParaRPr>
          </a:p>
          <a:p>
            <a:pPr marL="0" indent="0" algn="ctr">
              <a:buNone/>
            </a:pPr>
            <a:r>
              <a:rPr lang="en-US" sz="1900" dirty="0" smtClean="0">
                <a:latin typeface="Garamond" pitchFamily="18" charset="0"/>
              </a:rPr>
              <a:t>12. A </a:t>
            </a:r>
            <a:r>
              <a:rPr lang="en-US" sz="1900" b="1" dirty="0" err="1" smtClean="0">
                <a:latin typeface="Garamond" pitchFamily="18" charset="0"/>
              </a:rPr>
              <a:t>keylogger</a:t>
            </a:r>
            <a:r>
              <a:rPr lang="en-US" sz="1900" dirty="0" smtClean="0">
                <a:latin typeface="Garamond" pitchFamily="18" charset="0"/>
              </a:rPr>
              <a:t> is spyware, which silently captures and stores every keystroke a user types on the computer keyboard.</a:t>
            </a:r>
          </a:p>
          <a:p>
            <a:pPr marL="0" indent="0" algn="ctr">
              <a:buNone/>
            </a:pPr>
            <a:endParaRPr lang="en-US" sz="1900" dirty="0" smtClean="0">
              <a:latin typeface="Garamond" pitchFamily="18" charset="0"/>
            </a:endParaRPr>
          </a:p>
          <a:p>
            <a:pPr marL="0" indent="0" algn="ctr">
              <a:buNone/>
            </a:pPr>
            <a:r>
              <a:rPr lang="en-US" sz="1900" dirty="0" smtClean="0">
                <a:latin typeface="Garamond" pitchFamily="18" charset="0"/>
              </a:rPr>
              <a:t>13. </a:t>
            </a:r>
            <a:r>
              <a:rPr lang="en-US" sz="1900" b="1" dirty="0" smtClean="0">
                <a:latin typeface="Garamond" pitchFamily="18" charset="0"/>
              </a:rPr>
              <a:t>Logic bombs </a:t>
            </a:r>
            <a:r>
              <a:rPr lang="en-US" sz="1900" dirty="0" smtClean="0">
                <a:latin typeface="Garamond" pitchFamily="18" charset="0"/>
              </a:rPr>
              <a:t>are a type of malware added to a legitimate program and remain dormant until triggered by a specific event.</a:t>
            </a:r>
          </a:p>
          <a:p>
            <a:pPr marL="0" indent="0" algn="ctr">
              <a:buNone/>
            </a:pPr>
            <a:r>
              <a:rPr lang="en-US" sz="1900" b="1" u="sng" dirty="0" smtClean="0">
                <a:latin typeface="Garamond" pitchFamily="18" charset="0"/>
              </a:rPr>
              <a:t>Security Zero Trust</a:t>
            </a:r>
            <a:r>
              <a:rPr lang="en-US" sz="1900" dirty="0" smtClean="0">
                <a:latin typeface="Garamond" pitchFamily="18" charset="0"/>
              </a:rPr>
              <a:t> means that no one is trusted by default from inside or outside the network, and verification is required from anyone attempting to access resources on the network.</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22</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olo 1"/>
          <p:cNvSpPr>
            <a:spLocks noGrp="1"/>
          </p:cNvSpPr>
          <p:nvPr>
            <p:ph type="ctrTitle"/>
          </p:nvPr>
        </p:nvSpPr>
        <p:spPr>
          <a:xfrm>
            <a:off x="539750" y="285728"/>
            <a:ext cx="8064500" cy="5643602"/>
          </a:xfrm>
        </p:spPr>
        <p:txBody>
          <a:bodyPr rtlCol="0" anchor="t">
            <a:normAutofit/>
          </a:bodyPr>
          <a:lstStyle/>
          <a:p>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a:solidFill>
                  <a:srgbClr val="FF0000"/>
                </a:solidFill>
                <a:latin typeface="Garamond" pitchFamily="18" charset="0"/>
              </a:rPr>
              <a:t/>
            </a:r>
            <a:br>
              <a:rPr lang="it-IT" sz="2400" b="1">
                <a:solidFill>
                  <a:srgbClr val="FF0000"/>
                </a:solidFill>
                <a:latin typeface="Garamond" pitchFamily="18" charset="0"/>
              </a:rPr>
            </a:br>
            <a:r>
              <a:rPr lang="it-IT" altLang="it-IT" sz="3600" b="1" smtClean="0">
                <a:solidFill>
                  <a:srgbClr val="FF0000"/>
                </a:solidFill>
                <a:latin typeface="Garamond" pitchFamily="18" charset="0"/>
              </a:rPr>
              <a:t>THANKS FOR YOUR ATTENTION</a:t>
            </a:r>
            <a:br>
              <a:rPr lang="it-IT" altLang="it-IT" sz="3600" b="1" smtClean="0">
                <a:solidFill>
                  <a:srgbClr val="FF0000"/>
                </a:solidFill>
                <a:latin typeface="Garamond" pitchFamily="18" charset="0"/>
              </a:rPr>
            </a:br>
            <a:endParaRPr lang="it-IT" sz="3600" b="1" dirty="0">
              <a:solidFill>
                <a:srgbClr val="FF0000"/>
              </a:solidFill>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23</a:t>
            </a:fld>
            <a:endParaRPr lang="it-IT"/>
          </a:p>
        </p:txBody>
      </p:sp>
      <p:sp>
        <p:nvSpPr>
          <p:cNvPr id="14342" name="CasellaDiTesto 8"/>
          <p:cNvSpPr txBox="1">
            <a:spLocks noChangeArrowheads="1"/>
          </p:cNvSpPr>
          <p:nvPr/>
        </p:nvSpPr>
        <p:spPr bwMode="auto">
          <a:xfrm>
            <a:off x="1979613" y="6092825"/>
            <a:ext cx="4895850" cy="519113"/>
          </a:xfrm>
          <a:prstGeom prst="rect">
            <a:avLst/>
          </a:prstGeom>
          <a:noFill/>
          <a:ln w="9525">
            <a:noFill/>
            <a:miter lim="800000"/>
            <a:headEnd/>
            <a:tailEnd/>
          </a:ln>
        </p:spPr>
        <p:txBody>
          <a:bodyPr>
            <a:spAutoFit/>
          </a:bodyPr>
          <a:lstStyle/>
          <a:p>
            <a:pPr algn="ctr"/>
            <a:r>
              <a:rPr lang="it-IT" sz="2800" b="1" dirty="0">
                <a:latin typeface="Garamond" pitchFamily="18" charset="0"/>
              </a:rPr>
              <a:t>www.avvocatobruccoleri.it</a:t>
            </a:r>
          </a:p>
        </p:txBody>
      </p:sp>
      <p:sp>
        <p:nvSpPr>
          <p:cNvPr id="9" name="CasellaDiTesto 8"/>
          <p:cNvSpPr txBox="1">
            <a:spLocks noChangeArrowheads="1"/>
          </p:cNvSpPr>
          <p:nvPr/>
        </p:nvSpPr>
        <p:spPr bwMode="auto">
          <a:xfrm>
            <a:off x="28600" y="3804"/>
            <a:ext cx="2843213" cy="677108"/>
          </a:xfrm>
          <a:prstGeom prst="rect">
            <a:avLst/>
          </a:prstGeom>
          <a:noFill/>
          <a:ln w="9525">
            <a:noFill/>
            <a:miter lim="800000"/>
            <a:headEnd/>
            <a:tailEnd/>
          </a:ln>
        </p:spPr>
        <p:txBody>
          <a:bodyPr wrap="square">
            <a:spAutoFit/>
          </a:bodyPr>
          <a:lstStyle/>
          <a:p>
            <a:pPr eaLnBrk="1" hangingPunct="1"/>
            <a:endParaRPr lang="it-IT" altLang="it-IT" sz="2000" dirty="0">
              <a:latin typeface="Garamond" pitchFamily="18" charset="0"/>
            </a:endParaRPr>
          </a:p>
          <a:p>
            <a:pPr eaLnBrk="1" hangingPunct="1"/>
            <a:endParaRPr lang="it-IT" altLang="it-IT" dirty="0"/>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extLst>
      <p:ext uri="{BB962C8B-B14F-4D97-AF65-F5344CB8AC3E}">
        <p14:creationId xmlns:p14="http://schemas.microsoft.com/office/powerpoint/2010/main" xmlns="" val="2848944505"/>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TotalTime>
  <Words>2032</Words>
  <Application>Microsoft Office PowerPoint</Application>
  <PresentationFormat>Presentazione su schermo (4:3)</PresentationFormat>
  <Paragraphs>203</Paragraphs>
  <Slides>23</Slides>
  <Notes>23</Notes>
  <HiddenSlides>0</HiddenSlides>
  <MMClips>0</MMClips>
  <ScaleCrop>false</ScaleCrop>
  <HeadingPairs>
    <vt:vector size="4" baseType="variant">
      <vt:variant>
        <vt:lpstr>Tema</vt:lpstr>
      </vt:variant>
      <vt:variant>
        <vt:i4>1</vt:i4>
      </vt:variant>
      <vt:variant>
        <vt:lpstr>Titoli diapositive</vt:lpstr>
      </vt:variant>
      <vt:variant>
        <vt:i4>23</vt:i4>
      </vt:variant>
    </vt:vector>
  </HeadingPairs>
  <TitlesOfParts>
    <vt:vector size="24" baseType="lpstr">
      <vt:lpstr>Tema di Office</vt:lpstr>
      <vt:lpstr>CORSO DI CYBERSECURITY AWARENESS    CYBERSECURITY, TYPES OF SECURITY, AND PRIVACY   N. 6</vt:lpstr>
      <vt:lpstr>INDEX</vt:lpstr>
      <vt:lpstr>HARDWARE PROTECTION MECHANISMS</vt:lpstr>
      <vt:lpstr>Diapositiva 4</vt:lpstr>
      <vt:lpstr>Diapositiva 5</vt:lpstr>
      <vt:lpstr>Diapositiva 6</vt:lpstr>
      <vt:lpstr>Diapositiva 7</vt:lpstr>
      <vt:lpstr>Diapositiva 8</vt:lpstr>
      <vt:lpstr>SECURE OPERATING SYSTEMS AND SECURE CODING</vt:lpstr>
      <vt:lpstr>FUNCTIONALITY AND ACCESS CONTROL LISTS</vt:lpstr>
      <vt:lpstr>Diapositiva 11</vt:lpstr>
      <vt:lpstr>END USER SECURITY TRAINING</vt:lpstr>
      <vt:lpstr>Diapositiva 13</vt:lpstr>
      <vt:lpstr>DIGITAL HYGIENE</vt:lpstr>
      <vt:lpstr>Diapositiva 15</vt:lpstr>
      <vt:lpstr>RESPONSE TO BREACHES</vt:lpstr>
      <vt:lpstr>Diapositiva 17</vt:lpstr>
      <vt:lpstr>Diapositiva 18</vt:lpstr>
      <vt:lpstr>TERMINOLOGY</vt:lpstr>
      <vt:lpstr>Diapositiva 20</vt:lpstr>
      <vt:lpstr>Diapositiva 21</vt:lpstr>
      <vt:lpstr>Diapositiva 22</vt:lpstr>
      <vt:lpstr>      THANKS FOR YOUR ATTENTION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Alessandro</dc:creator>
  <cp:lastModifiedBy>Alessandro</cp:lastModifiedBy>
  <cp:revision>12</cp:revision>
  <dcterms:created xsi:type="dcterms:W3CDTF">2023-05-29T15:11:17Z</dcterms:created>
  <dcterms:modified xsi:type="dcterms:W3CDTF">2023-09-14T08:09:24Z</dcterms:modified>
</cp:coreProperties>
</file>