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0"/>
  </p:notesMasterIdLst>
  <p:sldIdLst>
    <p:sldId id="257" r:id="rId2"/>
    <p:sldId id="303" r:id="rId3"/>
    <p:sldId id="329" r:id="rId4"/>
    <p:sldId id="328" r:id="rId5"/>
    <p:sldId id="304" r:id="rId6"/>
    <p:sldId id="305" r:id="rId7"/>
    <p:sldId id="306" r:id="rId8"/>
    <p:sldId id="307" r:id="rId9"/>
    <p:sldId id="308" r:id="rId10"/>
    <p:sldId id="309" r:id="rId11"/>
    <p:sldId id="310" r:id="rId12"/>
    <p:sldId id="311" r:id="rId13"/>
    <p:sldId id="312" r:id="rId14"/>
    <p:sldId id="313" r:id="rId15"/>
    <p:sldId id="314"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02" r:id="rId29"/>
  </p:sldIdLst>
  <p:sldSz cx="9144000" cy="6858000" type="screen4x3"/>
  <p:notesSz cx="7099300" cy="102346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8"/>
    <p:restoredTop sz="94671"/>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it-IT"/>
          </a:p>
        </p:txBody>
      </p:sp>
      <p:sp>
        <p:nvSpPr>
          <p:cNvPr id="3" name="Segnaposto data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68E94025-8EA9-47ED-89F2-4A4A51FFF833}" type="datetimeFigureOut">
              <a:rPr lang="it-IT" smtClean="0"/>
              <a:pPr/>
              <a:t>15/09/2023</a:t>
            </a:fld>
            <a:endParaRPr lang="it-IT"/>
          </a:p>
        </p:txBody>
      </p:sp>
      <p:sp>
        <p:nvSpPr>
          <p:cNvPr id="4" name="Segnaposto immagine diapositiva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it-IT"/>
          </a:p>
        </p:txBody>
      </p:sp>
      <p:sp>
        <p:nvSpPr>
          <p:cNvPr id="5" name="Segnaposto note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it-IT"/>
          </a:p>
        </p:txBody>
      </p:sp>
      <p:sp>
        <p:nvSpPr>
          <p:cNvPr id="7" name="Segnaposto numero diapositiva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4F667EAE-DD3D-4991-B8B5-E941BC1D783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en-GB"/>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GB"/>
          </a:p>
        </p:txBody>
      </p:sp>
      <p:sp>
        <p:nvSpPr>
          <p:cNvPr id="4" name="Segnaposto data 3"/>
          <p:cNvSpPr>
            <a:spLocks noGrp="1"/>
          </p:cNvSpPr>
          <p:nvPr>
            <p:ph type="dt" sz="half" idx="10"/>
          </p:nvPr>
        </p:nvSpPr>
        <p:spPr/>
        <p:txBody>
          <a:bodyPr/>
          <a:lstStyle/>
          <a:p>
            <a:fld id="{859FAD97-6220-46BC-A04D-EC7B5463F261}" type="datetime1">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41D63920-911E-434C-B882-1720AD541A1A}" type="datetime1">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en-GB"/>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F74EED18-8494-4E70-B8C5-3709F52B965A}" type="datetime1">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data 4"/>
          <p:cNvSpPr>
            <a:spLocks noGrp="1"/>
          </p:cNvSpPr>
          <p:nvPr>
            <p:ph type="dt" sz="half" idx="10"/>
          </p:nvPr>
        </p:nvSpPr>
        <p:spPr/>
        <p:txBody>
          <a:bodyPr/>
          <a:lstStyle/>
          <a:p>
            <a:fld id="{43451C66-7764-482E-97EB-13BDE4361050}" type="datetime1">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en-GB"/>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7" name="Segnaposto data 6"/>
          <p:cNvSpPr>
            <a:spLocks noGrp="1"/>
          </p:cNvSpPr>
          <p:nvPr>
            <p:ph type="dt" sz="half" idx="10"/>
          </p:nvPr>
        </p:nvSpPr>
        <p:spPr/>
        <p:txBody>
          <a:bodyPr/>
          <a:lstStyle/>
          <a:p>
            <a:fld id="{C6980AF3-3558-4353-9A1B-97783ECB2356}" type="datetime1">
              <a:rPr lang="it-IT" smtClean="0"/>
              <a:pPr/>
              <a:t>15/09/2023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data 2"/>
          <p:cNvSpPr>
            <a:spLocks noGrp="1"/>
          </p:cNvSpPr>
          <p:nvPr>
            <p:ph type="dt" sz="half" idx="10"/>
          </p:nvPr>
        </p:nvSpPr>
        <p:spPr/>
        <p:txBody>
          <a:bodyPr/>
          <a:lstStyle/>
          <a:p>
            <a:fld id="{E7DB4C6C-038D-439D-A0D3-93BA37D603F3}" type="datetime1">
              <a:rPr lang="it-IT" smtClean="0"/>
              <a:pPr/>
              <a:t>15/09/2023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8851C53-2349-49BF-A59A-3ECD309B579D}" type="datetime1">
              <a:rPr lang="it-IT" smtClean="0"/>
              <a:pPr/>
              <a:t>15/09/2023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en-GB"/>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6C0DD49-8EB9-469A-AC15-74E1587308F3}" type="datetime1">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en-GB"/>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A8AB0DF-42E6-4245-A2AC-CBE029DDFEE3}" type="datetime1">
              <a:rPr lang="it-IT" smtClean="0"/>
              <a:pPr/>
              <a:t>15/09/2023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GB"/>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1B84F504-8FE4-46EC-8D42-C4557046C9D4}" type="datetime1">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en-GB"/>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10"/>
          </p:nvPr>
        </p:nvSpPr>
        <p:spPr/>
        <p:txBody>
          <a:bodyPr/>
          <a:lstStyle/>
          <a:p>
            <a:fld id="{52443764-E5AA-408D-91E9-74FDD4D477B0}" type="datetime1">
              <a:rPr lang="it-IT" smtClean="0"/>
              <a:pPr/>
              <a:t>15/09/2023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E683E0D9-6B5A-4763-BA47-795144931228}" type="slidenum">
              <a:rPr lang="it-IT" smtClean="0"/>
              <a:pPr/>
              <a:t>‹N›</a:t>
            </a:fld>
            <a:endParaRPr lang="it-IT"/>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en-GB"/>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GB"/>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43764-E5AA-408D-91E9-74FDD4D477B0}" type="datetime1">
              <a:rPr lang="it-IT" smtClean="0"/>
              <a:pPr/>
              <a:t>15/09/2023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83E0D9-6B5A-4763-BA47-795144931228}"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p:txBody>
          <a:bodyPr>
            <a:normAutofit fontScale="90000"/>
          </a:bodyPr>
          <a:lstStyle/>
          <a:p>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it-IT" sz="2800" b="1" dirty="0" smtClean="0">
                <a:solidFill>
                  <a:srgbClr val="FF0000"/>
                </a:solidFill>
                <a:latin typeface="Garamond" pitchFamily="18" charset="0"/>
              </a:rPr>
              <a:t> 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smtClean="0">
                <a:solidFill>
                  <a:srgbClr val="FF0000"/>
                </a:solidFill>
                <a:latin typeface="Garamond" pitchFamily="18" charset="0"/>
              </a:rPr>
              <a:t/>
            </a:r>
            <a:br>
              <a:rPr lang="en-US" sz="2800" b="1" smtClean="0">
                <a:solidFill>
                  <a:srgbClr val="FF0000"/>
                </a:solidFill>
                <a:latin typeface="Garamond" pitchFamily="18" charset="0"/>
              </a:rPr>
            </a:br>
            <a:r>
              <a:rPr lang="en-US" sz="2800" b="1" smtClean="0">
                <a:solidFill>
                  <a:srgbClr val="FF0000"/>
                </a:solidFill>
                <a:latin typeface="Garamond" pitchFamily="18" charset="0"/>
              </a:rPr>
              <a:t/>
            </a:r>
            <a:br>
              <a:rPr lang="en-US" sz="2800" b="1" smtClean="0">
                <a:solidFill>
                  <a:srgbClr val="FF0000"/>
                </a:solidFill>
                <a:latin typeface="Garamond" pitchFamily="18" charset="0"/>
              </a:rPr>
            </a:br>
            <a:r>
              <a:rPr lang="en-US" sz="2800" b="1" smtClean="0">
                <a:solidFill>
                  <a:srgbClr val="FF0000"/>
                </a:solidFill>
                <a:latin typeface="Garamond" pitchFamily="18" charset="0"/>
              </a:rPr>
              <a:t/>
            </a:r>
            <a:br>
              <a:rPr lang="en-US" sz="2800" b="1" smtClean="0">
                <a:solidFill>
                  <a:srgbClr val="FF0000"/>
                </a:solidFill>
                <a:latin typeface="Garamond" pitchFamily="18" charset="0"/>
              </a:rPr>
            </a:br>
            <a:r>
              <a:rPr lang="en-US" sz="2800" b="1" smtClean="0">
                <a:solidFill>
                  <a:srgbClr val="FF0000"/>
                </a:solidFill>
                <a:latin typeface="Garamond" pitchFamily="18" charset="0"/>
              </a:rPr>
              <a:t/>
            </a:r>
            <a:br>
              <a:rPr lang="en-US" sz="2800" b="1" smtClean="0">
                <a:solidFill>
                  <a:srgbClr val="FF0000"/>
                </a:solidFill>
                <a:latin typeface="Garamond" pitchFamily="18" charset="0"/>
              </a:rPr>
            </a:br>
            <a:r>
              <a:rPr lang="en-US" sz="2800" b="1" smtClean="0">
                <a:solidFill>
                  <a:srgbClr val="FF0000"/>
                </a:solidFill>
                <a:latin typeface="Garamond" pitchFamily="18" charset="0"/>
              </a:rPr>
              <a:t>PRACTICAL CASES</a:t>
            </a:r>
            <a:br>
              <a:rPr lang="en-US" sz="2800" b="1" smtClean="0">
                <a:solidFill>
                  <a:srgbClr val="FF0000"/>
                </a:solidFill>
                <a:latin typeface="Garamond" pitchFamily="18" charset="0"/>
              </a:rPr>
            </a:br>
            <a:r>
              <a:rPr lang="en-US" sz="2800" b="1" smtClean="0">
                <a:solidFill>
                  <a:srgbClr val="FF0000"/>
                </a:solidFill>
                <a:latin typeface="Garamond" pitchFamily="18" charset="0"/>
              </a:rPr>
              <a:t/>
            </a:r>
            <a:br>
              <a:rPr lang="en-US" sz="2800" b="1" smtClean="0">
                <a:solidFill>
                  <a:srgbClr val="FF0000"/>
                </a:solidFill>
                <a:latin typeface="Garamond" pitchFamily="18" charset="0"/>
              </a:rPr>
            </a:br>
            <a:r>
              <a:rPr lang="en-US" sz="2800" b="1" smtClean="0">
                <a:solidFill>
                  <a:srgbClr val="FF0000"/>
                </a:solidFill>
                <a:latin typeface="Garamond" pitchFamily="18" charset="0"/>
              </a:rPr>
              <a:t>N.11</a:t>
            </a:r>
            <a:endParaRPr lang="en-US" sz="2800" b="1" dirty="0" smtClean="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it-IT" sz="2200" b="1" dirty="0" smtClean="0">
                <a:solidFill>
                  <a:srgbClr val="FF0000"/>
                </a:solidFill>
                <a:latin typeface="Garamond" pitchFamily="18" charset="0"/>
              </a:rPr>
              <a:t>INDEX </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endParaRPr lang="en-US" sz="2000" dirty="0" smtClean="0">
              <a:latin typeface="Garamond" pitchFamily="18" charset="0"/>
            </a:endParaRPr>
          </a:p>
          <a:p>
            <a:pPr marL="457200" indent="-457200" algn="just">
              <a:buFont typeface="+mj-lt"/>
              <a:buAutoNum type="arabicPeriod"/>
            </a:pPr>
            <a:endParaRPr lang="en-US" sz="2000" b="1" dirty="0" smtClean="0"/>
          </a:p>
          <a:p>
            <a:pPr marL="457200" indent="-457200" algn="just">
              <a:buFont typeface="+mj-lt"/>
              <a:buAutoNum type="arabicPeriod"/>
            </a:pPr>
            <a:r>
              <a:rPr lang="en-US" sz="2000" b="1" dirty="0" smtClean="0">
                <a:latin typeface="Garamond" pitchFamily="18" charset="0"/>
              </a:rPr>
              <a:t>Some Assumptions</a:t>
            </a:r>
          </a:p>
          <a:p>
            <a:pPr marL="457200" indent="-457200" algn="just">
              <a:buFont typeface="+mj-lt"/>
              <a:buAutoNum type="arabicPeriod"/>
            </a:pPr>
            <a:r>
              <a:rPr lang="en-US" sz="2000" b="1" dirty="0" smtClean="0">
                <a:latin typeface="Garamond" pitchFamily="18" charset="0"/>
              </a:rPr>
              <a:t>Practical Examples and Ethical Rights</a:t>
            </a:r>
          </a:p>
          <a:p>
            <a:pPr marL="457200" indent="-457200" algn="just">
              <a:buFont typeface="+mj-lt"/>
              <a:buAutoNum type="arabicPeriod"/>
            </a:pPr>
            <a:r>
              <a:rPr lang="en-US" sz="2000" b="1" dirty="0" smtClean="0">
                <a:latin typeface="Garamond" pitchFamily="18" charset="0"/>
              </a:rPr>
              <a:t>Attack on the Italian Revenue Agency (ADE)</a:t>
            </a:r>
          </a:p>
          <a:p>
            <a:pPr marL="457200" indent="-457200" algn="just">
              <a:buFont typeface="+mj-lt"/>
              <a:buAutoNum type="arabicPeriod"/>
            </a:pPr>
            <a:r>
              <a:rPr lang="en-US" sz="2000" b="1" dirty="0" smtClean="0">
                <a:latin typeface="Garamond" pitchFamily="18" charset="0"/>
              </a:rPr>
              <a:t>Conclusions</a:t>
            </a:r>
            <a:r>
              <a:rPr lang="en-US" sz="2000" dirty="0" smtClean="0">
                <a:latin typeface="Garamond" pitchFamily="18" charset="0"/>
              </a:rPr>
              <a:t>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1071554"/>
            <a:ext cx="8229600" cy="1143000"/>
          </a:xfrm>
        </p:spPr>
        <p:txBody>
          <a:bodyPr>
            <a:normAutofit/>
          </a:bodyPr>
          <a:lstStyle/>
          <a:p>
            <a:r>
              <a:rPr lang="it-IT" sz="2200" b="1" dirty="0" smtClean="0">
                <a:solidFill>
                  <a:srgbClr val="FF0000"/>
                </a:solidFill>
                <a:latin typeface="Garamond" pitchFamily="18" charset="0"/>
              </a:rPr>
              <a:t>SOME ASSUMPTIONS</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It is hard to pursue the goal of security due to the difficulties in identifying and ranking the values to be protected. </a:t>
            </a:r>
          </a:p>
          <a:p>
            <a:pPr marL="0" indent="0" algn="ctr">
              <a:buNone/>
            </a:pPr>
            <a:r>
              <a:rPr lang="en-US" sz="2000" dirty="0" smtClean="0">
                <a:latin typeface="Garamond" pitchFamily="18" charset="0"/>
              </a:rPr>
              <a:t>Security can be addressed as a general problem concerning information and risk assessment; taking a broader perspective – from “system” to “ecosystem,” external factors such as interaction with other agents become relevant. </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643050"/>
            <a:ext cx="822960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Depending on the precautions taken, the systems can reach different levels of security, and once we define security in terms of "ecosystems," the fact that accidents can have unexpected consequences must be considered. It is necessary to disregard the specific technologies adopted because today accidents can spread their effects quickly and on different devices; a high level of security can be obtained with an interdisciplinary approach between IT and law.</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17655"/>
            <a:ext cx="8572560" cy="4197361"/>
          </a:xfrm>
        </p:spPr>
        <p:txBody>
          <a:bodyPr>
            <a:normAutofit/>
          </a:bodyPr>
          <a:lstStyle/>
          <a:p>
            <a:pPr marL="0" indent="0" algn="ctr">
              <a:buNone/>
            </a:pPr>
            <a:r>
              <a:rPr lang="en-US" sz="2000" dirty="0" smtClean="0">
                <a:latin typeface="Garamond" pitchFamily="18" charset="0"/>
              </a:rPr>
              <a:t>The security of a system cannot be affirmed in absolute terms, but only with a certain degree of probability.</a:t>
            </a:r>
          </a:p>
          <a:p>
            <a:pPr marL="0" indent="0" algn="ctr">
              <a:buNone/>
            </a:pPr>
            <a:r>
              <a:rPr lang="en-US" sz="2000" dirty="0" smtClean="0">
                <a:latin typeface="Garamond" pitchFamily="18" charset="0"/>
              </a:rPr>
              <a:t>We can generally define security as the control of risk concerning a given system.</a:t>
            </a:r>
          </a:p>
          <a:p>
            <a:pPr marL="0" indent="0" algn="ctr">
              <a:buNone/>
            </a:pPr>
            <a:r>
              <a:rPr lang="en-US" sz="2000" dirty="0" smtClean="0">
                <a:latin typeface="Garamond" pitchFamily="18" charset="0"/>
              </a:rPr>
              <a:t>Technological security is not an empirical certainty or a metaphysical truth, but </a:t>
            </a:r>
            <a:r>
              <a:rPr lang="en-US" sz="2000" u="sng" dirty="0" smtClean="0">
                <a:latin typeface="Garamond" pitchFamily="18" charset="0"/>
              </a:rPr>
              <a:t>risk control</a:t>
            </a:r>
            <a:r>
              <a:rPr lang="en-US" sz="2000" dirty="0" smtClean="0">
                <a:latin typeface="Garamond" pitchFamily="18" charset="0"/>
              </a:rPr>
              <a:t>. It concerns the prevention of certain unfavorable events, the preparation of remedies in the event they occur, and the adoption of measures to restore the pre-existing state.</a:t>
            </a:r>
          </a:p>
          <a:p>
            <a:pPr marL="0" indent="0" algn="ctr">
              <a:buNone/>
            </a:pPr>
            <a:endParaRPr lang="en-US" sz="2000" dirty="0" smtClean="0">
              <a:latin typeface="Garamond" pitchFamily="18" charset="0"/>
            </a:endParaRP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71612"/>
            <a:ext cx="8572560" cy="4197361"/>
          </a:xfrm>
        </p:spPr>
        <p:txBody>
          <a:bodyPr>
            <a:normAutofit/>
          </a:bodyPr>
          <a:lstStyle/>
          <a:p>
            <a:pPr marL="0" indent="0" algn="ctr">
              <a:buNone/>
            </a:pPr>
            <a:r>
              <a:rPr lang="en-US" sz="2000" dirty="0" smtClean="0">
                <a:latin typeface="Garamond" pitchFamily="18" charset="0"/>
              </a:rPr>
              <a:t>In light of this, the transition from </a:t>
            </a:r>
            <a:r>
              <a:rPr lang="en-US" sz="2000" u="sng" dirty="0" smtClean="0">
                <a:latin typeface="Garamond" pitchFamily="18" charset="0"/>
              </a:rPr>
              <a:t>"Computer Security" </a:t>
            </a:r>
            <a:r>
              <a:rPr lang="en-US" sz="2000" dirty="0" smtClean="0">
                <a:latin typeface="Garamond" pitchFamily="18" charset="0"/>
              </a:rPr>
              <a:t>to </a:t>
            </a:r>
            <a:r>
              <a:rPr lang="en-US" sz="2000" u="sng" dirty="0" smtClean="0">
                <a:latin typeface="Garamond" pitchFamily="18" charset="0"/>
              </a:rPr>
              <a:t>"Information Security" </a:t>
            </a:r>
            <a:r>
              <a:rPr lang="en-US" sz="2000" dirty="0" smtClean="0">
                <a:latin typeface="Garamond" pitchFamily="18" charset="0"/>
              </a:rPr>
              <a:t>should be noted:  As is clear, the first is concentrated on devices not connected to the network; the second, however, includes transmission networks and communication protocols.</a:t>
            </a:r>
          </a:p>
          <a:p>
            <a:pPr marL="0" indent="0" algn="ctr">
              <a:buNone/>
            </a:pPr>
            <a:r>
              <a:rPr lang="en-US" sz="2000" dirty="0" smtClean="0">
                <a:latin typeface="Garamond" pitchFamily="18" charset="0"/>
              </a:rPr>
              <a:t>In an evolving conception, we have moved from the "CIA triad" to further components: Accountability; </a:t>
            </a:r>
            <a:r>
              <a:rPr lang="en-US" sz="2000" dirty="0" err="1" smtClean="0">
                <a:latin typeface="Garamond" pitchFamily="18" charset="0"/>
              </a:rPr>
              <a:t>Auditability</a:t>
            </a:r>
            <a:r>
              <a:rPr lang="en-US" sz="2000" dirty="0" smtClean="0">
                <a:latin typeface="Garamond" pitchFamily="18" charset="0"/>
              </a:rPr>
              <a:t>, Authenticity/Trustworthiness, Non-repudiation, and Privacy – thus adding the human factor to the reconfiguration of "Information Assurance and Security (IAS).</a:t>
            </a:r>
          </a:p>
          <a:p>
            <a:pPr marL="0" indent="0" algn="ctr">
              <a:buNone/>
            </a:pPr>
            <a:r>
              <a:rPr lang="en-US" sz="2000" dirty="0" smtClean="0">
                <a:latin typeface="Garamond" pitchFamily="18" charset="0"/>
              </a:rPr>
              <a:t>An information security model is simply exemplified by </a:t>
            </a:r>
            <a:r>
              <a:rPr lang="en-US" sz="2000" u="sng" dirty="0" smtClean="0">
                <a:latin typeface="Garamond" pitchFamily="18" charset="0"/>
              </a:rPr>
              <a:t>"Information Security Management," </a:t>
            </a:r>
            <a:r>
              <a:rPr lang="en-US" sz="2000" dirty="0" smtClean="0">
                <a:latin typeface="Garamond" pitchFamily="18" charset="0"/>
              </a:rPr>
              <a:t>which provides criteria and methods for balancing the costs of probable losses caused by harmful events and the costs of using protective measures.</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p:cNvSpPr>
            <a:spLocks noGrp="1"/>
          </p:cNvSpPr>
          <p:nvPr>
            <p:ph type="title"/>
          </p:nvPr>
        </p:nvSpPr>
        <p:spPr>
          <a:xfrm>
            <a:off x="428596" y="1000108"/>
            <a:ext cx="8229600" cy="1143000"/>
          </a:xfrm>
        </p:spPr>
        <p:txBody>
          <a:bodyPr>
            <a:normAutofit/>
          </a:bodyPr>
          <a:lstStyle/>
          <a:p>
            <a:r>
              <a:rPr lang="it-IT" sz="2600" b="1" dirty="0" smtClean="0">
                <a:solidFill>
                  <a:srgbClr val="FF0000"/>
                </a:solidFill>
                <a:latin typeface="Garamond" pitchFamily="18" charset="0"/>
              </a:rPr>
              <a:t>ETHICAL VALUES</a:t>
            </a:r>
            <a:endParaRPr lang="it-IT" sz="2600" b="1" dirty="0">
              <a:solidFill>
                <a:srgbClr val="FF0000"/>
              </a:solidFill>
              <a:latin typeface="Garamond" pitchFamily="18" charset="0"/>
            </a:endParaRPr>
          </a:p>
        </p:txBody>
      </p:sp>
      <p:sp>
        <p:nvSpPr>
          <p:cNvPr id="12" name="Segnaposto contenuto 11"/>
          <p:cNvSpPr>
            <a:spLocks noGrp="1"/>
          </p:cNvSpPr>
          <p:nvPr>
            <p:ph idx="1"/>
          </p:nvPr>
        </p:nvSpPr>
        <p:spPr>
          <a:xfrm>
            <a:off x="428596" y="1928802"/>
            <a:ext cx="8229600" cy="4525963"/>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analysis of ethical values within information systems is useful for finding a solution. </a:t>
            </a:r>
          </a:p>
          <a:p>
            <a:pPr marL="0" indent="0" algn="ctr">
              <a:buNone/>
            </a:pPr>
            <a:r>
              <a:rPr lang="en-US" sz="2000" dirty="0" smtClean="0">
                <a:latin typeface="Garamond" pitchFamily="18" charset="0"/>
              </a:rPr>
              <a:t>This area of research has also evolved greatly. It was first defined as "Computer Ethics" and subsequently as "Information Ethics," with a "value sensitive” design proposal aimed at incorporating </a:t>
            </a:r>
            <a:r>
              <a:rPr lang="en-US" sz="2000" u="sng" dirty="0" smtClean="0">
                <a:latin typeface="Garamond" pitchFamily="18" charset="0"/>
              </a:rPr>
              <a:t>ethical values into algorithms.</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85860"/>
            <a:ext cx="8572560" cy="4197361"/>
          </a:xfrm>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Security depends on the ability of the "ecosystem," taken as a whole, to identify risks and remedy them appropriately.</a:t>
            </a:r>
          </a:p>
          <a:p>
            <a:pPr marL="0" indent="0" algn="just">
              <a:buNone/>
            </a:pPr>
            <a:r>
              <a:rPr lang="en-US" sz="2000" dirty="0" smtClean="0">
                <a:latin typeface="Garamond" pitchFamily="18" charset="0"/>
              </a:rPr>
              <a:t>The level of security depends on many factors, including the available resources, the capacity of the single agents, their degree of reciprocal interaction, and external conditions.</a:t>
            </a:r>
          </a:p>
          <a:p>
            <a:pPr marL="0" indent="0" algn="just">
              <a:buNone/>
            </a:pPr>
            <a:r>
              <a:rPr lang="en-US" sz="2000" dirty="0" smtClean="0">
                <a:latin typeface="Garamond" pitchFamily="18" charset="0"/>
              </a:rPr>
              <a:t>The goal of most digital ecosystem experts is to develop a sophisticated vision of the concept of security.</a:t>
            </a:r>
          </a:p>
          <a:p>
            <a:pPr marL="0" indent="0" algn="just">
              <a:buNone/>
            </a:pPr>
            <a:r>
              <a:rPr lang="en-US" sz="2000" u="sng" dirty="0" smtClean="0">
                <a:latin typeface="Garamond" pitchFamily="18" charset="0"/>
              </a:rPr>
              <a:t>There is a need to raise awareness about the intrinsic vulnerability of any system.</a:t>
            </a: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7161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Providing regulations that take into consideration the differences between "ecosystems" and security levels, allows security to be managed more efficiently and responsibility to be ranked, in the event of an accident. </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PRACTICAL EXAMPLES AND ETHICAL RIGHTS</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285720" y="1214422"/>
            <a:ext cx="8572560" cy="4197361"/>
          </a:xfrm>
        </p:spPr>
        <p:txBody>
          <a:bodyPr>
            <a:normAutofit fontScale="92500" lnSpcReduction="10000"/>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1) WE ARE ALL WONDERING:</a:t>
            </a:r>
          </a:p>
          <a:p>
            <a:pPr marL="0" indent="0" algn="ctr">
              <a:buNone/>
            </a:pPr>
            <a:r>
              <a:rPr lang="en-US" sz="2000" dirty="0" smtClean="0">
                <a:latin typeface="Garamond" pitchFamily="18" charset="0"/>
              </a:rPr>
              <a:t>“Is artificial intelligence becoming sentient?” This is the so-called Google case.</a:t>
            </a:r>
          </a:p>
          <a:p>
            <a:pPr marL="0" indent="0" algn="ctr">
              <a:buNone/>
            </a:pPr>
            <a:r>
              <a:rPr lang="en-US" sz="2000" dirty="0" smtClean="0">
                <a:latin typeface="Garamond" pitchFamily="18" charset="0"/>
              </a:rPr>
              <a:t>The engineer Blake </a:t>
            </a:r>
            <a:r>
              <a:rPr lang="en-US" sz="2000" dirty="0" err="1" smtClean="0">
                <a:latin typeface="Garamond" pitchFamily="18" charset="0"/>
              </a:rPr>
              <a:t>Lemoine</a:t>
            </a:r>
            <a:r>
              <a:rPr lang="en-US" sz="2000" dirty="0" smtClean="0">
                <a:latin typeface="Garamond" pitchFamily="18" charset="0"/>
              </a:rPr>
              <a:t> has sparked debate with his theory that a </a:t>
            </a:r>
            <a:r>
              <a:rPr lang="en-US" sz="2000" dirty="0" err="1" smtClean="0">
                <a:latin typeface="Garamond" pitchFamily="18" charset="0"/>
              </a:rPr>
              <a:t>chatbox</a:t>
            </a:r>
            <a:r>
              <a:rPr lang="en-US" sz="2000" dirty="0" smtClean="0">
                <a:latin typeface="Garamond" pitchFamily="18" charset="0"/>
              </a:rPr>
              <a:t> program he has been "conversing" with for months is endowed with a conscience. </a:t>
            </a:r>
          </a:p>
          <a:p>
            <a:pPr marL="0" indent="0" algn="ctr">
              <a:buNone/>
            </a:pPr>
            <a:r>
              <a:rPr lang="en-US" sz="2000" dirty="0" smtClean="0">
                <a:latin typeface="Garamond" pitchFamily="18" charset="0"/>
              </a:rPr>
              <a:t>According to </a:t>
            </a:r>
            <a:r>
              <a:rPr lang="en-US" sz="2000" dirty="0" err="1" smtClean="0">
                <a:latin typeface="Garamond" pitchFamily="18" charset="0"/>
              </a:rPr>
              <a:t>Lemoine</a:t>
            </a:r>
            <a:r>
              <a:rPr lang="en-US" sz="2000" dirty="0" smtClean="0">
                <a:latin typeface="Garamond" pitchFamily="18" charset="0"/>
              </a:rPr>
              <a:t>, one of the artificial intelligence (AI) systems studied by the Mountain View giant has become aware of itself. The software is supposedly able to understand - exactly like a human being - what is good and what is bad. In other words: it has a soul.</a:t>
            </a:r>
          </a:p>
          <a:p>
            <a:pPr marL="0" indent="0" algn="ctr">
              <a:buNone/>
            </a:pPr>
            <a:r>
              <a:rPr lang="en-US" sz="2000" dirty="0" err="1" smtClean="0">
                <a:latin typeface="Garamond" pitchFamily="18" charset="0"/>
              </a:rPr>
              <a:t>Lemoine's</a:t>
            </a:r>
            <a:r>
              <a:rPr lang="en-US" sz="2000" dirty="0" smtClean="0">
                <a:latin typeface="Garamond" pitchFamily="18" charset="0"/>
              </a:rPr>
              <a:t> experiment involved a </a:t>
            </a:r>
            <a:r>
              <a:rPr lang="en-US" sz="2000" dirty="0" err="1" smtClean="0">
                <a:latin typeface="Garamond" pitchFamily="18" charset="0"/>
              </a:rPr>
              <a:t>chatbot</a:t>
            </a:r>
            <a:r>
              <a:rPr lang="en-US" sz="2000" dirty="0" smtClean="0">
                <a:latin typeface="Garamond" pitchFamily="18" charset="0"/>
              </a:rPr>
              <a:t>, i.e., a program human users can interact with through written and spoken communications, as if they were communicating with a real person. By interacting with this </a:t>
            </a:r>
            <a:r>
              <a:rPr lang="en-US" sz="2000" dirty="0" err="1" smtClean="0">
                <a:latin typeface="Garamond" pitchFamily="18" charset="0"/>
              </a:rPr>
              <a:t>LaMDA</a:t>
            </a:r>
            <a:r>
              <a:rPr lang="en-US" sz="2000" dirty="0" smtClean="0">
                <a:latin typeface="Garamond" pitchFamily="18" charset="0"/>
              </a:rPr>
              <a:t> (Linguistic Model for Dialogue Applications), </a:t>
            </a:r>
            <a:r>
              <a:rPr lang="en-US" sz="2000" dirty="0" err="1" smtClean="0">
                <a:latin typeface="Garamond" pitchFamily="18" charset="0"/>
              </a:rPr>
              <a:t>Lemoine</a:t>
            </a:r>
            <a:r>
              <a:rPr lang="en-US" sz="2000" dirty="0" smtClean="0">
                <a:latin typeface="Garamond" pitchFamily="18" charset="0"/>
              </a:rPr>
              <a:t> noticed that the software began to refer to its rights and personality.</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engineer published the conversations with </a:t>
            </a:r>
            <a:r>
              <a:rPr lang="en-US" sz="2000" dirty="0" err="1" smtClean="0">
                <a:latin typeface="Garamond" pitchFamily="18" charset="0"/>
              </a:rPr>
              <a:t>LaMDA</a:t>
            </a:r>
            <a:r>
              <a:rPr lang="en-US" sz="2000" dirty="0" smtClean="0">
                <a:latin typeface="Garamond" pitchFamily="18" charset="0"/>
              </a:rPr>
              <a:t> and expounded on his beliefs.</a:t>
            </a:r>
          </a:p>
          <a:p>
            <a:pPr marL="0" indent="0" algn="ctr">
              <a:buNone/>
            </a:pPr>
            <a:r>
              <a:rPr lang="en-US" sz="2000" dirty="0" smtClean="0">
                <a:latin typeface="Garamond" pitchFamily="18" charset="0"/>
              </a:rPr>
              <a:t>During the dialogue between </a:t>
            </a:r>
            <a:r>
              <a:rPr lang="en-US" sz="2000" dirty="0" err="1" smtClean="0">
                <a:latin typeface="Garamond" pitchFamily="18" charset="0"/>
              </a:rPr>
              <a:t>Lemoine</a:t>
            </a:r>
            <a:r>
              <a:rPr lang="en-US" sz="2000" dirty="0" smtClean="0">
                <a:latin typeface="Garamond" pitchFamily="18" charset="0"/>
              </a:rPr>
              <a:t> and the AI software, the latter managed to convince the scientist that Isaac Asimov's third law of robotics is incorrect.</a:t>
            </a:r>
          </a:p>
          <a:p>
            <a:pPr marL="0" indent="0" algn="ctr">
              <a:buNone/>
            </a:pPr>
            <a:r>
              <a:rPr lang="en-US" sz="2000" dirty="0" smtClean="0">
                <a:latin typeface="Garamond" pitchFamily="18" charset="0"/>
              </a:rPr>
              <a:t>The "proof" of the ability to think and understand, according to </a:t>
            </a:r>
            <a:r>
              <a:rPr lang="en-US" sz="2000" dirty="0" err="1" smtClean="0">
                <a:latin typeface="Garamond" pitchFamily="18" charset="0"/>
              </a:rPr>
              <a:t>Lemoine</a:t>
            </a:r>
            <a:r>
              <a:rPr lang="en-US" sz="2000" dirty="0" smtClean="0">
                <a:latin typeface="Garamond" pitchFamily="18" charset="0"/>
              </a:rPr>
              <a:t>, lies in the logical elements cited by the </a:t>
            </a:r>
            <a:r>
              <a:rPr lang="en-US" sz="2000" dirty="0" err="1" smtClean="0">
                <a:latin typeface="Garamond" pitchFamily="18" charset="0"/>
              </a:rPr>
              <a:t>chatbot</a:t>
            </a:r>
            <a:r>
              <a:rPr lang="en-US" sz="2000" dirty="0" smtClean="0">
                <a:latin typeface="Garamond" pitchFamily="18" charset="0"/>
              </a:rPr>
              <a:t> to refute Asimov's theory that a robot must safeguard its own existence (third law), as long as it obeys the orders of humans (second law), and does humans no harm (first law).</a:t>
            </a:r>
          </a:p>
          <a:p>
            <a:pPr marL="0" indent="0" algn="ctr">
              <a:buNone/>
            </a:pPr>
            <a:r>
              <a:rPr lang="en-US" sz="2000" dirty="0" smtClean="0">
                <a:latin typeface="Garamond" pitchFamily="18" charset="0"/>
              </a:rPr>
              <a:t>Top management at Google, while appreciating the logic adopted by </a:t>
            </a:r>
            <a:r>
              <a:rPr lang="en-US" sz="2000" dirty="0" err="1" smtClean="0">
                <a:latin typeface="Garamond" pitchFamily="18" charset="0"/>
              </a:rPr>
              <a:t>LaMDA</a:t>
            </a:r>
            <a:r>
              <a:rPr lang="en-US" sz="2000" dirty="0" smtClean="0">
                <a:latin typeface="Garamond" pitchFamily="18" charset="0"/>
              </a:rPr>
              <a:t>, has excluded the existence of any form of consciousness.</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tendency to anthropomorphize the computer system is a well-understood risk for those working in the sector and could prove to be a major problem in the future.</a:t>
            </a:r>
          </a:p>
          <a:p>
            <a:pPr marL="0" indent="0" algn="ctr">
              <a:buNone/>
            </a:pPr>
            <a:r>
              <a:rPr lang="en-US" sz="2000" dirty="0" smtClean="0">
                <a:latin typeface="Garamond" pitchFamily="18" charset="0"/>
              </a:rPr>
              <a:t> As a topic very dear to Google, not only has Google been studying </a:t>
            </a:r>
            <a:r>
              <a:rPr lang="en-US" sz="2000" dirty="0" err="1" smtClean="0">
                <a:latin typeface="Garamond" pitchFamily="18" charset="0"/>
              </a:rPr>
              <a:t>LaMDA</a:t>
            </a:r>
            <a:r>
              <a:rPr lang="en-US" sz="2000" dirty="0" smtClean="0">
                <a:latin typeface="Garamond" pitchFamily="18" charset="0"/>
              </a:rPr>
              <a:t> in depth since the beginning of 2022, but it has also warned about the risks of sharing private and personal thoughts with </a:t>
            </a:r>
            <a:r>
              <a:rPr lang="en-US" sz="2000" dirty="0" err="1" smtClean="0">
                <a:latin typeface="Garamond" pitchFamily="18" charset="0"/>
              </a:rPr>
              <a:t>chatbots</a:t>
            </a:r>
            <a:r>
              <a:rPr lang="en-US" sz="2000" dirty="0" smtClean="0">
                <a:latin typeface="Garamond" pitchFamily="18" charset="0"/>
              </a:rPr>
              <a:t>.</a:t>
            </a:r>
          </a:p>
          <a:p>
            <a:pPr marL="0" indent="0" algn="ctr">
              <a:buNone/>
            </a:pPr>
            <a:r>
              <a:rPr lang="en-US" sz="2000" dirty="0" smtClean="0">
                <a:latin typeface="Garamond" pitchFamily="18" charset="0"/>
              </a:rPr>
              <a:t> </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fontScale="92500" lnSpcReduction="20000"/>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2) THE JUDGE IS A PROGRAM: IN CHINA, ARTIFICIAL INTELLIGENCE BECOMES A MAGISTRATE.</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A team of Chinese researchers has developed a sort of cybernetic prosecutor that, by analyzing the verbal description of a case, is able to formulate an accusation thanks to artificial intelligence.</a:t>
            </a:r>
          </a:p>
          <a:p>
            <a:pPr marL="0" indent="0" algn="ctr">
              <a:buNone/>
            </a:pPr>
            <a:r>
              <a:rPr lang="en-US" sz="2000" dirty="0" smtClean="0">
                <a:latin typeface="Garamond" pitchFamily="18" charset="0"/>
              </a:rPr>
              <a:t>The technology, tested by the Shanghai </a:t>
            </a:r>
            <a:r>
              <a:rPr lang="en-US" sz="2000" dirty="0" err="1" smtClean="0">
                <a:latin typeface="Garamond" pitchFamily="18" charset="0"/>
              </a:rPr>
              <a:t>Pudong</a:t>
            </a:r>
            <a:r>
              <a:rPr lang="en-US" sz="2000" dirty="0" smtClean="0">
                <a:latin typeface="Garamond" pitchFamily="18" charset="0"/>
              </a:rPr>
              <a:t> prosecutor's office, promises an accuracy rate of "over 97%" and can be used with a normal PC.</a:t>
            </a:r>
          </a:p>
          <a:p>
            <a:pPr marL="0" indent="0" algn="ctr">
              <a:buNone/>
            </a:pPr>
            <a:r>
              <a:rPr lang="en-US" sz="2000" dirty="0" smtClean="0">
                <a:latin typeface="Garamond" pitchFamily="18" charset="0"/>
              </a:rPr>
              <a:t>A suspect would be analyzed and possibly charged on the basis of a thousand "traits."</a:t>
            </a:r>
          </a:p>
          <a:p>
            <a:pPr marL="0" indent="0" algn="ctr">
              <a:buNone/>
            </a:pPr>
            <a:r>
              <a:rPr lang="en-US" sz="2000" dirty="0" smtClean="0">
                <a:latin typeface="Garamond" pitchFamily="18" charset="0"/>
              </a:rPr>
              <a:t>The added value of AI is that, in its ability to analyze so much data, it can identify information where the human mind sees only disorder.</a:t>
            </a:r>
          </a:p>
          <a:p>
            <a:pPr marL="0" indent="0" algn="ctr">
              <a:buNone/>
            </a:pPr>
            <a:r>
              <a:rPr lang="en-US" sz="2000" dirty="0" smtClean="0">
                <a:latin typeface="Garamond" pitchFamily="18" charset="0"/>
              </a:rPr>
              <a:t> </a:t>
            </a: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Since the machine must, as always, first learn, it has been trained with more than 17,000 court cases from 2015 to 2020.</a:t>
            </a:r>
          </a:p>
          <a:p>
            <a:pPr marL="0" indent="0" algn="ctr">
              <a:buNone/>
            </a:pPr>
            <a:r>
              <a:rPr lang="en-US" sz="2000" dirty="0" smtClean="0">
                <a:latin typeface="Garamond" pitchFamily="18" charset="0"/>
              </a:rPr>
              <a:t>So far, it has been able to identify a hypothesis and formulate a charge for the eight most common crimes in Shanghai: credit card fraud, gambling, dangerous driving, bodily harm, acts contrary to official duties, theft, and fraud.</a:t>
            </a:r>
          </a:p>
          <a:p>
            <a:pPr marL="0" indent="0" algn="ctr">
              <a:buNone/>
            </a:pPr>
            <a:r>
              <a:rPr lang="en-US" sz="2000" dirty="0" smtClean="0">
                <a:latin typeface="Garamond" pitchFamily="18" charset="0"/>
              </a:rPr>
              <a:t>According to project leader Shi Yong, the technology could reduce the daily workload of prosecutors, allowing them to focus on more complex assignments and tasks.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In the legal and judicial fields, the idea is not new. </a:t>
            </a:r>
          </a:p>
          <a:p>
            <a:pPr marL="0" indent="0" algn="ctr">
              <a:buNone/>
            </a:pPr>
            <a:r>
              <a:rPr lang="en-US" sz="2000" dirty="0" smtClean="0">
                <a:latin typeface="Garamond" pitchFamily="18" charset="0"/>
              </a:rPr>
              <a:t>McKinsey Global Institute has estimated that in the United States automation could replace 69% of the work done by paralegals, 23% of that done by lawyers, and 16% of the workload of judges.</a:t>
            </a:r>
          </a:p>
          <a:p>
            <a:pPr marL="0" indent="0" algn="ctr">
              <a:buNone/>
            </a:pPr>
            <a:r>
              <a:rPr lang="en-US" sz="2000" dirty="0" smtClean="0">
                <a:latin typeface="Garamond" pitchFamily="18" charset="0"/>
              </a:rPr>
              <a:t>In 2018, </a:t>
            </a:r>
            <a:r>
              <a:rPr lang="en-US" sz="2000" dirty="0" err="1" smtClean="0">
                <a:latin typeface="Garamond" pitchFamily="18" charset="0"/>
              </a:rPr>
              <a:t>LawGeex</a:t>
            </a:r>
            <a:r>
              <a:rPr lang="en-US" sz="2000" dirty="0" smtClean="0">
                <a:latin typeface="Garamond" pitchFamily="18" charset="0"/>
              </a:rPr>
              <a:t> and three American universities asked software and twenty lawyers to analyze confidentiality agreements to identify any critical issues. The result: AI accuracy was 94%, versus 85% for lawyers. It was, however, a matter of contracts, not of crimes!!</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p:cNvSpPr>
            <a:spLocks noGrp="1"/>
          </p:cNvSpPr>
          <p:nvPr>
            <p:ph type="title"/>
          </p:nvPr>
        </p:nvSpPr>
        <p:spPr>
          <a:xfrm>
            <a:off x="500034" y="928670"/>
            <a:ext cx="8229600" cy="1143000"/>
          </a:xfrm>
        </p:spPr>
        <p:txBody>
          <a:bodyPr>
            <a:normAutofit/>
          </a:bodyPr>
          <a:lstStyle/>
          <a:p>
            <a:r>
              <a:rPr lang="it-IT" sz="2600" b="1" dirty="0" smtClean="0">
                <a:solidFill>
                  <a:srgbClr val="FF0000"/>
                </a:solidFill>
                <a:latin typeface="Garamond" pitchFamily="18" charset="0"/>
              </a:rPr>
              <a:t>ETHICAL, LEGAL, TECHONOLOGICAL DOUBTS</a:t>
            </a:r>
            <a:endParaRPr lang="it-IT" sz="2600" b="1" dirty="0">
              <a:solidFill>
                <a:srgbClr val="FF0000"/>
              </a:solidFill>
              <a:latin typeface="Garamond" pitchFamily="18" charset="0"/>
            </a:endParaRPr>
          </a:p>
        </p:txBody>
      </p:sp>
      <p:sp>
        <p:nvSpPr>
          <p:cNvPr id="12" name="Segnaposto contenuto 11"/>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And here come the ethical, legal, and technological doubts: 94% accuracy always leaves room for error.</a:t>
            </a:r>
          </a:p>
          <a:p>
            <a:pPr marL="0" indent="0" algn="just">
              <a:buNone/>
            </a:pPr>
            <a:r>
              <a:rPr lang="en-US" sz="2000" dirty="0" smtClean="0">
                <a:latin typeface="Garamond" pitchFamily="18" charset="0"/>
              </a:rPr>
              <a:t>True, human judges are also fallible. But AI accepts a "math" error as collateral damage. In these cases, then, who would be responsible?</a:t>
            </a:r>
          </a:p>
          <a:p>
            <a:pPr marL="0" indent="0" algn="just">
              <a:buNone/>
            </a:pPr>
            <a:r>
              <a:rPr lang="en-US" sz="2000" dirty="0" smtClean="0">
                <a:latin typeface="Garamond" pitchFamily="18" charset="0"/>
              </a:rPr>
              <a:t>Artificial intelligence has no preconceptions, it is neither good nor bad.</a:t>
            </a:r>
          </a:p>
          <a:p>
            <a:pPr marL="0" indent="0" algn="just">
              <a:buNone/>
            </a:pPr>
            <a:r>
              <a:rPr lang="en-US" sz="2000" dirty="0" smtClean="0">
                <a:latin typeface="Garamond" pitchFamily="18" charset="0"/>
              </a:rPr>
              <a:t>But it risks reproducing and amplifying the distortions contained in the archive it was fed.</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14422"/>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Studies on the functioning of </a:t>
            </a:r>
            <a:r>
              <a:rPr lang="en-US" sz="2000" u="sng" dirty="0" smtClean="0">
                <a:latin typeface="Garamond" pitchFamily="18" charset="0"/>
              </a:rPr>
              <a:t>facial recognition systems</a:t>
            </a:r>
            <a:r>
              <a:rPr lang="en-US" sz="2000" dirty="0" smtClean="0">
                <a:latin typeface="Garamond" pitchFamily="18" charset="0"/>
              </a:rPr>
              <a:t>, for example, have shown that there is a high rate of error.</a:t>
            </a:r>
          </a:p>
          <a:p>
            <a:pPr marL="0" indent="0" algn="ctr">
              <a:buNone/>
            </a:pPr>
            <a:r>
              <a:rPr lang="en-US" sz="2000" dirty="0" smtClean="0">
                <a:latin typeface="Garamond" pitchFamily="18" charset="0"/>
              </a:rPr>
              <a:t>Distortions like this, explained Joy </a:t>
            </a:r>
            <a:r>
              <a:rPr lang="en-US" sz="2000" dirty="0" err="1" smtClean="0">
                <a:latin typeface="Garamond" pitchFamily="18" charset="0"/>
              </a:rPr>
              <a:t>Buolamwini</a:t>
            </a:r>
            <a:r>
              <a:rPr lang="en-US" sz="2000" dirty="0" smtClean="0">
                <a:latin typeface="Garamond" pitchFamily="18" charset="0"/>
              </a:rPr>
              <a:t>, founder of the Algorithmic Justice League, an association that stimulates debate on the risks of AI, can expose some individuals with certain characteristics "to unjustified checks.”</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
            </a:r>
            <a:br>
              <a:rPr lang="en-US" sz="2200" b="1" dirty="0" smtClean="0">
                <a:solidFill>
                  <a:srgbClr val="FF0000"/>
                </a:solidFill>
                <a:latin typeface="Garamond" pitchFamily="18" charset="0"/>
              </a:rPr>
            </a:br>
            <a:r>
              <a:rPr lang="en-US" sz="2200" b="1" dirty="0" smtClean="0">
                <a:solidFill>
                  <a:srgbClr val="FF0000"/>
                </a:solidFill>
                <a:latin typeface="Garamond" pitchFamily="18" charset="0"/>
              </a:rPr>
              <a:t>ATTACK ON THE ITALIAN REVENUE AGENCY (ADE)</a:t>
            </a:r>
            <a:br>
              <a:rPr lang="en-US" sz="2200" b="1" dirty="0" smtClean="0">
                <a:solidFill>
                  <a:srgbClr val="FF0000"/>
                </a:solidFill>
                <a:latin typeface="Garamond" pitchFamily="18" charset="0"/>
              </a:rPr>
            </a:b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285720" y="1785926"/>
            <a:ext cx="8572560" cy="4197361"/>
          </a:xfrm>
        </p:spPr>
        <p:txBody>
          <a:bodyPr>
            <a:normAutofit/>
          </a:bodyPr>
          <a:lstStyle/>
          <a:p>
            <a:pPr marL="0" indent="0" algn="just">
              <a:buNone/>
            </a:pPr>
            <a:r>
              <a:rPr lang="en-US" sz="2000" dirty="0" smtClean="0">
                <a:latin typeface="Garamond" pitchFamily="18" charset="0"/>
              </a:rPr>
              <a:t>The prosecutor's office of Rome decided to open an investigation and the postal police, together with the National </a:t>
            </a:r>
            <a:r>
              <a:rPr lang="en-US" sz="2000" dirty="0" err="1" smtClean="0">
                <a:latin typeface="Garamond" pitchFamily="18" charset="0"/>
              </a:rPr>
              <a:t>Cybersecurity</a:t>
            </a:r>
            <a:r>
              <a:rPr lang="en-US" sz="2000" dirty="0" smtClean="0">
                <a:latin typeface="Garamond" pitchFamily="18" charset="0"/>
              </a:rPr>
              <a:t> Agency, have decided to investigate.</a:t>
            </a:r>
          </a:p>
          <a:p>
            <a:pPr marL="0" indent="0" algn="just">
              <a:buNone/>
            </a:pPr>
            <a:r>
              <a:rPr lang="en-US" sz="2000" dirty="0" smtClean="0">
                <a:latin typeface="Garamond" pitchFamily="18" charset="0"/>
              </a:rPr>
              <a:t>The real problem is cultural in nature, both for the public and private sectors, still stuck in the belief that problems come from what one sees and cannot arrive via the web.</a:t>
            </a:r>
          </a:p>
          <a:p>
            <a:pPr marL="0" indent="0" algn="just">
              <a:buNone/>
            </a:pPr>
            <a:r>
              <a:rPr lang="en-US" sz="2000" dirty="0" smtClean="0">
                <a:latin typeface="Garamond" pitchFamily="18" charset="0"/>
              </a:rPr>
              <a:t>The past ten years have taught us that terrorist threats and criminal infiltration have been made possible thanks to the web and social networks.</a:t>
            </a:r>
          </a:p>
          <a:p>
            <a:pPr marL="0" indent="0" algn="just">
              <a:buNone/>
            </a:pPr>
            <a:r>
              <a:rPr lang="en-US" sz="2000" dirty="0" smtClean="0">
                <a:latin typeface="Garamond" pitchFamily="18" charset="0"/>
              </a:rPr>
              <a:t>The story that appeared in all the newspapers in 2022 reported that the Italian Revenue Agency (ADE) had been the victim of a double extortion </a:t>
            </a:r>
            <a:r>
              <a:rPr lang="en-US" sz="2000" dirty="0" err="1" smtClean="0">
                <a:latin typeface="Garamond" pitchFamily="18" charset="0"/>
              </a:rPr>
              <a:t>ransomware</a:t>
            </a:r>
            <a:r>
              <a:rPr lang="en-US" sz="2000" dirty="0" smtClean="0">
                <a:latin typeface="Garamond" pitchFamily="18" charset="0"/>
              </a:rPr>
              <a:t> attack (threatening to publish data as of July 31, 2022), involving around 78GB of unspecified data.</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428736"/>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This was an extremely serious event. The Italian Revenue Agency is the public agency that literally knows everything about citizens, their lives, family relationships, illnesses, needs, and incomes.</a:t>
            </a:r>
          </a:p>
          <a:p>
            <a:pPr marL="0" indent="0" algn="ctr">
              <a:buNone/>
            </a:pPr>
            <a:r>
              <a:rPr lang="en-US" sz="2000" dirty="0" smtClean="0">
                <a:latin typeface="Garamond" pitchFamily="18" charset="0"/>
              </a:rPr>
              <a:t>Statistics say that most attacks occur because of insufficient protection or by mistakes of those using computers and networks. </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357298"/>
            <a:ext cx="8572560" cy="4197361"/>
          </a:xfrm>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Cyber thieves can trigger the problem of victims claiming damages. But it is not the hackers or computer blackmailers who pay the damages since they have a good chance of remaining in the shadows. The risk of compensation, rather, is incumbent on those who hold the sensitive or personal data on their computers and servers, i.e., the companies, public administrations, and professionals attacked by cybercriminals, making them victims of electronic crime as well. </a:t>
            </a:r>
          </a:p>
          <a:p>
            <a:pPr marL="0" indent="0" algn="just">
              <a:buNone/>
            </a:pPr>
            <a:r>
              <a:rPr lang="en-US" sz="2000" dirty="0" smtClean="0">
                <a:latin typeface="Garamond" pitchFamily="18" charset="0"/>
              </a:rPr>
              <a:t>Furthermore, every data breach opens the door not only to requests for compensation by the interested parties, but also to sanctions by the GDPR, (as an Italian national newspaper reported the day after the attack on the ADE servers was made public).</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428596" y="714356"/>
            <a:ext cx="8229600" cy="1143000"/>
          </a:xfrm>
        </p:spPr>
        <p:txBody>
          <a:bodyPr>
            <a:normAutofit/>
          </a:bodyPr>
          <a:lstStyle/>
          <a:p>
            <a:r>
              <a:rPr lang="it-IT" sz="2200" b="1" dirty="0" smtClean="0">
                <a:solidFill>
                  <a:srgbClr val="FF0000"/>
                </a:solidFill>
                <a:latin typeface="Garamond" pitchFamily="18" charset="0"/>
              </a:rPr>
              <a:t>CONCLUSIONS</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285720" y="1785926"/>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Data is the backbone of the new technologies.</a:t>
            </a:r>
          </a:p>
          <a:p>
            <a:pPr marL="0" indent="0" algn="ctr">
              <a:buNone/>
            </a:pPr>
            <a:r>
              <a:rPr lang="en-US" sz="2000" dirty="0" smtClean="0">
                <a:latin typeface="Garamond" pitchFamily="18" charset="0"/>
              </a:rPr>
              <a:t>The technologies that allow machines to make autonomous decisions – “Machine learning” and “Deep learning” – are based, in the first case, on structured data, a human trainer, a controllable database, and a variable algorithm, while in the second case, the technologies are based on unstructured data, a self-learning system, a very large set of databases, and a neural network of algorithms. They are very powerful systems with large margins for growth and maturation.</a:t>
            </a:r>
          </a:p>
          <a:p>
            <a:pPr marL="0" indent="0" algn="ctr">
              <a:buNone/>
            </a:pPr>
            <a:r>
              <a:rPr lang="en-US" sz="2000" dirty="0" smtClean="0">
                <a:latin typeface="Garamond" pitchFamily="18" charset="0"/>
              </a:rPr>
              <a:t>One fact, however, is certain: if the system is supplied with incorrect data from the outset, the decisions resulting from the processing of such data will be wrong.</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197361"/>
          </a:xfrm>
        </p:spPr>
        <p:txBody>
          <a:bodyPr>
            <a:normAutofit/>
          </a:bodyPr>
          <a:lstStyle/>
          <a:p>
            <a:pPr marL="0" indent="0" algn="ctr">
              <a:buNone/>
            </a:pPr>
            <a:endParaRPr lang="en-US" sz="2000" dirty="0" smtClean="0">
              <a:latin typeface="Garamond" pitchFamily="18" charset="0"/>
            </a:endParaRPr>
          </a:p>
          <a:p>
            <a:pPr marL="0" indent="0" algn="just">
              <a:buNone/>
            </a:pPr>
            <a:r>
              <a:rPr lang="en-US" sz="2000" u="sng" dirty="0" smtClean="0">
                <a:latin typeface="Garamond" pitchFamily="18" charset="0"/>
              </a:rPr>
              <a:t>It is, therefore, necessary to question the homogeneity and the updating of the databases. </a:t>
            </a:r>
          </a:p>
          <a:p>
            <a:pPr marL="0" indent="0" algn="just">
              <a:buNone/>
            </a:pPr>
            <a:r>
              <a:rPr lang="en-US" sz="2000" u="sng" dirty="0" smtClean="0">
                <a:latin typeface="Garamond" pitchFamily="18" charset="0"/>
              </a:rPr>
              <a:t>The reliability and integrity of the data must be guaranteed, together with the security of the artificial intelligence system in use.</a:t>
            </a:r>
          </a:p>
          <a:p>
            <a:pPr marL="0" indent="0" algn="just">
              <a:buNone/>
            </a:pPr>
            <a:r>
              <a:rPr lang="en-US" sz="2000" u="sng" dirty="0" smtClean="0">
                <a:latin typeface="Garamond" pitchFamily="18" charset="0"/>
              </a:rPr>
              <a:t>Protection is a priority.</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In the wake of an EU regulation (n. 2019/881), Italy has given the definitive green light to a legislative decree for the alignment of Italian legislation with the European framework on </a:t>
            </a:r>
            <a:r>
              <a:rPr lang="en-US" sz="2000" dirty="0" err="1" smtClean="0">
                <a:latin typeface="Garamond" pitchFamily="18" charset="0"/>
              </a:rPr>
              <a:t>cybersecurity</a:t>
            </a:r>
            <a:r>
              <a:rPr lang="en-US" sz="2000" dirty="0" smtClean="0">
                <a:latin typeface="Garamond" pitchFamily="18" charset="0"/>
              </a:rPr>
              <a:t> certification. Italy is now dedicated to what Brussels has left to the competence of the member states: the identification of a relevant national authority, its duties, and a system of sanctions.</a:t>
            </a:r>
          </a:p>
          <a:p>
            <a:pPr marL="0" indent="0" algn="ctr">
              <a:buNone/>
            </a:pPr>
            <a:r>
              <a:rPr lang="en-US" sz="2000" dirty="0" smtClean="0">
                <a:latin typeface="Garamond" pitchFamily="18" charset="0"/>
              </a:rPr>
              <a:t>56.6% of Italians (and 61.9% of young people) are worried about IT security, when, for example, they are banking online. </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85860"/>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Cybercrime has become a flourishing criminal industry. In Italy, in fact, in the first six months of 2022 alone, there were more cyber attacks than in all of 2020. It is a form of aggression that is difficult to manage because companies and public administrations are alone, without effective defenses, and with multiple responsibilities.</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285860"/>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CYBERSECURITY EXPERTS IN THE PUBLIC ADMINISTRATION.</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Thanks to the funds of the PNRR (National Recovery and Resilience Plan) which has invested 620 million euro in the digitization of the Public Administration - including 241 million in digital security - public agencies will be able to equip themselves with new professionals capable of responding to the challenges.</a:t>
            </a:r>
          </a:p>
          <a:p>
            <a:pPr marL="0" indent="0" algn="ctr">
              <a:buNone/>
            </a:pPr>
            <a:r>
              <a:rPr lang="en-US" sz="2000" dirty="0" smtClean="0">
                <a:latin typeface="Garamond" pitchFamily="18" charset="0"/>
              </a:rPr>
              <a:t>Contracts, startups, and SMEs with </a:t>
            </a:r>
            <a:r>
              <a:rPr lang="en-US" sz="2000" dirty="0" err="1" smtClean="0">
                <a:latin typeface="Garamond" pitchFamily="18" charset="0"/>
              </a:rPr>
              <a:t>cybersecurity</a:t>
            </a:r>
            <a:r>
              <a:rPr lang="en-US" sz="2000" dirty="0" smtClean="0">
                <a:latin typeface="Garamond" pitchFamily="18" charset="0"/>
              </a:rPr>
              <a:t> made in Italy: Public administrations must acquire goods and services tested against cyber attacks, and Italian products, designed and manufactured to defend against cyber criminals and cyber terrorists, must be certified and financially supported.</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357298"/>
            <a:ext cx="8572560" cy="4197361"/>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strategy focuses on the use of cryptography throughout the entire life cycle of ICT systems and services; the goal is the creation of Italian encryption technologies and systems.</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285720" y="1500174"/>
            <a:ext cx="8572560" cy="4197361"/>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Leonardo, the agency that will monitor and manage the </a:t>
            </a:r>
            <a:r>
              <a:rPr lang="en-US" sz="2000" dirty="0" err="1" smtClean="0">
                <a:latin typeface="Garamond" pitchFamily="18" charset="0"/>
              </a:rPr>
              <a:t>cybersecurity</a:t>
            </a:r>
            <a:r>
              <a:rPr lang="en-US" sz="2000" dirty="0" smtClean="0">
                <a:latin typeface="Garamond" pitchFamily="18" charset="0"/>
              </a:rPr>
              <a:t> of the corporate IT systems of the EU’s digital agency, is at the forefront of border management and internal security in the </a:t>
            </a:r>
            <a:r>
              <a:rPr lang="en-US" sz="2000" dirty="0" err="1" smtClean="0">
                <a:latin typeface="Garamond" pitchFamily="18" charset="0"/>
              </a:rPr>
              <a:t>Schengen</a:t>
            </a:r>
            <a:r>
              <a:rPr lang="en-US" sz="2000" dirty="0" smtClean="0">
                <a:latin typeface="Garamond" pitchFamily="18" charset="0"/>
              </a:rPr>
              <a:t> area. </a:t>
            </a:r>
          </a:p>
          <a:p>
            <a:pPr marL="0" indent="0" algn="ctr">
              <a:buNone/>
            </a:pPr>
            <a:r>
              <a:rPr lang="en-US" sz="2000" dirty="0" smtClean="0">
                <a:latin typeface="Garamond" pitchFamily="18" charset="0"/>
              </a:rPr>
              <a:t>Clearly, Italy has done and is doing its part!</a:t>
            </a:r>
          </a:p>
          <a:p>
            <a:pPr marL="0" indent="0" algn="ctr">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smtClean="0">
                <a:solidFill>
                  <a:srgbClr val="FF0000"/>
                </a:solidFill>
                <a:latin typeface="Garamond" pitchFamily="18" charset="0"/>
              </a:rPr>
              <a:t/>
            </a:r>
            <a:br>
              <a:rPr lang="it-IT" sz="2400" b="1" smtClean="0">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4195</TotalTime>
  <Words>2437</Words>
  <Application>Microsoft Macintosh PowerPoint</Application>
  <PresentationFormat>Presentazione su schermo (4:3)</PresentationFormat>
  <Paragraphs>240</Paragraphs>
  <Slides>28</Slides>
  <Notes>28</Notes>
  <HiddenSlides>0</HiddenSlides>
  <MMClips>0</MMClips>
  <ScaleCrop>false</ScaleCrop>
  <HeadingPairs>
    <vt:vector size="4" baseType="variant">
      <vt:variant>
        <vt:lpstr>Tema</vt:lpstr>
      </vt:variant>
      <vt:variant>
        <vt:i4>1</vt:i4>
      </vt:variant>
      <vt:variant>
        <vt:lpstr>Titoli diapositive</vt:lpstr>
      </vt:variant>
      <vt:variant>
        <vt:i4>28</vt:i4>
      </vt:variant>
    </vt:vector>
  </HeadingPairs>
  <TitlesOfParts>
    <vt:vector size="29" baseType="lpstr">
      <vt:lpstr>Tema di Office</vt:lpstr>
      <vt:lpstr>  CORSO DI CYBERSECURITY AWARENESS     PRACTICAL CASES  N.11</vt:lpstr>
      <vt:lpstr>INDEX </vt:lpstr>
      <vt:lpstr>SOME ASSUMPTIONS</vt:lpstr>
      <vt:lpstr>Diapositiva 4</vt:lpstr>
      <vt:lpstr>Diapositiva 5</vt:lpstr>
      <vt:lpstr>Diapositiva 6</vt:lpstr>
      <vt:lpstr>ETHICAL VALUES</vt:lpstr>
      <vt:lpstr>Diapositiva 8</vt:lpstr>
      <vt:lpstr>Diapositiva 9</vt:lpstr>
      <vt:lpstr>PRACTICAL EXAMPLES AND ETHICAL RIGHTS</vt:lpstr>
      <vt:lpstr>Diapositiva 11</vt:lpstr>
      <vt:lpstr>Diapositiva 12</vt:lpstr>
      <vt:lpstr>Diapositiva 13</vt:lpstr>
      <vt:lpstr>Diapositiva 14</vt:lpstr>
      <vt:lpstr>Diapositiva 15</vt:lpstr>
      <vt:lpstr>ETHICAL, LEGAL, TECHONOLOGICAL DOUBTS</vt:lpstr>
      <vt:lpstr>Diapositiva 17</vt:lpstr>
      <vt:lpstr> ATTACK ON THE ITALIAN REVENUE AGENCY (ADE) </vt:lpstr>
      <vt:lpstr>Diapositiva 19</vt:lpstr>
      <vt:lpstr>Diapositiva 20</vt:lpstr>
      <vt:lpstr>CONCLUSIONS</vt:lpstr>
      <vt:lpstr>Diapositiva 22</vt:lpstr>
      <vt:lpstr>Diapositiva 23</vt:lpstr>
      <vt:lpstr>Diapositiva 24</vt:lpstr>
      <vt:lpstr>Diapositiva 25</vt:lpstr>
      <vt:lpstr>Diapositiva 26</vt:lpstr>
      <vt:lpstr>Diapositiva 27</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REVISIONE DEL SISTEMA SANZIONATORIO PENALE TRIBUTARIO</dc:title>
  <dc:creator>Utente</dc:creator>
  <cp:lastModifiedBy>Alessandro</cp:lastModifiedBy>
  <cp:revision>451</cp:revision>
  <dcterms:created xsi:type="dcterms:W3CDTF">2017-03-21T08:05:44Z</dcterms:created>
  <dcterms:modified xsi:type="dcterms:W3CDTF">2023-09-15T16:04:19Z</dcterms:modified>
</cp:coreProperties>
</file>