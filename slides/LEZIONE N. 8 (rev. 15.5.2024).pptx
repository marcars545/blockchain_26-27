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02" r:id="rId3"/>
    <p:sldId id="297" r:id="rId4"/>
    <p:sldId id="258" r:id="rId5"/>
    <p:sldId id="259" r:id="rId6"/>
    <p:sldId id="298" r:id="rId7"/>
    <p:sldId id="260" r:id="rId8"/>
    <p:sldId id="299" r:id="rId9"/>
    <p:sldId id="261" r:id="rId10"/>
    <p:sldId id="262" r:id="rId11"/>
    <p:sldId id="263" r:id="rId12"/>
    <p:sldId id="300"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301"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0B312F-A68B-4076-A862-EA99D063B3C4}"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E6F4B3-EB4D-49DD-ABA4-64EEFD5038E9}"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16CFDB7E-F622-4C53-B4D0-9659187F9CD2}"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654CE1AA-2069-4C6F-8F94-CB46E923014D}"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AF4DA495-7F79-46DA-AB37-0775922B8EBA}"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1D8B1578-7072-4538-9023-9F6907686333}"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15BAC2E1-CCDB-466A-BDAE-F96B7818E995}"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818141FE-CB8E-4B78-B838-C79693D27ACB}"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1A58104E-5DCC-47B2-9DA6-05E22FCBE11A}"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D575590-AB91-47A2-AD87-F887A34E070C}"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F5097347-B37F-4635-8112-43AE26A9B11E}"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09C955A-BE7C-4D6F-9B61-2D9C4C645E8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42521F9B-D408-4F06-B8E3-4E2CEF747F8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AE6163-BE43-49CB-887E-A5EF7C5CB971}"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500042"/>
            <a:ext cx="7772400" cy="1470025"/>
          </a:xfrm>
        </p:spPr>
        <p:txBody>
          <a:bodyPr>
            <a:normAutofit/>
          </a:bodyPr>
          <a:lstStyle/>
          <a:p>
            <a:r>
              <a:rPr lang="it-IT" sz="2800" dirty="0" smtClean="0">
                <a:solidFill>
                  <a:srgbClr val="FF0000"/>
                </a:solidFill>
              </a:rPr>
              <a:t>LEZIONE N. 8</a:t>
            </a:r>
            <a:endParaRPr lang="it-IT" sz="2800" dirty="0">
              <a:solidFill>
                <a:srgbClr val="FF0000"/>
              </a:solidFill>
            </a:endParaRPr>
          </a:p>
        </p:txBody>
      </p:sp>
      <p:sp>
        <p:nvSpPr>
          <p:cNvPr id="3" name="Sottotitolo 2"/>
          <p:cNvSpPr>
            <a:spLocks noGrp="1"/>
          </p:cNvSpPr>
          <p:nvPr>
            <p:ph type="subTitle" idx="1"/>
          </p:nvPr>
        </p:nvSpPr>
        <p:spPr>
          <a:xfrm>
            <a:off x="571472" y="1714488"/>
            <a:ext cx="8143932" cy="4429156"/>
          </a:xfrm>
        </p:spPr>
        <p:txBody>
          <a:bodyPr>
            <a:normAutofit/>
          </a:bodyPr>
          <a:lstStyle/>
          <a:p>
            <a:pPr marL="457200" indent="-457200" algn="just">
              <a:buFont typeface="+mj-lt"/>
              <a:buAutoNum type="arabicPeriod"/>
            </a:pPr>
            <a:r>
              <a:rPr lang="en-US" sz="2000" b="1" dirty="0" smtClean="0">
                <a:solidFill>
                  <a:schemeClr val="tx1"/>
                </a:solidFill>
                <a:latin typeface="Garamond" pitchFamily="18" charset="0"/>
              </a:rPr>
              <a:t>Economic overview of transaction costs</a:t>
            </a:r>
          </a:p>
          <a:p>
            <a:pPr marL="457200" indent="-457200" algn="just">
              <a:buFont typeface="+mj-lt"/>
              <a:buAutoNum type="arabicPeriod"/>
            </a:pPr>
            <a:r>
              <a:rPr lang="en-US" sz="2000" b="1" dirty="0" smtClean="0">
                <a:solidFill>
                  <a:schemeClr val="tx1"/>
                </a:solidFill>
                <a:latin typeface="Garamond" pitchFamily="18" charset="0"/>
              </a:rPr>
              <a:t>The role of the new information technology in </a:t>
            </a:r>
            <a:r>
              <a:rPr lang="en-US" sz="2000" b="1" dirty="0" err="1" smtClean="0">
                <a:solidFill>
                  <a:schemeClr val="tx1"/>
                </a:solidFill>
                <a:latin typeface="Garamond" pitchFamily="18" charset="0"/>
              </a:rPr>
              <a:t>tce</a:t>
            </a:r>
            <a:r>
              <a:rPr lang="en-US" sz="2000" b="1" dirty="0" smtClean="0">
                <a:solidFill>
                  <a:schemeClr val="tx1"/>
                </a:solidFill>
                <a:latin typeface="Garamond" pitchFamily="18" charset="0"/>
              </a:rPr>
              <a:t> analysis</a:t>
            </a:r>
          </a:p>
          <a:p>
            <a:pPr marL="457200" indent="-457200" algn="just">
              <a:buFont typeface="+mj-lt"/>
              <a:buAutoNum type="arabicPeriod"/>
            </a:pPr>
            <a:r>
              <a:rPr lang="en-US" sz="2000" b="1" dirty="0" smtClean="0">
                <a:solidFill>
                  <a:schemeClr val="tx1"/>
                </a:solidFill>
                <a:latin typeface="Garamond" pitchFamily="18" charset="0"/>
              </a:rPr>
              <a:t>Smart contracts as a new option in the public contract law regime</a:t>
            </a:r>
          </a:p>
          <a:p>
            <a:pPr marL="457200" indent="-457200" algn="just">
              <a:buFont typeface="+mj-lt"/>
              <a:buAutoNum type="arabicPeriod"/>
            </a:pPr>
            <a:r>
              <a:rPr lang="en-US" sz="2000" b="1" dirty="0" smtClean="0">
                <a:solidFill>
                  <a:schemeClr val="tx1"/>
                </a:solidFill>
                <a:latin typeface="Garamond" pitchFamily="18" charset="0"/>
              </a:rPr>
              <a:t>Considerations for adopting the smart contract concept</a:t>
            </a:r>
          </a:p>
          <a:p>
            <a:pPr marL="457200" indent="-457200" algn="just">
              <a:buFont typeface="+mj-lt"/>
              <a:buAutoNum type="arabicPeriod"/>
            </a:pPr>
            <a:r>
              <a:rPr lang="en-US" sz="2000" b="1" dirty="0" smtClean="0">
                <a:solidFill>
                  <a:schemeClr val="tx1"/>
                </a:solidFill>
                <a:latin typeface="Garamond" pitchFamily="18" charset="0"/>
              </a:rPr>
              <a:t>Potential opportunities and implications for government</a:t>
            </a:r>
          </a:p>
          <a:p>
            <a:pPr marL="457200" indent="-457200" algn="just">
              <a:buFont typeface="+mj-lt"/>
              <a:buAutoNum type="arabicPeriod"/>
            </a:pPr>
            <a:r>
              <a:rPr lang="en-US" sz="2000" b="1" dirty="0" smtClean="0">
                <a:solidFill>
                  <a:schemeClr val="tx1"/>
                </a:solidFill>
                <a:latin typeface="Garamond" pitchFamily="18" charset="0"/>
              </a:rPr>
              <a:t>Alternatives to the central power of government</a:t>
            </a:r>
          </a:p>
          <a:p>
            <a:pPr marL="457200" indent="-457200" algn="just">
              <a:buFont typeface="+mj-lt"/>
              <a:buAutoNum type="arabicPeriod"/>
            </a:pPr>
            <a:r>
              <a:rPr lang="en-US" sz="2000" b="1" dirty="0" smtClean="0">
                <a:solidFill>
                  <a:schemeClr val="tx1"/>
                </a:solidFill>
                <a:latin typeface="Garamond" pitchFamily="18" charset="0"/>
              </a:rPr>
              <a:t>States as enablers</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ECONOMIC OVERVIEW OF TRANSACTION COSTS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theory of transaction cost economics (TCE) assumes that firms and markets are on alternative positions of governance of economic activity in society.</a:t>
            </a:r>
          </a:p>
          <a:p>
            <a:pPr marL="0" indent="0" algn="just">
              <a:buNone/>
            </a:pPr>
            <a:r>
              <a:rPr lang="en-US" sz="2000" dirty="0" smtClean="0">
                <a:latin typeface="Garamond" pitchFamily="18" charset="0"/>
              </a:rPr>
              <a:t>According to this theory, firms exist to save on operating costs, which arise when a market is used as a governance mechanism.</a:t>
            </a:r>
          </a:p>
          <a:p>
            <a:pPr marL="0" indent="0" algn="just">
              <a:buNone/>
            </a:pPr>
            <a:r>
              <a:rPr lang="en-US" sz="2000" dirty="0" smtClean="0">
                <a:latin typeface="Garamond" pitchFamily="18" charset="0"/>
              </a:rPr>
              <a:t>Businesses govern transactions, directing and controlling the actions of agents, through managerial hierarchies.</a:t>
            </a:r>
          </a:p>
          <a:p>
            <a:pPr marL="0" indent="0" algn="just">
              <a:buNone/>
            </a:pPr>
            <a:r>
              <a:rPr lang="en-US" sz="2000" dirty="0" smtClean="0">
                <a:latin typeface="Garamond" pitchFamily="18" charset="0"/>
              </a:rPr>
              <a:t>Markets, on the other hand, regulate transactions through contractual agreements, which can be enforced through the judicial system.</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TCE assumes that agents are self-centered ("seek out the opportunity with cunning") and limitedly rational, due to the limitations imposed by biological, physical, and social factors in the localization of firms.  According to Williamson, the incompleteness of a contract can give rise to ex post opportunistic behavior. The mechanisms of hierarchical governance can resolve conflicts by imposing order "from above," allowing companies to adapt to new conditions, in situations where, on the contrary, market contracts fail.</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parties should undertake to select counterparties in terms of reputation and reliability and to establish ex post safeguard operations against the risk of opportunism.</a:t>
            </a:r>
          </a:p>
          <a:p>
            <a:pPr marL="0" indent="0" algn="just">
              <a:buNone/>
            </a:pPr>
            <a:r>
              <a:rPr lang="en-US" sz="2000" dirty="0" smtClean="0">
                <a:latin typeface="Garamond" pitchFamily="18" charset="0"/>
              </a:rPr>
              <a:t>It is difficult to allocate transaction-specific resources to other uses if the relationship breaks down. Hayek, on this point, stated that an economic problem related to uncertainty is "mainly that of adaptation to change, in particular circumstances of time and place."</a:t>
            </a:r>
          </a:p>
          <a:p>
            <a:pPr marL="0" indent="0" algn="just">
              <a:buNone/>
            </a:pPr>
            <a:r>
              <a:rPr lang="en-US" sz="2000" dirty="0" smtClean="0">
                <a:latin typeface="Garamond" pitchFamily="18" charset="0"/>
              </a:rPr>
              <a:t>In the presence of a specific asset of the relationship, once the parties address the need for adaptation, the ease of execution of the contract vanishes and the costs associated with resorting to the courts or other adjustment and mediation mechanisms rise. Both businesses and markets face governance costs.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Comparative governance costs affect the make-or-buy decision and, consequently, the firm's boundary. From this point of view, within the company, governance costs are associated with the management of bureaucracy.</a:t>
            </a:r>
          </a:p>
          <a:p>
            <a:pPr marL="0" indent="0" algn="just">
              <a:buNone/>
            </a:pPr>
            <a:r>
              <a:rPr lang="en-US" sz="2000" dirty="0" smtClean="0">
                <a:latin typeface="Garamond" pitchFamily="18" charset="0"/>
              </a:rPr>
              <a:t>These costs are higher than the costs of relying on a simple contract, if the specific activity and uncertainty are low, as they involve enabling numerous and costly administrative controls, often invoked excessively, for both large and small disputes.</a:t>
            </a:r>
          </a:p>
          <a:p>
            <a:pPr marL="0" indent="0" algn="just">
              <a:buNone/>
            </a:pPr>
            <a:r>
              <a:rPr lang="en-US" sz="2000" dirty="0" smtClean="0">
                <a:latin typeface="Garamond" pitchFamily="18" charset="0"/>
              </a:rPr>
              <a:t>In the market, which operates under a public contract law regime, governance costs are associated with finding suppliers, writing contracts, tracking suppliers, and executing contracts through the courts, as needed. </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Contract writing costs include the costs of specifying, negotiating, and safeguarding agreements.</a:t>
            </a:r>
          </a:p>
          <a:p>
            <a:pPr marL="0" indent="0" algn="just">
              <a:buNone/>
            </a:pPr>
            <a:r>
              <a:rPr lang="en-US" sz="2000" dirty="0" smtClean="0">
                <a:latin typeface="Garamond" pitchFamily="18" charset="0"/>
              </a:rPr>
              <a:t>Contract performance costs include contract monitoring as well as costs associated with dispute resolution. Even if such disputes are settled out of court, there are significant costs associated with the use of arbitration, renegotiation, or simply ignorance of the conflict.</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THE ROLE OF THE NEW INFORMATION TECHNOLOGY IN TCE ANALYSIS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Research has embraced TCE as one of its key theoretical foundations.</a:t>
            </a:r>
          </a:p>
          <a:p>
            <a:pPr marL="0" indent="0" algn="just">
              <a:buNone/>
            </a:pPr>
            <a:r>
              <a:rPr lang="en-US" sz="2000" dirty="0" smtClean="0">
                <a:latin typeface="Garamond" pitchFamily="18" charset="0"/>
              </a:rPr>
              <a:t>In general, industry literature argues that information technology (IT) has been responsible for shifting economic activity from firms to markets.</a:t>
            </a:r>
          </a:p>
          <a:p>
            <a:pPr marL="0" indent="0" algn="just">
              <a:buNone/>
            </a:pPr>
            <a:r>
              <a:rPr lang="en-US" sz="2000" dirty="0" smtClean="0">
                <a:latin typeface="Garamond" pitchFamily="18" charset="0"/>
              </a:rPr>
              <a:t>The economist, Martin Malone, argues that the adoption of IT reduces resource specificity, enabling flexible manufacturing processes based on standardized components.</a:t>
            </a:r>
          </a:p>
          <a:p>
            <a:pPr marL="0" indent="0" algn="just">
              <a:buNone/>
            </a:pPr>
            <a:r>
              <a:rPr lang="en-US" sz="2000" dirty="0" smtClean="0">
                <a:latin typeface="Garamond" pitchFamily="18" charset="0"/>
              </a:rPr>
              <a:t>The flexible production technology allows a rapid passage of production lines from one product to another. </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Companies that in the past would not have geared up for a small market can now produce a limited number of components, without significant conversion costs.</a:t>
            </a:r>
          </a:p>
          <a:p>
            <a:pPr marL="0" indent="0" algn="just">
              <a:buNone/>
            </a:pPr>
            <a:r>
              <a:rPr lang="en-US" sz="2000" dirty="0" smtClean="0">
                <a:latin typeface="Garamond" pitchFamily="18" charset="0"/>
              </a:rPr>
              <a:t>Economists are also predicting the rise of electronic markets, resembling modern digital platforms, which help enable bargaining and reduce the cost of seeking and evaluating appropriate suppliers.  They have labeled this idea the "electronic brokerage effect."</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These proposals have been examined by industry experts, who are investigating how the level of IT investment in a company or sector affects the size of the company or the degree of vertical integration.</a:t>
            </a:r>
          </a:p>
          <a:p>
            <a:pPr marL="0" indent="0" algn="just">
              <a:buNone/>
            </a:pPr>
            <a:r>
              <a:rPr lang="en-US" sz="2000" dirty="0" smtClean="0">
                <a:latin typeface="Garamond" pitchFamily="18" charset="0"/>
              </a:rPr>
              <a:t>The most famous, Malone et al. (1994), conducted an analysis of longitudinal, multi-</a:t>
            </a:r>
            <a:r>
              <a:rPr lang="en-US" sz="2000" dirty="0" err="1" smtClean="0">
                <a:latin typeface="Garamond" pitchFamily="18" charset="0"/>
              </a:rPr>
              <a:t>sectoral</a:t>
            </a:r>
            <a:r>
              <a:rPr lang="en-US" sz="2000" dirty="0" smtClean="0">
                <a:latin typeface="Garamond" pitchFamily="18" charset="0"/>
              </a:rPr>
              <a:t>, and global economic data, which indicated that IT investments are associated with a smaller company size.</a:t>
            </a:r>
          </a:p>
          <a:p>
            <a:pPr marL="0" indent="0" algn="just">
              <a:buNone/>
            </a:pPr>
            <a:r>
              <a:rPr lang="en-US" sz="2000" dirty="0" smtClean="0">
                <a:latin typeface="Garamond" pitchFamily="18" charset="0"/>
              </a:rPr>
              <a:t>In the same vein, other scholars have also found that less vertically integrated companies have a higher level of IT investment (</a:t>
            </a:r>
            <a:r>
              <a:rPr lang="en-US" sz="2000" dirty="0" err="1" smtClean="0">
                <a:latin typeface="Garamond" pitchFamily="18" charset="0"/>
              </a:rPr>
              <a:t>Dewan</a:t>
            </a:r>
            <a:r>
              <a:rPr lang="en-US" sz="2000" dirty="0" smtClean="0">
                <a:latin typeface="Garamond" pitchFamily="18" charset="0"/>
              </a:rPr>
              <a:t> 1998; </a:t>
            </a:r>
            <a:r>
              <a:rPr lang="en-US" sz="2000" dirty="0" err="1" smtClean="0">
                <a:latin typeface="Garamond" pitchFamily="18" charset="0"/>
              </a:rPr>
              <a:t>Hitt</a:t>
            </a:r>
            <a:r>
              <a:rPr lang="en-US" sz="2000" dirty="0" smtClean="0">
                <a:latin typeface="Garamond" pitchFamily="18" charset="0"/>
              </a:rPr>
              <a:t> 1999).</a:t>
            </a:r>
          </a:p>
          <a:p>
            <a:pPr marL="0" indent="0" algn="just">
              <a:buNone/>
            </a:pPr>
            <a:r>
              <a:rPr lang="en-US" sz="2000" dirty="0" smtClean="0">
                <a:latin typeface="Garamond" pitchFamily="18" charset="0"/>
              </a:rPr>
              <a:t>More recently, Forman and </a:t>
            </a:r>
            <a:r>
              <a:rPr lang="en-US" sz="2000" dirty="0" err="1" smtClean="0">
                <a:latin typeface="Garamond" pitchFamily="18" charset="0"/>
              </a:rPr>
              <a:t>McElheran</a:t>
            </a:r>
            <a:r>
              <a:rPr lang="en-US" sz="2000" dirty="0" smtClean="0">
                <a:latin typeface="Garamond" pitchFamily="18" charset="0"/>
              </a:rPr>
              <a:t> (2011), drawing directly from TCE, examined the impact of two different types of IT investments on intra-enterprise transfers: Customer-facing IT and supplier-centric IT upstream.</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Overall, the literature of the moment amply suggests that TCE offers an in-depth tool for understanding the implications of the new technology on business boundaries, but does not completely reduce doubts in this matter.</a:t>
            </a:r>
          </a:p>
          <a:p>
            <a:pPr marL="0" indent="0" algn="just">
              <a:buNone/>
            </a:pPr>
            <a:r>
              <a:rPr lang="en-US" sz="2000" dirty="0" smtClean="0">
                <a:latin typeface="Garamond" pitchFamily="18" charset="0"/>
              </a:rPr>
              <a:t>Economists also stress the importance of taking into account the nature of manufacturing processes, demand characteristics, and the competitive environment, in order to understand the impact of IT on business boundaries.</a:t>
            </a:r>
          </a:p>
          <a:p>
            <a:pPr marL="0" indent="0" algn="just">
              <a:buNone/>
            </a:pPr>
            <a:r>
              <a:rPr lang="en-US" sz="2000" dirty="0" smtClean="0">
                <a:latin typeface="Garamond" pitchFamily="18" charset="0"/>
              </a:rPr>
              <a:t>However, when an emerging technology specifically promises to reduce the costs associated with contract enforcement, which is the core organizational concept of a smart contract, TCE becomes an interesting   theory to focus on.</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SMART CONTRACTS AS A NEW OPTION IN THE PUBLIC CONTRACT LAW REGIME</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An often overlooked part of TCE is its emphasis on the presence of the "contract law regime" which underlies the governance of transactions.</a:t>
            </a:r>
          </a:p>
          <a:p>
            <a:pPr marL="0" indent="0" algn="just">
              <a:buNone/>
            </a:pPr>
            <a:r>
              <a:rPr lang="en-US" sz="2000" dirty="0" smtClean="0">
                <a:latin typeface="Garamond" pitchFamily="18" charset="0"/>
              </a:rPr>
              <a:t>In particular, on this subject Williamson advocated "legal pluralism" as opposed to the perspective of "legal centrism."</a:t>
            </a:r>
          </a:p>
          <a:p>
            <a:pPr marL="0" indent="0" algn="just">
              <a:buNone/>
            </a:pPr>
            <a:r>
              <a:rPr lang="en-US" sz="2000" dirty="0" smtClean="0">
                <a:latin typeface="Garamond" pitchFamily="18" charset="0"/>
              </a:rPr>
              <a:t>Furthermore, Williamson observed that many types of disputes cannot be brought before a public court at all, as commercial contracts cannot be fully specified, due to their "limited rationality.“</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leads an organization to become its own "court and final appeal" system, essentially creating its own private "contract law regime." Considering the potential impact of the concept of a smart contract on public as opposed to private contract law, one can imagine that smart contracts, like other IT’s which reduce the costs of monitoring economic transactions, can have an ambiguous impact on the application of the law, but still be relevant for the boundary of the company and its economy of scale.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However, unlike generic IT monitoring, a key part of the conceptual idea behind smart contracts is the prevention of renegotiation, due to their automatic execution.</a:t>
            </a:r>
          </a:p>
          <a:p>
            <a:pPr marL="0" indent="0" algn="just">
              <a:buNone/>
            </a:pPr>
            <a:r>
              <a:rPr lang="en-US" sz="2000" dirty="0" smtClean="0">
                <a:latin typeface="Garamond" pitchFamily="18" charset="0"/>
              </a:rPr>
              <a:t>The key postulate of TCE, however, is that there is a regime of private contract law to resolve disputes that arise when it is not possible to fully specify, within commercial contracts, all future  stages of the contractual process.</a:t>
            </a:r>
          </a:p>
          <a:p>
            <a:pPr marL="0" indent="0" algn="just">
              <a:buNone/>
            </a:pPr>
            <a:r>
              <a:rPr lang="en-US" sz="2000" dirty="0" smtClean="0">
                <a:latin typeface="Garamond" pitchFamily="18" charset="0"/>
              </a:rPr>
              <a:t>In these cases, the cost of a hierarchy is justified because it allows disputes to be resolved ex post, through a higher, managerial authority.</a:t>
            </a: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While some aspects of the private contract law regime, which rely on the actions of monitoring agents, can benefit from digital automation (Murray, 2019), the innovation of the automatic application of contracts, between independent parties, associated with the smart contract concept, is best theorized as a transformation of the public (rather than private) contract law regime.</a:t>
            </a:r>
          </a:p>
          <a:p>
            <a:pPr marL="0" indent="0" algn="just">
              <a:buNone/>
            </a:pPr>
            <a:r>
              <a:rPr lang="en-US" sz="2000" dirty="0" smtClean="0">
                <a:latin typeface="Garamond" pitchFamily="18" charset="0"/>
              </a:rPr>
              <a:t>In particular, it can be hypothesized that the widespread adoption of socio-material practices, associated with smart contracts, could transform the existing public contract law regime into a contract law regime enhanced by such contracts. This enhanced contract law regime will include a new option for the execution of market transactions.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10000"/>
          </a:bodyPr>
          <a:lstStyle/>
          <a:p>
            <a:pPr marL="0" indent="0" algn="just">
              <a:buNone/>
            </a:pPr>
            <a:r>
              <a:rPr lang="en-US" sz="2000" dirty="0" smtClean="0">
                <a:latin typeface="Garamond" pitchFamily="18" charset="0"/>
              </a:rPr>
              <a:t>It can also be argued that the addition of this option could be particularly interesting for a limited set of transactions, for which the costs of digital coding of actions, states, and inputs, involved in a contractual agreement, are relatively low while the specificity of the activity is high.</a:t>
            </a:r>
          </a:p>
          <a:p>
            <a:pPr marL="0" indent="0" algn="just">
              <a:buNone/>
            </a:pPr>
            <a:r>
              <a:rPr lang="en-US" sz="2000" dirty="0" smtClean="0">
                <a:latin typeface="Garamond" pitchFamily="18" charset="0"/>
              </a:rPr>
              <a:t>Adopting well-designed smart contracts can reduce transaction costs in two ways: by lowering contract tracking costs and by preventing the renegotiation of contract terms.</a:t>
            </a:r>
          </a:p>
          <a:p>
            <a:pPr marL="0" indent="0" algn="just">
              <a:buNone/>
            </a:pPr>
            <a:r>
              <a:rPr lang="en-US" sz="2000" dirty="0" smtClean="0">
                <a:latin typeface="Garamond" pitchFamily="18" charset="0"/>
              </a:rPr>
              <a:t>The obvious but not least important part of the smart contract concept is the lowering of contract monitoring costs.</a:t>
            </a:r>
          </a:p>
          <a:p>
            <a:pPr marL="0" indent="0" algn="just">
              <a:buNone/>
            </a:pPr>
            <a:r>
              <a:rPr lang="en-US" sz="2000" dirty="0" smtClean="0">
                <a:latin typeface="Garamond" pitchFamily="18" charset="0"/>
              </a:rPr>
              <a:t>Digitizing the encoded inputs, necessary to enable the execution of smart contracts, can reduce monitoring costs. This reduces ambiguity about what constitutes compliance with contractual terms, thus preventing costly disputes by relying on monitoring software.</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20000"/>
          </a:bodyPr>
          <a:lstStyle/>
          <a:p>
            <a:pPr marL="0" indent="0" algn="just">
              <a:buNone/>
            </a:pPr>
            <a:r>
              <a:rPr lang="en-US" sz="2000" dirty="0" smtClean="0">
                <a:latin typeface="Garamond" pitchFamily="18" charset="0"/>
              </a:rPr>
              <a:t>Especially in terms of reducing transaction costs, the smart contract concept promises to prevent renegotiation.</a:t>
            </a:r>
          </a:p>
          <a:p>
            <a:pPr marL="0" indent="0" algn="just">
              <a:buNone/>
            </a:pPr>
            <a:r>
              <a:rPr lang="en-US" sz="2000" dirty="0" smtClean="0">
                <a:latin typeface="Garamond" pitchFamily="18" charset="0"/>
              </a:rPr>
              <a:t>In the traditional regime of public contract law, even in well-specified contracts, the contracting parties often include legal and judicial costs necessary to resolve disputes.</a:t>
            </a:r>
          </a:p>
          <a:p>
            <a:pPr marL="0" indent="0" algn="just">
              <a:buNone/>
            </a:pPr>
            <a:r>
              <a:rPr lang="en-US" sz="2000" dirty="0" smtClean="0">
                <a:latin typeface="Garamond" pitchFamily="18" charset="0"/>
              </a:rPr>
              <a:t>There may also be additional execution costs associated with encouraging compliance with the contract, such as providing collateral activities and contract insurance. </a:t>
            </a:r>
          </a:p>
          <a:p>
            <a:pPr marL="0" indent="0" algn="just">
              <a:buNone/>
            </a:pPr>
            <a:r>
              <a:rPr lang="en-US" sz="2000" dirty="0" smtClean="0">
                <a:latin typeface="Garamond" pitchFamily="18" charset="0"/>
              </a:rPr>
              <a:t>Traditional contractual arrangements do not provide an inexpensive way to address the trade problems because they cannot prevent renegotiation.</a:t>
            </a:r>
          </a:p>
          <a:p>
            <a:pPr marL="0" indent="0" algn="just">
              <a:buNone/>
            </a:pPr>
            <a:r>
              <a:rPr lang="en-US" sz="2000" dirty="0" smtClean="0">
                <a:latin typeface="Garamond" pitchFamily="18" charset="0"/>
              </a:rPr>
              <a:t>With smart contracts, however, once the agreement has been stipulated, the contractual terms are unalterable, and the transactions are carried out automatically, on the basis of inputs and codified conditions.</a:t>
            </a:r>
          </a:p>
          <a:p>
            <a:pPr marL="0" indent="0" algn="just">
              <a:buNone/>
            </a:pPr>
            <a:r>
              <a:rPr lang="en-US" sz="2000" dirty="0" smtClean="0">
                <a:latin typeface="Garamond" pitchFamily="18" charset="0"/>
              </a:rPr>
              <a:t>Therefore, law scholars have affirmed that by preventing renegotiation, smart contracts can reduce the risk of so-called “robbery in the market” problems.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10000"/>
          </a:bodyPr>
          <a:lstStyle/>
          <a:p>
            <a:pPr marL="0" indent="0" algn="just">
              <a:buNone/>
            </a:pPr>
            <a:r>
              <a:rPr lang="en-US" sz="2000" dirty="0" smtClean="0">
                <a:latin typeface="Garamond" pitchFamily="18" charset="0"/>
              </a:rPr>
              <a:t>The smart contract concept, however, may not be applicable to a wide range of transactions, since for many types of transactions, it may be impossible or  extremely expensive to write a sensible smart contract.</a:t>
            </a:r>
          </a:p>
          <a:p>
            <a:pPr marL="0" indent="0" algn="just">
              <a:buNone/>
            </a:pPr>
            <a:r>
              <a:rPr lang="en-US" sz="2000" dirty="0" smtClean="0">
                <a:latin typeface="Garamond" pitchFamily="18" charset="0"/>
              </a:rPr>
              <a:t>In particular, in order to allow automatic monitoring and application, the parties to an agreement must digitally and programmatically code the actions each party should undertake (e.g., make a payment) in all future, relevant states of the process that would be activated by certain inputs, coming from diverse sensors or information flows.</a:t>
            </a:r>
          </a:p>
          <a:p>
            <a:pPr marL="0" indent="0" algn="just">
              <a:buNone/>
            </a:pPr>
            <a:r>
              <a:rPr lang="en-US" sz="2000" dirty="0" smtClean="0">
                <a:latin typeface="Garamond" pitchFamily="18" charset="0"/>
              </a:rPr>
              <a:t>If well-defined, a smart contract will specify all aspects, in a way that adequately captures the intent of each party in the face of automatic execution, satisfying the contractors.</a:t>
            </a:r>
          </a:p>
          <a:p>
            <a:pPr marL="0" indent="0" algn="just">
              <a:buNone/>
            </a:pPr>
            <a:r>
              <a:rPr lang="en-US" sz="2000" dirty="0" smtClean="0">
                <a:latin typeface="Garamond" pitchFamily="18" charset="0"/>
              </a:rPr>
              <a:t>It is possible, at this point, to introduce the notion of smart contract specification costs to define the costs of digitally encoding an agreement in a well-designed smart contract.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The assumption of costs, for the specifics of smart contracts, might not be justified, given the current regime of public contract law.</a:t>
            </a:r>
          </a:p>
          <a:p>
            <a:pPr marL="0" indent="0" algn="just">
              <a:buNone/>
            </a:pPr>
            <a:r>
              <a:rPr lang="en-US" sz="2000" dirty="0" smtClean="0">
                <a:latin typeface="Garamond" pitchFamily="18" charset="0"/>
              </a:rPr>
              <a:t>In the new regime of increased contract law, the economic actors would instead experience a new compromise that involves comparing (1) the higher costs of the specification of smart contracts, and (2) the reduction of costs associated with the automatic monitoring and application of smart contracts, compared to those present in the old private (hierarchical) or public (courts) contract law regimes.</a:t>
            </a:r>
          </a:p>
          <a:p>
            <a:pPr marL="0" indent="0" algn="just">
              <a:buNone/>
            </a:pPr>
            <a:r>
              <a:rPr lang="en-US" sz="2000" dirty="0" smtClean="0">
                <a:latin typeface="Garamond" pitchFamily="18" charset="0"/>
              </a:rPr>
              <a:t>The cost savings referred to in point (2) are particularly salient for transactions with a high degree of activity specificity because they will take full advantage of preventing renegotiation.</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The adoption of smart contracts can change the boundaries of some companies. If, for example, the characteristics of food quality and production are rewarded, these can be digitally coded and included  in the contracts.</a:t>
            </a:r>
          </a:p>
          <a:p>
            <a:pPr marL="0" indent="0" algn="just">
              <a:buNone/>
            </a:pPr>
            <a:r>
              <a:rPr lang="en-US" sz="2000" dirty="0" smtClean="0">
                <a:latin typeface="Garamond" pitchFamily="18" charset="0"/>
              </a:rPr>
              <a:t>Similarly, when purchasing sustainable food, it is possible to create  an infrastructure that is equipped with sensors in the ground and a digital platform to monitor what type of water is used, what fertilizers are applied,  and whether crops are rotated and soil is rested.</a:t>
            </a:r>
          </a:p>
          <a:p>
            <a:pPr marL="0" indent="0" algn="just">
              <a:buNone/>
            </a:pPr>
            <a:r>
              <a:rPr lang="en-US" sz="2000" dirty="0" smtClean="0">
                <a:latin typeface="Garamond" pitchFamily="18" charset="0"/>
              </a:rPr>
              <a:t>When breach of contract occurs, the payment will not be processed.</a:t>
            </a:r>
          </a:p>
          <a:p>
            <a:pPr marL="0" indent="0" algn="just">
              <a:buNone/>
            </a:pPr>
            <a:r>
              <a:rPr lang="en-US" sz="2000" dirty="0" smtClean="0">
                <a:latin typeface="Garamond" pitchFamily="18" charset="0"/>
              </a:rPr>
              <a:t>The attractiveness of a smart contract is greater than a traditional contract because automatic execution based on sensor data offers lower contract execution costs, compared to invoking the courts or engaging in lengthy arbitration.</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great deal of experimentation will be required for companies to understand what can result from the different types of agreements, with different types of partners and with different technological environments.</a:t>
            </a:r>
          </a:p>
          <a:p>
            <a:pPr marL="0" indent="0" algn="just">
              <a:buNone/>
            </a:pPr>
            <a:r>
              <a:rPr lang="en-US" sz="2000" dirty="0" smtClean="0">
                <a:latin typeface="Garamond" pitchFamily="18" charset="0"/>
              </a:rPr>
              <a:t>Industries and governments can play a role in the institutionalization of  smart contract practices, and implementing them will be an essential requirement in the future.</a:t>
            </a:r>
          </a:p>
          <a:p>
            <a:pPr marL="0" indent="0" algn="just">
              <a:buNone/>
            </a:pPr>
            <a:r>
              <a:rPr lang="en-US" sz="2000" dirty="0" smtClean="0">
                <a:latin typeface="Garamond" pitchFamily="18" charset="0"/>
              </a:rPr>
              <a:t>Increasingly, we are witnessing the emergence of a series of unexpected factors, which make optimizing transaction costs difficult for commercial services.</a:t>
            </a: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Furthermore, as some activities are pushed towards a higher degree of codification, they become more standardized, enabling them to fully enjoy the benefits offered by smart contracts.</a:t>
            </a:r>
          </a:p>
          <a:p>
            <a:pPr marL="0" indent="0" algn="just">
              <a:buNone/>
            </a:pPr>
            <a:r>
              <a:rPr lang="en-US" sz="2000" dirty="0" smtClean="0">
                <a:latin typeface="Garamond" pitchFamily="18" charset="0"/>
              </a:rPr>
              <a:t>For example, the growing use of contract work in the online job market  has facilitated the creation of standard models.</a:t>
            </a:r>
          </a:p>
          <a:p>
            <a:pPr marL="0" indent="0" algn="just">
              <a:buNone/>
            </a:pPr>
            <a:r>
              <a:rPr lang="en-US" sz="2000" dirty="0" smtClean="0">
                <a:latin typeface="Garamond" pitchFamily="18" charset="0"/>
              </a:rPr>
              <a:t>Some of these fully coded activities will surely become automatable in the near future.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CONSIDERATIONS FOR ADOPTING THE SMART CONTRACT CONCEPT</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Beyond the theoretical trade-offs, which can lead to a shift in fixed boundaries associated with the widespread adoption of smart contracts, there are a number of considerations that could slow its adoption.</a:t>
            </a:r>
          </a:p>
          <a:p>
            <a:pPr marL="0" indent="0" algn="just">
              <a:buNone/>
            </a:pPr>
            <a:r>
              <a:rPr lang="en-US" sz="2000" dirty="0" smtClean="0">
                <a:latin typeface="Garamond" pitchFamily="18" charset="0"/>
              </a:rPr>
              <a:t>These factors, in particular those relating to economic forces that can influence the adoption of the new instrument, certainly need to be investigated.</a:t>
            </a:r>
          </a:p>
          <a:p>
            <a:pPr marL="0" indent="0" algn="just">
              <a:buNone/>
            </a:pPr>
            <a:r>
              <a:rPr lang="en-US" sz="2000" dirty="0" smtClean="0">
                <a:latin typeface="Garamond" pitchFamily="18" charset="0"/>
              </a:rPr>
              <a:t>Given their relational nature, the adoption of smart contracts offers benefits to its users only if they are adopted en masse, giving rise to network effects.</a:t>
            </a:r>
          </a:p>
          <a:p>
            <a:pPr marL="0" indent="0" algn="just">
              <a:buNone/>
            </a:pPr>
            <a:r>
              <a:rPr lang="en-US" sz="2000" dirty="0" smtClean="0">
                <a:latin typeface="Garamond" pitchFamily="18" charset="0"/>
              </a:rPr>
              <a:t>A party adopting smart contracts must bear the initial costs of acquiring knowledge of the technology, but these costs can be justified by the benefits of smart contracts.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10000"/>
          </a:bodyPr>
          <a:lstStyle/>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r>
              <a:rPr lang="en-US" sz="2000" dirty="0" smtClean="0">
                <a:latin typeface="Garamond" pitchFamily="18" charset="0"/>
              </a:rPr>
              <a:t>If, however, there are very few potential partners on the other side of the agreement who have already adopted the new technology, the benefits may be too small to justify the adoption costs.</a:t>
            </a:r>
          </a:p>
          <a:p>
            <a:pPr marL="0" indent="0" algn="just">
              <a:buNone/>
            </a:pPr>
            <a:r>
              <a:rPr lang="en-US" sz="2000" dirty="0" smtClean="0">
                <a:latin typeface="Garamond" pitchFamily="18" charset="0"/>
              </a:rPr>
              <a:t>Each participant is willing to bear the cost of adoption only if it has already been adopted by a sufficient number of other participants.</a:t>
            </a:r>
          </a:p>
          <a:p>
            <a:pPr marL="0" indent="0" algn="just">
              <a:buNone/>
            </a:pPr>
            <a:r>
              <a:rPr lang="en-US" sz="2000" dirty="0" smtClean="0">
                <a:latin typeface="Garamond" pitchFamily="18" charset="0"/>
              </a:rPr>
              <a:t>This attitude could create inertia in the market if no one adopts the technology just because they see no one else doing so!</a:t>
            </a:r>
          </a:p>
          <a:p>
            <a:pPr marL="0" indent="0" algn="just">
              <a:buNone/>
            </a:pPr>
            <a:r>
              <a:rPr lang="en-US" sz="2000" dirty="0" smtClean="0">
                <a:latin typeface="Garamond" pitchFamily="18" charset="0"/>
              </a:rPr>
              <a:t>Top-down institutional coordination or common standard setting will help overcome this inertia.</a:t>
            </a:r>
          </a:p>
          <a:p>
            <a:pPr marL="0" indent="0" algn="just">
              <a:buNone/>
            </a:pPr>
            <a:r>
              <a:rPr lang="en-US" sz="2000" dirty="0" smtClean="0">
                <a:latin typeface="Garamond" pitchFamily="18" charset="0"/>
              </a:rPr>
              <a:t>Currently, for example, the </a:t>
            </a:r>
            <a:r>
              <a:rPr lang="en-US" sz="2000" dirty="0" err="1" smtClean="0">
                <a:latin typeface="Garamond" pitchFamily="18" charset="0"/>
              </a:rPr>
              <a:t>Ethereum</a:t>
            </a:r>
            <a:r>
              <a:rPr lang="en-US" sz="2000" dirty="0" smtClean="0">
                <a:latin typeface="Garamond" pitchFamily="18" charset="0"/>
              </a:rPr>
              <a:t> platform offers a wide variety of peer-to-peer smart contracts, incentivizing the adoption of this tool.</a:t>
            </a:r>
          </a:p>
          <a:p>
            <a:pPr marL="0" indent="0" algn="just">
              <a:buNone/>
            </a:pPr>
            <a:r>
              <a:rPr lang="en-US" sz="2000" dirty="0" err="1" smtClean="0">
                <a:latin typeface="Garamond" pitchFamily="18" charset="0"/>
              </a:rPr>
              <a:t>Ethereum</a:t>
            </a:r>
            <a:r>
              <a:rPr lang="en-US" sz="2000" dirty="0" smtClean="0">
                <a:latin typeface="Garamond" pitchFamily="18" charset="0"/>
              </a:rPr>
              <a:t>, however, is only one of the infrastructures present today.</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We are already seeing, and probably will continue to see, alternatives to </a:t>
            </a:r>
            <a:r>
              <a:rPr lang="en-US" sz="2000" dirty="0" err="1" smtClean="0">
                <a:latin typeface="Garamond" pitchFamily="18" charset="0"/>
              </a:rPr>
              <a:t>Ethereum</a:t>
            </a:r>
            <a:r>
              <a:rPr lang="en-US" sz="2000" dirty="0" smtClean="0">
                <a:latin typeface="Garamond" pitchFamily="18" charset="0"/>
              </a:rPr>
              <a:t>, along with other digital platforms, to support smart contracts, for increasingly precise and defined purposes.</a:t>
            </a:r>
          </a:p>
          <a:p>
            <a:pPr marL="0" indent="0" algn="just">
              <a:buNone/>
            </a:pPr>
            <a:r>
              <a:rPr lang="en-US" sz="2000" dirty="0" smtClean="0">
                <a:latin typeface="Garamond" pitchFamily="18" charset="0"/>
              </a:rPr>
              <a:t>These platforms will provide additional services to  facilitate adoption and provide additional savings on transaction costs, for companies considering additional transactions outside their borders.</a:t>
            </a:r>
          </a:p>
          <a:p>
            <a:pPr marL="0" indent="0" algn="just">
              <a:buNone/>
            </a:pPr>
            <a:r>
              <a:rPr lang="en-US" sz="2000" dirty="0" smtClean="0">
                <a:latin typeface="Garamond" pitchFamily="18" charset="0"/>
              </a:rPr>
              <a:t>Businesses will be able to reduce expenses, such as contract drafting (including sensor data integration) and negotiation costs, by providing standardized smart contract templates.</a:t>
            </a:r>
          </a:p>
          <a:p>
            <a:pPr marL="0" indent="0" algn="just">
              <a:buNone/>
            </a:pPr>
            <a:r>
              <a:rPr lang="en-US" sz="2000" dirty="0" smtClean="0">
                <a:latin typeface="Garamond" pitchFamily="18" charset="0"/>
              </a:rPr>
              <a:t>In addition, online platforms offer greater protection of privacy and selection of participants because they often screen participants, define platform participation criteria and build reputation systems, excluding those participants deemed inappropriate.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They will also be able to reduce the problem of information asymmetry, helping to optimize contractual terms, through the aggregation of historical data, thus increasing the trust and accountability of counterparties.</a:t>
            </a:r>
          </a:p>
          <a:p>
            <a:pPr marL="0" indent="0" algn="just">
              <a:buNone/>
            </a:pPr>
            <a:r>
              <a:rPr lang="en-US" sz="2000" dirty="0" smtClean="0">
                <a:latin typeface="Garamond" pitchFamily="18" charset="0"/>
              </a:rPr>
              <a:t>These advantages, however, derive from the use of particular digital platforms to support smart contracts and not from only their ideal conception.</a:t>
            </a:r>
          </a:p>
          <a:p>
            <a:pPr marL="0" indent="0" algn="just">
              <a:buNone/>
            </a:pPr>
            <a:r>
              <a:rPr lang="en-US" sz="2000" dirty="0" smtClean="0">
                <a:latin typeface="Garamond" pitchFamily="18" charset="0"/>
              </a:rPr>
              <a:t>There is another problem that specifically concerns the adoption of smart contracts.</a:t>
            </a:r>
          </a:p>
          <a:p>
            <a:pPr marL="0" indent="0" algn="just">
              <a:buNone/>
            </a:pPr>
            <a:r>
              <a:rPr lang="en-US" sz="2000" dirty="0" smtClean="0">
                <a:latin typeface="Garamond" pitchFamily="18" charset="0"/>
              </a:rPr>
              <a:t>Smart contracts by design refer to agreements that need to be executed in the future. They are software programs that need an infrastructure to function: a system and hardware.</a:t>
            </a:r>
          </a:p>
          <a:p>
            <a:pPr marL="0" indent="0" algn="just">
              <a:buNone/>
            </a:pPr>
            <a:r>
              <a:rPr lang="en-US" sz="2000" dirty="0" smtClean="0">
                <a:latin typeface="Garamond" pitchFamily="18" charset="0"/>
              </a:rPr>
              <a:t>The promise of automatic monitoring and execution can only be kept if the hosting infrastructure is expected to operate continuously until the agreement needs to be executed.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Let's imagine a future donation, recorded in a smart contract to be executed when the recipient reaches the age of majority, say in 18 years: Who will guarantee that </a:t>
            </a:r>
            <a:r>
              <a:rPr lang="en-US" sz="2000" dirty="0" err="1" smtClean="0">
                <a:latin typeface="Garamond" pitchFamily="18" charset="0"/>
              </a:rPr>
              <a:t>Ethereum</a:t>
            </a:r>
            <a:r>
              <a:rPr lang="en-US" sz="2000" dirty="0" smtClean="0">
                <a:latin typeface="Garamond" pitchFamily="18" charset="0"/>
              </a:rPr>
              <a:t> will still be in circulation?</a:t>
            </a:r>
          </a:p>
          <a:p>
            <a:pPr marL="0" indent="0" algn="just">
              <a:buNone/>
            </a:pPr>
            <a:r>
              <a:rPr lang="en-US" sz="2000" dirty="0" smtClean="0">
                <a:latin typeface="Garamond" pitchFamily="18" charset="0"/>
              </a:rPr>
              <a:t>If the long-term existence of the smart contract infrastructure is not insured, the use of this type of contract may be limited to short-term agreements only.</a:t>
            </a:r>
          </a:p>
          <a:p>
            <a:pPr marL="0" indent="0" algn="just">
              <a:buNone/>
            </a:pPr>
            <a:r>
              <a:rPr lang="en-US" sz="2000" dirty="0" smtClean="0">
                <a:latin typeface="Garamond" pitchFamily="18" charset="0"/>
              </a:rPr>
              <a:t>Therefore, the longevity expectations of both infrastructure and smart contracts can play a role in the adoption of the technology.</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Currently, the smart contract concept is stereotypically linked to blockchain technologies, and the excitement the blockchain has generated  can drive further investment in and adoption of smart contracts.</a:t>
            </a:r>
          </a:p>
          <a:p>
            <a:pPr marL="0" indent="0" algn="just">
              <a:buNone/>
            </a:pPr>
            <a:r>
              <a:rPr lang="en-US" sz="2000" dirty="0" smtClean="0">
                <a:latin typeface="Garamond" pitchFamily="18" charset="0"/>
              </a:rPr>
              <a:t>Experts expect huge benefits from the adoption of blockchain technologies, including increased register security and decentralized governance, all of which will certainly destine the blockchain for continued growth.</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POTENTIAL OPPORTUNITIES AND IMPLICATIONS FOR GOVERNMENT</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still possible to address the issue of how smart contracts can influence the functioning of governance as a hierarchical organization in its own right, as well as the role of government, in helping to establish a contract law regime enhanced by smart contracts.</a:t>
            </a:r>
          </a:p>
          <a:p>
            <a:pPr marL="0" indent="0" algn="just">
              <a:buNone/>
            </a:pPr>
            <a:r>
              <a:rPr lang="en-US" sz="2000" dirty="0" smtClean="0">
                <a:latin typeface="Garamond" pitchFamily="18" charset="0"/>
              </a:rPr>
              <a:t>Many western governments have adopted the </a:t>
            </a:r>
            <a:r>
              <a:rPr lang="en-US" sz="2000" dirty="0" err="1" smtClean="0">
                <a:latin typeface="Garamond" pitchFamily="18" charset="0"/>
              </a:rPr>
              <a:t>trias</a:t>
            </a:r>
            <a:r>
              <a:rPr lang="en-US" sz="2000" dirty="0" smtClean="0">
                <a:latin typeface="Garamond" pitchFamily="18" charset="0"/>
              </a:rPr>
              <a:t> </a:t>
            </a:r>
            <a:r>
              <a:rPr lang="en-US" sz="2000" dirty="0" err="1" smtClean="0">
                <a:latin typeface="Garamond" pitchFamily="18" charset="0"/>
              </a:rPr>
              <a:t>politica</a:t>
            </a:r>
            <a:r>
              <a:rPr lang="en-US" sz="2000" dirty="0" smtClean="0">
                <a:latin typeface="Garamond" pitchFamily="18" charset="0"/>
              </a:rPr>
              <a:t>, a political model first proposed in the eighteenth century by  Montesquieu (the French political philosopher) in his book "Spirit of the Laws."</a:t>
            </a:r>
          </a:p>
          <a:p>
            <a:pPr marL="0" indent="0" algn="just">
              <a:buNone/>
            </a:pPr>
            <a:r>
              <a:rPr lang="en-US" sz="2000" dirty="0" smtClean="0">
                <a:latin typeface="Garamond" pitchFamily="18" charset="0"/>
              </a:rPr>
              <a:t>In particular, this model proposes the separation of powers of three different branches of government: the legislative, executive, and judicial, to prevent the concentration of power in individual hands.</a:t>
            </a:r>
          </a:p>
          <a:p>
            <a:pPr marL="0" indent="0" algn="just">
              <a:buNone/>
            </a:pPr>
            <a:r>
              <a:rPr lang="en-US" sz="2000" dirty="0" smtClean="0">
                <a:latin typeface="Garamond" pitchFamily="18" charset="0"/>
              </a:rPr>
              <a:t>The legislative branch writes and issues laws and appropriates the money needed to run the government.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executive branch enforces laws, created by the legislative branch, and is in charge of implementing funded policies enacted by the legislative branch.</a:t>
            </a:r>
          </a:p>
          <a:p>
            <a:pPr marL="0" indent="0" algn="just">
              <a:buNone/>
            </a:pPr>
            <a:r>
              <a:rPr lang="en-US" sz="2000" dirty="0" smtClean="0">
                <a:latin typeface="Garamond" pitchFamily="18" charset="0"/>
              </a:rPr>
              <a:t>The judiciary interprets the meaning of the laws and the Constitution and resolves disputes.</a:t>
            </a:r>
          </a:p>
          <a:p>
            <a:pPr marL="0" indent="0" algn="just">
              <a:buNone/>
            </a:pPr>
            <a:r>
              <a:rPr lang="en-US" sz="2000" dirty="0" smtClean="0">
                <a:latin typeface="Garamond" pitchFamily="18" charset="0"/>
              </a:rPr>
              <a:t>The widespread adoption of the smart contract concept in our society, may introduce changes in the judicial and legislative branches of government, as well as changes in the government’s economic activity (for example, when it  builds public infrastructures).</a:t>
            </a:r>
          </a:p>
          <a:p>
            <a:pPr marL="0" indent="0" algn="just">
              <a:buNone/>
            </a:pPr>
            <a:r>
              <a:rPr lang="en-US" sz="2000" dirty="0" smtClean="0">
                <a:latin typeface="Garamond" pitchFamily="18" charset="0"/>
              </a:rPr>
              <a:t>Firstly, smart contract platforms can serve as alternatives to traditional avenues, reducing interdependence on judicial systems.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Secondly, the adoption of smart contracts can increase dependence on the legislative and judicial branches, creating the need for new laws and contractual models, suitable for the correct implementation of the new contractual system.</a:t>
            </a:r>
          </a:p>
          <a:p>
            <a:pPr marL="0" indent="0" algn="just">
              <a:buNone/>
            </a:pPr>
            <a:r>
              <a:rPr lang="en-US" sz="2000" dirty="0" smtClean="0">
                <a:latin typeface="Garamond" pitchFamily="18" charset="0"/>
              </a:rPr>
              <a:t>In this way, the government will be able to act as a promoter of the adoption of smart contracts.</a:t>
            </a:r>
          </a:p>
          <a:p>
            <a:pPr marL="0" indent="0" algn="just">
              <a:buNone/>
            </a:pPr>
            <a:r>
              <a:rPr lang="en-US" sz="2000" dirty="0" smtClean="0">
                <a:latin typeface="Garamond" pitchFamily="18" charset="0"/>
              </a:rPr>
              <a:t>Thirdly, smart contracts will improve the efficiency of the executive branch by reducing the execution costs of some government contracts (e.g., a different and more efficient way of managing public procurement).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ALTERNATIVES TO THE CENTRAL POWER OF GOVERNMENT</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It has been recognized that binding agreements between parties are more efficient in the presence of a top-down authority enforcing social contracts.</a:t>
            </a:r>
          </a:p>
          <a:p>
            <a:pPr marL="0" indent="0" algn="just">
              <a:buNone/>
            </a:pPr>
            <a:r>
              <a:rPr lang="en-US" sz="2000" dirty="0" smtClean="0">
                <a:latin typeface="Garamond" pitchFamily="18" charset="0"/>
              </a:rPr>
              <a:t>The English philosopher, Thomas Hobbs, wrote, in this regard, that the peer-to-peer application   of contracts is too expensive and ineffective, thus justifying the willingness of citizens to give up part of their personal freedom, in favor of a centralized authority, which insures control and offers guarantees to its citizens.</a:t>
            </a:r>
          </a:p>
          <a:p>
            <a:pPr marL="0" indent="0" algn="just">
              <a:buNone/>
            </a:pPr>
            <a:r>
              <a:rPr lang="en-US" sz="2000" dirty="0" smtClean="0">
                <a:latin typeface="Garamond" pitchFamily="18" charset="0"/>
              </a:rPr>
              <a:t>In a modern society, government-controlled legal and police systems are institutions that enforce social contracts. They use the courts to resolve disputes and the police to punish non-compliance.</a:t>
            </a:r>
          </a:p>
          <a:p>
            <a:pPr marL="0" indent="0" algn="just">
              <a:buNone/>
            </a:pPr>
            <a:r>
              <a:rPr lang="en-US" sz="2000" dirty="0" smtClean="0">
                <a:latin typeface="Garamond" pitchFamily="18" charset="0"/>
              </a:rPr>
              <a:t>In the case of modern commercial contracts, the parties to the contract are based on and presuppose a certain level of applicability of a specific regime of public contract law, the so-called commercial law of the State, in which market transactions are carried out.</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Given the assumption of rationality, premised on TCE, many commercial contracts cannot be completely specified, since they cannot consider possible scenarios that would potentially lead to disputes among the parties.</a:t>
            </a:r>
          </a:p>
          <a:p>
            <a:pPr marL="0" indent="0" algn="just">
              <a:buNone/>
            </a:pPr>
            <a:r>
              <a:rPr lang="en-US" sz="2000" dirty="0" smtClean="0">
                <a:latin typeface="Garamond" pitchFamily="18" charset="0"/>
              </a:rPr>
              <a:t>The judges would then be called upon to interpret the meaning of the signed contract, in order to fill gaps and increase protection of the parties.</a:t>
            </a:r>
          </a:p>
          <a:p>
            <a:pPr marL="0" indent="0" algn="just">
              <a:buNone/>
            </a:pPr>
            <a:r>
              <a:rPr lang="en-US" sz="2000" dirty="0" smtClean="0">
                <a:latin typeface="Garamond" pitchFamily="18" charset="0"/>
              </a:rPr>
              <a:t>A court may enforce contracts, recognizing compensation for damage resulting, for example, from inadequate or only partially satisfied terms.</a:t>
            </a:r>
          </a:p>
          <a:p>
            <a:pPr marL="0" indent="0" algn="just">
              <a:buNone/>
            </a:pPr>
            <a:r>
              <a:rPr lang="en-US" sz="2000" dirty="0" smtClean="0">
                <a:latin typeface="Garamond" pitchFamily="18" charset="0"/>
              </a:rPr>
              <a:t>The wide accessibility imagined for smart contracts has led some to hypothesize that smart contracts could obviate the need for lawyers, expert in contract law, thus becoming an alternative to that part of the legal system  based on contracts.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Recently, this radical view has been articulated by some legal scholars, who have argued that: "Smart contracts do not need a legal system to exist: they can work without any general legal framework. In fact, they would represent a technological alternative to the entire legal system (</a:t>
            </a:r>
            <a:r>
              <a:rPr lang="en-US" sz="2000" dirty="0" err="1" smtClean="0">
                <a:latin typeface="Garamond" pitchFamily="18" charset="0"/>
              </a:rPr>
              <a:t>Savelyev</a:t>
            </a:r>
            <a:r>
              <a:rPr lang="en-US" sz="2000" dirty="0" smtClean="0">
                <a:latin typeface="Garamond" pitchFamily="18" charset="0"/>
              </a:rPr>
              <a:t> 2017).”</a:t>
            </a:r>
          </a:p>
          <a:p>
            <a:pPr marL="0" indent="0" algn="just">
              <a:buNone/>
            </a:pPr>
            <a:r>
              <a:rPr lang="en-US" sz="2000" dirty="0" smtClean="0">
                <a:latin typeface="Garamond" pitchFamily="18" charset="0"/>
              </a:rPr>
              <a:t>Hence smart contracts would provide not only a cheaper alternative to the legal system but, in some ways, an even superior one, since relying on the legal enforcement of contracts is, potentially, a lengthy circumstance subject to  human error, prejudice, and corruption.</a:t>
            </a:r>
          </a:p>
          <a:p>
            <a:pPr marL="0" indent="0" algn="just">
              <a:buNone/>
            </a:pPr>
            <a:r>
              <a:rPr lang="en-US" sz="2000" dirty="0" smtClean="0">
                <a:latin typeface="Garamond" pitchFamily="18" charset="0"/>
              </a:rPr>
              <a:t>Holden and </a:t>
            </a:r>
            <a:r>
              <a:rPr lang="en-US" sz="2000" dirty="0" err="1" smtClean="0">
                <a:latin typeface="Garamond" pitchFamily="18" charset="0"/>
              </a:rPr>
              <a:t>Malani</a:t>
            </a:r>
            <a:r>
              <a:rPr lang="en-US" sz="2000" dirty="0" smtClean="0">
                <a:latin typeface="Garamond" pitchFamily="18" charset="0"/>
              </a:rPr>
              <a:t> (2017) have even written that the need for a centralized authority, in particular, the courts, will be eliminated for those contracts whose terms can be adequately programmed, since there will be no need for renegotiation, through a  judicial authority.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risks of contract misinterpretation could also be mitigated through the use of smart contracts. Human languages often have multiple interpretations and meanings. The ambiguities in the meanings or the terms of traditional contracts are often resolved by the courts.</a:t>
            </a:r>
          </a:p>
          <a:p>
            <a:pPr marL="0" indent="0" algn="just">
              <a:buNone/>
            </a:pPr>
            <a:r>
              <a:rPr lang="en-US" sz="2000" dirty="0" smtClean="0">
                <a:latin typeface="Garamond" pitchFamily="18" charset="0"/>
              </a:rPr>
              <a:t>Requests for interpretation of the contract by a court can decrease with the help of compilers of software languages, which have little tolerance for ambiguity.</a:t>
            </a:r>
          </a:p>
          <a:p>
            <a:pPr marL="0" indent="0" algn="just">
              <a:buNone/>
            </a:pPr>
            <a:r>
              <a:rPr lang="en-US" sz="2000" dirty="0" smtClean="0">
                <a:latin typeface="Garamond" pitchFamily="18" charset="0"/>
              </a:rPr>
              <a:t>Wright and De </a:t>
            </a:r>
            <a:r>
              <a:rPr lang="en-US" sz="2000" dirty="0" err="1" smtClean="0">
                <a:latin typeface="Garamond" pitchFamily="18" charset="0"/>
              </a:rPr>
              <a:t>Filippi</a:t>
            </a:r>
            <a:r>
              <a:rPr lang="en-US" sz="2000" dirty="0" smtClean="0">
                <a:latin typeface="Garamond" pitchFamily="18" charset="0"/>
              </a:rPr>
              <a:t> further stated that the programming language for scripting smart contracts would become easier to use over time, and  users could then rely on this programming language to manage their business, without hiring lawyers.</a:t>
            </a:r>
          </a:p>
          <a:p>
            <a:pPr marL="0" indent="0" algn="just">
              <a:buNone/>
            </a:pPr>
            <a:r>
              <a:rPr lang="en-US" sz="2000" dirty="0" smtClean="0">
                <a:latin typeface="Garamond" pitchFamily="18" charset="0"/>
              </a:rPr>
              <a:t>This would appear to affect the legal professions, which may fear that the need to draft legal provisions and contracts would diminish, leaving the </a:t>
            </a:r>
            <a:r>
              <a:rPr lang="en-US" sz="2000" dirty="0" err="1" smtClean="0">
                <a:latin typeface="Garamond" pitchFamily="18" charset="0"/>
              </a:rPr>
              <a:t>codable</a:t>
            </a:r>
            <a:r>
              <a:rPr lang="en-US" sz="2000" dirty="0" smtClean="0">
                <a:latin typeface="Garamond" pitchFamily="18" charset="0"/>
              </a:rPr>
              <a:t> details to a machine and its computer code.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However, all this does not capture the real revolution in the legal profession, which will be able to improve its role in preliminary consultancy activity and in the drafting of contractual conditions, which IT technicians will then have to translate into programming codes. Furthermore, the specialized competence acquired by the latest generation of jurists will be an indispensable resource for companies and institutions which, in compliance with new rules and regulations, will have to adopt this  new digital technology.</a:t>
            </a:r>
          </a:p>
          <a:p>
            <a:pPr marL="0" indent="0" algn="just">
              <a:buNone/>
            </a:pPr>
            <a:r>
              <a:rPr lang="en-US" sz="2000" dirty="0" smtClean="0">
                <a:latin typeface="Garamond" pitchFamily="18" charset="0"/>
              </a:rPr>
              <a:t>Undoubtedly, the use of smart contracts will reduce the effort necessary to monitor the behavior of the parties, leaving companies free from tracking and verifying every single step in the execution of the contract, since the contract is autonomous and outside human intervention.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Once smart contracts are properly designed and tested, their execution will not require additional human monitoring, typical of traditional contracts.</a:t>
            </a:r>
          </a:p>
          <a:p>
            <a:pPr marL="0" indent="0" algn="just">
              <a:buNone/>
            </a:pPr>
            <a:r>
              <a:rPr lang="en-US" sz="2000" dirty="0" smtClean="0">
                <a:latin typeface="Garamond" pitchFamily="18" charset="0"/>
              </a:rPr>
              <a:t>But, in any case, a total replacement of the legal execution of contracts with a program running on the computer is not conceivable because the practical limitations would be indeterminable and, in any case, varied and complex.</a:t>
            </a:r>
          </a:p>
          <a:p>
            <a:pPr marL="0" indent="0" algn="just">
              <a:buNone/>
            </a:pPr>
            <a:r>
              <a:rPr lang="en-US" sz="2000" dirty="0" smtClean="0">
                <a:latin typeface="Garamond" pitchFamily="18" charset="0"/>
              </a:rPr>
              <a:t>It is known that most of the contracts are incomplete, not only because of the limited rationality of the agents, but also because, even if well specified, a logical legal filter of the activity will still be necessary.</a:t>
            </a:r>
          </a:p>
          <a:p>
            <a:pPr marL="0" indent="0" algn="just">
              <a:buNone/>
            </a:pPr>
            <a:r>
              <a:rPr lang="en-US" sz="2000" dirty="0" smtClean="0">
                <a:latin typeface="Garamond" pitchFamily="18" charset="0"/>
              </a:rPr>
              <a:t>There are instances when it would be impossible to express certain contractual terms with IT logic.</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For example, computer programs are unable to measure whether a counterpart has made the so-called "best efforts" and would, therefore, not be able    to evaluate the concept of a counterpart’s "good faith."</a:t>
            </a:r>
          </a:p>
          <a:p>
            <a:pPr marL="0" indent="0" algn="just">
              <a:buNone/>
            </a:pPr>
            <a:r>
              <a:rPr lang="en-US" sz="2000" dirty="0" smtClean="0">
                <a:latin typeface="Garamond" pitchFamily="18" charset="0"/>
              </a:rPr>
              <a:t>In this sense, smart contracts can only replace those traditional contracts whose terms are readily specified and unambiguously monitored,    and thus allow for automatic execution.</a:t>
            </a:r>
          </a:p>
          <a:p>
            <a:pPr marL="0" indent="0" algn="just">
              <a:buNone/>
            </a:pPr>
            <a:r>
              <a:rPr lang="en-US" sz="2000" dirty="0" smtClean="0">
                <a:latin typeface="Garamond" pitchFamily="18" charset="0"/>
              </a:rPr>
              <a:t>The smart contract application is at its best in the area of standardized contracts    which are now commonly used for commercial contracts.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STATES AS ENABLERS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Scholars who recognize that smart contracts cannot completely replace commercial law have also argued that contract law and smart contracts serve fundamentally different rationales and goals.</a:t>
            </a:r>
          </a:p>
          <a:p>
            <a:pPr marL="0" indent="0" algn="just">
              <a:buNone/>
            </a:pPr>
            <a:r>
              <a:rPr lang="en-US" sz="2000" dirty="0" smtClean="0">
                <a:latin typeface="Garamond" pitchFamily="18" charset="0"/>
              </a:rPr>
              <a:t>The function of a smart contract is to guarantee ex ante actions, while contract law is a remedial institution, which recognizes and remedies complaints, which may arise ex post.</a:t>
            </a:r>
          </a:p>
          <a:p>
            <a:pPr marL="0" indent="0" algn="just">
              <a:buNone/>
            </a:pPr>
            <a:r>
              <a:rPr lang="en-US" sz="2000" dirty="0" smtClean="0">
                <a:latin typeface="Garamond" pitchFamily="18" charset="0"/>
              </a:rPr>
              <a:t>Smart contracts promise to atomize the contractual process, eliminating the act of reparation, without admitting any possibility of infringement.</a:t>
            </a:r>
          </a:p>
          <a:p>
            <a:pPr marL="0" indent="0" algn="just">
              <a:buNone/>
            </a:pPr>
            <a:r>
              <a:rPr lang="en-US" sz="2000" dirty="0" smtClean="0">
                <a:latin typeface="Garamond" pitchFamily="18" charset="0"/>
              </a:rPr>
              <a:t>However, the idea that smart contracts will eliminate the possibility of all legal disputes is overly optimistic.</a:t>
            </a:r>
          </a:p>
          <a:p>
            <a:pPr marL="0" indent="0" algn="just">
              <a:buNone/>
            </a:pPr>
            <a:r>
              <a:rPr lang="en-US" sz="2000" dirty="0" smtClean="0">
                <a:latin typeface="Garamond" pitchFamily="18" charset="0"/>
              </a:rPr>
              <a:t>The legal system would remain necessary when the parties were not satisfied with the results of the automated contracts.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outcome of smart contracts may, in fact, diverge from the intentions of the parties, if they do not or cannot specify all possible outcomes.</a:t>
            </a:r>
          </a:p>
          <a:p>
            <a:pPr marL="0" indent="0" algn="just">
              <a:buNone/>
            </a:pPr>
            <a:r>
              <a:rPr lang="en-US" sz="2000" dirty="0" smtClean="0">
                <a:latin typeface="Garamond" pitchFamily="18" charset="0"/>
              </a:rPr>
              <a:t>In other words, it is very likely that in practice, some smart contracts are not sufficiently designed, even if each party did their utmost to set them up as best they could.</a:t>
            </a:r>
          </a:p>
          <a:p>
            <a:pPr marL="0" indent="0" algn="just">
              <a:buNone/>
            </a:pPr>
            <a:r>
              <a:rPr lang="en-US" sz="2000" dirty="0" smtClean="0">
                <a:latin typeface="Garamond" pitchFamily="18" charset="0"/>
              </a:rPr>
              <a:t>Furthermore, it is true that even sophisticated software-based systems can have errors and bugs.</a:t>
            </a:r>
          </a:p>
          <a:p>
            <a:pPr marL="0" indent="0" algn="just">
              <a:buNone/>
            </a:pPr>
            <a:r>
              <a:rPr lang="en-US" sz="2000" dirty="0" err="1" smtClean="0">
                <a:latin typeface="Garamond" pitchFamily="18" charset="0"/>
              </a:rPr>
              <a:t>Ethereum's</a:t>
            </a:r>
            <a:r>
              <a:rPr lang="en-US" sz="2000" dirty="0" smtClean="0">
                <a:latin typeface="Garamond" pitchFamily="18" charset="0"/>
              </a:rPr>
              <a:t> smart contract platform, for instance, is estimated to have 100 errors  for every 1000 lines of code.</a:t>
            </a:r>
          </a:p>
          <a:p>
            <a:pPr marL="0" indent="0" algn="just">
              <a:buNone/>
            </a:pPr>
            <a:r>
              <a:rPr lang="en-US" sz="2000" dirty="0" smtClean="0">
                <a:latin typeface="Garamond" pitchFamily="18" charset="0"/>
              </a:rPr>
              <a:t>Because smart contracts involve real people in real relationships, it is impossible to avoid some of the common ambiguities in traditional contracts.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One consequence of this would be a redefinition of the way laws and regulations are designed, implemented, and enforced.</a:t>
            </a:r>
          </a:p>
          <a:p>
            <a:pPr marL="0" indent="0" algn="just">
              <a:buNone/>
            </a:pPr>
            <a:r>
              <a:rPr lang="en-US" sz="2000" dirty="0" smtClean="0">
                <a:latin typeface="Garamond" pitchFamily="18" charset="0"/>
              </a:rPr>
              <a:t>Therefore, the judicial system is expected to develop a new way to address these challenges by treating smart contracts as part of traditional legal contracts, referring to the smart contract as an implementation of the contract software.</a:t>
            </a:r>
          </a:p>
          <a:p>
            <a:pPr marL="0" indent="0" algn="just">
              <a:buNone/>
            </a:pPr>
            <a:r>
              <a:rPr lang="en-US" sz="2000" dirty="0" smtClean="0">
                <a:latin typeface="Garamond" pitchFamily="18" charset="0"/>
              </a:rPr>
              <a:t>In this way, governments will potentially strengthen the current contract law regime.</a:t>
            </a:r>
          </a:p>
          <a:p>
            <a:pPr marL="0" indent="0" algn="just">
              <a:buNone/>
            </a:pPr>
            <a:r>
              <a:rPr lang="en-US" sz="2000" dirty="0" smtClean="0">
                <a:latin typeface="Garamond" pitchFamily="18" charset="0"/>
              </a:rPr>
              <a:t>Furthermore, when innovative technologies are expected to bring significant potential benefits to businesses and markets, it is desirable that governments create an environment conducive to the use of such technologies in order to realize their full potential.</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40</a:t>
            </a:fld>
            <a:endParaRPr lang="it-IT"/>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Legal systems, which have technology-friendly regulations, can offer a competitive advantage by cultivating innovative business models and helping companies which employ them to grow legally. </a:t>
            </a:r>
          </a:p>
          <a:p>
            <a:pPr marL="0" indent="0" algn="just">
              <a:buNone/>
            </a:pPr>
            <a:r>
              <a:rPr lang="en-US" sz="2000" dirty="0" smtClean="0">
                <a:latin typeface="Garamond" pitchFamily="18" charset="0"/>
              </a:rPr>
              <a:t>In the early stage of innovation, the creation of new laws could aid companies trying to build a legitimate business through new technologies.</a:t>
            </a:r>
          </a:p>
          <a:p>
            <a:pPr marL="0" indent="0" algn="just">
              <a:buNone/>
            </a:pPr>
            <a:r>
              <a:rPr lang="en-US" sz="2000" dirty="0" smtClean="0">
                <a:latin typeface="Garamond" pitchFamily="18" charset="0"/>
              </a:rPr>
              <a:t>Innovators can benefit from the certainty that the regulations provide.</a:t>
            </a:r>
          </a:p>
          <a:p>
            <a:pPr marL="0" indent="0" algn="just">
              <a:buNone/>
            </a:pPr>
            <a:r>
              <a:rPr lang="en-US" sz="2000" dirty="0" smtClean="0">
                <a:latin typeface="Garamond" pitchFamily="18" charset="0"/>
              </a:rPr>
              <a:t>Overall, well-designed laws will encourage innovation, based on technology, while protecting actors from abuse.</a:t>
            </a:r>
          </a:p>
          <a:p>
            <a:pPr marL="0" indent="0" algn="just">
              <a:buNone/>
            </a:pPr>
            <a:r>
              <a:rPr lang="en-US" sz="2000" dirty="0" smtClean="0">
                <a:latin typeface="Garamond" pitchFamily="18" charset="0"/>
              </a:rPr>
              <a:t>In fact, numerous local and international governments are working out the legal bases for using smart contracts.</a:t>
            </a:r>
          </a:p>
          <a:p>
            <a:pPr marL="0" indent="0" algn="just">
              <a:buNone/>
            </a:pPr>
            <a:r>
              <a:rPr lang="en-US" sz="2000" dirty="0" smtClean="0">
                <a:latin typeface="Garamond" pitchFamily="18" charset="0"/>
              </a:rPr>
              <a:t>For example, some states in the USA have passed legislation that allows for the use of smart contracts in commercial settings.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2017, Arizona was the first to pass legislation that allows companies to use smart contracts in their businesses and that prevents a contract from being denied legality.</a:t>
            </a:r>
          </a:p>
          <a:p>
            <a:pPr marL="0" indent="0" algn="just">
              <a:buNone/>
            </a:pPr>
            <a:r>
              <a:rPr lang="en-US" sz="2000" dirty="0" smtClean="0">
                <a:latin typeface="Garamond" pitchFamily="18" charset="0"/>
              </a:rPr>
              <a:t>In Vermont, a bill was signed in May 2018 allowing the creation of limited liability companies, "for the purpose of running a company that uses blockchain technology, for a substantial portion of its business" and choosing to become a "blockchain-based limited liability company (BBLLC)."</a:t>
            </a:r>
          </a:p>
          <a:p>
            <a:pPr marL="0" indent="0" algn="just">
              <a:buNone/>
            </a:pPr>
            <a:r>
              <a:rPr lang="en-US" sz="2000" dirty="0" smtClean="0">
                <a:latin typeface="Garamond" pitchFamily="18" charset="0"/>
              </a:rPr>
              <a:t>Under this bill, BBLLCs can use smart contracts to administer their assembly voting procedures.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Wyoming also passed a number of bills in 2019, giving companies the authority to trade digital assets using smart contracts.</a:t>
            </a:r>
          </a:p>
          <a:p>
            <a:pPr marL="0" indent="0" algn="just">
              <a:buNone/>
            </a:pPr>
            <a:r>
              <a:rPr lang="en-US" sz="2000" dirty="0" smtClean="0">
                <a:latin typeface="Garamond" pitchFamily="18" charset="0"/>
              </a:rPr>
              <a:t>Governments can take on a further regulatory role in smart contract platforms by intervening in the execution of contracts which go against the public interest.</a:t>
            </a:r>
          </a:p>
          <a:p>
            <a:pPr marL="0" indent="0" algn="just">
              <a:buNone/>
            </a:pPr>
            <a:r>
              <a:rPr lang="en-US" sz="2000" dirty="0" smtClean="0">
                <a:latin typeface="Garamond" pitchFamily="18" charset="0"/>
              </a:rPr>
              <a:t>For example, governments can put pressure on smart contract platforms to prevent financial crimes, like money laundering, even if it means stopping the automatic execution of the contract.</a:t>
            </a:r>
          </a:p>
          <a:p>
            <a:pPr marL="0" indent="0" algn="just">
              <a:buNone/>
            </a:pPr>
            <a:r>
              <a:rPr lang="en-US" sz="2000" dirty="0" smtClean="0">
                <a:latin typeface="Garamond" pitchFamily="18" charset="0"/>
              </a:rPr>
              <a:t>The world's lawmakers are attempting to regulate the platforms, preventing the parties involved in smart contracts from engaging in criminal activities.</a:t>
            </a:r>
          </a:p>
          <a:p>
            <a:pPr marL="0" indent="0" algn="just">
              <a:buNone/>
            </a:pPr>
            <a:r>
              <a:rPr lang="en-US" sz="2000" dirty="0" smtClean="0">
                <a:latin typeface="Garamond" pitchFamily="18" charset="0"/>
              </a:rPr>
              <a:t>An important and avant-garde example should also be noted for Europe and for Italy, which are committed to providing initial regulation with particular attention to the safety of the citizen - user and to the regularity of financial transactions.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Similar regulations were passed for platforms, rather than for its users, at the start of P2P file-sharing systems, in the event that irregular use results in widespread copyright infringement. A typical case is that of Napster, which since 2001 has become a legal file sharing payment service in P2P mode.</a:t>
            </a:r>
          </a:p>
          <a:p>
            <a:pPr marL="0" indent="0" algn="just">
              <a:buNone/>
            </a:pPr>
            <a:r>
              <a:rPr lang="en-US" sz="2000" dirty="0" smtClean="0">
                <a:latin typeface="Garamond" pitchFamily="18" charset="0"/>
              </a:rPr>
              <a:t>Governments can define how contracts should be written, supporting the creation of standard smart contract templates, which embody best practices.</a:t>
            </a:r>
          </a:p>
          <a:p>
            <a:pPr marL="0" indent="0" algn="just">
              <a:buNone/>
            </a:pPr>
            <a:r>
              <a:rPr lang="en-US" sz="2000" dirty="0" smtClean="0">
                <a:latin typeface="Garamond" pitchFamily="18" charset="0"/>
              </a:rPr>
              <a:t>A template refers to legal documents, electronically represented, and created by  a standard institution.</a:t>
            </a:r>
          </a:p>
          <a:p>
            <a:pPr marL="0" indent="0" algn="just">
              <a:buNone/>
            </a:pPr>
            <a:r>
              <a:rPr lang="en-US" sz="2000" dirty="0" smtClean="0">
                <a:latin typeface="Garamond" pitchFamily="18" charset="0"/>
              </a:rPr>
              <a:t>Some private organizations have begun to engage in the creation of smart contract templates for drafting legal documents.</a:t>
            </a:r>
          </a:p>
          <a:p>
            <a:pPr marL="0" indent="0" algn="just">
              <a:buNone/>
            </a:pPr>
            <a:r>
              <a:rPr lang="en-US" sz="2000" dirty="0" smtClean="0">
                <a:latin typeface="Garamond" pitchFamily="18" charset="0"/>
              </a:rPr>
              <a:t>Standard smart contract templates can be used to aid the writing of complex legal documents and the subsequent use of said documents.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Templates can also allow parties to avoid repeating the mistakes and pitfalls of previous smart contracts and draw on the experience of industry players.</a:t>
            </a:r>
          </a:p>
          <a:p>
            <a:pPr marL="0" indent="0" algn="just">
              <a:buNone/>
            </a:pPr>
            <a:r>
              <a:rPr lang="en-US" sz="2000" dirty="0" smtClean="0">
                <a:latin typeface="Garamond" pitchFamily="18" charset="0"/>
              </a:rPr>
              <a:t>Governments will be able to work in synergy with lawyers on the subsequent use of templates, in accordance with contracts and with counterparty negotiations.</a:t>
            </a:r>
          </a:p>
          <a:p>
            <a:pPr marL="0" indent="0" algn="just">
              <a:buNone/>
            </a:pPr>
            <a:r>
              <a:rPr lang="en-US" sz="2000" dirty="0" smtClean="0">
                <a:latin typeface="Garamond" pitchFamily="18" charset="0"/>
              </a:rPr>
              <a:t>Technically skilled lawyers and legal engineers will be instrumental in helping governments develop standard templates, create and institutionalize best practices, write smart leads, and check platforms for their compliance with the law.</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creation of new legal bases and templates will be necessary to increase the widespread adoption and implementation of smart contracts.</a:t>
            </a:r>
          </a:p>
          <a:p>
            <a:pPr marL="0" indent="0" algn="just">
              <a:buNone/>
            </a:pPr>
            <a:r>
              <a:rPr lang="en-US" sz="2000" dirty="0" smtClean="0">
                <a:latin typeface="Garamond" pitchFamily="18" charset="0"/>
              </a:rPr>
              <a:t>Contrarily, more disputes will arise from these contracts, if the contracting parties are not satisfied with the results of the automated systems, returning to rely more on the legal system to resolve disputes.</a:t>
            </a:r>
          </a:p>
          <a:p>
            <a:pPr marL="0" indent="0" algn="just">
              <a:buNone/>
            </a:pPr>
            <a:r>
              <a:rPr lang="en-US" sz="2000" dirty="0" smtClean="0">
                <a:latin typeface="Garamond" pitchFamily="18" charset="0"/>
              </a:rPr>
              <a:t>Both the smart contract infrastructure and the revised business law, which supports it and outlines its scope, will form the new contract law regime powered by smart contracts.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46</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501</TotalTime>
  <Words>4834</Words>
  <Application>Microsoft Office PowerPoint</Application>
  <PresentationFormat>Presentazione su schermo (4:3)</PresentationFormat>
  <Paragraphs>290</Paragraphs>
  <Slides>46</Slides>
  <Notes>0</Notes>
  <HiddenSlides>0</HiddenSlides>
  <MMClips>0</MMClips>
  <ScaleCrop>false</ScaleCrop>
  <HeadingPairs>
    <vt:vector size="4" baseType="variant">
      <vt:variant>
        <vt:lpstr>Tema</vt:lpstr>
      </vt:variant>
      <vt:variant>
        <vt:i4>1</vt:i4>
      </vt:variant>
      <vt:variant>
        <vt:lpstr>Titoli diapositive</vt:lpstr>
      </vt:variant>
      <vt:variant>
        <vt:i4>46</vt:i4>
      </vt:variant>
    </vt:vector>
  </HeadingPairs>
  <TitlesOfParts>
    <vt:vector size="47" baseType="lpstr">
      <vt:lpstr>Tema di Office</vt:lpstr>
      <vt:lpstr>LEZIONE N. 8</vt:lpstr>
      <vt:lpstr>ECONOMIC OVERVIEW OF TRANSACTION COSTS </vt:lpstr>
      <vt:lpstr>Diapositiva 3</vt:lpstr>
      <vt:lpstr>Diapositiva 4</vt:lpstr>
      <vt:lpstr>Diapositiva 5</vt:lpstr>
      <vt:lpstr>Diapositiva 6</vt:lpstr>
      <vt:lpstr>THE ROLE OF THE NEW INFORMATION TECHNOLOGY IN TCE ANALYSIS </vt:lpstr>
      <vt:lpstr>Diapositiva 8</vt:lpstr>
      <vt:lpstr>Diapositiva 9</vt:lpstr>
      <vt:lpstr>Diapositiva 10</vt:lpstr>
      <vt:lpstr>SMART CONTRACTS AS A NEW OPTION IN THE PUBLIC CONTRACT LAW REGIME </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CONSIDERATIONS FOR ADOPTING THE SMART CONTRACT CONCEPT </vt:lpstr>
      <vt:lpstr>Diapositiva 23</vt:lpstr>
      <vt:lpstr>Diapositiva 24</vt:lpstr>
      <vt:lpstr>Diapositiva 25</vt:lpstr>
      <vt:lpstr>Diapositiva 26</vt:lpstr>
      <vt:lpstr>Diapositiva 27</vt:lpstr>
      <vt:lpstr>POTENTIAL OPPORTUNITIES AND IMPLICATIONS FOR GOVERNMENT </vt:lpstr>
      <vt:lpstr>Diapositiva 29</vt:lpstr>
      <vt:lpstr>Diapositiva 30</vt:lpstr>
      <vt:lpstr>ALTERNATIVES TO THE CENTRAL POWER OF GOVERNMENT </vt:lpstr>
      <vt:lpstr>Diapositiva 32</vt:lpstr>
      <vt:lpstr>Diapositiva 33</vt:lpstr>
      <vt:lpstr>Diapositiva 34</vt:lpstr>
      <vt:lpstr>Diapositiva 35</vt:lpstr>
      <vt:lpstr>Diapositiva 36</vt:lpstr>
      <vt:lpstr>Diapositiva 37</vt:lpstr>
      <vt:lpstr>STATES AS ENABLERS </vt:lpstr>
      <vt:lpstr>Diapositiva 39</vt:lpstr>
      <vt:lpstr>Diapositiva 40</vt:lpstr>
      <vt:lpstr>Diapositiva 41</vt:lpstr>
      <vt:lpstr>Diapositiva 42</vt:lpstr>
      <vt:lpstr>Diapositiva 43</vt:lpstr>
      <vt:lpstr>Diapositiva 44</vt:lpstr>
      <vt:lpstr>Diapositiva 45</vt:lpstr>
      <vt:lpstr>Diapositiva 46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153</cp:revision>
  <dcterms:created xsi:type="dcterms:W3CDTF">2022-09-16T10:16:52Z</dcterms:created>
  <dcterms:modified xsi:type="dcterms:W3CDTF">2024-05-15T10:44:29Z</dcterms:modified>
</cp:coreProperties>
</file>