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86" r:id="rId3"/>
    <p:sldId id="258" r:id="rId4"/>
    <p:sldId id="281" r:id="rId5"/>
    <p:sldId id="259" r:id="rId6"/>
    <p:sldId id="260" r:id="rId7"/>
    <p:sldId id="261" r:id="rId8"/>
    <p:sldId id="262" r:id="rId9"/>
    <p:sldId id="282" r:id="rId10"/>
    <p:sldId id="263" r:id="rId11"/>
    <p:sldId id="264" r:id="rId12"/>
    <p:sldId id="265" r:id="rId13"/>
    <p:sldId id="266" r:id="rId14"/>
    <p:sldId id="267" r:id="rId15"/>
    <p:sldId id="268" r:id="rId16"/>
    <p:sldId id="269" r:id="rId17"/>
    <p:sldId id="283" r:id="rId18"/>
    <p:sldId id="270" r:id="rId19"/>
    <p:sldId id="271" r:id="rId20"/>
    <p:sldId id="272" r:id="rId21"/>
    <p:sldId id="273" r:id="rId22"/>
    <p:sldId id="274" r:id="rId23"/>
    <p:sldId id="275" r:id="rId24"/>
    <p:sldId id="276" r:id="rId25"/>
    <p:sldId id="277" r:id="rId26"/>
    <p:sldId id="278" r:id="rId27"/>
    <p:sldId id="284" r:id="rId28"/>
    <p:sldId id="279" r:id="rId29"/>
    <p:sldId id="285" r:id="rId30"/>
    <p:sldId id="280" r:id="rId31"/>
  </p:sldIdLst>
  <p:sldSz cx="9144000" cy="6858000" type="screen4x3"/>
  <p:notesSz cx="7099300" cy="10234613"/>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vl1pPr>
          </a:lstStyle>
          <a:p>
            <a:endParaRPr lang="it-IT"/>
          </a:p>
        </p:txBody>
      </p:sp>
      <p:sp>
        <p:nvSpPr>
          <p:cNvPr id="3" name="Segnaposto data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vl1pPr>
          </a:lstStyle>
          <a:p>
            <a:fld id="{9491AFDA-88C2-4AB8-8EC0-B1D4BE368FB2}" type="datetimeFigureOut">
              <a:rPr lang="it-IT" smtClean="0"/>
              <a:pPr/>
              <a:t>15/05/2024</a:t>
            </a:fld>
            <a:endParaRPr lang="it-IT"/>
          </a:p>
        </p:txBody>
      </p:sp>
      <p:sp>
        <p:nvSpPr>
          <p:cNvPr id="4" name="Segnaposto immagine diapositiva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endParaRPr lang="it-IT"/>
          </a:p>
        </p:txBody>
      </p:sp>
      <p:sp>
        <p:nvSpPr>
          <p:cNvPr id="5" name="Segnaposto note 4"/>
          <p:cNvSpPr>
            <a:spLocks noGrp="1"/>
          </p:cNvSpPr>
          <p:nvPr>
            <p:ph type="body" sz="quarter" idx="3"/>
          </p:nvPr>
        </p:nvSpPr>
        <p:spPr>
          <a:xfrm>
            <a:off x="709930" y="4861441"/>
            <a:ext cx="5679440" cy="4605576"/>
          </a:xfrm>
          <a:prstGeom prst="rect">
            <a:avLst/>
          </a:prstGeom>
        </p:spPr>
        <p:txBody>
          <a:bodyPr vert="horz" lIns="99048" tIns="49524" rIns="99048" bIns="49524"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vl1pPr>
          </a:lstStyle>
          <a:p>
            <a:endParaRPr lang="it-IT"/>
          </a:p>
        </p:txBody>
      </p:sp>
      <p:sp>
        <p:nvSpPr>
          <p:cNvPr id="7" name="Segnaposto numero diapositiva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vl1pPr>
          </a:lstStyle>
          <a:p>
            <a:fld id="{D0DEE60D-8EA2-41FB-87FE-853564753548}" type="slidenum">
              <a:rPr lang="it-IT" smtClean="0"/>
              <a:pPr/>
              <a:t>‹N›</a:t>
            </a:fld>
            <a:endParaRPr lang="it-IT"/>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A9B80EE5-B141-47C6-9EDD-D066570EBDEB}"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B14ABC03-7C10-4D35-A0FD-747468B4BABB}"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019E23A1-4105-4034-9DEC-9E077F7859B6}"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993F1A48-42CF-479F-A125-A366D76E4DC6}"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B9FF1CC1-BE9B-46FF-8DE3-8D5A39B8543A}" type="datetime1">
              <a:rPr lang="it-IT" smtClean="0"/>
              <a:pPr/>
              <a:t>15/05/2024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B50B928D-8BE9-4E65-9B54-273504E62AA0}" type="datetime1">
              <a:rPr lang="it-IT" smtClean="0"/>
              <a:pPr/>
              <a:t>15/05/2024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27AB15A6-C430-4ADF-B92F-C12ADD58EE2C}" type="datetime1">
              <a:rPr lang="it-IT" smtClean="0"/>
              <a:pPr/>
              <a:t>15/05/2024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8DA0F9C0-2463-4285-96E6-73732BF11F76}"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04810597-D32B-45AA-99E3-DB2A62A36B75}" type="datetime1">
              <a:rPr lang="it-IT" smtClean="0"/>
              <a:pPr/>
              <a:t>15/05/2024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C5E53CEE-DF30-4DA7-8123-C95E90BD8286}"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E8A0A7E2-E46A-469A-892D-AF02EEEC2AE2}" type="datetime1">
              <a:rPr lang="it-IT" smtClean="0"/>
              <a:pPr/>
              <a:t>15/05/2024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6A037524-BE4B-42AE-9CE2-18539AD13956}"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539182-790E-4B9B-BA06-8B77A047AD44}" type="datetime1">
              <a:rPr lang="it-IT" smtClean="0"/>
              <a:pPr/>
              <a:t>15/05/2024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037524-BE4B-42AE-9CE2-18539AD13956}"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785786" y="785794"/>
            <a:ext cx="7215238" cy="1000132"/>
          </a:xfrm>
        </p:spPr>
        <p:txBody>
          <a:bodyPr>
            <a:normAutofit/>
          </a:bodyPr>
          <a:lstStyle/>
          <a:p>
            <a:r>
              <a:rPr lang="it-IT" sz="2800" dirty="0" smtClean="0">
                <a:solidFill>
                  <a:srgbClr val="FF0000"/>
                </a:solidFill>
              </a:rPr>
              <a:t>LEZIONE N. 1</a:t>
            </a:r>
            <a:endParaRPr lang="it-IT" sz="2800" dirty="0">
              <a:solidFill>
                <a:srgbClr val="FF0000"/>
              </a:solidFill>
            </a:endParaRPr>
          </a:p>
        </p:txBody>
      </p:sp>
      <p:sp>
        <p:nvSpPr>
          <p:cNvPr id="3" name="Sottotitolo 2"/>
          <p:cNvSpPr>
            <a:spLocks noGrp="1"/>
          </p:cNvSpPr>
          <p:nvPr>
            <p:ph type="subTitle" idx="1"/>
          </p:nvPr>
        </p:nvSpPr>
        <p:spPr>
          <a:xfrm>
            <a:off x="285720" y="1714488"/>
            <a:ext cx="8215370" cy="4786346"/>
          </a:xfrm>
        </p:spPr>
        <p:txBody>
          <a:bodyPr>
            <a:normAutofit/>
          </a:bodyPr>
          <a:lstStyle/>
          <a:p>
            <a:pPr marL="0" lvl="1" algn="just">
              <a:lnSpc>
                <a:spcPct val="150000"/>
              </a:lnSpc>
              <a:buFont typeface="+mj-lt"/>
              <a:buAutoNum type="arabicPeriod"/>
            </a:pPr>
            <a:r>
              <a:rPr lang="it-IT" sz="1800" b="1" dirty="0" smtClean="0">
                <a:solidFill>
                  <a:schemeClr val="tx1"/>
                </a:solidFill>
                <a:latin typeface="Garamond" pitchFamily="18" charset="0"/>
              </a:rPr>
              <a:t> </a:t>
            </a:r>
            <a:r>
              <a:rPr lang="en-US" sz="1800" b="1" dirty="0" smtClean="0">
                <a:solidFill>
                  <a:schemeClr val="tx1"/>
                </a:solidFill>
                <a:latin typeface="Garamond" pitchFamily="18" charset="0"/>
              </a:rPr>
              <a:t>Blockchain for students around the world: the </a:t>
            </a:r>
            <a:r>
              <a:rPr lang="en-US" sz="1800" b="1" dirty="0" err="1" smtClean="0">
                <a:solidFill>
                  <a:schemeClr val="tx1"/>
                </a:solidFill>
                <a:latin typeface="Garamond" pitchFamily="18" charset="0"/>
              </a:rPr>
              <a:t>rbs</a:t>
            </a:r>
            <a:r>
              <a:rPr lang="en-US" sz="1800" b="1" dirty="0" smtClean="0">
                <a:solidFill>
                  <a:schemeClr val="tx1"/>
                </a:solidFill>
                <a:latin typeface="Garamond" pitchFamily="18" charset="0"/>
              </a:rPr>
              <a:t> hub blockchain example</a:t>
            </a:r>
          </a:p>
          <a:p>
            <a:pPr marL="0" lvl="1" algn="just">
              <a:lnSpc>
                <a:spcPct val="150000"/>
              </a:lnSpc>
              <a:buFont typeface="+mj-lt"/>
              <a:buAutoNum type="arabicPeriod"/>
            </a:pPr>
            <a:r>
              <a:rPr lang="en-US" sz="1800" b="1" dirty="0" smtClean="0">
                <a:solidFill>
                  <a:schemeClr val="tx1"/>
                </a:solidFill>
                <a:latin typeface="Garamond" pitchFamily="18" charset="0"/>
              </a:rPr>
              <a:t> Blockchain as "disruptive" innovation.  What is "disruptive" innovation?</a:t>
            </a:r>
          </a:p>
          <a:p>
            <a:pPr marL="0" lvl="1" algn="just">
              <a:lnSpc>
                <a:spcPct val="150000"/>
              </a:lnSpc>
              <a:buFont typeface="+mj-lt"/>
              <a:buAutoNum type="arabicPeriod"/>
            </a:pPr>
            <a:r>
              <a:rPr lang="en-US" sz="1800" b="1" dirty="0" smtClean="0">
                <a:solidFill>
                  <a:schemeClr val="tx1"/>
                </a:solidFill>
                <a:latin typeface="Garamond" pitchFamily="18" charset="0"/>
              </a:rPr>
              <a:t> The	objective	of the current lesson: what is a disruptive innovation?</a:t>
            </a:r>
          </a:p>
          <a:p>
            <a:pPr marL="0" lvl="1" algn="just">
              <a:lnSpc>
                <a:spcPct val="150000"/>
              </a:lnSpc>
              <a:buFont typeface="+mj-lt"/>
              <a:buAutoNum type="arabicPeriod"/>
            </a:pPr>
            <a:r>
              <a:rPr lang="en-US" sz="1800" b="1" dirty="0" smtClean="0">
                <a:solidFill>
                  <a:schemeClr val="tx1"/>
                </a:solidFill>
                <a:latin typeface="Garamond" pitchFamily="18" charset="0"/>
              </a:rPr>
              <a:t>The case: is </a:t>
            </a:r>
            <a:r>
              <a:rPr lang="en-US" sz="1800" b="1" dirty="0" err="1" smtClean="0">
                <a:solidFill>
                  <a:schemeClr val="tx1"/>
                </a:solidFill>
                <a:latin typeface="Garamond" pitchFamily="18" charset="0"/>
              </a:rPr>
              <a:t>uber</a:t>
            </a:r>
            <a:r>
              <a:rPr lang="en-US" sz="1800" b="1" dirty="0" smtClean="0">
                <a:solidFill>
                  <a:schemeClr val="tx1"/>
                </a:solidFill>
                <a:latin typeface="Garamond" pitchFamily="18" charset="0"/>
              </a:rPr>
              <a:t> a disruptive innovation?</a:t>
            </a:r>
          </a:p>
          <a:p>
            <a:pPr marL="0" lvl="1" algn="just">
              <a:lnSpc>
                <a:spcPct val="150000"/>
              </a:lnSpc>
              <a:buFont typeface="+mj-lt"/>
              <a:buAutoNum type="arabicPeriod"/>
            </a:pPr>
            <a:r>
              <a:rPr lang="en-US" sz="1800" b="1" dirty="0" smtClean="0">
                <a:solidFill>
                  <a:schemeClr val="tx1"/>
                </a:solidFill>
                <a:latin typeface="Garamond" pitchFamily="18" charset="0"/>
              </a:rPr>
              <a:t>Why asking the right question is important</a:t>
            </a:r>
          </a:p>
          <a:p>
            <a:pPr marL="0" lvl="1" algn="just">
              <a:lnSpc>
                <a:spcPct val="150000"/>
              </a:lnSpc>
              <a:buFont typeface="+mj-lt"/>
              <a:buAutoNum type="arabicPeriod"/>
            </a:pPr>
            <a:r>
              <a:rPr lang="en-US" sz="1800" b="1" dirty="0" smtClean="0">
                <a:solidFill>
                  <a:schemeClr val="tx1"/>
                </a:solidFill>
                <a:latin typeface="Garamond" pitchFamily="18" charset="0"/>
              </a:rPr>
              <a:t>Since disruption can take time,  </a:t>
            </a:r>
            <a:r>
              <a:rPr lang="en-US" sz="1800" b="1" dirty="0" err="1" smtClean="0">
                <a:solidFill>
                  <a:schemeClr val="tx1"/>
                </a:solidFill>
                <a:latin typeface="Garamond" pitchFamily="18" charset="0"/>
              </a:rPr>
              <a:t>incombents</a:t>
            </a:r>
            <a:r>
              <a:rPr lang="en-US" sz="1800" b="1" dirty="0" smtClean="0">
                <a:solidFill>
                  <a:schemeClr val="tx1"/>
                </a:solidFill>
                <a:latin typeface="Garamond" pitchFamily="18" charset="0"/>
              </a:rPr>
              <a:t> often overlook the “reformers.”</a:t>
            </a:r>
          </a:p>
          <a:p>
            <a:pPr marL="0" lvl="1" algn="just">
              <a:lnSpc>
                <a:spcPct val="150000"/>
              </a:lnSpc>
              <a:buFont typeface="+mj-lt"/>
              <a:buAutoNum type="arabicPeriod"/>
            </a:pPr>
            <a:r>
              <a:rPr lang="en-US" sz="1800" b="1" dirty="0" smtClean="0">
                <a:solidFill>
                  <a:schemeClr val="tx1"/>
                </a:solidFill>
                <a:latin typeface="Garamond" pitchFamily="18" charset="0"/>
              </a:rPr>
              <a:t>What an innovative “disruptive” lens can reveal</a:t>
            </a:r>
          </a:p>
          <a:p>
            <a:pPr marL="0" lvl="1" algn="just">
              <a:lnSpc>
                <a:spcPct val="150000"/>
              </a:lnSpc>
              <a:buFont typeface="+mj-lt"/>
              <a:buAutoNum type="arabicPeriod"/>
            </a:pPr>
            <a:r>
              <a:rPr lang="en-US" sz="1800" b="1" dirty="0" smtClean="0">
                <a:solidFill>
                  <a:schemeClr val="tx1"/>
                </a:solidFill>
                <a:latin typeface="Garamond" pitchFamily="18" charset="0"/>
              </a:rPr>
              <a:t>Final considerations: the provocateurs: intelligent innovators improve their products and increase the "height" of the market.</a:t>
            </a:r>
          </a:p>
          <a:p>
            <a:endParaRPr lang="it-IT" dirty="0"/>
          </a:p>
        </p:txBody>
      </p:sp>
      <p:sp>
        <p:nvSpPr>
          <p:cNvPr id="4" name="CasellaDiTesto 3"/>
          <p:cNvSpPr txBox="1"/>
          <p:nvPr/>
        </p:nvSpPr>
        <p:spPr>
          <a:xfrm>
            <a:off x="3000364" y="416462"/>
            <a:ext cx="3071834" cy="369332"/>
          </a:xfrm>
          <a:prstGeom prst="rect">
            <a:avLst/>
          </a:prstGeom>
          <a:noFill/>
        </p:spPr>
        <p:txBody>
          <a:bodyPr wrap="square" rtlCol="0">
            <a:spAutoFit/>
          </a:bodyPr>
          <a:lstStyle/>
          <a:p>
            <a:pPr algn="ctr"/>
            <a:r>
              <a:rPr lang="it-IT" b="1" dirty="0" smtClean="0">
                <a:latin typeface="Garamond" pitchFamily="18" charset="0"/>
              </a:rPr>
              <a:t>Prof. Maria </a:t>
            </a:r>
            <a:r>
              <a:rPr lang="it-IT" b="1" dirty="0" err="1" smtClean="0">
                <a:latin typeface="Garamond" pitchFamily="18" charset="0"/>
              </a:rPr>
              <a:t>Bruccoleri</a:t>
            </a:r>
            <a:r>
              <a:rPr lang="it-IT" b="1" dirty="0" smtClean="0">
                <a:latin typeface="Garamond" pitchFamily="18" charset="0"/>
              </a:rPr>
              <a:t> </a:t>
            </a:r>
            <a:endParaRPr lang="it-IT" b="1" dirty="0">
              <a:latin typeface="Garamond" pitchFamily="18" charset="0"/>
            </a:endParaRPr>
          </a:p>
        </p:txBody>
      </p:sp>
      <p:sp>
        <p:nvSpPr>
          <p:cNvPr id="5" name="Segnaposto numero diapositiva 4"/>
          <p:cNvSpPr>
            <a:spLocks noGrp="1"/>
          </p:cNvSpPr>
          <p:nvPr>
            <p:ph type="sldNum" sz="quarter" idx="12"/>
          </p:nvPr>
        </p:nvSpPr>
        <p:spPr/>
        <p:txBody>
          <a:bodyPr/>
          <a:lstStyle/>
          <a:p>
            <a:fld id="{6A037524-BE4B-42AE-9CE2-18539AD13956}" type="slidenum">
              <a:rPr lang="it-IT" smtClean="0"/>
              <a:pPr/>
              <a:t>1</a:t>
            </a:fld>
            <a:endParaRPr lang="it-IT"/>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en-US" sz="2200" b="1" dirty="0" smtClean="0">
                <a:solidFill>
                  <a:srgbClr val="FF0000"/>
                </a:solidFill>
                <a:latin typeface="Garamond" pitchFamily="18" charset="0"/>
              </a:rPr>
              <a:t>BLOCKCHAIN FOR STUDENTS AROUND THE WORLD: THE RBS HUB BLOCKCHAIN EXAMPLE</a:t>
            </a:r>
            <a:endParaRPr lang="it-IT" sz="2200" b="1" dirty="0">
              <a:solidFill>
                <a:srgbClr val="FF0000"/>
              </a:solidFill>
              <a:latin typeface="Garamond" pitchFamily="18" charset="0"/>
            </a:endParaRPr>
          </a:p>
        </p:txBody>
      </p:sp>
      <p:sp>
        <p:nvSpPr>
          <p:cNvPr id="3" name="Segnaposto contenuto 2"/>
          <p:cNvSpPr>
            <a:spLocks noGrp="1"/>
          </p:cNvSpPr>
          <p:nvPr>
            <p:ph idx="1"/>
          </p:nvPr>
        </p:nvSpPr>
        <p:spPr>
          <a:xfrm>
            <a:off x="214282" y="2000240"/>
            <a:ext cx="8715436" cy="3929090"/>
          </a:xfrm>
        </p:spPr>
        <p:txBody>
          <a:bodyPr>
            <a:normAutofit/>
          </a:bodyPr>
          <a:lstStyle/>
          <a:p>
            <a:pPr marL="0" indent="0" algn="just">
              <a:buNone/>
            </a:pPr>
            <a:r>
              <a:rPr lang="en-US" sz="2000" dirty="0">
                <a:latin typeface="Garamond" pitchFamily="18" charset="0"/>
              </a:rPr>
              <a:t>The Blockchain Education Network has chosen Rutgers Business School's Blockchain Hub as the "Best Chapter" among student groups from around the world.</a:t>
            </a:r>
            <a:endParaRPr lang="it-IT" sz="2000" dirty="0">
              <a:latin typeface="Garamond" pitchFamily="18" charset="0"/>
            </a:endParaRPr>
          </a:p>
          <a:p>
            <a:pPr marL="0" indent="0" algn="just">
              <a:buNone/>
            </a:pPr>
            <a:r>
              <a:rPr lang="en-US" sz="2000" dirty="0">
                <a:latin typeface="Garamond" pitchFamily="18" charset="0"/>
              </a:rPr>
              <a:t>The RBS Blockchain Hub, a student-run initiative dedicated to learning about the blockchain and its potential, received the Blockchain Education Network's first annual Outstanding Chapter of the Year award in 2020. The Rutgers Business School chapter was selected from student groups  from around the world.</a:t>
            </a:r>
            <a:endParaRPr lang="it-IT" sz="2000" dirty="0">
              <a:latin typeface="Garamond" pitchFamily="18" charset="0"/>
            </a:endParaRPr>
          </a:p>
          <a:p>
            <a:pPr marL="0" indent="0" algn="just">
              <a:buNone/>
            </a:pPr>
            <a:r>
              <a:rPr lang="en-US" sz="2000" dirty="0">
                <a:latin typeface="Garamond" pitchFamily="18" charset="0"/>
              </a:rPr>
              <a:t>"The leadership team of the RBS Blockchain Hub has shown exceptional commitment to blockchain education, to student engagement, and to general engagement throughout the 2020 academic year," said officials from the Blockchain Education Network (BEN) in a blog post announcing the winners.</a:t>
            </a:r>
            <a:endParaRPr lang="it-IT" sz="2000" dirty="0">
              <a:latin typeface="Garamond" pitchFamily="18" charset="0"/>
            </a:endParaRPr>
          </a:p>
          <a:p>
            <a:pPr>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a:t>
            </a:fld>
            <a:endParaRPr 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214282" y="1214422"/>
            <a:ext cx="8715436" cy="5214974"/>
          </a:xfrm>
        </p:spPr>
        <p:txBody>
          <a:bodyPr>
            <a:normAutofit/>
          </a:bodyPr>
          <a:lstStyle/>
          <a:p>
            <a:pPr marL="0" indent="0" algn="just">
              <a:buNone/>
            </a:pPr>
            <a:r>
              <a:rPr lang="en-US" sz="2600" dirty="0" smtClean="0">
                <a:latin typeface="Garamond" pitchFamily="18" charset="0"/>
              </a:rPr>
              <a:t>Prof</a:t>
            </a:r>
            <a:r>
              <a:rPr lang="en-US" sz="2600" dirty="0">
                <a:latin typeface="Garamond" pitchFamily="18" charset="0"/>
              </a:rPr>
              <a:t>. Buren and his student executive committee built the Blockchain Hub to provide Rutgers students interested in the blockchain with the opportunity to participate in workshops, meet guest speakers, apply their knowledge in "hack-a-thons,” and even travel to conferences to learn and to network.</a:t>
            </a:r>
            <a:endParaRPr lang="it-IT" sz="2600" dirty="0">
              <a:latin typeface="Garamond" pitchFamily="18" charset="0"/>
            </a:endParaRPr>
          </a:p>
          <a:p>
            <a:pPr marL="0" indent="0" algn="just">
              <a:buNone/>
            </a:pPr>
            <a:r>
              <a:rPr lang="en-US" sz="2600" dirty="0">
                <a:latin typeface="Garamond" pitchFamily="18" charset="0"/>
              </a:rPr>
              <a:t>"The facility," Buren said, "makes this experience much more rewarding for students," and is an example of how the blockchain should be presented to students.</a:t>
            </a:r>
            <a:endParaRPr lang="it-IT" sz="2600" dirty="0">
              <a:latin typeface="Garamond" pitchFamily="18" charset="0"/>
            </a:endParaRPr>
          </a:p>
          <a:p>
            <a:pPr>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a:t>
            </a:fld>
            <a:endParaRPr lang="it-IT"/>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214282" y="1214422"/>
            <a:ext cx="8715436" cy="5214974"/>
          </a:xfrm>
        </p:spPr>
        <p:txBody>
          <a:bodyPr>
            <a:normAutofit/>
          </a:bodyPr>
          <a:lstStyle/>
          <a:p>
            <a:pPr marL="0" indent="0" algn="just">
              <a:buNone/>
            </a:pPr>
            <a:r>
              <a:rPr lang="en-US" sz="2600" dirty="0" smtClean="0">
                <a:latin typeface="Garamond" pitchFamily="18" charset="0"/>
              </a:rPr>
              <a:t>But </a:t>
            </a:r>
            <a:r>
              <a:rPr lang="en-US" sz="2600" dirty="0">
                <a:latin typeface="Garamond" pitchFamily="18" charset="0"/>
              </a:rPr>
              <a:t>the RBS Blockchain Hub is not an isolated case. Other student organizations from all over the US and from around the world, have been recognized by BEN for their activities in 2020: Istanbul University (Outstanding New Chapter), Northwestern University (Outstanding Chapter Research), and Leeds University </a:t>
            </a:r>
            <a:r>
              <a:rPr lang="en-US" sz="2600" dirty="0" smtClean="0">
                <a:latin typeface="Garamond" pitchFamily="18" charset="0"/>
              </a:rPr>
              <a:t>Union</a:t>
            </a:r>
            <a:r>
              <a:rPr lang="it-IT" sz="2600" dirty="0" smtClean="0">
                <a:latin typeface="Garamond" pitchFamily="18" charset="0"/>
              </a:rPr>
              <a:t>. </a:t>
            </a:r>
            <a:r>
              <a:rPr lang="en-US" sz="2600" dirty="0">
                <a:latin typeface="Garamond" pitchFamily="18" charset="0"/>
              </a:rPr>
              <a:t> </a:t>
            </a:r>
            <a:endParaRPr lang="it-IT" sz="2600" dirty="0">
              <a:latin typeface="Garamond" pitchFamily="18" charset="0"/>
            </a:endParaRPr>
          </a:p>
          <a:p>
            <a:pPr marL="0" indent="0" algn="just">
              <a:buNone/>
            </a:pPr>
            <a:r>
              <a:rPr lang="en-US" sz="2600" dirty="0" err="1">
                <a:latin typeface="Garamond" pitchFamily="18" charset="0"/>
              </a:rPr>
              <a:t>Cryptocurrency</a:t>
            </a:r>
            <a:r>
              <a:rPr lang="en-US" sz="2600" dirty="0">
                <a:latin typeface="Garamond" pitchFamily="18" charset="0"/>
              </a:rPr>
              <a:t> &amp; Blockchain Society (Outstanding Chapter of Digital Presence) are some excellent examples.</a:t>
            </a:r>
            <a:endParaRPr lang="it-IT" sz="2600" dirty="0">
              <a:latin typeface="Garamond" pitchFamily="18" charset="0"/>
            </a:endParaRPr>
          </a:p>
          <a:p>
            <a:pPr marL="0" indent="0" algn="just">
              <a:buNone/>
            </a:pPr>
            <a:r>
              <a:rPr lang="en-US" sz="2600" dirty="0">
                <a:latin typeface="Garamond" pitchFamily="18" charset="0"/>
              </a:rPr>
              <a:t>And this is just the beginning. . . .</a:t>
            </a:r>
            <a:endParaRPr lang="it-IT" sz="2600" dirty="0">
              <a:latin typeface="Garamond" pitchFamily="18" charset="0"/>
            </a:endParaRPr>
          </a:p>
          <a:p>
            <a:pPr>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4</a:t>
            </a:fld>
            <a:endParaRPr lang="it-IT"/>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214282" y="285728"/>
            <a:ext cx="8715436" cy="6143668"/>
          </a:xfrm>
        </p:spPr>
        <p:txBody>
          <a:bodyPr>
            <a:normAutofit/>
          </a:bodyPr>
          <a:lstStyle/>
          <a:p>
            <a:pPr lvl="1" algn="ctr">
              <a:buNone/>
            </a:pPr>
            <a:r>
              <a:rPr lang="en-US" sz="2200" b="1" dirty="0">
                <a:solidFill>
                  <a:srgbClr val="FF0000"/>
                </a:solidFill>
                <a:latin typeface="Garamond" pitchFamily="18" charset="0"/>
              </a:rPr>
              <a:t>BLOCKCHAIN AS "DISRUPTIVE" INNOVATION.  WHAT IS "DISRUPTIVE" INNOVATION?</a:t>
            </a:r>
            <a:endParaRPr lang="it-IT" sz="2200" b="1" dirty="0">
              <a:solidFill>
                <a:srgbClr val="FF0000"/>
              </a:solidFill>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a:t>
            </a:r>
            <a:r>
              <a:rPr lang="en-US" sz="2000" dirty="0">
                <a:latin typeface="Garamond" pitchFamily="18" charset="0"/>
              </a:rPr>
              <a:t>theory of “disruptive” innovation, introduced in 1995, has proven to be a powerful way of thinking about innovation-driven growth. Many small business leaders praise it as their guiding star, and so do many executives from large, established organizations, including Intel, Southern New Hampshire University, Salesforce.com, and more.</a:t>
            </a:r>
            <a:endParaRPr lang="it-IT" sz="2000" dirty="0">
              <a:latin typeface="Garamond" pitchFamily="18" charset="0"/>
            </a:endParaRPr>
          </a:p>
          <a:p>
            <a:pPr marL="0" indent="0" algn="just">
              <a:buNone/>
            </a:pPr>
            <a:r>
              <a:rPr lang="en-US" sz="2000" dirty="0">
                <a:latin typeface="Garamond" pitchFamily="18" charset="0"/>
              </a:rPr>
              <a:t>Unfortunately, the "theory of rupture" risks becoming a victim of its own success. Despite its widespread diffusion, the basic concepts of the theory have been widely misunderstood and its basic principles often misapplied. Furthermore, the essential refinements of the theory over the past 20 years appear to have been overshadowed by the popularity of the initial formulation.  As a result, the theory is sometimes criticized for shortcomings that have already been addressed and resolved.</a:t>
            </a:r>
            <a:endParaRPr lang="it-IT" sz="2000" dirty="0">
              <a:latin typeface="Garamond" pitchFamily="18" charset="0"/>
            </a:endParaRPr>
          </a:p>
          <a:p>
            <a:pPr>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5</a:t>
            </a:fld>
            <a:endParaRPr lang="it-IT"/>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214282" y="1357298"/>
            <a:ext cx="8715436" cy="4929222"/>
          </a:xfrm>
        </p:spPr>
        <p:txBody>
          <a:bodyPr>
            <a:normAutofit fontScale="92500" lnSpcReduction="10000"/>
          </a:bodyPr>
          <a:lstStyle/>
          <a:p>
            <a:pPr marL="0" indent="0" algn="just">
              <a:buNone/>
            </a:pPr>
            <a:r>
              <a:rPr lang="en-US" sz="2000" dirty="0">
                <a:latin typeface="Garamond" pitchFamily="18" charset="0"/>
              </a:rPr>
              <a:t>There is, however, another concern: in common experience, too many people who talk about "disruption" have not read a serious book or article on the subject. Too often, they use the term loosely to invoke the concept of innovation in support of just about anything.</a:t>
            </a:r>
            <a:endParaRPr lang="it-IT" sz="2000" dirty="0">
              <a:latin typeface="Garamond" pitchFamily="18" charset="0"/>
            </a:endParaRPr>
          </a:p>
          <a:p>
            <a:pPr marL="0" indent="0" algn="just">
              <a:buNone/>
            </a:pPr>
            <a:r>
              <a:rPr lang="en-US" sz="2000" dirty="0">
                <a:latin typeface="Garamond" pitchFamily="18" charset="0"/>
              </a:rPr>
              <a:t>Many researchers, writers, and consultants use the term "disruptive innovation" to describe any situation where an industry is shaken and successful incumbents stumble. This is, however, too broad a use of the concept.</a:t>
            </a:r>
            <a:endParaRPr lang="it-IT" sz="2000" dirty="0">
              <a:latin typeface="Garamond" pitchFamily="18" charset="0"/>
            </a:endParaRPr>
          </a:p>
          <a:p>
            <a:pPr marL="0" indent="0" algn="just">
              <a:buNone/>
            </a:pPr>
            <a:r>
              <a:rPr lang="en-US" sz="2000" dirty="0">
                <a:latin typeface="Garamond" pitchFamily="18" charset="0"/>
              </a:rPr>
              <a:t>The problem with confusing disruptive innovation with any breakthrough that changes the competitive patterns of an industry is that different types of innovation require different strategic approaches</a:t>
            </a:r>
            <a:r>
              <a:rPr lang="en-US" sz="2000" dirty="0" smtClean="0">
                <a:latin typeface="Garamond" pitchFamily="18" charset="0"/>
              </a:rPr>
              <a:t>.</a:t>
            </a:r>
            <a:endParaRPr lang="it-IT" sz="2000" dirty="0">
              <a:latin typeface="Garamond" pitchFamily="18" charset="0"/>
            </a:endParaRPr>
          </a:p>
          <a:p>
            <a:pPr marL="0" indent="0" algn="just">
              <a:buNone/>
            </a:pPr>
            <a:r>
              <a:rPr lang="en-US" sz="2000" dirty="0">
                <a:latin typeface="Garamond" pitchFamily="18" charset="0"/>
              </a:rPr>
              <a:t>To put it another way, the lessons that have been learned about the success of disruptive innovators (or defense against disruptive challengers) will not apply to all companies in an evolving market</a:t>
            </a:r>
            <a:r>
              <a:rPr lang="en-US" dirty="0"/>
              <a:t>.</a:t>
            </a:r>
            <a:endParaRPr lang="it-IT" dirty="0"/>
          </a:p>
          <a:p>
            <a:pPr>
              <a:buNone/>
            </a:pPr>
            <a:r>
              <a:rPr lang="en-US" dirty="0"/>
              <a:t/>
            </a:r>
            <a:br>
              <a:rPr lang="en-US" dirty="0"/>
            </a:b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6</a:t>
            </a:fld>
            <a:endParaRPr lang="it-IT"/>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1" algn="ctr" rtl="0">
              <a:spcBef>
                <a:spcPct val="0"/>
              </a:spcBef>
            </a:pPr>
            <a:r>
              <a:rPr lang="en-US" sz="2200" b="1" dirty="0">
                <a:solidFill>
                  <a:srgbClr val="FF0000"/>
                </a:solidFill>
                <a:latin typeface="Garamond" pitchFamily="18" charset="0"/>
              </a:rPr>
              <a:t>THE</a:t>
            </a:r>
            <a:r>
              <a:rPr lang="en-US" sz="2200" dirty="0">
                <a:solidFill>
                  <a:srgbClr val="FF0000"/>
                </a:solidFill>
                <a:latin typeface="Garamond" pitchFamily="18" charset="0"/>
              </a:rPr>
              <a:t>	</a:t>
            </a:r>
            <a:r>
              <a:rPr lang="en-US" sz="2200" b="1" dirty="0">
                <a:solidFill>
                  <a:srgbClr val="FF0000"/>
                </a:solidFill>
                <a:latin typeface="Garamond" pitchFamily="18" charset="0"/>
              </a:rPr>
              <a:t>OBJECTIVE</a:t>
            </a:r>
            <a:r>
              <a:rPr lang="en-US" sz="2200" dirty="0">
                <a:solidFill>
                  <a:srgbClr val="FF0000"/>
                </a:solidFill>
                <a:latin typeface="Garamond" pitchFamily="18" charset="0"/>
              </a:rPr>
              <a:t>	</a:t>
            </a:r>
            <a:r>
              <a:rPr lang="en-US" sz="2200" b="1" dirty="0">
                <a:solidFill>
                  <a:srgbClr val="FF0000"/>
                </a:solidFill>
                <a:latin typeface="Garamond" pitchFamily="18" charset="0"/>
              </a:rPr>
              <a:t>OF</a:t>
            </a:r>
            <a:r>
              <a:rPr lang="en-US" sz="2200" dirty="0">
                <a:solidFill>
                  <a:srgbClr val="FF0000"/>
                </a:solidFill>
                <a:latin typeface="Garamond" pitchFamily="18" charset="0"/>
              </a:rPr>
              <a:t>	</a:t>
            </a:r>
            <a:r>
              <a:rPr lang="en-US" sz="2200" b="1" dirty="0">
                <a:solidFill>
                  <a:srgbClr val="FF0000"/>
                </a:solidFill>
                <a:latin typeface="Garamond" pitchFamily="18" charset="0"/>
              </a:rPr>
              <a:t>THE</a:t>
            </a:r>
            <a:r>
              <a:rPr lang="en-US" sz="2200" dirty="0">
                <a:solidFill>
                  <a:srgbClr val="FF0000"/>
                </a:solidFill>
                <a:latin typeface="Garamond" pitchFamily="18" charset="0"/>
              </a:rPr>
              <a:t>	</a:t>
            </a:r>
            <a:r>
              <a:rPr lang="en-US" sz="2200" b="1" dirty="0">
                <a:solidFill>
                  <a:srgbClr val="FF0000"/>
                </a:solidFill>
                <a:latin typeface="Garamond" pitchFamily="18" charset="0"/>
              </a:rPr>
              <a:t>CURRENT</a:t>
            </a:r>
            <a:r>
              <a:rPr lang="en-US" sz="2200" dirty="0">
                <a:solidFill>
                  <a:srgbClr val="FF0000"/>
                </a:solidFill>
                <a:latin typeface="Garamond" pitchFamily="18" charset="0"/>
              </a:rPr>
              <a:t>	</a:t>
            </a:r>
            <a:r>
              <a:rPr lang="en-US" sz="2200" b="1" dirty="0">
                <a:solidFill>
                  <a:srgbClr val="FF0000"/>
                </a:solidFill>
                <a:latin typeface="Garamond" pitchFamily="18" charset="0"/>
              </a:rPr>
              <a:t>LESSON: WHAT IS A DISRUPTIVE INNOVATION?</a:t>
            </a:r>
            <a:r>
              <a:rPr lang="it-IT" b="1" dirty="0"/>
              <a:t/>
            </a:r>
            <a:br>
              <a:rPr lang="it-IT" b="1" dirty="0"/>
            </a:br>
            <a:endParaRPr lang="it-IT" dirty="0"/>
          </a:p>
        </p:txBody>
      </p:sp>
      <p:sp>
        <p:nvSpPr>
          <p:cNvPr id="3" name="Segnaposto contenuto 2"/>
          <p:cNvSpPr>
            <a:spLocks noGrp="1"/>
          </p:cNvSpPr>
          <p:nvPr>
            <p:ph idx="1"/>
          </p:nvPr>
        </p:nvSpPr>
        <p:spPr/>
        <p:txBody>
          <a:bodyPr>
            <a:normAutofit fontScale="55000" lnSpcReduction="20000"/>
          </a:bodyPr>
          <a:lstStyle/>
          <a:p>
            <a:pPr marL="0" indent="0" algn="just">
              <a:buNone/>
            </a:pPr>
            <a:r>
              <a:rPr lang="en-US" sz="4200" dirty="0">
                <a:latin typeface="Garamond" pitchFamily="18" charset="0"/>
              </a:rPr>
              <a:t>One may start exploring the basic principles of disruptive innovation by examining whether they apply to the well-known transportation start-up, </a:t>
            </a:r>
            <a:r>
              <a:rPr lang="en-US" sz="4200" dirty="0" err="1">
                <a:latin typeface="Garamond" pitchFamily="18" charset="0"/>
              </a:rPr>
              <a:t>Uber</a:t>
            </a:r>
            <a:r>
              <a:rPr lang="en-US" sz="4200" dirty="0">
                <a:latin typeface="Garamond" pitchFamily="18" charset="0"/>
              </a:rPr>
              <a:t>.</a:t>
            </a:r>
            <a:endParaRPr lang="it-IT" sz="4200" dirty="0">
              <a:latin typeface="Garamond" pitchFamily="18" charset="0"/>
            </a:endParaRPr>
          </a:p>
          <a:p>
            <a:pPr marL="0" indent="0" algn="just">
              <a:buNone/>
            </a:pPr>
            <a:r>
              <a:rPr lang="en-US" sz="4200" dirty="0">
                <a:latin typeface="Garamond" pitchFamily="18" charset="0"/>
              </a:rPr>
              <a:t>From there, it will be possible to identify and thus avoid common pitfalls that interfere with applying   the theory. </a:t>
            </a:r>
            <a:endParaRPr lang="it-IT" sz="4200" dirty="0">
              <a:latin typeface="Garamond" pitchFamily="18" charset="0"/>
            </a:endParaRPr>
          </a:p>
          <a:p>
            <a:pPr marL="0" indent="0" algn="just">
              <a:buNone/>
            </a:pPr>
            <a:r>
              <a:rPr lang="en-US" sz="4200" dirty="0">
                <a:latin typeface="Garamond" pitchFamily="18" charset="0"/>
              </a:rPr>
              <a:t>Identifying decisive moments in the evolution of our thinking will help us predict which activities are destined to develop and grow.  First, however, we need to discuss of the idea of "disruption." As a process, disruption describes how smaller companies with fewer resources are able to successfully challenge established businesses.</a:t>
            </a:r>
            <a:endParaRPr lang="it-IT" sz="4200" dirty="0">
              <a:latin typeface="Garamond" pitchFamily="18" charset="0"/>
            </a:endParaRPr>
          </a:p>
          <a:p>
            <a:pPr marL="0" indent="0" algn="just">
              <a:buNone/>
            </a:pPr>
            <a:r>
              <a:rPr lang="en-US" sz="4200" dirty="0">
                <a:latin typeface="Garamond" pitchFamily="18" charset="0"/>
              </a:rPr>
              <a:t>In particular, as incumbents focus on improving their products and services for the most demanding (and usually more profitable) customers, they exceed the needs of some consumer segments, ignoring the needs of others.</a:t>
            </a:r>
            <a:endParaRPr lang="it-IT" sz="4200" dirty="0">
              <a:latin typeface="Garamond" pitchFamily="18" charset="0"/>
            </a:endParaRPr>
          </a:p>
          <a:p>
            <a:pPr marL="0" indent="0" algn="just">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7</a:t>
            </a:fld>
            <a:endParaRPr lang="it-IT"/>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1" algn="ctr" rtl="0">
              <a:spcBef>
                <a:spcPct val="0"/>
              </a:spcBef>
            </a:pPr>
            <a:endParaRPr lang="it-IT" dirty="0"/>
          </a:p>
        </p:txBody>
      </p:sp>
      <p:sp>
        <p:nvSpPr>
          <p:cNvPr id="3" name="Segnaposto contenuto 2"/>
          <p:cNvSpPr>
            <a:spLocks noGrp="1"/>
          </p:cNvSpPr>
          <p:nvPr>
            <p:ph idx="1"/>
          </p:nvPr>
        </p:nvSpPr>
        <p:spPr/>
        <p:txBody>
          <a:bodyPr>
            <a:normAutofit fontScale="62500" lnSpcReduction="20000"/>
          </a:bodyPr>
          <a:lstStyle/>
          <a:p>
            <a:pPr marL="0" indent="0" algn="just">
              <a:buNone/>
            </a:pPr>
            <a:r>
              <a:rPr lang="en-US" sz="4200" dirty="0" smtClean="0">
                <a:latin typeface="Garamond" pitchFamily="18" charset="0"/>
              </a:rPr>
              <a:t>Participants </a:t>
            </a:r>
            <a:r>
              <a:rPr lang="en-US" sz="4200" dirty="0">
                <a:latin typeface="Garamond" pitchFamily="18" charset="0"/>
              </a:rPr>
              <a:t>who prove “disruptive” begin by successfully targeting those neglected segments, gaining a foothold, and then offering more suitable features,   often at a lower price.</a:t>
            </a:r>
            <a:endParaRPr lang="it-IT" sz="4200" dirty="0">
              <a:latin typeface="Garamond" pitchFamily="18" charset="0"/>
            </a:endParaRPr>
          </a:p>
          <a:p>
            <a:pPr marL="0" indent="0" algn="just">
              <a:buNone/>
            </a:pPr>
            <a:r>
              <a:rPr lang="en-US" sz="4200" dirty="0">
                <a:latin typeface="Garamond" pitchFamily="18" charset="0"/>
              </a:rPr>
              <a:t>Incumbents, looking for higher profitability in the most demanding segments, tend not to respond vigorously to these small challenges. The “new” participants then move upward, satisfying the demands of the traditional customers, while preserving the benefits that led to their initial success.</a:t>
            </a:r>
            <a:endParaRPr lang="it-IT" sz="4200" dirty="0">
              <a:latin typeface="Garamond" pitchFamily="18" charset="0"/>
            </a:endParaRPr>
          </a:p>
          <a:p>
            <a:pPr marL="0" indent="0" algn="just">
              <a:buNone/>
            </a:pPr>
            <a:r>
              <a:rPr lang="en-US" sz="4200" dirty="0">
                <a:latin typeface="Garamond" pitchFamily="18" charset="0"/>
              </a:rPr>
              <a:t>When traditional customers start adopting offers from the new participants in large numbers, there is a disruptive interruption of the old    channels and real "disruption" comes to life.</a:t>
            </a:r>
            <a:endParaRPr lang="it-IT" sz="4200" dirty="0">
              <a:latin typeface="Garamond" pitchFamily="18" charset="0"/>
            </a:endParaRPr>
          </a:p>
          <a:p>
            <a:pPr marL="0" indent="0" algn="just">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8</a:t>
            </a:fld>
            <a:endParaRPr lang="it-IT"/>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r>
              <a:rPr lang="en-US" sz="2200" b="1" dirty="0">
                <a:solidFill>
                  <a:srgbClr val="FF0000"/>
                </a:solidFill>
                <a:latin typeface="Garamond" pitchFamily="18" charset="0"/>
              </a:rPr>
              <a:t>THE CASE: IS UBER A DISRUPTIVE INNOVATION?</a:t>
            </a:r>
            <a:r>
              <a:rPr lang="it-IT" sz="2200" b="1" dirty="0">
                <a:solidFill>
                  <a:srgbClr val="FF0000"/>
                </a:solidFill>
                <a:latin typeface="Garamond" pitchFamily="18" charset="0"/>
              </a:rPr>
              <a:t/>
            </a:r>
            <a:br>
              <a:rPr lang="it-IT" sz="2200" b="1" dirty="0">
                <a:solidFill>
                  <a:srgbClr val="FF0000"/>
                </a:solidFill>
                <a:latin typeface="Garamond" pitchFamily="18" charset="0"/>
              </a:rPr>
            </a:br>
            <a:endParaRPr lang="it-IT" sz="2200" dirty="0">
              <a:solidFill>
                <a:srgbClr val="FF0000"/>
              </a:solidFill>
              <a:latin typeface="Garamond" pitchFamily="18" charset="0"/>
            </a:endParaRPr>
          </a:p>
        </p:txBody>
      </p:sp>
      <p:sp>
        <p:nvSpPr>
          <p:cNvPr id="3" name="Segnaposto contenuto 2"/>
          <p:cNvSpPr>
            <a:spLocks noGrp="1"/>
          </p:cNvSpPr>
          <p:nvPr>
            <p:ph idx="1"/>
          </p:nvPr>
        </p:nvSpPr>
        <p:spPr>
          <a:xfrm>
            <a:off x="457200" y="1428736"/>
            <a:ext cx="8229600" cy="4697427"/>
          </a:xfrm>
        </p:spPr>
        <p:txBody>
          <a:bodyPr>
            <a:normAutofit/>
          </a:bodyPr>
          <a:lstStyle/>
          <a:p>
            <a:pPr marL="0" indent="0" algn="just">
              <a:buNone/>
            </a:pPr>
            <a:r>
              <a:rPr lang="en-US" sz="2400" dirty="0">
                <a:latin typeface="Garamond" pitchFamily="18" charset="0"/>
              </a:rPr>
              <a:t>Consider the case of </a:t>
            </a:r>
            <a:r>
              <a:rPr lang="en-US" sz="2400" dirty="0" err="1">
                <a:latin typeface="Garamond" pitchFamily="18" charset="0"/>
              </a:rPr>
              <a:t>Uber</a:t>
            </a:r>
            <a:r>
              <a:rPr lang="en-US" sz="2400" dirty="0">
                <a:latin typeface="Garamond" pitchFamily="18" charset="0"/>
              </a:rPr>
              <a:t>, the much-celebrated transportation company, whose mobile application connects consumers in need of rides with drivers willing to provide them.</a:t>
            </a:r>
            <a:endParaRPr lang="it-IT" sz="2400" dirty="0">
              <a:latin typeface="Garamond" pitchFamily="18" charset="0"/>
            </a:endParaRPr>
          </a:p>
          <a:p>
            <a:pPr marL="0" indent="0" algn="just">
              <a:buNone/>
            </a:pPr>
            <a:r>
              <a:rPr lang="en-US" sz="2400" dirty="0">
                <a:latin typeface="Garamond" pitchFamily="18" charset="0"/>
              </a:rPr>
              <a:t>Founded in 2009, the company has enjoyed fantastic growth: it operates in hundreds of cities in 60 countries around the world and is still expanding. It has been a huge financial success; the latest funding round indicates a business value of approximately $50 billion. </a:t>
            </a:r>
            <a:endParaRPr lang="it-IT" sz="2400"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9</a:t>
            </a:fld>
            <a:endParaRPr lang="it-IT"/>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200" dirty="0">
              <a:solidFill>
                <a:srgbClr val="FF0000"/>
              </a:solidFill>
              <a:latin typeface="Garamond" pitchFamily="18" charset="0"/>
            </a:endParaRPr>
          </a:p>
        </p:txBody>
      </p:sp>
      <p:sp>
        <p:nvSpPr>
          <p:cNvPr id="3" name="Segnaposto contenuto 2"/>
          <p:cNvSpPr>
            <a:spLocks noGrp="1"/>
          </p:cNvSpPr>
          <p:nvPr>
            <p:ph idx="1"/>
          </p:nvPr>
        </p:nvSpPr>
        <p:spPr>
          <a:xfrm>
            <a:off x="457200" y="1428736"/>
            <a:ext cx="8229600" cy="4697427"/>
          </a:xfrm>
        </p:spPr>
        <p:txBody>
          <a:bodyPr>
            <a:normAutofit/>
          </a:bodyPr>
          <a:lstStyle/>
          <a:p>
            <a:pPr marL="0" indent="0" algn="just">
              <a:buNone/>
            </a:pPr>
            <a:r>
              <a:rPr lang="en-US" sz="2600" dirty="0" err="1" smtClean="0">
                <a:latin typeface="Garamond" pitchFamily="18" charset="0"/>
              </a:rPr>
              <a:t>Uber</a:t>
            </a:r>
            <a:r>
              <a:rPr lang="en-US" sz="2600" dirty="0" smtClean="0">
                <a:latin typeface="Garamond" pitchFamily="18" charset="0"/>
              </a:rPr>
              <a:t> </a:t>
            </a:r>
            <a:r>
              <a:rPr lang="en-US" sz="2600" dirty="0">
                <a:latin typeface="Garamond" pitchFamily="18" charset="0"/>
              </a:rPr>
              <a:t>has spawned a slew of imitators with other startups trying to emulate its "market-making" business model. </a:t>
            </a:r>
            <a:r>
              <a:rPr lang="en-US" sz="2600" dirty="0" err="1">
                <a:latin typeface="Garamond" pitchFamily="18" charset="0"/>
              </a:rPr>
              <a:t>Uber</a:t>
            </a:r>
            <a:r>
              <a:rPr lang="en-US" sz="2600" dirty="0">
                <a:latin typeface="Garamond" pitchFamily="18" charset="0"/>
              </a:rPr>
              <a:t> has clearly transformed the taxi business both in the United States and around the world. But is it interrupting the taxi business to the point of being considered a “disruptive” innovation?</a:t>
            </a:r>
            <a:endParaRPr lang="it-IT" sz="2600" dirty="0">
              <a:latin typeface="Garamond" pitchFamily="18" charset="0"/>
            </a:endParaRPr>
          </a:p>
          <a:p>
            <a:pPr marL="0" indent="0" algn="just">
              <a:buNone/>
            </a:pPr>
            <a:r>
              <a:rPr lang="en-US" sz="2600" dirty="0">
                <a:latin typeface="Garamond" pitchFamily="18" charset="0"/>
              </a:rPr>
              <a:t>According to the theory, the answer is no. </a:t>
            </a:r>
            <a:r>
              <a:rPr lang="en-US" sz="2600" dirty="0" err="1">
                <a:latin typeface="Garamond" pitchFamily="18" charset="0"/>
              </a:rPr>
              <a:t>Uber's</a:t>
            </a:r>
            <a:r>
              <a:rPr lang="en-US" sz="2600" dirty="0">
                <a:latin typeface="Garamond" pitchFamily="18" charset="0"/>
              </a:rPr>
              <a:t> financial and strategic position do not qualify the company as truly “disruptive,” although the company is almost always described as such.</a:t>
            </a:r>
            <a:endParaRPr lang="it-IT" sz="2600" dirty="0">
              <a:latin typeface="Garamond" pitchFamily="18" charset="0"/>
            </a:endParaRPr>
          </a:p>
          <a:p>
            <a:pPr marL="0" indent="0" algn="just">
              <a:buNone/>
            </a:pPr>
            <a:r>
              <a:rPr lang="en-US" sz="2600" dirty="0">
                <a:latin typeface="Garamond" pitchFamily="18" charset="0"/>
              </a:rPr>
              <a:t>Here are two reasons why the label does not fit.</a:t>
            </a:r>
            <a:endParaRPr lang="it-IT" sz="2600" dirty="0">
              <a:latin typeface="Garamond" pitchFamily="18" charset="0"/>
            </a:endParaRPr>
          </a:p>
          <a:p>
            <a:pPr marL="0" indent="0" algn="just">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10</a:t>
            </a:fld>
            <a:endParaRPr lang="it-IT"/>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endParaRPr lang="it-IT"/>
          </a:p>
        </p:txBody>
      </p:sp>
      <p:sp>
        <p:nvSpPr>
          <p:cNvPr id="3" name="Segnaposto contenuto 2"/>
          <p:cNvSpPr>
            <a:spLocks noGrp="1"/>
          </p:cNvSpPr>
          <p:nvPr>
            <p:ph idx="1"/>
          </p:nvPr>
        </p:nvSpPr>
        <p:spPr/>
        <p:txBody>
          <a:bodyPr>
            <a:normAutofit fontScale="77500" lnSpcReduction="20000"/>
          </a:bodyPr>
          <a:lstStyle/>
          <a:p>
            <a:pPr marL="0" lvl="0" indent="0" algn="just">
              <a:buNone/>
            </a:pPr>
            <a:r>
              <a:rPr lang="en-US" dirty="0">
                <a:latin typeface="Garamond" pitchFamily="18" charset="0"/>
              </a:rPr>
              <a:t>Disruptive innovations originate in low-end or new market footholds.</a:t>
            </a:r>
            <a:endParaRPr lang="it-IT" dirty="0">
              <a:latin typeface="Garamond" pitchFamily="18" charset="0"/>
            </a:endParaRPr>
          </a:p>
          <a:p>
            <a:pPr marL="0" lvl="0" indent="0" algn="just">
              <a:buNone/>
            </a:pPr>
            <a:r>
              <a:rPr lang="en-US" dirty="0">
                <a:latin typeface="Garamond" pitchFamily="18" charset="0"/>
              </a:rPr>
              <a:t>Disruptive innovations are possible because they are launched in two types of markets, including one where incumbents are active.</a:t>
            </a:r>
            <a:endParaRPr lang="it-IT" dirty="0">
              <a:latin typeface="Garamond" pitchFamily="18" charset="0"/>
            </a:endParaRPr>
          </a:p>
          <a:p>
            <a:pPr marL="0" indent="0" algn="just">
              <a:buNone/>
            </a:pPr>
            <a:r>
              <a:rPr lang="en-US" dirty="0">
                <a:latin typeface="Garamond" pitchFamily="18" charset="0"/>
              </a:rPr>
              <a:t>There are low-end footholds when incumbents typically seek to provide the most profitable and demanding customers with continuously improving products and services while paying less attention to less demanding customers. </a:t>
            </a:r>
            <a:endParaRPr lang="it-IT" dirty="0">
              <a:latin typeface="Garamond" pitchFamily="18" charset="0"/>
            </a:endParaRPr>
          </a:p>
          <a:p>
            <a:pPr marL="0" indent="0" algn="just">
              <a:buNone/>
            </a:pPr>
            <a:r>
              <a:rPr lang="en-US" dirty="0">
                <a:latin typeface="Garamond" pitchFamily="18" charset="0"/>
              </a:rPr>
              <a:t>In </a:t>
            </a:r>
            <a:r>
              <a:rPr lang="en-US" dirty="0" err="1">
                <a:latin typeface="Garamond" pitchFamily="18" charset="0"/>
              </a:rPr>
              <a:t>Uber’s</a:t>
            </a:r>
            <a:r>
              <a:rPr lang="en-US" dirty="0">
                <a:latin typeface="Garamond" pitchFamily="18" charset="0"/>
              </a:rPr>
              <a:t> case, with a foothold in a new market, disruptive innovators create a market that did not exist. Put simply, they find a way to turn non-consumers into consumers.</a:t>
            </a:r>
            <a:endParaRPr lang="it-IT" dirty="0">
              <a:latin typeface="Garamond" pitchFamily="18" charset="0"/>
            </a:endParaRPr>
          </a:p>
          <a:p>
            <a:pPr marL="0" indent="0" algn="just">
              <a:buNone/>
            </a:pPr>
            <a:r>
              <a:rPr lang="en-US" dirty="0">
                <a:latin typeface="Garamond" pitchFamily="18" charset="0"/>
              </a:rPr>
              <a:t>Disruptive innovation, by definition, starts from one of those two points of support.</a:t>
            </a:r>
            <a:endParaRPr lang="it-IT" dirty="0">
              <a:latin typeface="Garamond" pitchFamily="18" charset="0"/>
            </a:endParaRPr>
          </a:p>
          <a:p>
            <a:pPr>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11</a:t>
            </a:fld>
            <a:endParaRPr lang="it-IT"/>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endParaRPr lang="it-IT"/>
          </a:p>
        </p:txBody>
      </p:sp>
      <p:sp>
        <p:nvSpPr>
          <p:cNvPr id="3" name="Segnaposto contenuto 2"/>
          <p:cNvSpPr>
            <a:spLocks noGrp="1"/>
          </p:cNvSpPr>
          <p:nvPr>
            <p:ph idx="1"/>
          </p:nvPr>
        </p:nvSpPr>
        <p:spPr/>
        <p:txBody>
          <a:bodyPr>
            <a:normAutofit fontScale="85000" lnSpcReduction="10000"/>
          </a:bodyPr>
          <a:lstStyle/>
          <a:p>
            <a:pPr marL="0" indent="0" algn="just">
              <a:buNone/>
            </a:pPr>
            <a:r>
              <a:rPr lang="en-US" sz="2800" dirty="0" smtClean="0">
                <a:latin typeface="Garamond" pitchFamily="18" charset="0"/>
              </a:rPr>
              <a:t>But </a:t>
            </a:r>
            <a:r>
              <a:rPr lang="en-US" sz="2800" dirty="0" err="1" smtClean="0">
                <a:latin typeface="Garamond" pitchFamily="18" charset="0"/>
              </a:rPr>
              <a:t>Uber</a:t>
            </a:r>
            <a:r>
              <a:rPr lang="en-US" sz="2800" dirty="0" smtClean="0">
                <a:latin typeface="Garamond" pitchFamily="18" charset="0"/>
              </a:rPr>
              <a:t> did not originate in either of them. It is hard to say that the company found a low-end market opportunity. That would mean taxi service providers had surpassed the needs of a significant  number of customers, making taxis plentiful and easy to use.</a:t>
            </a:r>
          </a:p>
          <a:p>
            <a:pPr marL="0" indent="0" algn="just">
              <a:buNone/>
            </a:pPr>
            <a:r>
              <a:rPr lang="en-US" sz="2800" dirty="0" smtClean="0">
                <a:latin typeface="Garamond" pitchFamily="18" charset="0"/>
              </a:rPr>
              <a:t>Nor did </a:t>
            </a:r>
            <a:r>
              <a:rPr lang="en-US" sz="2800" dirty="0" err="1" smtClean="0">
                <a:latin typeface="Garamond" pitchFamily="18" charset="0"/>
              </a:rPr>
              <a:t>Uber</a:t>
            </a:r>
            <a:r>
              <a:rPr lang="en-US" sz="2800" dirty="0" smtClean="0">
                <a:latin typeface="Garamond" pitchFamily="18" charset="0"/>
              </a:rPr>
              <a:t> primarily target non-consumers, i.e., people who found the existing alternatives so expensive or inconvenient that they take public transportation or drive themselves. Furthermore, another significant consideration is that </a:t>
            </a:r>
            <a:r>
              <a:rPr lang="en-US" sz="2800" dirty="0" err="1" smtClean="0">
                <a:latin typeface="Garamond" pitchFamily="18" charset="0"/>
              </a:rPr>
              <a:t>Uber</a:t>
            </a:r>
            <a:r>
              <a:rPr lang="en-US" sz="2800" dirty="0" smtClean="0">
                <a:latin typeface="Garamond" pitchFamily="18" charset="0"/>
              </a:rPr>
              <a:t> launched  in San Francisco with its already well served taxi market.</a:t>
            </a:r>
          </a:p>
          <a:p>
            <a:pPr marL="0" indent="0" algn="just">
              <a:buNone/>
            </a:pPr>
            <a:r>
              <a:rPr lang="en-US" sz="2800" dirty="0" smtClean="0">
                <a:latin typeface="Garamond" pitchFamily="18" charset="0"/>
              </a:rPr>
              <a:t>It is likely that </a:t>
            </a:r>
            <a:r>
              <a:rPr lang="en-US" sz="2800" dirty="0" err="1" smtClean="0">
                <a:latin typeface="Garamond" pitchFamily="18" charset="0"/>
              </a:rPr>
              <a:t>Uber</a:t>
            </a:r>
            <a:r>
              <a:rPr lang="en-US" sz="2800" dirty="0" smtClean="0">
                <a:latin typeface="Garamond" pitchFamily="18" charset="0"/>
              </a:rPr>
              <a:t> has increased total demand. This is what happens when you develop a better and less expensive solution to a widespread customer need.</a:t>
            </a:r>
          </a:p>
          <a:p>
            <a:pPr>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12</a:t>
            </a:fld>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endParaRPr lang="it-IT"/>
          </a:p>
        </p:txBody>
      </p:sp>
      <p:sp>
        <p:nvSpPr>
          <p:cNvPr id="3" name="Segnaposto contenuto 2"/>
          <p:cNvSpPr>
            <a:spLocks noGrp="1"/>
          </p:cNvSpPr>
          <p:nvPr>
            <p:ph idx="1"/>
          </p:nvPr>
        </p:nvSpPr>
        <p:spPr/>
        <p:txBody>
          <a:bodyPr>
            <a:normAutofit fontScale="62500" lnSpcReduction="20000"/>
          </a:bodyPr>
          <a:lstStyle/>
          <a:p>
            <a:pPr marL="0" indent="0" algn="just">
              <a:buNone/>
            </a:pPr>
            <a:r>
              <a:rPr lang="en-US" dirty="0">
                <a:latin typeface="Garamond" pitchFamily="18" charset="0"/>
              </a:rPr>
              <a:t>Business disruptors begin by appealing to low-end or underserved consumers and then migrate to the "mainstream" market. </a:t>
            </a:r>
            <a:r>
              <a:rPr lang="en-US" dirty="0" err="1">
                <a:latin typeface="Garamond" pitchFamily="18" charset="0"/>
              </a:rPr>
              <a:t>Uber</a:t>
            </a:r>
            <a:r>
              <a:rPr lang="en-US" dirty="0">
                <a:latin typeface="Garamond" pitchFamily="18" charset="0"/>
              </a:rPr>
              <a:t>, however, went in exactly the opposite direction: first building a position in the mainstream market and then appealing to historically neglected segments.</a:t>
            </a:r>
            <a:endParaRPr lang="it-IT" dirty="0">
              <a:latin typeface="Garamond" pitchFamily="18" charset="0"/>
            </a:endParaRPr>
          </a:p>
          <a:p>
            <a:pPr marL="0" indent="0" algn="just">
              <a:buNone/>
            </a:pPr>
            <a:r>
              <a:rPr lang="en-US" dirty="0">
                <a:latin typeface="Garamond" pitchFamily="18" charset="0"/>
              </a:rPr>
              <a:t>The theory of interruption or disruption differentiates "disruptive innovations" from what are called "sustaining innovations."</a:t>
            </a:r>
            <a:endParaRPr lang="it-IT" dirty="0">
              <a:latin typeface="Garamond" pitchFamily="18" charset="0"/>
            </a:endParaRPr>
          </a:p>
          <a:p>
            <a:pPr marL="0" indent="0" algn="just">
              <a:buNone/>
            </a:pPr>
            <a:r>
              <a:rPr lang="en-US" dirty="0">
                <a:latin typeface="Garamond" pitchFamily="18" charset="0"/>
              </a:rPr>
              <a:t>The latter make good products better in the eyes of an incumbent's existing customers: a fifth blade in a razor, a sharper TV picture, or better cell phone reception.</a:t>
            </a:r>
            <a:endParaRPr lang="it-IT" dirty="0">
              <a:latin typeface="Garamond" pitchFamily="18" charset="0"/>
            </a:endParaRPr>
          </a:p>
          <a:p>
            <a:pPr marL="0" indent="0" algn="just">
              <a:buNone/>
            </a:pPr>
            <a:r>
              <a:rPr lang="en-US" dirty="0">
                <a:latin typeface="Garamond" pitchFamily="18" charset="0"/>
              </a:rPr>
              <a:t>These improvements may be incremental, but they allow companies to sell more products to the most profitable customers or to already existing customers.</a:t>
            </a:r>
            <a:endParaRPr lang="it-IT" dirty="0">
              <a:latin typeface="Garamond" pitchFamily="18" charset="0"/>
            </a:endParaRPr>
          </a:p>
          <a:p>
            <a:pPr marL="0" indent="0" algn="just">
              <a:buNone/>
            </a:pPr>
            <a:r>
              <a:rPr lang="en-US" dirty="0">
                <a:latin typeface="Garamond" pitchFamily="18" charset="0"/>
              </a:rPr>
              <a:t>The innovations in </a:t>
            </a:r>
            <a:r>
              <a:rPr lang="en-US" dirty="0" err="1">
                <a:latin typeface="Garamond" pitchFamily="18" charset="0"/>
              </a:rPr>
              <a:t>Uber’s</a:t>
            </a:r>
            <a:r>
              <a:rPr lang="en-US" dirty="0">
                <a:latin typeface="Garamond" pitchFamily="18" charset="0"/>
              </a:rPr>
              <a:t> case include booking a ride with  just a few “taps” on the </a:t>
            </a:r>
            <a:r>
              <a:rPr lang="en-US" dirty="0" err="1">
                <a:latin typeface="Garamond" pitchFamily="18" charset="0"/>
              </a:rPr>
              <a:t>smartphone</a:t>
            </a:r>
            <a:r>
              <a:rPr lang="en-US" dirty="0">
                <a:latin typeface="Garamond" pitchFamily="18" charset="0"/>
              </a:rPr>
              <a:t>, a cashless and   convenient payment system, and rating rides by passengers, which helps ensure high standards of service.</a:t>
            </a:r>
            <a:endParaRPr lang="it-IT" dirty="0">
              <a:latin typeface="Garamond" pitchFamily="18" charset="0"/>
            </a:endParaRPr>
          </a:p>
          <a:p>
            <a:pPr marL="0" indent="0" algn="just">
              <a:buNone/>
            </a:pPr>
            <a:r>
              <a:rPr lang="en-US" dirty="0" err="1">
                <a:latin typeface="Garamond" pitchFamily="18" charset="0"/>
              </a:rPr>
              <a:t>Uber</a:t>
            </a:r>
            <a:r>
              <a:rPr lang="en-US" dirty="0">
                <a:latin typeface="Garamond" pitchFamily="18" charset="0"/>
              </a:rPr>
              <a:t> also provides reliable service on time, and its prices are generally competitive (or lower) than those of established taxi services.</a:t>
            </a:r>
            <a:endParaRPr lang="it-IT" dirty="0">
              <a:latin typeface="Garamond" pitchFamily="18" charset="0"/>
            </a:endParaRPr>
          </a:p>
          <a:p>
            <a:pPr>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13</a:t>
            </a:fld>
            <a:endParaRPr lang="it-IT"/>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endParaRPr lang="it-IT"/>
          </a:p>
        </p:txBody>
      </p:sp>
      <p:sp>
        <p:nvSpPr>
          <p:cNvPr id="3" name="Segnaposto contenuto 2"/>
          <p:cNvSpPr>
            <a:spLocks noGrp="1"/>
          </p:cNvSpPr>
          <p:nvPr>
            <p:ph idx="1"/>
          </p:nvPr>
        </p:nvSpPr>
        <p:spPr/>
        <p:txBody>
          <a:bodyPr>
            <a:normAutofit fontScale="77500" lnSpcReduction="20000"/>
          </a:bodyPr>
          <a:lstStyle/>
          <a:p>
            <a:pPr marL="0" indent="0" algn="just">
              <a:buNone/>
            </a:pPr>
            <a:r>
              <a:rPr lang="en-US" sz="2900" dirty="0">
                <a:latin typeface="Garamond" pitchFamily="18" charset="0"/>
              </a:rPr>
              <a:t>Typically, when incumbents face threats stemming from sustaining innovations, they oppose them. In response to </a:t>
            </a:r>
            <a:r>
              <a:rPr lang="en-US" sz="2900" dirty="0" err="1">
                <a:latin typeface="Garamond" pitchFamily="18" charset="0"/>
              </a:rPr>
              <a:t>Uber</a:t>
            </a:r>
            <a:r>
              <a:rPr lang="en-US" sz="2900" dirty="0">
                <a:latin typeface="Garamond" pitchFamily="18" charset="0"/>
              </a:rPr>
              <a:t>, taxi companies around the world have, in fact, implemented competitive technologies, such as liking apps, and have moved to legally contest some of </a:t>
            </a:r>
            <a:r>
              <a:rPr lang="en-US" sz="2900" dirty="0" err="1">
                <a:latin typeface="Garamond" pitchFamily="18" charset="0"/>
              </a:rPr>
              <a:t>Uber's</a:t>
            </a:r>
            <a:r>
              <a:rPr lang="en-US" sz="2900" dirty="0">
                <a:latin typeface="Garamond" pitchFamily="18" charset="0"/>
              </a:rPr>
              <a:t> services.</a:t>
            </a:r>
            <a:endParaRPr lang="it-IT" sz="2900" dirty="0">
              <a:latin typeface="Garamond" pitchFamily="18" charset="0"/>
            </a:endParaRPr>
          </a:p>
          <a:p>
            <a:pPr marL="0" indent="0" algn="just">
              <a:buNone/>
            </a:pPr>
            <a:r>
              <a:rPr lang="en-US" sz="2900" dirty="0">
                <a:latin typeface="Garamond" pitchFamily="18" charset="0"/>
              </a:rPr>
              <a:t>Disruptive innovations, on the other hand, are initially considered inferior by most customers of an incumbent. Customers are usually unwilling to switch to the new offering simply because it is less expensive. They wait, instead, for its quality to increase enough to satisfy them. Once that happens, they adopt the new product and happily accept its lower price.</a:t>
            </a:r>
            <a:endParaRPr lang="it-IT" sz="2900" dirty="0">
              <a:latin typeface="Garamond" pitchFamily="18" charset="0"/>
            </a:endParaRPr>
          </a:p>
          <a:p>
            <a:pPr marL="0" indent="0" algn="just">
              <a:buNone/>
            </a:pPr>
            <a:r>
              <a:rPr lang="en-US" sz="2900" dirty="0">
                <a:latin typeface="Garamond" pitchFamily="18" charset="0"/>
              </a:rPr>
              <a:t>This is how disruptive innovation drives prices down in a market.</a:t>
            </a:r>
            <a:endParaRPr lang="it-IT" sz="2900" dirty="0">
              <a:latin typeface="Garamond" pitchFamily="18" charset="0"/>
            </a:endParaRPr>
          </a:p>
          <a:p>
            <a:pPr marL="0" indent="0" algn="just">
              <a:buNone/>
            </a:pPr>
            <a:r>
              <a:rPr lang="en-US" sz="2900" dirty="0">
                <a:latin typeface="Garamond" pitchFamily="18" charset="0"/>
              </a:rPr>
              <a:t>Most of </a:t>
            </a:r>
            <a:r>
              <a:rPr lang="en-US" sz="2900" dirty="0" err="1">
                <a:latin typeface="Garamond" pitchFamily="18" charset="0"/>
              </a:rPr>
              <a:t>Uber's</a:t>
            </a:r>
            <a:r>
              <a:rPr lang="en-US" sz="2900" dirty="0">
                <a:latin typeface="Garamond" pitchFamily="18" charset="0"/>
              </a:rPr>
              <a:t> strategies, however, seem to be sustaining innovations. </a:t>
            </a:r>
            <a:r>
              <a:rPr lang="en-US" sz="2900" dirty="0" err="1">
                <a:latin typeface="Garamond" pitchFamily="18" charset="0"/>
              </a:rPr>
              <a:t>Uber's</a:t>
            </a:r>
            <a:r>
              <a:rPr lang="en-US" sz="2900" dirty="0">
                <a:latin typeface="Garamond" pitchFamily="18" charset="0"/>
              </a:rPr>
              <a:t> service has rarely been described as inferior to existing taxis; many would say that it is even better.</a:t>
            </a:r>
            <a:endParaRPr lang="it-IT" sz="2900" dirty="0">
              <a:latin typeface="Garamond" pitchFamily="18" charset="0"/>
            </a:endParaRPr>
          </a:p>
          <a:p>
            <a:pPr>
              <a:buNone/>
            </a:pPr>
            <a:endParaRPr lang="it-IT" dirty="0"/>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14</a:t>
            </a:fld>
            <a:endParaRPr lang="it-IT"/>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1" algn="ctr" rtl="0">
              <a:spcBef>
                <a:spcPct val="0"/>
              </a:spcBef>
            </a:pPr>
            <a:r>
              <a:rPr lang="en-US" sz="2000" b="1" dirty="0">
                <a:solidFill>
                  <a:srgbClr val="FF0000"/>
                </a:solidFill>
                <a:latin typeface="Garamond" pitchFamily="18" charset="0"/>
              </a:rPr>
              <a:t>WHY ASKING THE RIGHT QUESTION IS IMPORTANT</a:t>
            </a:r>
            <a:r>
              <a:rPr lang="it-IT" b="1" dirty="0"/>
              <a:t/>
            </a:r>
            <a:br>
              <a:rPr lang="it-IT" b="1" dirty="0"/>
            </a:br>
            <a:endParaRPr lang="it-IT" dirty="0"/>
          </a:p>
        </p:txBody>
      </p:sp>
      <p:sp>
        <p:nvSpPr>
          <p:cNvPr id="3" name="Segnaposto contenuto 2"/>
          <p:cNvSpPr>
            <a:spLocks noGrp="1"/>
          </p:cNvSpPr>
          <p:nvPr>
            <p:ph idx="1"/>
          </p:nvPr>
        </p:nvSpPr>
        <p:spPr/>
        <p:txBody>
          <a:bodyPr>
            <a:noAutofit/>
          </a:bodyPr>
          <a:lstStyle/>
          <a:p>
            <a:pPr marL="1588" marR="777240" indent="0" algn="just">
              <a:spcAft>
                <a:spcPts val="0"/>
              </a:spcAft>
              <a:buNone/>
            </a:pPr>
            <a:r>
              <a:rPr lang="en-US" sz="1900" dirty="0" smtClean="0">
                <a:latin typeface="Garamond" pitchFamily="18" charset="0"/>
                <a:ea typeface="Times New Roman"/>
              </a:rPr>
              <a:t>Why is it important to describe </a:t>
            </a:r>
            <a:r>
              <a:rPr lang="en-US" sz="1900" dirty="0" err="1" smtClean="0">
                <a:latin typeface="Garamond" pitchFamily="18" charset="0"/>
                <a:ea typeface="Times New Roman"/>
              </a:rPr>
              <a:t>Uber</a:t>
            </a:r>
            <a:r>
              <a:rPr lang="en-US" sz="1900" dirty="0" smtClean="0">
                <a:latin typeface="Garamond" pitchFamily="18" charset="0"/>
                <a:ea typeface="Times New Roman"/>
              </a:rPr>
              <a:t> accurately? </a:t>
            </a:r>
            <a:r>
              <a:rPr lang="en-US" sz="1900" spc="-75" dirty="0" smtClean="0">
                <a:latin typeface="Garamond" pitchFamily="18" charset="0"/>
                <a:ea typeface="Times New Roman"/>
              </a:rPr>
              <a:t> </a:t>
            </a:r>
            <a:r>
              <a:rPr lang="en-US" sz="1900" dirty="0" smtClean="0">
                <a:latin typeface="Garamond" pitchFamily="18" charset="0"/>
                <a:ea typeface="Times New Roman"/>
              </a:rPr>
              <a:t>Since</a:t>
            </a:r>
            <a:r>
              <a:rPr lang="en-US" sz="1900" spc="-65" dirty="0" smtClean="0">
                <a:latin typeface="Garamond" pitchFamily="18" charset="0"/>
                <a:ea typeface="Times New Roman"/>
              </a:rPr>
              <a:t> </a:t>
            </a:r>
            <a:r>
              <a:rPr lang="en-US" sz="1900" dirty="0" smtClean="0">
                <a:latin typeface="Garamond" pitchFamily="18" charset="0"/>
                <a:ea typeface="Times New Roman"/>
              </a:rPr>
              <a:t>the</a:t>
            </a:r>
            <a:r>
              <a:rPr lang="en-US" sz="1900" spc="-65" dirty="0" smtClean="0">
                <a:latin typeface="Garamond" pitchFamily="18" charset="0"/>
                <a:ea typeface="Times New Roman"/>
              </a:rPr>
              <a:t> </a:t>
            </a:r>
            <a:r>
              <a:rPr lang="en-US" sz="1900" dirty="0" smtClean="0">
                <a:latin typeface="Garamond" pitchFamily="18" charset="0"/>
                <a:ea typeface="Times New Roman"/>
              </a:rPr>
              <a:t>company</a:t>
            </a:r>
            <a:r>
              <a:rPr lang="en-US" sz="1900" spc="-65" dirty="0" smtClean="0">
                <a:latin typeface="Garamond" pitchFamily="18" charset="0"/>
                <a:ea typeface="Times New Roman"/>
              </a:rPr>
              <a:t> </a:t>
            </a:r>
            <a:r>
              <a:rPr lang="en-US" sz="1900" dirty="0" smtClean="0">
                <a:latin typeface="Garamond" pitchFamily="18" charset="0"/>
                <a:ea typeface="Times New Roman"/>
              </a:rPr>
              <a:t>has</a:t>
            </a:r>
            <a:r>
              <a:rPr lang="en-US" sz="1900" spc="-70" dirty="0" smtClean="0">
                <a:latin typeface="Garamond" pitchFamily="18" charset="0"/>
                <a:ea typeface="Times New Roman"/>
              </a:rPr>
              <a:t> </a:t>
            </a:r>
            <a:r>
              <a:rPr lang="en-US" sz="1900" dirty="0" smtClean="0">
                <a:latin typeface="Garamond" pitchFamily="18" charset="0"/>
                <a:ea typeface="Times New Roman"/>
              </a:rPr>
              <a:t>certainly</a:t>
            </a:r>
            <a:r>
              <a:rPr lang="en-US" sz="1900" spc="-65" dirty="0" smtClean="0">
                <a:latin typeface="Garamond" pitchFamily="18" charset="0"/>
                <a:ea typeface="Times New Roman"/>
              </a:rPr>
              <a:t> </a:t>
            </a:r>
            <a:r>
              <a:rPr lang="en-US" sz="1900" dirty="0" smtClean="0">
                <a:latin typeface="Garamond" pitchFamily="18" charset="0"/>
                <a:ea typeface="Times New Roman"/>
              </a:rPr>
              <a:t>thrown</a:t>
            </a:r>
            <a:r>
              <a:rPr lang="en-US" sz="1900" spc="-70" dirty="0" smtClean="0">
                <a:latin typeface="Garamond" pitchFamily="18" charset="0"/>
                <a:ea typeface="Times New Roman"/>
              </a:rPr>
              <a:t> </a:t>
            </a:r>
            <a:r>
              <a:rPr lang="en-US" sz="1900" dirty="0" smtClean="0">
                <a:latin typeface="Garamond" pitchFamily="18" charset="0"/>
                <a:ea typeface="Times New Roman"/>
              </a:rPr>
              <a:t>the</a:t>
            </a:r>
            <a:r>
              <a:rPr lang="en-US" sz="1900" spc="-290" dirty="0" smtClean="0">
                <a:latin typeface="Garamond" pitchFamily="18" charset="0"/>
                <a:ea typeface="Times New Roman"/>
              </a:rPr>
              <a:t>   </a:t>
            </a:r>
            <a:r>
              <a:rPr lang="en-US" sz="1900" dirty="0" smtClean="0">
                <a:latin typeface="Garamond" pitchFamily="18" charset="0"/>
                <a:ea typeface="Times New Roman"/>
              </a:rPr>
              <a:t>taxi industry into chaos, a reader might justly ask: “Isn't that "disruptive" enough?" The answer,</a:t>
            </a:r>
            <a:r>
              <a:rPr lang="en-US" sz="1900" spc="5" dirty="0" smtClean="0">
                <a:latin typeface="Garamond" pitchFamily="18" charset="0"/>
                <a:ea typeface="Times New Roman"/>
              </a:rPr>
              <a:t> </a:t>
            </a:r>
            <a:r>
              <a:rPr lang="en-US" sz="1900" dirty="0" smtClean="0">
                <a:latin typeface="Garamond" pitchFamily="18" charset="0"/>
                <a:ea typeface="Times New Roman"/>
              </a:rPr>
              <a:t>however,</a:t>
            </a:r>
            <a:r>
              <a:rPr lang="en-US" sz="1900" spc="-5" dirty="0" smtClean="0">
                <a:latin typeface="Garamond" pitchFamily="18" charset="0"/>
                <a:ea typeface="Times New Roman"/>
              </a:rPr>
              <a:t> is </a:t>
            </a:r>
            <a:r>
              <a:rPr lang="en-US" sz="1900" dirty="0" smtClean="0">
                <a:latin typeface="Garamond" pitchFamily="18" charset="0"/>
                <a:ea typeface="Times New Roman"/>
              </a:rPr>
              <a:t>no.</a:t>
            </a:r>
            <a:endParaRPr lang="it-IT" sz="1900" dirty="0" smtClean="0">
              <a:latin typeface="Garamond" pitchFamily="18" charset="0"/>
              <a:ea typeface="Times New Roman"/>
            </a:endParaRPr>
          </a:p>
          <a:p>
            <a:pPr marL="1588" marR="778510" indent="0" algn="just">
              <a:spcBef>
                <a:spcPts val="415"/>
              </a:spcBef>
              <a:spcAft>
                <a:spcPts val="0"/>
              </a:spcAft>
              <a:buNone/>
            </a:pPr>
            <a:r>
              <a:rPr lang="en-US" sz="1900" dirty="0" smtClean="0">
                <a:latin typeface="Garamond" pitchFamily="18" charset="0"/>
                <a:ea typeface="Times New Roman"/>
              </a:rPr>
              <a:t>Only a correct interpretation will help us see the theory’s potential benefits, and</a:t>
            </a:r>
            <a:r>
              <a:rPr lang="en-US" sz="1900" spc="5" dirty="0" smtClean="0">
                <a:latin typeface="Garamond" pitchFamily="18" charset="0"/>
                <a:ea typeface="Times New Roman"/>
              </a:rPr>
              <a:t> to </a:t>
            </a:r>
            <a:r>
              <a:rPr lang="en-US" sz="1900" dirty="0" smtClean="0">
                <a:latin typeface="Garamond" pitchFamily="18" charset="0"/>
                <a:ea typeface="Times New Roman"/>
              </a:rPr>
              <a:t>understand</a:t>
            </a:r>
            <a:r>
              <a:rPr lang="en-US" sz="1900" spc="-20" dirty="0" smtClean="0">
                <a:latin typeface="Garamond" pitchFamily="18" charset="0"/>
                <a:ea typeface="Times New Roman"/>
              </a:rPr>
              <a:t> </a:t>
            </a:r>
            <a:r>
              <a:rPr lang="en-US" sz="1900" dirty="0" smtClean="0">
                <a:latin typeface="Garamond" pitchFamily="18" charset="0"/>
                <a:ea typeface="Times New Roman"/>
              </a:rPr>
              <a:t>what</a:t>
            </a:r>
            <a:r>
              <a:rPr lang="en-US" sz="1900" spc="-15" dirty="0" smtClean="0">
                <a:latin typeface="Garamond" pitchFamily="18" charset="0"/>
                <a:ea typeface="Times New Roman"/>
              </a:rPr>
              <a:t> </a:t>
            </a:r>
            <a:r>
              <a:rPr lang="en-US" sz="1900" dirty="0" smtClean="0">
                <a:latin typeface="Garamond" pitchFamily="18" charset="0"/>
                <a:ea typeface="Times New Roman"/>
              </a:rPr>
              <a:t>disruption</a:t>
            </a:r>
            <a:r>
              <a:rPr lang="en-US" sz="1900" spc="-15" dirty="0" smtClean="0">
                <a:latin typeface="Garamond" pitchFamily="18" charset="0"/>
                <a:ea typeface="Times New Roman"/>
              </a:rPr>
              <a:t> </a:t>
            </a:r>
            <a:r>
              <a:rPr lang="en-US" sz="1900" dirty="0" smtClean="0">
                <a:latin typeface="Garamond" pitchFamily="18" charset="0"/>
                <a:ea typeface="Times New Roman"/>
              </a:rPr>
              <a:t>really</a:t>
            </a:r>
            <a:r>
              <a:rPr lang="en-US" sz="1900" spc="-10" dirty="0" smtClean="0">
                <a:latin typeface="Garamond" pitchFamily="18" charset="0"/>
                <a:ea typeface="Times New Roman"/>
              </a:rPr>
              <a:t> </a:t>
            </a:r>
            <a:r>
              <a:rPr lang="en-US" sz="1900" dirty="0" smtClean="0">
                <a:latin typeface="Garamond" pitchFamily="18" charset="0"/>
                <a:ea typeface="Times New Roman"/>
              </a:rPr>
              <a:t>is. Some important points, at times overlooked, must then be considered:</a:t>
            </a:r>
            <a:endParaRPr lang="it-IT" sz="1900" dirty="0" smtClean="0">
              <a:latin typeface="Garamond" pitchFamily="18" charset="0"/>
              <a:ea typeface="Times New Roman"/>
            </a:endParaRPr>
          </a:p>
          <a:p>
            <a:pPr marL="1588" indent="0" algn="just">
              <a:spcAft>
                <a:spcPts val="0"/>
              </a:spcAft>
              <a:buNone/>
            </a:pPr>
            <a:r>
              <a:rPr lang="en-US" sz="1900" u="sng" spc="-5" dirty="0" smtClean="0">
                <a:latin typeface="Garamond" pitchFamily="18" charset="0"/>
                <a:ea typeface="Times New Roman"/>
              </a:rPr>
              <a:t>Disruption</a:t>
            </a:r>
            <a:r>
              <a:rPr lang="en-US" sz="1900" u="sng" spc="-60" dirty="0" smtClean="0">
                <a:latin typeface="Garamond" pitchFamily="18" charset="0"/>
                <a:ea typeface="Times New Roman"/>
              </a:rPr>
              <a:t> </a:t>
            </a:r>
            <a:r>
              <a:rPr lang="en-US" sz="1900" u="sng" spc="-5" dirty="0" smtClean="0">
                <a:latin typeface="Garamond" pitchFamily="18" charset="0"/>
                <a:ea typeface="Times New Roman"/>
              </a:rPr>
              <a:t>is</a:t>
            </a:r>
            <a:r>
              <a:rPr lang="en-US" sz="1900" u="sng" spc="-70" dirty="0" smtClean="0">
                <a:latin typeface="Garamond" pitchFamily="18" charset="0"/>
                <a:ea typeface="Times New Roman"/>
              </a:rPr>
              <a:t> </a:t>
            </a:r>
            <a:r>
              <a:rPr lang="en-US" sz="1900" u="sng" spc="-5" dirty="0" smtClean="0">
                <a:latin typeface="Garamond" pitchFamily="18" charset="0"/>
                <a:ea typeface="Times New Roman"/>
              </a:rPr>
              <a:t>a</a:t>
            </a:r>
            <a:r>
              <a:rPr lang="en-US" sz="1900" u="sng" spc="-55" dirty="0" smtClean="0">
                <a:latin typeface="Garamond" pitchFamily="18" charset="0"/>
                <a:ea typeface="Times New Roman"/>
              </a:rPr>
              <a:t> </a:t>
            </a:r>
            <a:r>
              <a:rPr lang="en-US" sz="1900" u="sng" spc="-5" dirty="0" smtClean="0">
                <a:latin typeface="Garamond" pitchFamily="18" charset="0"/>
                <a:ea typeface="Times New Roman"/>
              </a:rPr>
              <a:t>process.</a:t>
            </a:r>
            <a:endParaRPr lang="it-IT" sz="1900" dirty="0" smtClean="0">
              <a:latin typeface="Garamond" pitchFamily="18" charset="0"/>
              <a:ea typeface="Times New Roman"/>
            </a:endParaRPr>
          </a:p>
          <a:p>
            <a:pPr marL="1588" marR="777875" indent="0" algn="just">
              <a:spcBef>
                <a:spcPts val="630"/>
              </a:spcBef>
              <a:spcAft>
                <a:spcPts val="0"/>
              </a:spcAft>
              <a:buNone/>
            </a:pPr>
            <a:r>
              <a:rPr lang="en-US" sz="1900" dirty="0" smtClean="0">
                <a:latin typeface="Garamond" pitchFamily="18" charset="0"/>
                <a:ea typeface="Times New Roman"/>
              </a:rPr>
              <a:t>The term "disruptive innovation" is misleading when used to refer to a specific product</a:t>
            </a:r>
            <a:r>
              <a:rPr lang="en-US" sz="1900" spc="-55" dirty="0" smtClean="0">
                <a:latin typeface="Garamond" pitchFamily="18" charset="0"/>
                <a:ea typeface="Times New Roman"/>
              </a:rPr>
              <a:t> </a:t>
            </a:r>
            <a:r>
              <a:rPr lang="en-US" sz="1900" dirty="0" smtClean="0">
                <a:latin typeface="Garamond" pitchFamily="18" charset="0"/>
                <a:ea typeface="Times New Roman"/>
              </a:rPr>
              <a:t>or</a:t>
            </a:r>
            <a:r>
              <a:rPr lang="en-US" sz="1900" spc="-50" dirty="0" smtClean="0">
                <a:latin typeface="Garamond" pitchFamily="18" charset="0"/>
                <a:ea typeface="Times New Roman"/>
              </a:rPr>
              <a:t> </a:t>
            </a:r>
            <a:r>
              <a:rPr lang="en-US" sz="1900" dirty="0" smtClean="0">
                <a:latin typeface="Garamond" pitchFamily="18" charset="0"/>
                <a:ea typeface="Times New Roman"/>
              </a:rPr>
              <a:t>service,</a:t>
            </a:r>
            <a:r>
              <a:rPr lang="en-US" sz="1900" spc="-45" dirty="0" smtClean="0">
                <a:latin typeface="Garamond" pitchFamily="18" charset="0"/>
                <a:ea typeface="Times New Roman"/>
              </a:rPr>
              <a:t> </a:t>
            </a:r>
            <a:r>
              <a:rPr lang="en-US" sz="1900" dirty="0" smtClean="0">
                <a:latin typeface="Garamond" pitchFamily="18" charset="0"/>
                <a:ea typeface="Times New Roman"/>
              </a:rPr>
              <a:t>rather</a:t>
            </a:r>
            <a:r>
              <a:rPr lang="en-US" sz="1900" spc="-45" dirty="0" smtClean="0">
                <a:latin typeface="Garamond" pitchFamily="18" charset="0"/>
                <a:ea typeface="Times New Roman"/>
              </a:rPr>
              <a:t> </a:t>
            </a:r>
            <a:r>
              <a:rPr lang="en-US" sz="1900" dirty="0" smtClean="0">
                <a:latin typeface="Garamond" pitchFamily="18" charset="0"/>
                <a:ea typeface="Times New Roman"/>
              </a:rPr>
              <a:t>than</a:t>
            </a:r>
            <a:r>
              <a:rPr lang="en-US" sz="1900" spc="-55" dirty="0" smtClean="0">
                <a:latin typeface="Garamond" pitchFamily="18" charset="0"/>
                <a:ea typeface="Times New Roman"/>
              </a:rPr>
              <a:t> consider </a:t>
            </a:r>
            <a:r>
              <a:rPr lang="en-US" sz="1900" dirty="0" smtClean="0">
                <a:latin typeface="Garamond" pitchFamily="18" charset="0"/>
                <a:ea typeface="Times New Roman"/>
              </a:rPr>
              <a:t>the</a:t>
            </a:r>
            <a:r>
              <a:rPr lang="en-US" sz="1900" spc="-50" dirty="0" smtClean="0">
                <a:latin typeface="Garamond" pitchFamily="18" charset="0"/>
                <a:ea typeface="Times New Roman"/>
              </a:rPr>
              <a:t> </a:t>
            </a:r>
            <a:r>
              <a:rPr lang="en-US" sz="1900" dirty="0" smtClean="0">
                <a:latin typeface="Garamond" pitchFamily="18" charset="0"/>
                <a:ea typeface="Times New Roman"/>
              </a:rPr>
              <a:t>evolution</a:t>
            </a:r>
            <a:r>
              <a:rPr lang="en-US" sz="1900" spc="-55" dirty="0" smtClean="0">
                <a:latin typeface="Garamond" pitchFamily="18" charset="0"/>
                <a:ea typeface="Times New Roman"/>
              </a:rPr>
              <a:t> </a:t>
            </a:r>
            <a:r>
              <a:rPr lang="en-US" sz="1900" dirty="0" smtClean="0">
                <a:latin typeface="Garamond" pitchFamily="18" charset="0"/>
                <a:ea typeface="Times New Roman"/>
              </a:rPr>
              <a:t>of</a:t>
            </a:r>
            <a:r>
              <a:rPr lang="en-US" sz="1900" spc="-290" dirty="0" smtClean="0">
                <a:latin typeface="Garamond" pitchFamily="18" charset="0"/>
                <a:ea typeface="Times New Roman"/>
              </a:rPr>
              <a:t> </a:t>
            </a:r>
            <a:r>
              <a:rPr lang="en-US" sz="1900" dirty="0" smtClean="0">
                <a:latin typeface="Garamond" pitchFamily="18" charset="0"/>
                <a:ea typeface="Times New Roman"/>
              </a:rPr>
              <a:t>that</a:t>
            </a:r>
            <a:r>
              <a:rPr lang="en-US" sz="1900" spc="-15" dirty="0" smtClean="0">
                <a:latin typeface="Garamond" pitchFamily="18" charset="0"/>
                <a:ea typeface="Times New Roman"/>
              </a:rPr>
              <a:t> </a:t>
            </a:r>
            <a:r>
              <a:rPr lang="en-US" sz="1900" dirty="0" smtClean="0">
                <a:latin typeface="Garamond" pitchFamily="18" charset="0"/>
                <a:ea typeface="Times New Roman"/>
              </a:rPr>
              <a:t>product</a:t>
            </a:r>
            <a:r>
              <a:rPr lang="en-US" sz="1900" spc="-10" dirty="0" smtClean="0">
                <a:latin typeface="Garamond" pitchFamily="18" charset="0"/>
                <a:ea typeface="Times New Roman"/>
              </a:rPr>
              <a:t> </a:t>
            </a:r>
            <a:r>
              <a:rPr lang="en-US" sz="1900" dirty="0" smtClean="0">
                <a:latin typeface="Garamond" pitchFamily="18" charset="0"/>
                <a:ea typeface="Times New Roman"/>
              </a:rPr>
              <a:t>or</a:t>
            </a:r>
            <a:r>
              <a:rPr lang="en-US" sz="1900" spc="-10" dirty="0" smtClean="0">
                <a:latin typeface="Garamond" pitchFamily="18" charset="0"/>
                <a:ea typeface="Times New Roman"/>
              </a:rPr>
              <a:t> </a:t>
            </a:r>
            <a:r>
              <a:rPr lang="en-US" sz="1900" dirty="0" smtClean="0">
                <a:latin typeface="Garamond" pitchFamily="18" charset="0"/>
                <a:ea typeface="Times New Roman"/>
              </a:rPr>
              <a:t>service</a:t>
            </a:r>
            <a:r>
              <a:rPr lang="en-US" sz="1900" spc="-10" dirty="0" smtClean="0">
                <a:latin typeface="Garamond" pitchFamily="18" charset="0"/>
                <a:ea typeface="Times New Roman"/>
              </a:rPr>
              <a:t> </a:t>
            </a:r>
            <a:r>
              <a:rPr lang="en-US" sz="1900" dirty="0" smtClean="0">
                <a:latin typeface="Garamond" pitchFamily="18" charset="0"/>
                <a:ea typeface="Times New Roman"/>
              </a:rPr>
              <a:t>over</a:t>
            </a:r>
            <a:r>
              <a:rPr lang="en-US" sz="1900" spc="-10" dirty="0" smtClean="0">
                <a:latin typeface="Garamond" pitchFamily="18" charset="0"/>
                <a:ea typeface="Times New Roman"/>
              </a:rPr>
              <a:t> </a:t>
            </a:r>
            <a:r>
              <a:rPr lang="en-US" sz="1900" dirty="0" smtClean="0">
                <a:latin typeface="Garamond" pitchFamily="18" charset="0"/>
                <a:ea typeface="Times New Roman"/>
              </a:rPr>
              <a:t>time.</a:t>
            </a:r>
            <a:endParaRPr lang="it-IT" sz="1900" dirty="0" smtClean="0">
              <a:latin typeface="Garamond" pitchFamily="18" charset="0"/>
              <a:ea typeface="Times New Roman"/>
            </a:endParaRPr>
          </a:p>
          <a:p>
            <a:pPr marL="1588" marR="777240" indent="0" algn="just">
              <a:buNone/>
            </a:pPr>
            <a:r>
              <a:rPr lang="en-US" sz="1900" dirty="0" smtClean="0">
                <a:latin typeface="Garamond" pitchFamily="18" charset="0"/>
                <a:ea typeface="Times New Roman"/>
              </a:rPr>
              <a:t>The first minicomputers were disruptive not because they were</a:t>
            </a:r>
            <a:r>
              <a:rPr lang="en-US" sz="1900" spc="5" dirty="0" smtClean="0">
                <a:latin typeface="Garamond" pitchFamily="18" charset="0"/>
                <a:ea typeface="Times New Roman"/>
              </a:rPr>
              <a:t> </a:t>
            </a:r>
            <a:r>
              <a:rPr lang="en-US" sz="1900" dirty="0" smtClean="0">
                <a:latin typeface="Garamond" pitchFamily="18" charset="0"/>
                <a:ea typeface="Times New Roman"/>
              </a:rPr>
              <a:t>"low-end newcomers" when they appeared on the scene, or because</a:t>
            </a:r>
            <a:r>
              <a:rPr lang="en-US" sz="1900" spc="5" dirty="0" smtClean="0">
                <a:latin typeface="Garamond" pitchFamily="18" charset="0"/>
                <a:ea typeface="Times New Roman"/>
              </a:rPr>
              <a:t> </a:t>
            </a:r>
            <a:r>
              <a:rPr lang="en-US" sz="1900" dirty="0" smtClean="0">
                <a:latin typeface="Garamond" pitchFamily="18" charset="0"/>
                <a:ea typeface="Times New Roman"/>
              </a:rPr>
              <a:t>they were later billed as superior to "main frames" in many markets; they</a:t>
            </a:r>
            <a:r>
              <a:rPr lang="en-US" sz="1900" spc="5" dirty="0" smtClean="0">
                <a:latin typeface="Garamond" pitchFamily="18" charset="0"/>
                <a:ea typeface="Times New Roman"/>
              </a:rPr>
              <a:t> </a:t>
            </a:r>
            <a:r>
              <a:rPr lang="en-US" sz="1900" spc="-5" dirty="0" smtClean="0">
                <a:latin typeface="Garamond" pitchFamily="18" charset="0"/>
                <a:ea typeface="Times New Roman"/>
              </a:rPr>
              <a:t>were</a:t>
            </a:r>
            <a:r>
              <a:rPr lang="en-US" sz="1900" spc="-60" dirty="0" smtClean="0">
                <a:latin typeface="Garamond" pitchFamily="18" charset="0"/>
                <a:ea typeface="Times New Roman"/>
              </a:rPr>
              <a:t> </a:t>
            </a:r>
            <a:r>
              <a:rPr lang="en-US" sz="1900" spc="-5" dirty="0" smtClean="0">
                <a:latin typeface="Garamond" pitchFamily="18" charset="0"/>
                <a:ea typeface="Times New Roman"/>
              </a:rPr>
              <a:t>disruptive</a:t>
            </a:r>
            <a:r>
              <a:rPr lang="en-US" sz="1900" spc="-60" dirty="0" smtClean="0">
                <a:latin typeface="Garamond" pitchFamily="18" charset="0"/>
                <a:ea typeface="Times New Roman"/>
              </a:rPr>
              <a:t> </a:t>
            </a:r>
            <a:r>
              <a:rPr lang="en-US" sz="1900" spc="-5" dirty="0" smtClean="0">
                <a:latin typeface="Garamond" pitchFamily="18" charset="0"/>
                <a:ea typeface="Times New Roman"/>
              </a:rPr>
              <a:t>by</a:t>
            </a:r>
            <a:r>
              <a:rPr lang="en-US" sz="1900" spc="-55" dirty="0" smtClean="0">
                <a:latin typeface="Garamond" pitchFamily="18" charset="0"/>
                <a:ea typeface="Times New Roman"/>
              </a:rPr>
              <a:t> </a:t>
            </a:r>
            <a:r>
              <a:rPr lang="en-US" sz="1900" spc="-5" dirty="0" smtClean="0">
                <a:latin typeface="Garamond" pitchFamily="18" charset="0"/>
                <a:ea typeface="Times New Roman"/>
              </a:rPr>
              <a:t>virtue</a:t>
            </a:r>
            <a:r>
              <a:rPr lang="en-US" sz="1900" spc="-70" dirty="0" smtClean="0">
                <a:latin typeface="Garamond" pitchFamily="18" charset="0"/>
                <a:ea typeface="Times New Roman"/>
              </a:rPr>
              <a:t> </a:t>
            </a:r>
            <a:r>
              <a:rPr lang="en-US" sz="1900" spc="-5" dirty="0" smtClean="0">
                <a:latin typeface="Garamond" pitchFamily="18" charset="0"/>
                <a:ea typeface="Times New Roman"/>
              </a:rPr>
              <a:t>of</a:t>
            </a:r>
            <a:r>
              <a:rPr lang="en-US" sz="1900" spc="-65" dirty="0" smtClean="0">
                <a:latin typeface="Garamond" pitchFamily="18" charset="0"/>
                <a:ea typeface="Times New Roman"/>
              </a:rPr>
              <a:t> </a:t>
            </a:r>
            <a:r>
              <a:rPr lang="en-US" sz="1900" spc="-5" dirty="0" smtClean="0">
                <a:latin typeface="Garamond" pitchFamily="18" charset="0"/>
                <a:ea typeface="Times New Roman"/>
              </a:rPr>
              <a:t>their path</a:t>
            </a:r>
            <a:r>
              <a:rPr lang="en-US" sz="1900" spc="-65" dirty="0" smtClean="0">
                <a:latin typeface="Garamond" pitchFamily="18" charset="0"/>
                <a:ea typeface="Times New Roman"/>
              </a:rPr>
              <a:t> </a:t>
            </a:r>
            <a:r>
              <a:rPr lang="en-US" sz="1900" spc="-5" dirty="0" smtClean="0">
                <a:latin typeface="Garamond" pitchFamily="18" charset="0"/>
                <a:ea typeface="Times New Roman"/>
              </a:rPr>
              <a:t>from</a:t>
            </a:r>
            <a:r>
              <a:rPr lang="en-US" sz="1900" spc="-65" dirty="0" smtClean="0">
                <a:latin typeface="Garamond" pitchFamily="18" charset="0"/>
                <a:ea typeface="Times New Roman"/>
              </a:rPr>
              <a:t> the</a:t>
            </a:r>
            <a:r>
              <a:rPr lang="en-US" sz="1900" spc="-55" dirty="0" smtClean="0">
                <a:latin typeface="Garamond" pitchFamily="18" charset="0"/>
                <a:ea typeface="Times New Roman"/>
              </a:rPr>
              <a:t> </a:t>
            </a:r>
            <a:r>
              <a:rPr lang="en-US" sz="1900" dirty="0" smtClean="0">
                <a:latin typeface="Garamond" pitchFamily="18" charset="0"/>
                <a:ea typeface="Times New Roman"/>
              </a:rPr>
              <a:t>periphery</a:t>
            </a:r>
            <a:r>
              <a:rPr lang="en-US" sz="1900" spc="-60" dirty="0" smtClean="0">
                <a:latin typeface="Garamond" pitchFamily="18" charset="0"/>
                <a:ea typeface="Times New Roman"/>
              </a:rPr>
              <a:t> </a:t>
            </a:r>
            <a:r>
              <a:rPr lang="en-US" sz="1900" dirty="0" smtClean="0">
                <a:latin typeface="Garamond" pitchFamily="18" charset="0"/>
                <a:ea typeface="Times New Roman"/>
              </a:rPr>
              <a:t>to </a:t>
            </a:r>
            <a:r>
              <a:rPr lang="en-US" sz="1900" spc="-285" dirty="0" smtClean="0">
                <a:latin typeface="Garamond" pitchFamily="18" charset="0"/>
                <a:ea typeface="Times New Roman"/>
              </a:rPr>
              <a:t> </a:t>
            </a:r>
            <a:r>
              <a:rPr lang="en-US" sz="1900" dirty="0" smtClean="0">
                <a:latin typeface="Garamond" pitchFamily="18" charset="0"/>
                <a:ea typeface="Times New Roman"/>
              </a:rPr>
              <a:t>the</a:t>
            </a:r>
            <a:r>
              <a:rPr lang="en-US" sz="1900" spc="-5" dirty="0" smtClean="0">
                <a:latin typeface="Garamond" pitchFamily="18" charset="0"/>
                <a:ea typeface="Times New Roman"/>
              </a:rPr>
              <a:t> </a:t>
            </a:r>
            <a:r>
              <a:rPr lang="en-US" sz="1900" dirty="0" smtClean="0">
                <a:latin typeface="Garamond" pitchFamily="18" charset="0"/>
                <a:ea typeface="Times New Roman"/>
              </a:rPr>
              <a:t>"main</a:t>
            </a:r>
            <a:r>
              <a:rPr lang="en-US" sz="1900" spc="-5" dirty="0" smtClean="0">
                <a:latin typeface="Garamond" pitchFamily="18" charset="0"/>
                <a:ea typeface="Times New Roman"/>
              </a:rPr>
              <a:t> </a:t>
            </a:r>
            <a:r>
              <a:rPr lang="en-US" sz="1900" dirty="0" smtClean="0">
                <a:latin typeface="Garamond" pitchFamily="18" charset="0"/>
                <a:ea typeface="Times New Roman"/>
              </a:rPr>
              <a:t>stream."</a:t>
            </a:r>
            <a:endParaRPr lang="it-IT" sz="1900" dirty="0">
              <a:latin typeface="Garamond" pitchFamily="18" charset="0"/>
              <a:ea typeface="Times New Roman"/>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15</a:t>
            </a:fld>
            <a:endParaRPr lang="it-IT"/>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357158" y="714356"/>
            <a:ext cx="8229600" cy="4525963"/>
          </a:xfrm>
        </p:spPr>
        <p:txBody>
          <a:bodyPr>
            <a:noAutofit/>
          </a:bodyPr>
          <a:lstStyle/>
          <a:p>
            <a:pPr marL="1588" marR="777240" indent="0" algn="just">
              <a:spcAft>
                <a:spcPts val="0"/>
              </a:spcAft>
              <a:buNone/>
            </a:pPr>
            <a:endParaRPr lang="en-US" sz="1800" dirty="0" smtClean="0">
              <a:latin typeface="Garamond" pitchFamily="18" charset="0"/>
              <a:ea typeface="Times New Roman"/>
            </a:endParaRPr>
          </a:p>
          <a:p>
            <a:pPr marL="1588" marR="777240" indent="0" algn="just">
              <a:spcAft>
                <a:spcPts val="0"/>
              </a:spcAft>
              <a:buNone/>
            </a:pPr>
            <a:endParaRPr lang="en-US" sz="1800" dirty="0" smtClean="0">
              <a:latin typeface="Garamond" pitchFamily="18" charset="0"/>
              <a:ea typeface="Times New Roman"/>
            </a:endParaRPr>
          </a:p>
          <a:p>
            <a:pPr marL="1588" marR="777240" indent="0" algn="just">
              <a:spcAft>
                <a:spcPts val="0"/>
              </a:spcAft>
              <a:buNone/>
            </a:pPr>
            <a:endParaRPr lang="en-US" sz="1800" dirty="0" smtClean="0">
              <a:latin typeface="Garamond" pitchFamily="18" charset="0"/>
              <a:ea typeface="Times New Roman"/>
            </a:endParaRPr>
          </a:p>
          <a:p>
            <a:pPr marL="1588" marR="777240" indent="0" algn="ctr">
              <a:spcAft>
                <a:spcPts val="0"/>
              </a:spcAft>
              <a:buNone/>
            </a:pPr>
            <a:r>
              <a:rPr lang="en-US" sz="2000" dirty="0" smtClean="0">
                <a:latin typeface="Garamond" pitchFamily="18" charset="0"/>
                <a:ea typeface="Times New Roman"/>
              </a:rPr>
              <a:t>Almost every innovation, disruptive or not, comes to life as a small-scale experiment.</a:t>
            </a:r>
          </a:p>
          <a:p>
            <a:pPr marL="1588" marR="777240" indent="0" algn="ctr">
              <a:spcAft>
                <a:spcPts val="0"/>
              </a:spcAft>
              <a:buNone/>
            </a:pPr>
            <a:r>
              <a:rPr lang="en-US" sz="2000" dirty="0" smtClean="0">
                <a:latin typeface="Garamond" pitchFamily="18" charset="0"/>
                <a:ea typeface="Times New Roman"/>
              </a:rPr>
              <a:t>Disruptive innovators tend to focus on developing new business models, rather than just products. When they are successful, their move  from the margin (from the low end of the market or from a new market) to the “main stream” initially erodes the incumbents' market share and then their profitability. This process can take some time.</a:t>
            </a:r>
          </a:p>
          <a:p>
            <a:pPr marL="1588" marR="777240" indent="0" algn="ctr">
              <a:spcAft>
                <a:spcPts val="0"/>
              </a:spcAft>
              <a:buNone/>
            </a:pPr>
            <a:r>
              <a:rPr lang="en-US" sz="2000" dirty="0" smtClean="0">
                <a:latin typeface="Garamond" pitchFamily="18" charset="0"/>
                <a:ea typeface="Times New Roman"/>
              </a:rPr>
              <a:t>That disruption can take time helps explain why incumbents often overlook disruptive innovators.</a:t>
            </a:r>
          </a:p>
          <a:p>
            <a:pPr marL="1588" marR="777240" indent="0" algn="just">
              <a:spcAft>
                <a:spcPts val="0"/>
              </a:spcAft>
              <a:buNone/>
            </a:pPr>
            <a:endParaRPr lang="it-IT" sz="1900" dirty="0">
              <a:latin typeface="Garamond" pitchFamily="18" charset="0"/>
              <a:ea typeface="Times New Roman"/>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16</a:t>
            </a:fld>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p:cNvSpPr>
            <a:spLocks noGrp="1"/>
          </p:cNvSpPr>
          <p:nvPr>
            <p:ph idx="1"/>
          </p:nvPr>
        </p:nvSpPr>
        <p:spPr>
          <a:xfrm>
            <a:off x="357158" y="714356"/>
            <a:ext cx="8229600" cy="4525963"/>
          </a:xfrm>
        </p:spPr>
        <p:txBody>
          <a:bodyPr>
            <a:noAutofit/>
          </a:bodyPr>
          <a:lstStyle/>
          <a:p>
            <a:pPr marL="1588" marR="777240" indent="0" algn="just">
              <a:spcAft>
                <a:spcPts val="0"/>
              </a:spcAft>
              <a:buNone/>
            </a:pPr>
            <a:endParaRPr lang="en-US" sz="1800" dirty="0" smtClean="0">
              <a:latin typeface="Garamond" pitchFamily="18" charset="0"/>
              <a:ea typeface="Times New Roman"/>
            </a:endParaRPr>
          </a:p>
          <a:p>
            <a:pPr marL="1588" marR="777240" indent="0" algn="just">
              <a:spcAft>
                <a:spcPts val="0"/>
              </a:spcAft>
              <a:buNone/>
            </a:pPr>
            <a:endParaRPr lang="en-US" sz="1800" dirty="0" smtClean="0">
              <a:latin typeface="Garamond" pitchFamily="18" charset="0"/>
              <a:ea typeface="Times New Roman"/>
            </a:endParaRPr>
          </a:p>
          <a:p>
            <a:pPr marL="1588" marR="777240" indent="0" algn="ctr">
              <a:spcAft>
                <a:spcPts val="0"/>
              </a:spcAft>
              <a:buNone/>
            </a:pPr>
            <a:r>
              <a:rPr lang="en-US" sz="2000" dirty="0" smtClean="0">
                <a:latin typeface="Garamond" pitchFamily="18" charset="0"/>
                <a:ea typeface="Times New Roman"/>
              </a:rPr>
              <a:t>For example, when Netflix launched in 1997, its initial service was not appealing to most of Blockbuster's customers, who were renting movies (usually new releases) on impulse.</a:t>
            </a:r>
          </a:p>
          <a:p>
            <a:pPr marL="1588" marR="777240" indent="0" algn="ctr">
              <a:spcAft>
                <a:spcPts val="0"/>
              </a:spcAft>
              <a:buNone/>
            </a:pPr>
            <a:r>
              <a:rPr lang="en-US" sz="2000" dirty="0" smtClean="0">
                <a:latin typeface="Garamond" pitchFamily="18" charset="0"/>
                <a:ea typeface="Times New Roman"/>
              </a:rPr>
              <a:t>Netflix, on the other hand, had a large inventory of movies but an online-only interface.</a:t>
            </a:r>
          </a:p>
          <a:p>
            <a:pPr marL="1588" marR="777240" indent="0" algn="ctr">
              <a:spcAft>
                <a:spcPts val="0"/>
              </a:spcAft>
              <a:buNone/>
            </a:pPr>
            <a:r>
              <a:rPr lang="en-US" sz="2000" dirty="0" smtClean="0">
                <a:latin typeface="Garamond" pitchFamily="18" charset="0"/>
                <a:ea typeface="Times New Roman"/>
              </a:rPr>
              <a:t>If Netflix had not ultimately begun serving a larger segment of the market, Blockbuster's decision to ignore this competitor would not have been - as it eventually proved to be - a strategic mistake. The two companies initially met very different needs for their (different) customers. Netflix, over time, however, completely absorbed Blockbuster customer demand.</a:t>
            </a:r>
          </a:p>
          <a:p>
            <a:pPr marL="1588" marR="777240" indent="0" algn="just">
              <a:spcAft>
                <a:spcPts val="0"/>
              </a:spcAft>
              <a:buNone/>
            </a:pPr>
            <a:endParaRPr lang="it-IT" sz="1900" dirty="0">
              <a:latin typeface="Garamond" pitchFamily="18" charset="0"/>
              <a:ea typeface="Times New Roman"/>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17</a:t>
            </a:fld>
            <a:endParaRPr lang="it-IT"/>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1" algn="ctr" rtl="0">
              <a:spcBef>
                <a:spcPct val="0"/>
              </a:spcBef>
            </a:pPr>
            <a:r>
              <a:rPr lang="en-US" sz="2200" b="1" dirty="0">
                <a:solidFill>
                  <a:srgbClr val="FF0000"/>
                </a:solidFill>
                <a:latin typeface="Garamond" pitchFamily="18" charset="0"/>
              </a:rPr>
              <a:t>SINCE DISRUPTION CAN TAKE TIME,   INCOMBENTS OFTEN OVERLOOK THE “REFORMERS.”</a:t>
            </a:r>
            <a:r>
              <a:rPr lang="it-IT" b="1" dirty="0"/>
              <a:t/>
            </a:r>
            <a:br>
              <a:rPr lang="it-IT" b="1" dirty="0"/>
            </a:br>
            <a:endParaRPr lang="it-IT" dirty="0"/>
          </a:p>
        </p:txBody>
      </p:sp>
      <p:sp>
        <p:nvSpPr>
          <p:cNvPr id="3" name="Segnaposto contenuto 2"/>
          <p:cNvSpPr>
            <a:spLocks noGrp="1"/>
          </p:cNvSpPr>
          <p:nvPr>
            <p:ph idx="1"/>
          </p:nvPr>
        </p:nvSpPr>
        <p:spPr/>
        <p:txBody>
          <a:bodyPr>
            <a:normAutofit/>
          </a:bodyPr>
          <a:lstStyle/>
          <a:p>
            <a:pPr marL="0" indent="0" algn="just">
              <a:buNone/>
            </a:pPr>
            <a:r>
              <a:rPr lang="en-US" sz="2000" dirty="0" smtClean="0">
                <a:latin typeface="Garamond" pitchFamily="18" charset="0"/>
              </a:rPr>
              <a:t>As new technologies allowed Netflix to move to Internet video streaming, the company eventually became attractive to Blockbuster's major customers. Netflix developed a quality, highly cost-effective approach, offering a wider selection of low cost, on demand, all-you- can-watch content. And it did so there through a classically disruptive  path.</a:t>
            </a:r>
          </a:p>
          <a:p>
            <a:pPr marL="0" indent="0" algn="just">
              <a:buNone/>
            </a:pPr>
            <a:r>
              <a:rPr lang="en-US" sz="2000" dirty="0" smtClean="0">
                <a:latin typeface="Garamond" pitchFamily="18" charset="0"/>
              </a:rPr>
              <a:t>If Netflix (like </a:t>
            </a:r>
            <a:r>
              <a:rPr lang="en-US" sz="2000" dirty="0" err="1" smtClean="0">
                <a:latin typeface="Garamond" pitchFamily="18" charset="0"/>
              </a:rPr>
              <a:t>Uber</a:t>
            </a:r>
            <a:r>
              <a:rPr lang="en-US" sz="2000" dirty="0" smtClean="0">
                <a:latin typeface="Garamond" pitchFamily="18" charset="0"/>
              </a:rPr>
              <a:t>) had started by launching a service aimed at the core market of a larger competitor, Blockbuster's response would most likely have been a vigorous, and possibly successful, counterattack.</a:t>
            </a:r>
          </a:p>
          <a:p>
            <a:pPr marL="0" indent="0" algn="just">
              <a:buNone/>
            </a:pPr>
            <a:r>
              <a:rPr lang="en-US" sz="2000" dirty="0" smtClean="0">
                <a:latin typeface="Garamond" pitchFamily="18" charset="0"/>
              </a:rPr>
              <a:t>But failing to respond effectively to Netflix’s trajectory led to Blockbuster’s collapse.</a:t>
            </a:r>
          </a:p>
          <a:p>
            <a:pPr marL="0" indent="0" algn="just">
              <a:buNone/>
            </a:pPr>
            <a:r>
              <a:rPr lang="en-US" sz="2000" dirty="0" smtClean="0">
                <a:latin typeface="Garamond" pitchFamily="18" charset="0"/>
              </a:rPr>
              <a:t>Disruptive innovators often build very different business models than incumbents.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18</a:t>
            </a:fld>
            <a:endParaRPr lang="it-IT"/>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1" algn="ctr" rtl="0">
              <a:spcBef>
                <a:spcPct val="0"/>
              </a:spcBef>
            </a:pPr>
            <a:endParaRPr lang="it-IT" dirty="0"/>
          </a:p>
        </p:txBody>
      </p:sp>
      <p:sp>
        <p:nvSpPr>
          <p:cNvPr id="3" name="Segnaposto contenuto 2"/>
          <p:cNvSpPr>
            <a:spLocks noGrp="1"/>
          </p:cNvSpPr>
          <p:nvPr>
            <p:ph idx="1"/>
          </p:nvPr>
        </p:nvSpPr>
        <p:spPr/>
        <p:txBody>
          <a:bodyPr>
            <a:normAutofit/>
          </a:bodyPr>
          <a:lstStyle/>
          <a:p>
            <a:pPr marL="0" indent="0" algn="just">
              <a:buNone/>
            </a:pPr>
            <a:r>
              <a:rPr lang="en-US" sz="2000" dirty="0" smtClean="0">
                <a:latin typeface="Garamond" pitchFamily="18" charset="0"/>
              </a:rPr>
              <a:t>Examples from the health care sector are significant. General practitioners who operate out of their practices often rely on experience and test results to interpret patient symptoms, diagnose illness, and prescribe treatments.  This is called a "solution store" business model.</a:t>
            </a:r>
          </a:p>
          <a:p>
            <a:pPr marL="0" indent="0" algn="just">
              <a:buNone/>
            </a:pPr>
            <a:r>
              <a:rPr lang="en-US" sz="2000" dirty="0" smtClean="0">
                <a:latin typeface="Garamond" pitchFamily="18" charset="0"/>
              </a:rPr>
              <a:t>On the contrary, a number of health care clinics are embarking on a disruptive path, using a "process" business model: They follow standardized protocols to diagnose and treat a small but growing  number of ailments.</a:t>
            </a:r>
          </a:p>
          <a:p>
            <a:pPr marL="0" indent="0" algn="just">
              <a:buNone/>
            </a:pPr>
            <a:r>
              <a:rPr lang="en-US" sz="2000" dirty="0" smtClean="0">
                <a:latin typeface="Garamond" pitchFamily="18" charset="0"/>
              </a:rPr>
              <a:t>A high-profile example of employing an innovative business model to effect   an outage is Apple's </a:t>
            </a:r>
            <a:r>
              <a:rPr lang="en-US" sz="2000" dirty="0" err="1" smtClean="0">
                <a:latin typeface="Garamond" pitchFamily="18" charset="0"/>
              </a:rPr>
              <a:t>iPhone</a:t>
            </a:r>
            <a:r>
              <a:rPr lang="en-US" sz="2000" dirty="0" smtClean="0">
                <a:latin typeface="Garamond" pitchFamily="18" charset="0"/>
              </a:rPr>
              <a:t>. The product Apple debuted in 2007 was a sustaining innovation in the </a:t>
            </a:r>
            <a:r>
              <a:rPr lang="en-US" sz="2000" dirty="0" err="1" smtClean="0">
                <a:latin typeface="Garamond" pitchFamily="18" charset="0"/>
              </a:rPr>
              <a:t>smartphone</a:t>
            </a:r>
            <a:r>
              <a:rPr lang="en-US" sz="2000" dirty="0" smtClean="0">
                <a:latin typeface="Garamond" pitchFamily="18" charset="0"/>
              </a:rPr>
              <a:t> market.</a:t>
            </a:r>
          </a:p>
          <a:p>
            <a:pPr marL="0" indent="0" algn="just">
              <a:buNone/>
            </a:pPr>
            <a:r>
              <a:rPr lang="en-US" sz="2000" dirty="0" smtClean="0">
                <a:latin typeface="Garamond" pitchFamily="18" charset="0"/>
              </a:rPr>
              <a:t>It targeted the same customers coveted by incumbents, and the initial success was likely explained by the superiority of the product.</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19</a:t>
            </a:fld>
            <a:endParaRPr lang="it-IT"/>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1" algn="ctr" rtl="0">
              <a:spcBef>
                <a:spcPct val="0"/>
              </a:spcBef>
            </a:pPr>
            <a:endParaRPr lang="it-IT" dirty="0"/>
          </a:p>
        </p:txBody>
      </p:sp>
      <p:sp>
        <p:nvSpPr>
          <p:cNvPr id="3" name="Segnaposto contenuto 2"/>
          <p:cNvSpPr>
            <a:spLocks noGrp="1"/>
          </p:cNvSpPr>
          <p:nvPr>
            <p:ph idx="1"/>
          </p:nvPr>
        </p:nvSpPr>
        <p:spPr/>
        <p:txBody>
          <a:bodyPr>
            <a:normAutofit/>
          </a:bodyPr>
          <a:lstStyle/>
          <a:p>
            <a:pPr marL="0" indent="0" algn="just">
              <a:buNone/>
            </a:pPr>
            <a:r>
              <a:rPr lang="en-US" sz="2000" dirty="0" smtClean="0">
                <a:latin typeface="Garamond" pitchFamily="18" charset="0"/>
              </a:rPr>
              <a:t>But the subsequent growth of the </a:t>
            </a:r>
            <a:r>
              <a:rPr lang="en-US" sz="2000" dirty="0" err="1" smtClean="0">
                <a:latin typeface="Garamond" pitchFamily="18" charset="0"/>
              </a:rPr>
              <a:t>iPhone</a:t>
            </a:r>
            <a:r>
              <a:rPr lang="en-US" sz="2000" dirty="0" smtClean="0">
                <a:latin typeface="Garamond" pitchFamily="18" charset="0"/>
              </a:rPr>
              <a:t> is best explained by the “disruption,” not of other </a:t>
            </a:r>
            <a:r>
              <a:rPr lang="en-US" sz="2000" dirty="0" err="1" smtClean="0">
                <a:latin typeface="Garamond" pitchFamily="18" charset="0"/>
              </a:rPr>
              <a:t>smartphones</a:t>
            </a:r>
            <a:r>
              <a:rPr lang="en-US" sz="2000" dirty="0" smtClean="0">
                <a:latin typeface="Garamond" pitchFamily="18" charset="0"/>
              </a:rPr>
              <a:t>, but of the laptop as the main access point to the Internet.</a:t>
            </a:r>
          </a:p>
          <a:p>
            <a:pPr marL="0" indent="0" algn="just">
              <a:buNone/>
            </a:pPr>
            <a:r>
              <a:rPr lang="en-US" sz="2000" dirty="0" smtClean="0">
                <a:latin typeface="Garamond" pitchFamily="18" charset="0"/>
              </a:rPr>
              <a:t>This was achieved not only through product improvement, but also through a new business model: By creating a facilitated network that connects application developers with phone users, Apple changed the game.</a:t>
            </a:r>
          </a:p>
          <a:p>
            <a:pPr marL="0" indent="0" algn="just">
              <a:buNone/>
            </a:pPr>
            <a:r>
              <a:rPr lang="en-US" sz="2000" dirty="0" smtClean="0">
                <a:latin typeface="Garamond" pitchFamily="18" charset="0"/>
              </a:rPr>
              <a:t>The </a:t>
            </a:r>
            <a:r>
              <a:rPr lang="en-US" sz="2000" dirty="0" err="1" smtClean="0">
                <a:latin typeface="Garamond" pitchFamily="18" charset="0"/>
              </a:rPr>
              <a:t>iPhone</a:t>
            </a:r>
            <a:r>
              <a:rPr lang="en-US" sz="2000" dirty="0" smtClean="0">
                <a:latin typeface="Garamond" pitchFamily="18" charset="0"/>
              </a:rPr>
              <a:t> created a new market for internet access and was eventually able to challenge laptops as the device of choice for traditional online users.</a:t>
            </a:r>
          </a:p>
          <a:p>
            <a:pPr marL="0" indent="0" algn="just">
              <a:buNone/>
            </a:pPr>
            <a:r>
              <a:rPr lang="en-US" sz="2000" dirty="0" smtClean="0">
                <a:latin typeface="Garamond" pitchFamily="18" charset="0"/>
              </a:rPr>
              <a:t>Some disruptive innovations are successful; others are not.</a:t>
            </a:r>
          </a:p>
          <a:p>
            <a:pPr marL="0" indent="0" algn="just">
              <a:buNone/>
            </a:pPr>
            <a:r>
              <a:rPr lang="en-US" sz="2000" dirty="0" smtClean="0">
                <a:latin typeface="Garamond" pitchFamily="18" charset="0"/>
              </a:rPr>
              <a:t> Considering a company as disruptive by virtue of its success is a common mistake: Not all “triumphant” newcomers follow a disruptive path.</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20</a:t>
            </a:fld>
            <a:endParaRPr lang="it-IT"/>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1" algn="ctr" rtl="0">
              <a:spcBef>
                <a:spcPct val="0"/>
              </a:spcBef>
            </a:pPr>
            <a:endParaRPr lang="it-IT" dirty="0"/>
          </a:p>
        </p:txBody>
      </p:sp>
      <p:sp>
        <p:nvSpPr>
          <p:cNvPr id="3" name="Segnaposto contenuto 2"/>
          <p:cNvSpPr>
            <a:spLocks noGrp="1"/>
          </p:cNvSpPr>
          <p:nvPr>
            <p:ph idx="1"/>
          </p:nvPr>
        </p:nvSpPr>
        <p:spPr/>
        <p:txBody>
          <a:bodyPr>
            <a:normAutofit/>
          </a:bodyPr>
          <a:lstStyle/>
          <a:p>
            <a:pPr marL="0" indent="0" algn="just">
              <a:buNone/>
            </a:pPr>
            <a:r>
              <a:rPr lang="en-US" sz="2000" dirty="0" smtClean="0">
                <a:latin typeface="Garamond" pitchFamily="18" charset="0"/>
              </a:rPr>
              <a:t>If every business success were called a "disruption," companies that reach the top, in very different ways, would all be seen as using a common strategy for success.</a:t>
            </a:r>
          </a:p>
          <a:p>
            <a:pPr marL="0" indent="0" algn="just">
              <a:buNone/>
            </a:pPr>
            <a:r>
              <a:rPr lang="en-US" sz="2000" dirty="0" smtClean="0">
                <a:latin typeface="Garamond" pitchFamily="18" charset="0"/>
              </a:rPr>
              <a:t>This creates a danger: Managers could mix and match behaviors, which might be mutually inconsistent and, therefore, unlikely to produce the desired result.</a:t>
            </a:r>
          </a:p>
          <a:p>
            <a:pPr marL="0" indent="0" algn="just">
              <a:buNone/>
            </a:pPr>
            <a:r>
              <a:rPr lang="en-US" sz="2000" dirty="0" smtClean="0">
                <a:latin typeface="Garamond" pitchFamily="18" charset="0"/>
              </a:rPr>
              <a:t>For example, both </a:t>
            </a:r>
            <a:r>
              <a:rPr lang="en-US" sz="2000" dirty="0" err="1" smtClean="0">
                <a:latin typeface="Garamond" pitchFamily="18" charset="0"/>
              </a:rPr>
              <a:t>Uber</a:t>
            </a:r>
            <a:r>
              <a:rPr lang="en-US" sz="2000" dirty="0" smtClean="0">
                <a:latin typeface="Garamond" pitchFamily="18" charset="0"/>
              </a:rPr>
              <a:t> and Apple's </a:t>
            </a:r>
            <a:r>
              <a:rPr lang="en-US" sz="2000" dirty="0" err="1" smtClean="0">
                <a:latin typeface="Garamond" pitchFamily="18" charset="0"/>
              </a:rPr>
              <a:t>iPhone</a:t>
            </a:r>
            <a:r>
              <a:rPr lang="en-US" sz="2000" dirty="0" smtClean="0">
                <a:latin typeface="Garamond" pitchFamily="18" charset="0"/>
              </a:rPr>
              <a:t> owe their success to a platform-based model: </a:t>
            </a:r>
            <a:r>
              <a:rPr lang="en-US" sz="2000" dirty="0" err="1" smtClean="0">
                <a:latin typeface="Garamond" pitchFamily="18" charset="0"/>
              </a:rPr>
              <a:t>Uber</a:t>
            </a:r>
            <a:r>
              <a:rPr lang="en-US" sz="2000" dirty="0" smtClean="0">
                <a:latin typeface="Garamond" pitchFamily="18" charset="0"/>
              </a:rPr>
              <a:t> digitally connects customers with drivers; </a:t>
            </a:r>
            <a:r>
              <a:rPr lang="en-US" sz="2000" dirty="0" err="1" smtClean="0">
                <a:latin typeface="Garamond" pitchFamily="18" charset="0"/>
              </a:rPr>
              <a:t>iPhone</a:t>
            </a:r>
            <a:r>
              <a:rPr lang="en-US" sz="2000" dirty="0" smtClean="0">
                <a:latin typeface="Garamond" pitchFamily="18" charset="0"/>
              </a:rPr>
              <a:t> connects app developers with phone users.</a:t>
            </a:r>
          </a:p>
          <a:p>
            <a:pPr marL="0" indent="0" algn="just">
              <a:buNone/>
            </a:pPr>
            <a:r>
              <a:rPr lang="en-US" sz="2000" dirty="0" smtClean="0">
                <a:latin typeface="Garamond" pitchFamily="18" charset="0"/>
              </a:rPr>
              <a:t>But </a:t>
            </a:r>
            <a:r>
              <a:rPr lang="en-US" sz="2000" dirty="0" err="1" smtClean="0">
                <a:latin typeface="Garamond" pitchFamily="18" charset="0"/>
              </a:rPr>
              <a:t>Uber</a:t>
            </a:r>
            <a:r>
              <a:rPr lang="en-US" sz="2000" dirty="0" smtClean="0">
                <a:latin typeface="Garamond" pitchFamily="18" charset="0"/>
              </a:rPr>
              <a:t>, true to its nature as a sustaining innovation, has focused on expanding its network and functionality in ways that make it better than traditional taxis.</a:t>
            </a:r>
          </a:p>
          <a:p>
            <a:pPr marL="0" indent="0" algn="just">
              <a:buNone/>
            </a:pPr>
            <a:r>
              <a:rPr lang="en-US" sz="2000" dirty="0" smtClean="0">
                <a:latin typeface="Garamond" pitchFamily="18" charset="0"/>
              </a:rPr>
              <a:t>Apple, on the other hand, has followed a disruptive path, building an ecosystem of app developers to make the </a:t>
            </a:r>
            <a:r>
              <a:rPr lang="en-US" sz="2000" dirty="0" err="1" smtClean="0">
                <a:latin typeface="Garamond" pitchFamily="18" charset="0"/>
              </a:rPr>
              <a:t>iPhone</a:t>
            </a:r>
            <a:r>
              <a:rPr lang="en-US" sz="2000" dirty="0" smtClean="0">
                <a:latin typeface="Garamond" pitchFamily="18" charset="0"/>
              </a:rPr>
              <a:t> more like a personal computer.</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21</a:t>
            </a:fld>
            <a:endParaRPr lang="it-IT"/>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1" algn="ctr" rtl="0">
              <a:spcBef>
                <a:spcPct val="0"/>
              </a:spcBef>
            </a:pPr>
            <a:endParaRPr lang="it-IT" dirty="0"/>
          </a:p>
        </p:txBody>
      </p:sp>
      <p:sp>
        <p:nvSpPr>
          <p:cNvPr id="3" name="Segnaposto contenuto 2"/>
          <p:cNvSpPr>
            <a:spLocks noGrp="1"/>
          </p:cNvSpPr>
          <p:nvPr>
            <p:ph idx="1"/>
          </p:nvPr>
        </p:nvSpPr>
        <p:spPr/>
        <p:txBody>
          <a:bodyPr>
            <a:normAutofit/>
          </a:bodyPr>
          <a:lstStyle/>
          <a:p>
            <a:pPr marL="0" indent="0" algn="just">
              <a:buNone/>
            </a:pPr>
            <a:r>
              <a:rPr lang="en-US" sz="2000" dirty="0" smtClean="0">
                <a:latin typeface="Garamond" pitchFamily="18" charset="0"/>
              </a:rPr>
              <a:t>The mantra "innovate disruptively or be innovated and suffer disruption" can lead the analysis away from possible innovation.</a:t>
            </a:r>
          </a:p>
          <a:p>
            <a:pPr marL="0" indent="0" algn="just">
              <a:buNone/>
            </a:pPr>
            <a:r>
              <a:rPr lang="en-US" sz="2000" dirty="0" smtClean="0">
                <a:latin typeface="Garamond" pitchFamily="18" charset="0"/>
              </a:rPr>
              <a:t>Historic companies must respond to disruptive innovations if they occur, but they should not overreact, dismantling a still profitable business. Instead, they should continue to strengthen relationships with key  customers by investing in support for innovations.</a:t>
            </a:r>
          </a:p>
          <a:p>
            <a:pPr marL="0" indent="0" algn="just">
              <a:buNone/>
            </a:pPr>
            <a:r>
              <a:rPr lang="en-US" sz="2000" dirty="0" smtClean="0">
                <a:latin typeface="Garamond" pitchFamily="18" charset="0"/>
              </a:rPr>
              <a:t>Creating a new division, focused exclusively on growth opportunities deriving from disruption, is certainly a solution to be pursued, but without abandoning the main market.</a:t>
            </a:r>
          </a:p>
          <a:p>
            <a:pPr marL="0" indent="0" algn="just">
              <a:buNone/>
            </a:pPr>
            <a:r>
              <a:rPr lang="en-US" sz="2000" dirty="0" smtClean="0">
                <a:latin typeface="Garamond" pitchFamily="18" charset="0"/>
              </a:rPr>
              <a:t>Research suggests that the success of such a venture largely depends on keeping it separate from the “core business.”</a:t>
            </a:r>
          </a:p>
          <a:p>
            <a:pPr marL="0" indent="0" algn="just">
              <a:buNone/>
            </a:pPr>
            <a:r>
              <a:rPr lang="en-US" sz="2000" dirty="0" smtClean="0">
                <a:latin typeface="Garamond" pitchFamily="18" charset="0"/>
              </a:rPr>
              <a:t>This means that for some time, the "incumbents" and historic companies will find themselves managing two very different operations.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22</a:t>
            </a:fld>
            <a:endParaRPr lang="it-IT"/>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1" algn="ctr" rtl="0">
              <a:spcBef>
                <a:spcPct val="0"/>
              </a:spcBef>
            </a:pPr>
            <a:endParaRPr lang="it-IT" dirty="0"/>
          </a:p>
        </p:txBody>
      </p:sp>
      <p:sp>
        <p:nvSpPr>
          <p:cNvPr id="3" name="Segnaposto contenuto 2"/>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Of course, as the “disruptive” autonomous business grows, it could eventually “steal” customers from the “core,” but the company, at that point, would be ready.</a:t>
            </a:r>
          </a:p>
          <a:p>
            <a:pPr marL="0" indent="0" algn="just">
              <a:buNone/>
            </a:pPr>
            <a:r>
              <a:rPr lang="en-US" sz="2000" dirty="0" smtClean="0">
                <a:latin typeface="Garamond" pitchFamily="18" charset="0"/>
              </a:rPr>
              <a:t>Business leaders, in fact, should not try to solve this problem before it actually becomes "a real problem."</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23</a:t>
            </a:fld>
            <a:endParaRPr lang="it-IT"/>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pPr lvl="1" algn="ctr" rtl="0">
              <a:spcBef>
                <a:spcPct val="0"/>
              </a:spcBef>
            </a:pPr>
            <a:r>
              <a:rPr lang="en-US" sz="2200" b="1" dirty="0" smtClean="0">
                <a:solidFill>
                  <a:srgbClr val="FF0000"/>
                </a:solidFill>
                <a:latin typeface="Garamond" pitchFamily="18" charset="0"/>
              </a:rPr>
              <a:t>WHAT AN INNOVATIVE “DISRUPTIVE” LENS CAN REVEAL</a:t>
            </a:r>
            <a:r>
              <a:rPr lang="en-US" dirty="0" smtClean="0"/>
              <a:t/>
            </a:r>
            <a:br>
              <a:rPr lang="en-US" dirty="0" smtClean="0"/>
            </a:br>
            <a:endParaRPr lang="it-IT" dirty="0"/>
          </a:p>
        </p:txBody>
      </p:sp>
      <p:sp>
        <p:nvSpPr>
          <p:cNvPr id="3" name="Segnaposto contenuto 2"/>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It is rare for technologies or products to be inherently sustaining or disruptive. Thus, when a new technology is developed, disruption theory should not determine what managers do.</a:t>
            </a:r>
          </a:p>
          <a:p>
            <a:pPr marL="0" indent="0" algn="just">
              <a:buNone/>
            </a:pPr>
            <a:r>
              <a:rPr lang="en-US" sz="2000" dirty="0" smtClean="0">
                <a:latin typeface="Garamond" pitchFamily="18" charset="0"/>
              </a:rPr>
              <a:t>Rather, it should help managers make a strategic choice between a sustaining or a disruptive path.</a:t>
            </a:r>
          </a:p>
          <a:p>
            <a:pPr marL="0" indent="0" algn="just">
              <a:buNone/>
            </a:pPr>
            <a:r>
              <a:rPr lang="en-US" sz="2000" dirty="0" smtClean="0">
                <a:latin typeface="Garamond" pitchFamily="18" charset="0"/>
              </a:rPr>
              <a:t>When new technology emerges, disruption theory can guide strategic choices.</a:t>
            </a:r>
          </a:p>
          <a:p>
            <a:pPr marL="0" indent="0" algn="just">
              <a:buNone/>
            </a:pPr>
            <a:r>
              <a:rPr lang="en-US" sz="2000" dirty="0" smtClean="0">
                <a:latin typeface="Garamond" pitchFamily="18" charset="0"/>
              </a:rPr>
              <a:t>Initially, disruptive innovation theory was simply a correlation theory, and empirical results showed that incumbents outperformed competitors   with sustaining, rather than disruptive, innovations. </a:t>
            </a:r>
          </a:p>
          <a:p>
            <a:pPr marL="0" indent="0" algn="just">
              <a:buNone/>
            </a:pPr>
            <a:r>
              <a:rPr lang="en-US" sz="2000" dirty="0" smtClean="0">
                <a:latin typeface="Garamond" pitchFamily="18" charset="0"/>
              </a:rPr>
              <a:t>The reason for this correlation was not immediately evident, but as elements of the theory gradually came to light, two hypotheses have been identified.</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24</a:t>
            </a:fld>
            <a:endParaRPr lang="it-IT"/>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pPr lvl="1" algn="ctr" rtl="0">
              <a:spcBef>
                <a:spcPct val="0"/>
              </a:spcBef>
            </a:pPr>
            <a:r>
              <a:rPr lang="en-US" sz="2000" b="1" dirty="0" smtClean="0">
                <a:solidFill>
                  <a:srgbClr val="FF0000"/>
                </a:solidFill>
                <a:latin typeface="Garamond" pitchFamily="18" charset="0"/>
              </a:rPr>
              <a:t>FINAL CONSIDERATIONS: THE PROVOCATEURS:  INTELLIGENT INNOVATORS IMPROVE THEIR PRODUCTS AND INCREASE THE "HEIGHT" OF THE MARKET.</a:t>
            </a:r>
            <a:br>
              <a:rPr lang="en-US" sz="2000" b="1" dirty="0" smtClean="0">
                <a:solidFill>
                  <a:srgbClr val="FF0000"/>
                </a:solidFill>
                <a:latin typeface="Garamond" pitchFamily="18" charset="0"/>
              </a:rPr>
            </a:br>
            <a:endParaRPr lang="it-IT" sz="2000" b="1" dirty="0">
              <a:solidFill>
                <a:srgbClr val="FF0000"/>
              </a:solidFill>
              <a:latin typeface="Garamond" pitchFamily="18" charset="0"/>
            </a:endParaRPr>
          </a:p>
        </p:txBody>
      </p:sp>
      <p:sp>
        <p:nvSpPr>
          <p:cNvPr id="3" name="Segnaposto contenuto 2"/>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Researchers realized that a company's propensity for strategic change is profoundly influenced by customer interest, which provides the resources the company needs to survive.</a:t>
            </a:r>
          </a:p>
          <a:p>
            <a:pPr marL="0" indent="0" algn="just">
              <a:buNone/>
            </a:pPr>
            <a:r>
              <a:rPr lang="en-US" sz="2000" dirty="0" smtClean="0">
                <a:latin typeface="Garamond" pitchFamily="18" charset="0"/>
              </a:rPr>
              <a:t>In other words, incumbents listen to their existing customers and focus on sustaining innovations accordingly.</a:t>
            </a:r>
          </a:p>
          <a:p>
            <a:pPr marL="0" indent="0" algn="just">
              <a:buNone/>
            </a:pPr>
            <a:r>
              <a:rPr lang="en-US" sz="2000" dirty="0" smtClean="0">
                <a:latin typeface="Garamond" pitchFamily="18" charset="0"/>
              </a:rPr>
              <a:t>The researchers then had a second intuition: the focus of incumbents on existing customers is institutionalized in internal processes which make it difficult, even for senior managers, to shift investments towards disruptive innovations.</a:t>
            </a:r>
          </a:p>
          <a:p>
            <a:pPr marL="0" indent="0" algn="just">
              <a:buNone/>
            </a:pPr>
            <a:r>
              <a:rPr lang="en-US" sz="2000" dirty="0" smtClean="0">
                <a:latin typeface="Garamond" pitchFamily="18" charset="0"/>
              </a:rPr>
              <a:t>With these explanations in hand, the theory of disruptive innovation has moved beyond the simple correlation of causality.</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25</a:t>
            </a:fld>
            <a:endParaRPr lang="it-IT"/>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000" b="1" dirty="0">
              <a:solidFill>
                <a:srgbClr val="FF0000"/>
              </a:solidFill>
              <a:latin typeface="Garamond" pitchFamily="18" charset="0"/>
            </a:endParaRPr>
          </a:p>
        </p:txBody>
      </p:sp>
      <p:sp>
        <p:nvSpPr>
          <p:cNvPr id="3" name="Segnaposto contenuto 2"/>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key elements of this theory have been tested and validated through the study of many sectors including retail, computers, printing, motorcycles, automobiles, semiconductors, cardiovascular surgery, management education, financial services, management consulting, photography, communications, and software design.</a:t>
            </a:r>
          </a:p>
          <a:p>
            <a:pPr marL="0" indent="0" algn="just">
              <a:buNone/>
            </a:pPr>
            <a:r>
              <a:rPr lang="en-US" sz="2000" dirty="0" smtClean="0">
                <a:latin typeface="Garamond" pitchFamily="18" charset="0"/>
              </a:rPr>
              <a:t>Understanding what determines the rate of disruption is useful for predicting outcomes, but this does not alter how disruptive innovations should be handled.</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26</a:t>
            </a:fld>
            <a:endParaRPr lang="it-IT"/>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000" b="1" dirty="0">
              <a:solidFill>
                <a:srgbClr val="FF0000"/>
              </a:solidFill>
              <a:latin typeface="Garamond" pitchFamily="18" charset="0"/>
            </a:endParaRPr>
          </a:p>
        </p:txBody>
      </p:sp>
      <p:sp>
        <p:nvSpPr>
          <p:cNvPr id="3" name="Segnaposto contenuto 2"/>
          <p:cNvSpPr>
            <a:spLocks noGrp="1"/>
          </p:cNvSpPr>
          <p:nvPr>
            <p:ph idx="1"/>
          </p:nvPr>
        </p:nvSpPr>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theory of disruptive innovation needs to continue expanding and improving, and much work remains to be done.</a:t>
            </a:r>
          </a:p>
          <a:p>
            <a:pPr marL="0" indent="0" algn="just">
              <a:buNone/>
            </a:pPr>
            <a:r>
              <a:rPr lang="en-US" sz="2000" dirty="0" smtClean="0">
                <a:latin typeface="Garamond" pitchFamily="18" charset="0"/>
              </a:rPr>
              <a:t>The current belief is that companies should create a separate division, operating under senior leadership, to explore and exploit disruptive new models that might or might not work.</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27</a:t>
            </a:fld>
            <a:endParaRPr lang="it-IT"/>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000" b="1" dirty="0">
              <a:solidFill>
                <a:srgbClr val="FF0000"/>
              </a:solidFill>
              <a:latin typeface="Garamond" pitchFamily="18" charset="0"/>
            </a:endParaRPr>
          </a:p>
        </p:txBody>
      </p:sp>
      <p:sp>
        <p:nvSpPr>
          <p:cNvPr id="3" name="Segnaposto contenuto 2"/>
          <p:cNvSpPr>
            <a:spLocks noGrp="1"/>
          </p:cNvSpPr>
          <p:nvPr>
            <p:ph idx="1"/>
          </p:nvPr>
        </p:nvSpPr>
        <p:spPr>
          <a:xfrm>
            <a:off x="428596" y="1500174"/>
            <a:ext cx="8229600" cy="4525963"/>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In some cases, a failed response to a disruptive threat cannot be attributed to a lack of understanding, insufficient executive attention, or inadequate financial investment.</a:t>
            </a:r>
          </a:p>
          <a:p>
            <a:pPr marL="0" indent="0" algn="just">
              <a:buNone/>
            </a:pPr>
            <a:r>
              <a:rPr lang="en-US" sz="2000" dirty="0" smtClean="0">
                <a:latin typeface="Garamond" pitchFamily="18" charset="0"/>
              </a:rPr>
              <a:t>But there is reason for hope: Empirical tests have shown that the use of disruptive theory makes us significantly more accurate in predicting the activities that will be successful.</a:t>
            </a:r>
          </a:p>
          <a:p>
            <a:pPr marL="0" indent="0" algn="just">
              <a:buNone/>
            </a:pPr>
            <a:r>
              <a:rPr lang="en-US" sz="2000" dirty="0" smtClean="0">
                <a:latin typeface="Garamond" pitchFamily="18" charset="0"/>
              </a:rPr>
              <a:t>As a growing community of researchers and practitioners continues to work on disruption theory and integrate it with other perspectives, understanding of what helps companies innovate successfully will continue to develop.</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28</a:t>
            </a:fld>
            <a:endParaRPr lang="it-IT"/>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000" b="1" dirty="0">
              <a:solidFill>
                <a:srgbClr val="FF0000"/>
              </a:solidFill>
              <a:latin typeface="Garamond" pitchFamily="18" charset="0"/>
            </a:endParaRPr>
          </a:p>
        </p:txBody>
      </p:sp>
      <p:sp>
        <p:nvSpPr>
          <p:cNvPr id="3" name="Segnaposto contenuto 2"/>
          <p:cNvSpPr>
            <a:spLocks noGrp="1"/>
          </p:cNvSpPr>
          <p:nvPr>
            <p:ph idx="1"/>
          </p:nvPr>
        </p:nvSpPr>
        <p:spPr>
          <a:xfrm>
            <a:off x="428596" y="1500174"/>
            <a:ext cx="8229600" cy="4525963"/>
          </a:xfrm>
        </p:spPr>
        <p:txBody>
          <a:bodyPr>
            <a:normAutofit/>
          </a:bodyPr>
          <a:lstStyle/>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Today, the blockchain addresses the desires of the market and the evolution of technological systems to support change in and improvement of business models, products, and services! The blockchain is a new, innovative and, in some ways, revolutionary technology, that will modify not only industry and commerce and but also relationships and transactions between citizens and states, between consumers and companies, and between investors and financial markets.</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29</a:t>
            </a:fld>
            <a:endParaRPr lang="it-IT"/>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pPr lvl="1" algn="ctr" rtl="0">
              <a:spcBef>
                <a:spcPct val="0"/>
              </a:spcBef>
            </a:pPr>
            <a:endParaRPr lang="it-IT" sz="2000" b="1" dirty="0">
              <a:solidFill>
                <a:srgbClr val="FF0000"/>
              </a:solidFill>
              <a:latin typeface="Garamond" pitchFamily="18" charset="0"/>
            </a:endParaRPr>
          </a:p>
        </p:txBody>
      </p:sp>
      <p:sp>
        <p:nvSpPr>
          <p:cNvPr id="3" name="Segnaposto contenuto 2"/>
          <p:cNvSpPr>
            <a:spLocks noGrp="1"/>
          </p:cNvSpPr>
          <p:nvPr>
            <p:ph idx="1"/>
          </p:nvPr>
        </p:nvSpPr>
        <p:spPr>
          <a:xfrm>
            <a:off x="428596" y="1500174"/>
            <a:ext cx="8229600" cy="4525963"/>
          </a:xfrm>
        </p:spPr>
        <p:txBody>
          <a:bodyPr>
            <a:normAutofit/>
          </a:bodyPr>
          <a:lstStyle/>
          <a:p>
            <a:pPr marL="0" indent="0" algn="just">
              <a:buNone/>
            </a:pPr>
            <a:endParaRPr lang="en-US" sz="2000" dirty="0" smtClean="0">
              <a:latin typeface="Garamond" pitchFamily="18" charset="0"/>
            </a:endParaRPr>
          </a:p>
          <a:p>
            <a:pPr marL="0" indent="0" algn="just">
              <a:buNone/>
            </a:pPr>
            <a:r>
              <a:rPr lang="en-US" sz="2000" dirty="0" smtClean="0">
                <a:latin typeface="Garamond" pitchFamily="18" charset="0"/>
              </a:rPr>
              <a:t>The study of the blockchain regards, in particular, the training of students at all levels since it will become an indispensable tool for their intellectual and professional growth.  Hence the commitment to study the blockchain in academia is both lavish and pronounced. </a:t>
            </a:r>
          </a:p>
          <a:p>
            <a:pPr marL="0" indent="0" algn="just">
              <a:buNone/>
            </a:pPr>
            <a:r>
              <a:rPr lang="en-US" sz="2000" dirty="0" smtClean="0">
                <a:latin typeface="Garamond" pitchFamily="18" charset="0"/>
              </a:rPr>
              <a:t>The future is today, and today the future is the blockchain.</a:t>
            </a:r>
          </a:p>
          <a:p>
            <a:pPr marL="0" indent="0" algn="just">
              <a:buNone/>
            </a:pPr>
            <a:endParaRPr lang="it-IT" sz="2000" dirty="0">
              <a:latin typeface="Garamond" pitchFamily="18" charset="0"/>
            </a:endParaRPr>
          </a:p>
        </p:txBody>
      </p:sp>
      <p:sp>
        <p:nvSpPr>
          <p:cNvPr id="4" name="Segnaposto numero diapositiva 3"/>
          <p:cNvSpPr>
            <a:spLocks noGrp="1"/>
          </p:cNvSpPr>
          <p:nvPr>
            <p:ph type="sldNum" sz="quarter" idx="12"/>
          </p:nvPr>
        </p:nvSpPr>
        <p:spPr/>
        <p:txBody>
          <a:bodyPr/>
          <a:lstStyle/>
          <a:p>
            <a:fld id="{6A037524-BE4B-42AE-9CE2-18539AD13956}" type="slidenum">
              <a:rPr lang="it-IT" smtClean="0"/>
              <a:pPr/>
              <a:t>30</a:t>
            </a:fld>
            <a:endParaRPr lang="it-IT"/>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166</TotalTime>
  <Words>3428</Words>
  <Application>Microsoft Office PowerPoint</Application>
  <PresentationFormat>Presentazione su schermo (4:3)</PresentationFormat>
  <Paragraphs>169</Paragraphs>
  <Slides>30</Slides>
  <Notes>0</Notes>
  <HiddenSlides>0</HiddenSlides>
  <MMClips>0</MMClips>
  <ScaleCrop>false</ScaleCrop>
  <HeadingPairs>
    <vt:vector size="4" baseType="variant">
      <vt:variant>
        <vt:lpstr>Tema</vt:lpstr>
      </vt:variant>
      <vt:variant>
        <vt:i4>1</vt:i4>
      </vt:variant>
      <vt:variant>
        <vt:lpstr>Titoli diapositive</vt:lpstr>
      </vt:variant>
      <vt:variant>
        <vt:i4>30</vt:i4>
      </vt:variant>
    </vt:vector>
  </HeadingPairs>
  <TitlesOfParts>
    <vt:vector size="31" baseType="lpstr">
      <vt:lpstr>Tema di Office</vt:lpstr>
      <vt:lpstr>LEZIONE N. 1</vt:lpstr>
      <vt:lpstr>BLOCKCHAIN FOR STUDENTS AROUND THE WORLD: THE RBS HUB BLOCKCHAIN EXAMPLE</vt:lpstr>
      <vt:lpstr>Diapositiva 3</vt:lpstr>
      <vt:lpstr>Diapositiva 4</vt:lpstr>
      <vt:lpstr>Diapositiva 5</vt:lpstr>
      <vt:lpstr>Diapositiva 6</vt:lpstr>
      <vt:lpstr>THE OBJECTIVE OF THE CURRENT LESSON: WHAT IS A DISRUPTIVE INNOVATION? </vt:lpstr>
      <vt:lpstr>Diapositiva 8</vt:lpstr>
      <vt:lpstr>THE CASE: IS UBER A DISRUPTIVE INNOVATION? </vt:lpstr>
      <vt:lpstr>Diapositiva 10</vt:lpstr>
      <vt:lpstr>Diapositiva 11</vt:lpstr>
      <vt:lpstr>Diapositiva 12</vt:lpstr>
      <vt:lpstr>Diapositiva 13</vt:lpstr>
      <vt:lpstr>Diapositiva 14</vt:lpstr>
      <vt:lpstr>WHY ASKING THE RIGHT QUESTION IS IMPORTANT </vt:lpstr>
      <vt:lpstr>Diapositiva 16</vt:lpstr>
      <vt:lpstr>Diapositiva 17</vt:lpstr>
      <vt:lpstr>SINCE DISRUPTION CAN TAKE TIME,   INCOMBENTS OFTEN OVERLOOK THE “REFORMERS.” </vt:lpstr>
      <vt:lpstr>Diapositiva 19</vt:lpstr>
      <vt:lpstr>Diapositiva 20</vt:lpstr>
      <vt:lpstr>Diapositiva 21</vt:lpstr>
      <vt:lpstr>Diapositiva 22</vt:lpstr>
      <vt:lpstr>Diapositiva 23</vt:lpstr>
      <vt:lpstr>WHAT AN INNOVATIVE “DISRUPTIVE” LENS CAN REVEAL </vt:lpstr>
      <vt:lpstr>FINAL CONSIDERATIONS: THE PROVOCATEURS:  INTELLIGENT INNOVATORS IMPROVE THEIR PRODUCTS AND INCREASE THE "HEIGHT" OF THE MARKET. </vt:lpstr>
      <vt:lpstr>Diapositiva 26</vt:lpstr>
      <vt:lpstr>Diapositiva 27</vt:lpstr>
      <vt:lpstr>Diapositiva 28</vt:lpstr>
      <vt:lpstr>Diapositiva 29</vt:lpstr>
      <vt:lpstr>Diapositiva 30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Alessandro</dc:creator>
  <cp:lastModifiedBy>Alessandro</cp:lastModifiedBy>
  <cp:revision>29</cp:revision>
  <dcterms:created xsi:type="dcterms:W3CDTF">2022-09-16T10:16:52Z</dcterms:created>
  <dcterms:modified xsi:type="dcterms:W3CDTF">2024-05-15T10:21:00Z</dcterms:modified>
</cp:coreProperties>
</file>