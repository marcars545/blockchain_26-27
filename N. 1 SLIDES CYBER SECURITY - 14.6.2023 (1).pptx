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7"/>
  </p:notesMasterIdLst>
  <p:sldIdLst>
    <p:sldId id="257" r:id="rId2"/>
    <p:sldId id="325"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02" r:id="rId26"/>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8"/>
    <p:restoredTop sz="94671"/>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1"/>
            <a:ext cx="2945659" cy="496332"/>
          </a:xfrm>
          <a:prstGeom prst="rect">
            <a:avLst/>
          </a:prstGeom>
        </p:spPr>
        <p:txBody>
          <a:bodyPr vert="horz" lIns="95562" tIns="47781" rIns="95562" bIns="47781" rtlCol="0"/>
          <a:lstStyle>
            <a:lvl1pPr algn="l">
              <a:defRPr sz="1300"/>
            </a:lvl1pPr>
          </a:lstStyle>
          <a:p>
            <a:endParaRPr lang="it-IT"/>
          </a:p>
        </p:txBody>
      </p:sp>
      <p:sp>
        <p:nvSpPr>
          <p:cNvPr id="3" name="Segnaposto data 2"/>
          <p:cNvSpPr>
            <a:spLocks noGrp="1"/>
          </p:cNvSpPr>
          <p:nvPr>
            <p:ph type="dt" idx="1"/>
          </p:nvPr>
        </p:nvSpPr>
        <p:spPr>
          <a:xfrm>
            <a:off x="3850443" y="1"/>
            <a:ext cx="2945659" cy="496332"/>
          </a:xfrm>
          <a:prstGeom prst="rect">
            <a:avLst/>
          </a:prstGeom>
        </p:spPr>
        <p:txBody>
          <a:bodyPr vert="horz" lIns="95562" tIns="47781" rIns="95562" bIns="47781" rtlCol="0"/>
          <a:lstStyle>
            <a:lvl1pPr algn="r">
              <a:defRPr sz="1300"/>
            </a:lvl1pPr>
          </a:lstStyle>
          <a:p>
            <a:fld id="{68E94025-8EA9-47ED-89F2-4A4A51FFF833}" type="datetimeFigureOut">
              <a:rPr lang="it-IT" smtClean="0"/>
              <a:pPr/>
              <a:t>19/07/2023</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5562" tIns="47781" rIns="95562" bIns="47781"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5562" tIns="47781" rIns="95562" bIns="47781"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428584"/>
            <a:ext cx="2945659" cy="496332"/>
          </a:xfrm>
          <a:prstGeom prst="rect">
            <a:avLst/>
          </a:prstGeom>
        </p:spPr>
        <p:txBody>
          <a:bodyPr vert="horz" lIns="95562" tIns="47781" rIns="95562" bIns="47781" rtlCol="0" anchor="b"/>
          <a:lstStyle>
            <a:lvl1pPr algn="l">
              <a:defRPr sz="1300"/>
            </a:lvl1pPr>
          </a:lstStyle>
          <a:p>
            <a:endParaRPr lang="it-IT"/>
          </a:p>
        </p:txBody>
      </p:sp>
      <p:sp>
        <p:nvSpPr>
          <p:cNvPr id="7" name="Segnaposto numero diapositiva 6"/>
          <p:cNvSpPr>
            <a:spLocks noGrp="1"/>
          </p:cNvSpPr>
          <p:nvPr>
            <p:ph type="sldNum" sz="quarter" idx="5"/>
          </p:nvPr>
        </p:nvSpPr>
        <p:spPr>
          <a:xfrm>
            <a:off x="3850443" y="9428584"/>
            <a:ext cx="2945659" cy="496332"/>
          </a:xfrm>
          <a:prstGeom prst="rect">
            <a:avLst/>
          </a:prstGeom>
        </p:spPr>
        <p:txBody>
          <a:bodyPr vert="horz" lIns="95562" tIns="47781" rIns="95562" bIns="47781" rtlCol="0" anchor="b"/>
          <a:lstStyle>
            <a:lvl1pPr algn="r">
              <a:defRPr sz="1300"/>
            </a:lvl1pPr>
          </a:lstStyle>
          <a:p>
            <a:fld id="{4F667EAE-DD3D-4991-B8B5-E941BC1D783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extLst>
      <p:ext uri="{BB962C8B-B14F-4D97-AF65-F5344CB8AC3E}">
        <p14:creationId xmlns:p14="http://schemas.microsoft.com/office/powerpoint/2010/main" xmlns=""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en-GB"/>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GB"/>
          </a:p>
        </p:txBody>
      </p:sp>
      <p:sp>
        <p:nvSpPr>
          <p:cNvPr id="4" name="Segnaposto data 3"/>
          <p:cNvSpPr>
            <a:spLocks noGrp="1"/>
          </p:cNvSpPr>
          <p:nvPr>
            <p:ph type="dt" sz="half" idx="10"/>
          </p:nvPr>
        </p:nvSpPr>
        <p:spPr/>
        <p:txBody>
          <a:bodyPr/>
          <a:lstStyle/>
          <a:p>
            <a:fld id="{859FAD97-6220-46BC-A04D-EC7B5463F261}" type="datetime1">
              <a:rPr lang="it-IT" smtClean="0"/>
              <a:pPr/>
              <a:t>19/07/2023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41D63920-911E-434C-B882-1720AD541A1A}" type="datetime1">
              <a:rPr lang="it-IT" smtClean="0"/>
              <a:pPr/>
              <a:t>19/07/2023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en-GB"/>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F74EED18-8494-4E70-B8C5-3709F52B965A}" type="datetime1">
              <a:rPr lang="it-IT" smtClean="0"/>
              <a:pPr/>
              <a:t>19/07/2023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data 4"/>
          <p:cNvSpPr>
            <a:spLocks noGrp="1"/>
          </p:cNvSpPr>
          <p:nvPr>
            <p:ph type="dt" sz="half" idx="10"/>
          </p:nvPr>
        </p:nvSpPr>
        <p:spPr/>
        <p:txBody>
          <a:bodyPr/>
          <a:lstStyle/>
          <a:p>
            <a:fld id="{43451C66-7764-482E-97EB-13BDE4361050}" type="datetime1">
              <a:rPr lang="it-IT" smtClean="0"/>
              <a:pPr/>
              <a:t>19/07/2023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en-GB"/>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7" name="Segnaposto data 6"/>
          <p:cNvSpPr>
            <a:spLocks noGrp="1"/>
          </p:cNvSpPr>
          <p:nvPr>
            <p:ph type="dt" sz="half" idx="10"/>
          </p:nvPr>
        </p:nvSpPr>
        <p:spPr/>
        <p:txBody>
          <a:bodyPr/>
          <a:lstStyle/>
          <a:p>
            <a:fld id="{C6980AF3-3558-4353-9A1B-97783ECB2356}" type="datetime1">
              <a:rPr lang="it-IT" smtClean="0"/>
              <a:pPr/>
              <a:t>19/07/2023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data 2"/>
          <p:cNvSpPr>
            <a:spLocks noGrp="1"/>
          </p:cNvSpPr>
          <p:nvPr>
            <p:ph type="dt" sz="half" idx="10"/>
          </p:nvPr>
        </p:nvSpPr>
        <p:spPr/>
        <p:txBody>
          <a:bodyPr/>
          <a:lstStyle/>
          <a:p>
            <a:fld id="{E7DB4C6C-038D-439D-A0D3-93BA37D603F3}" type="datetime1">
              <a:rPr lang="it-IT" smtClean="0"/>
              <a:pPr/>
              <a:t>19/07/2023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8851C53-2349-49BF-A59A-3ECD309B579D}" type="datetime1">
              <a:rPr lang="it-IT" smtClean="0"/>
              <a:pPr/>
              <a:t>19/07/2023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en-GB"/>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6C0DD49-8EB9-469A-AC15-74E1587308F3}" type="datetime1">
              <a:rPr lang="it-IT" smtClean="0"/>
              <a:pPr/>
              <a:t>19/07/2023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en-GB"/>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A8AB0DF-42E6-4245-A2AC-CBE029DDFEE3}" type="datetime1">
              <a:rPr lang="it-IT" smtClean="0"/>
              <a:pPr/>
              <a:t>19/07/2023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1B84F504-8FE4-46EC-8D42-C4557046C9D4}" type="datetime1">
              <a:rPr lang="it-IT" smtClean="0"/>
              <a:pPr/>
              <a:t>19/07/2023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en-GB"/>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2443764-E5AA-408D-91E9-74FDD4D477B0}" type="datetime1">
              <a:rPr lang="it-IT" smtClean="0"/>
              <a:pPr/>
              <a:t>19/07/2023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en-GB"/>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43764-E5AA-408D-91E9-74FDD4D477B0}" type="datetime1">
              <a:rPr lang="it-IT" smtClean="0"/>
              <a:pPr/>
              <a:t>19/07/2023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83E0D9-6B5A-4763-BA47-795144931228}"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a:xfrm>
            <a:off x="685800" y="2130425"/>
            <a:ext cx="7772400" cy="2584459"/>
          </a:xfrm>
        </p:spPr>
        <p:txBody>
          <a:bodyPr>
            <a:normAutofit/>
          </a:bodyPr>
          <a:lstStyle/>
          <a:p>
            <a:r>
              <a:rPr lang="it-IT" sz="2800" b="1" dirty="0" smtClean="0">
                <a:solidFill>
                  <a:srgbClr val="FF0000"/>
                </a:solidFill>
                <a:latin typeface="Garamond" pitchFamily="18" charset="0"/>
              </a:rPr>
              <a:t>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DIGITAL AWARNESS</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
            </a:r>
            <a:br>
              <a:rPr lang="it-IT" sz="2800" b="1" dirty="0" smtClean="0">
                <a:solidFill>
                  <a:srgbClr val="FF0000"/>
                </a:solidFill>
                <a:latin typeface="Garamond" pitchFamily="18" charset="0"/>
              </a:rPr>
            </a:br>
            <a:r>
              <a:rPr lang="it-IT" sz="2800" b="1" dirty="0" smtClean="0">
                <a:solidFill>
                  <a:srgbClr val="FF0000"/>
                </a:solidFill>
                <a:latin typeface="Garamond" pitchFamily="18" charset="0"/>
              </a:rPr>
              <a:t>1</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it-IT" sz="2400" b="1" dirty="0" smtClean="0">
                <a:solidFill>
                  <a:srgbClr val="FF0000"/>
                </a:solidFill>
                <a:latin typeface="Garamond" pitchFamily="18" charset="0"/>
              </a:rPr>
              <a:t>INDEX </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457200" y="2143116"/>
            <a:ext cx="8229600" cy="3643338"/>
          </a:xfrm>
        </p:spPr>
        <p:txBody>
          <a:bodyPr>
            <a:normAutofit/>
          </a:bodyPr>
          <a:lstStyle/>
          <a:p>
            <a:pPr marL="457200" indent="-457200" algn="just">
              <a:buFont typeface="+mj-lt"/>
              <a:buAutoNum type="arabicPeriod"/>
            </a:pPr>
            <a:r>
              <a:rPr lang="en-US" sz="2000" b="1" dirty="0" smtClean="0">
                <a:latin typeface="Garamond" pitchFamily="18" charset="0"/>
              </a:rPr>
              <a:t>Introduction </a:t>
            </a:r>
          </a:p>
          <a:p>
            <a:pPr marL="457200" indent="-457200" algn="just">
              <a:buFont typeface="+mj-lt"/>
              <a:buAutoNum type="arabicPeriod"/>
            </a:pPr>
            <a:r>
              <a:rPr lang="en-US" sz="2000" b="1" dirty="0" smtClean="0">
                <a:latin typeface="Garamond" pitchFamily="18" charset="0"/>
              </a:rPr>
              <a:t>Awareness of the Media</a:t>
            </a:r>
          </a:p>
          <a:p>
            <a:pPr marL="457200" indent="-457200" algn="just">
              <a:buFont typeface="+mj-lt"/>
              <a:buAutoNum type="arabicPeriod"/>
            </a:pPr>
            <a:r>
              <a:rPr lang="en-US" sz="2000" b="1" dirty="0" smtClean="0">
                <a:latin typeface="Garamond" pitchFamily="18" charset="0"/>
              </a:rPr>
              <a:t>Ethical Aspects: Online Freedom and Privacy</a:t>
            </a:r>
          </a:p>
          <a:p>
            <a:pPr marL="457200" indent="-457200" algn="just">
              <a:buFont typeface="+mj-lt"/>
              <a:buAutoNum type="arabicPeriod"/>
            </a:pPr>
            <a:r>
              <a:rPr lang="en-US" sz="2000" b="1" dirty="0" smtClean="0">
                <a:latin typeface="Garamond" pitchFamily="18" charset="0"/>
              </a:rPr>
              <a:t>Being Online? Choosing How to Represent Yourself</a:t>
            </a:r>
          </a:p>
          <a:p>
            <a:pPr marL="457200" indent="-457200" algn="just">
              <a:buFont typeface="+mj-lt"/>
              <a:buAutoNum type="arabicPeriod"/>
            </a:pPr>
            <a:r>
              <a:rPr lang="en-US" sz="2000" b="1" dirty="0" smtClean="0">
                <a:latin typeface="Garamond" pitchFamily="18" charset="0"/>
              </a:rPr>
              <a:t>Security Philosophy</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it-IT" sz="2400" b="1" dirty="0" smtClean="0">
                <a:solidFill>
                  <a:srgbClr val="FF0000"/>
                </a:solidFill>
                <a:latin typeface="Garamond" pitchFamily="18" charset="0"/>
              </a:rPr>
              <a:t>INTRODUCTION</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The fact that the digital revolution has given people new digital devices and the applications they contain, without a guide, manual, or instruction, has led us to wonder too little about how, how much, and even why we choose to use them. Learning how these digital tools work through direct, autonomous, and individual use has discouraged the development of a philosophy of digital technologies. Today this is becoming increasingly necessary, especially for the younger generation. </a:t>
            </a:r>
          </a:p>
          <a:p>
            <a:pPr marL="0" indent="0" algn="ctr">
              <a:buNone/>
            </a:pPr>
            <a:r>
              <a:rPr lang="en-US" sz="2000" dirty="0" smtClean="0">
                <a:latin typeface="Garamond" pitchFamily="18" charset="0"/>
              </a:rPr>
              <a:t>These “digital natives” are the most expert in using such tools because they are a generation born and raised with digital Internet. But now the digital Internet is permeating their lives making the need for digital education and a digital culture essential.</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it-IT" sz="2400" b="1" dirty="0" smtClean="0">
                <a:solidFill>
                  <a:srgbClr val="FF0000"/>
                </a:solidFill>
                <a:latin typeface="Garamond" pitchFamily="18" charset="0"/>
              </a:rPr>
              <a:t>AWARENESS OF THE MEDIA</a:t>
            </a:r>
            <a:endParaRPr lang="it-IT" sz="24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u="sng" dirty="0" smtClean="0">
                <a:latin typeface="Garamond" pitchFamily="18" charset="0"/>
              </a:rPr>
              <a:t>The first objective </a:t>
            </a:r>
            <a:r>
              <a:rPr lang="en-US" sz="2000" dirty="0" smtClean="0">
                <a:latin typeface="Garamond" pitchFamily="18" charset="0"/>
              </a:rPr>
              <a:t>is helping the user increase awareness of the logistics of social media; </a:t>
            </a:r>
            <a:r>
              <a:rPr lang="en-US" sz="2000" u="sng" dirty="0" smtClean="0">
                <a:latin typeface="Garamond" pitchFamily="18" charset="0"/>
              </a:rPr>
              <a:t>the second objective </a:t>
            </a:r>
            <a:r>
              <a:rPr lang="en-US" sz="2000" dirty="0" smtClean="0">
                <a:latin typeface="Garamond" pitchFamily="18" charset="0"/>
              </a:rPr>
              <a:t>is to propose strategies for a reasoned and positive use of the digital medium. Gaining awareness means, first of all, being informed about the subject. And the difference between knowing and being aware of a subject is that awareness means internalizing a subject, making it one's own, and conducting oneself accordingly. This is awareness of risk, The awareness of our own abilities will guide our behaviors. Since the nineties, we have been talking about new media. </a:t>
            </a:r>
          </a:p>
          <a:p>
            <a:pPr marL="0" indent="0" algn="just">
              <a:buNone/>
            </a:pPr>
            <a:r>
              <a:rPr lang="en-US" sz="2000" dirty="0" smtClean="0">
                <a:latin typeface="Garamond" pitchFamily="18" charset="0"/>
              </a:rPr>
              <a:t>The main distinction is linked to technology: traditional media are analogical, while new media are digital.</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u="sng" dirty="0" smtClean="0">
                <a:latin typeface="Garamond" pitchFamily="18" charset="0"/>
              </a:rPr>
              <a:t>Digitization is the process </a:t>
            </a:r>
            <a:r>
              <a:rPr lang="en-US" sz="2000" dirty="0" smtClean="0">
                <a:latin typeface="Garamond" pitchFamily="18" charset="0"/>
              </a:rPr>
              <a:t>through which all information is translated, created, and modified in a binary language. In the new media, in fact, "any information, in order to be archived or processed (by a computer) must be digitized.</a:t>
            </a:r>
          </a:p>
          <a:p>
            <a:pPr marL="0" indent="0" algn="ctr">
              <a:buNone/>
            </a:pPr>
            <a:r>
              <a:rPr lang="en-US" sz="2000" u="sng" dirty="0" smtClean="0">
                <a:latin typeface="Garamond" pitchFamily="18" charset="0"/>
              </a:rPr>
              <a:t>"Binary numerical representation</a:t>
            </a:r>
            <a:r>
              <a:rPr lang="en-US" sz="2000" dirty="0" smtClean="0">
                <a:latin typeface="Garamond" pitchFamily="18" charset="0"/>
              </a:rPr>
              <a:t> of data is the first principle, which defines digital media, along with the principles of </a:t>
            </a:r>
            <a:r>
              <a:rPr lang="en-US" sz="2000" u="sng" dirty="0" smtClean="0">
                <a:latin typeface="Garamond" pitchFamily="18" charset="0"/>
              </a:rPr>
              <a:t>modularity</a:t>
            </a:r>
            <a:r>
              <a:rPr lang="en-US" sz="2000" dirty="0" smtClean="0">
                <a:latin typeface="Garamond" pitchFamily="18" charset="0"/>
              </a:rPr>
              <a:t>, </a:t>
            </a:r>
            <a:r>
              <a:rPr lang="en-US" sz="2000" u="sng" dirty="0" smtClean="0">
                <a:latin typeface="Garamond" pitchFamily="18" charset="0"/>
              </a:rPr>
              <a:t>automation</a:t>
            </a:r>
            <a:r>
              <a:rPr lang="en-US" sz="2000" dirty="0" smtClean="0">
                <a:latin typeface="Garamond" pitchFamily="18" charset="0"/>
              </a:rPr>
              <a:t>, </a:t>
            </a:r>
            <a:r>
              <a:rPr lang="en-US" sz="2000" u="sng" dirty="0" smtClean="0">
                <a:latin typeface="Garamond" pitchFamily="18" charset="0"/>
              </a:rPr>
              <a:t>variability</a:t>
            </a:r>
            <a:r>
              <a:rPr lang="en-US" sz="2000" dirty="0" smtClean="0">
                <a:latin typeface="Garamond" pitchFamily="18" charset="0"/>
              </a:rPr>
              <a:t>, </a:t>
            </a:r>
            <a:r>
              <a:rPr lang="en-US" sz="2000" u="sng" dirty="0" smtClean="0">
                <a:latin typeface="Garamond" pitchFamily="18" charset="0"/>
              </a:rPr>
              <a:t>and </a:t>
            </a:r>
            <a:r>
              <a:rPr lang="en-US" sz="2000" u="sng" dirty="0" err="1" smtClean="0">
                <a:latin typeface="Garamond" pitchFamily="18" charset="0"/>
              </a:rPr>
              <a:t>transcoding</a:t>
            </a:r>
            <a:r>
              <a:rPr lang="en-US" sz="2000" dirty="0" smtClean="0">
                <a:latin typeface="Garamond" pitchFamily="18" charset="0"/>
              </a:rPr>
              <a:t>. </a:t>
            </a:r>
          </a:p>
          <a:p>
            <a:pPr marL="0" indent="0" algn="ctr">
              <a:buNone/>
            </a:pPr>
            <a:r>
              <a:rPr lang="en-US" sz="2000" dirty="0" smtClean="0">
                <a:latin typeface="Garamond" pitchFamily="18" charset="0"/>
              </a:rPr>
              <a:t>The </a:t>
            </a:r>
            <a:r>
              <a:rPr lang="en-US" sz="2000" u="sng" dirty="0" smtClean="0">
                <a:latin typeface="Garamond" pitchFamily="18" charset="0"/>
              </a:rPr>
              <a:t>consequence</a:t>
            </a:r>
            <a:r>
              <a:rPr lang="en-US" sz="2000" dirty="0" smtClean="0">
                <a:latin typeface="Garamond" pitchFamily="18" charset="0"/>
              </a:rPr>
              <a:t> of the principles of numerical representation and modularity is </a:t>
            </a:r>
            <a:r>
              <a:rPr lang="en-US" sz="2000" u="sng" dirty="0" smtClean="0">
                <a:latin typeface="Garamond" pitchFamily="18" charset="0"/>
              </a:rPr>
              <a:t>variability</a:t>
            </a:r>
            <a:r>
              <a:rPr lang="en-US" sz="2000" dirty="0" smtClean="0">
                <a:latin typeface="Garamond" pitchFamily="18" charset="0"/>
              </a:rPr>
              <a:t>, </a:t>
            </a:r>
            <a:r>
              <a:rPr lang="en-US" sz="2000" u="sng" dirty="0" smtClean="0">
                <a:latin typeface="Garamond" pitchFamily="18" charset="0"/>
              </a:rPr>
              <a:t>rendering</a:t>
            </a:r>
            <a:r>
              <a:rPr lang="en-US" sz="2000" dirty="0" smtClean="0">
                <a:latin typeface="Garamond" pitchFamily="18" charset="0"/>
              </a:rPr>
              <a:t> </a:t>
            </a:r>
            <a:r>
              <a:rPr lang="en-US" sz="2000" u="sng" dirty="0" smtClean="0">
                <a:latin typeface="Garamond" pitchFamily="18" charset="0"/>
              </a:rPr>
              <a:t>new media mutable</a:t>
            </a:r>
            <a:r>
              <a:rPr lang="en-US" sz="2000" dirty="0" smtClean="0">
                <a:latin typeface="Garamond" pitchFamily="18" charset="0"/>
              </a:rPr>
              <a:t>, </a:t>
            </a:r>
            <a:r>
              <a:rPr lang="en-US" sz="2000" u="sng" dirty="0" smtClean="0">
                <a:latin typeface="Garamond" pitchFamily="18" charset="0"/>
              </a:rPr>
              <a:t>liquid</a:t>
            </a:r>
            <a:r>
              <a:rPr lang="en-US" sz="2000" dirty="0" smtClean="0">
                <a:latin typeface="Garamond" pitchFamily="18" charset="0"/>
              </a:rPr>
              <a:t>, and declinable in very different versions. The last principle is that of </a:t>
            </a:r>
            <a:r>
              <a:rPr lang="en-US" sz="2000" u="sng" dirty="0" err="1" smtClean="0">
                <a:latin typeface="Garamond" pitchFamily="18" charset="0"/>
              </a:rPr>
              <a:t>transcoding</a:t>
            </a:r>
            <a:r>
              <a:rPr lang="en-US" sz="2000" u="sng" dirty="0" smtClean="0">
                <a:latin typeface="Garamond" pitchFamily="18" charset="0"/>
              </a:rPr>
              <a:t>. </a:t>
            </a:r>
          </a:p>
          <a:p>
            <a:pPr marL="0" indent="0" algn="ctr">
              <a:buNone/>
            </a:pPr>
            <a:r>
              <a:rPr lang="en-US" sz="2000" dirty="0" smtClean="0">
                <a:latin typeface="Garamond" pitchFamily="18" charset="0"/>
              </a:rPr>
              <a:t>Most of the processes that take place in social network applications are managed by algorithms, and they are automated.</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The new media can be understood only if compared with the traditional media. The new media are governed by IT principles, which significantly influence the identity and nature of everything that is produced and transmitted through digital media.</a:t>
            </a:r>
          </a:p>
          <a:p>
            <a:pPr marL="0" indent="0" algn="ctr">
              <a:buNone/>
            </a:pPr>
            <a:r>
              <a:rPr lang="en-US" sz="2000" dirty="0" smtClean="0">
                <a:latin typeface="Garamond" pitchFamily="18" charset="0"/>
              </a:rPr>
              <a:t>The web, as we understand it today, was conceived </a:t>
            </a:r>
            <a:r>
              <a:rPr lang="en-US" sz="2000" u="sng" dirty="0" smtClean="0">
                <a:latin typeface="Garamond" pitchFamily="18" charset="0"/>
              </a:rPr>
              <a:t>in 1989 when Tim </a:t>
            </a:r>
            <a:r>
              <a:rPr lang="en-US" sz="2000" u="sng" dirty="0" err="1" smtClean="0">
                <a:latin typeface="Garamond" pitchFamily="18" charset="0"/>
              </a:rPr>
              <a:t>Berners</a:t>
            </a:r>
            <a:r>
              <a:rPr lang="en-US" sz="2000" u="sng" dirty="0" smtClean="0">
                <a:latin typeface="Garamond" pitchFamily="18" charset="0"/>
              </a:rPr>
              <a:t> Lee invented the World Wide Web</a:t>
            </a:r>
            <a:r>
              <a:rPr lang="en-US" sz="2000" dirty="0" smtClean="0">
                <a:latin typeface="Garamond" pitchFamily="18" charset="0"/>
              </a:rPr>
              <a:t>: an online space in which - by means of two powerful IT tools, the HTTP protocol and the HTML language - all documents, information, images, and videos posted online could be connected to each other by means of hypertext links.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428736"/>
            <a:ext cx="8229600" cy="4197361"/>
          </a:xfrm>
        </p:spPr>
        <p:txBody>
          <a:bodyPr>
            <a:normAutofit/>
          </a:bodyPr>
          <a:lstStyle/>
          <a:p>
            <a:pPr marL="0" indent="0" algn="just">
              <a:buNone/>
            </a:pPr>
            <a:r>
              <a:rPr lang="en-US" sz="2000" dirty="0" smtClean="0">
                <a:latin typeface="Garamond" pitchFamily="18" charset="0"/>
              </a:rPr>
              <a:t>The innovations that the World Wide Web brought to the Internet are mainly three. </a:t>
            </a:r>
            <a:r>
              <a:rPr lang="en-US" sz="2000" u="sng" dirty="0" smtClean="0">
                <a:latin typeface="Garamond" pitchFamily="18" charset="0"/>
              </a:rPr>
              <a:t>First</a:t>
            </a:r>
            <a:r>
              <a:rPr lang="en-US" sz="2000" dirty="0" smtClean="0">
                <a:latin typeface="Garamond" pitchFamily="18" charset="0"/>
              </a:rPr>
              <a:t> of all, the web potentially connects all the nodes of the network, connecting the world, and connecting people. </a:t>
            </a:r>
            <a:r>
              <a:rPr lang="en-US" sz="2000" u="sng" dirty="0" smtClean="0">
                <a:latin typeface="Garamond" pitchFamily="18" charset="0"/>
              </a:rPr>
              <a:t>Secondly</a:t>
            </a:r>
            <a:r>
              <a:rPr lang="en-US" sz="2000" dirty="0" smtClean="0">
                <a:latin typeface="Garamond" pitchFamily="18" charset="0"/>
              </a:rPr>
              <a:t>, the connection that the web establishes is reciprocal. In IT jargon we speak of P2P or peer-to-peer, and "the parity model requires that the processes provide and receive services reciprocally." The web, we could say, is democratic.</a:t>
            </a:r>
          </a:p>
          <a:p>
            <a:pPr marL="0" indent="0" algn="just">
              <a:buNone/>
            </a:pPr>
            <a:r>
              <a:rPr lang="en-US" sz="2000" dirty="0" smtClean="0">
                <a:latin typeface="Garamond" pitchFamily="18" charset="0"/>
              </a:rPr>
              <a:t>But today, more than ever, this idea of ​​network democracy is something in appearance only; the </a:t>
            </a:r>
            <a:r>
              <a:rPr lang="en-US" sz="2000" u="sng" dirty="0" smtClean="0">
                <a:latin typeface="Garamond" pitchFamily="18" charset="0"/>
              </a:rPr>
              <a:t>asymmetry of the distribution of information is brutally evident.</a:t>
            </a:r>
          </a:p>
          <a:p>
            <a:pPr marL="0" indent="0" algn="just">
              <a:buNone/>
            </a:pPr>
            <a:r>
              <a:rPr lang="en-US" sz="2000" u="sng" dirty="0" smtClean="0">
                <a:latin typeface="Garamond" pitchFamily="18" charset="0"/>
              </a:rPr>
              <a:t>The third </a:t>
            </a:r>
            <a:r>
              <a:rPr lang="en-US" sz="2000" dirty="0" smtClean="0">
                <a:latin typeface="Garamond" pitchFamily="18" charset="0"/>
              </a:rPr>
              <a:t>important feature of the web, after connectivity and reciprocity, is powerful accessibility. The web is free, open, and available to anyone. Anyone can connect to the network, navigate, and use apps.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428736"/>
            <a:ext cx="8229600" cy="4197361"/>
          </a:xfrm>
        </p:spPr>
        <p:txBody>
          <a:bodyPr>
            <a:normAutofit/>
          </a:bodyPr>
          <a:lstStyle/>
          <a:p>
            <a:pPr marL="0" indent="0" algn="ctr">
              <a:buNone/>
            </a:pPr>
            <a:r>
              <a:rPr lang="en-US" sz="2000" dirty="0" smtClean="0">
                <a:latin typeface="Garamond" pitchFamily="18" charset="0"/>
              </a:rPr>
              <a:t>Thanks to its accessibility in terms of costs and the ever greater access to internet connections, the World Wide Web is growing and developing rapidly. </a:t>
            </a:r>
          </a:p>
          <a:p>
            <a:pPr marL="0" indent="0" algn="ctr">
              <a:buNone/>
            </a:pPr>
            <a:r>
              <a:rPr lang="en-US" sz="2000" dirty="0" smtClean="0">
                <a:latin typeface="Garamond" pitchFamily="18" charset="0"/>
              </a:rPr>
              <a:t>The new media incorporate new desires and needs of men and women. This ability of new media to incorporate new needs is linked to the way online digital tools and services have changed the user's interaction with the machines. </a:t>
            </a:r>
          </a:p>
          <a:p>
            <a:pPr marL="0" indent="0" algn="ctr">
              <a:buNone/>
            </a:pPr>
            <a:r>
              <a:rPr lang="en-US" sz="2000" dirty="0" smtClean="0">
                <a:latin typeface="Garamond" pitchFamily="18" charset="0"/>
              </a:rPr>
              <a:t>To describe this change</a:t>
            </a:r>
            <a:r>
              <a:rPr lang="en-US" sz="2000" u="sng" dirty="0" smtClean="0">
                <a:latin typeface="Garamond" pitchFamily="18" charset="0"/>
              </a:rPr>
              <a:t>, in 2004, Tim O'Reilly </a:t>
            </a:r>
            <a:r>
              <a:rPr lang="en-US" sz="2000" dirty="0" smtClean="0">
                <a:latin typeface="Garamond" pitchFamily="18" charset="0"/>
              </a:rPr>
              <a:t>used the term </a:t>
            </a:r>
            <a:r>
              <a:rPr lang="en-US" sz="2000" u="sng" dirty="0" smtClean="0">
                <a:latin typeface="Garamond" pitchFamily="18" charset="0"/>
              </a:rPr>
              <a:t>Web 2.0</a:t>
            </a:r>
            <a:r>
              <a:rPr lang="en-US" sz="2000" dirty="0" smtClean="0">
                <a:latin typeface="Garamond" pitchFamily="18" charset="0"/>
              </a:rPr>
              <a:t>.</a:t>
            </a:r>
          </a:p>
          <a:p>
            <a:pPr marL="0" indent="0" algn="ctr">
              <a:buNone/>
            </a:pPr>
            <a:r>
              <a:rPr lang="en-US" sz="2000" dirty="0" smtClean="0">
                <a:latin typeface="Garamond" pitchFamily="18" charset="0"/>
              </a:rPr>
              <a:t>The revolution that took place with Web 2.0 must, therefore, be understood as a different way for users to interact with the means of communication, transforming them from passive spectators to active authors. </a:t>
            </a:r>
          </a:p>
          <a:p>
            <a:pPr marL="0" indent="0" algn="ctr">
              <a:buNone/>
            </a:pPr>
            <a:r>
              <a:rPr lang="en-US" sz="2000" u="sng" dirty="0" smtClean="0">
                <a:latin typeface="Garamond" pitchFamily="18" charset="0"/>
              </a:rPr>
              <a:t>Today</a:t>
            </a:r>
            <a:r>
              <a:rPr lang="en-US" sz="2000" dirty="0" smtClean="0">
                <a:latin typeface="Garamond" pitchFamily="18" charset="0"/>
              </a:rPr>
              <a:t>, we have already abundantly entered the </a:t>
            </a:r>
            <a:r>
              <a:rPr lang="en-US" sz="2000" u="sng" dirty="0" smtClean="0">
                <a:latin typeface="Garamond" pitchFamily="18" charset="0"/>
              </a:rPr>
              <a:t>era of Web 4.0</a:t>
            </a:r>
            <a:r>
              <a:rPr lang="en-US" sz="2000" dirty="0" smtClean="0">
                <a:latin typeface="Garamond" pitchFamily="18" charset="0"/>
              </a:rPr>
              <a:t>, given the uncontrollable progression and continuous growth of digital technology.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71554"/>
            <a:ext cx="8229600" cy="1143000"/>
          </a:xfrm>
        </p:spPr>
        <p:txBody>
          <a:bodyPr>
            <a:normAutofit/>
          </a:bodyPr>
          <a:lstStyle/>
          <a:p>
            <a:r>
              <a:rPr lang="en-US" sz="2200" b="1" dirty="0" smtClean="0">
                <a:solidFill>
                  <a:srgbClr val="FF0000"/>
                </a:solidFill>
                <a:latin typeface="Garamond" pitchFamily="18" charset="0"/>
              </a:rPr>
              <a:t>ETHICAL ASPECTS: FREEDOM AND PRIVACY ONLINE</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2232035"/>
            <a:ext cx="8229600" cy="4197361"/>
          </a:xfrm>
        </p:spPr>
        <p:txBody>
          <a:bodyPr>
            <a:normAutofit/>
          </a:bodyPr>
          <a:lstStyle/>
          <a:p>
            <a:pPr marL="0" indent="0" algn="ctr">
              <a:buNone/>
            </a:pPr>
            <a:r>
              <a:rPr lang="en-US" sz="2000" u="sng" dirty="0" smtClean="0">
                <a:latin typeface="Garamond" pitchFamily="18" charset="0"/>
              </a:rPr>
              <a:t> “Every action we take could end up in a database. Control now permeates every aspect of our existence and, unfortunately, we are addicted to it.” </a:t>
            </a:r>
            <a:r>
              <a:rPr lang="en-US" sz="2000" dirty="0" smtClean="0">
                <a:latin typeface="Garamond" pitchFamily="18" charset="0"/>
              </a:rPr>
              <a:t>It is a form of invisible and imperceptible surveillance, much more penetrating than the "Big Brother" imagined by </a:t>
            </a:r>
            <a:r>
              <a:rPr lang="en-US" sz="2000" u="sng" dirty="0" smtClean="0">
                <a:latin typeface="Garamond" pitchFamily="18" charset="0"/>
              </a:rPr>
              <a:t>Orwell</a:t>
            </a:r>
            <a:r>
              <a:rPr lang="en-US" sz="2000" dirty="0" smtClean="0">
                <a:latin typeface="Garamond" pitchFamily="18" charset="0"/>
              </a:rPr>
              <a:t> in his book, "</a:t>
            </a:r>
            <a:r>
              <a:rPr lang="en-US" sz="2000" u="sng" dirty="0" smtClean="0">
                <a:latin typeface="Garamond" pitchFamily="18" charset="0"/>
              </a:rPr>
              <a:t>1984</a:t>
            </a:r>
            <a:r>
              <a:rPr lang="en-US" sz="2000" dirty="0" smtClean="0">
                <a:latin typeface="Garamond" pitchFamily="18" charset="0"/>
              </a:rPr>
              <a:t>.</a:t>
            </a:r>
          </a:p>
          <a:p>
            <a:pPr marL="0" indent="0" algn="ctr">
              <a:buNone/>
            </a:pPr>
            <a:r>
              <a:rPr lang="en-US" sz="2000" dirty="0" smtClean="0">
                <a:latin typeface="Garamond" pitchFamily="18" charset="0"/>
              </a:rPr>
              <a:t>"We ask ourselves how much the giants of Big Data know about us. </a:t>
            </a:r>
          </a:p>
          <a:p>
            <a:pPr marL="0" indent="0" algn="ctr">
              <a:buNone/>
            </a:pPr>
            <a:r>
              <a:rPr lang="en-US" sz="2000" dirty="0" smtClean="0">
                <a:latin typeface="Garamond" pitchFamily="18" charset="0"/>
              </a:rPr>
              <a:t>The points: We are aware of it, but it is something we accept because to use a service we accept the conditions the company imposes on its customers.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142984"/>
            <a:ext cx="8229600" cy="4625989"/>
          </a:xfrm>
        </p:spPr>
        <p:txBody>
          <a:bodyPr>
            <a:normAutofit lnSpcReduction="10000"/>
          </a:bodyPr>
          <a:lstStyle/>
          <a:p>
            <a:pPr marL="0" indent="0" algn="ctr">
              <a:buNone/>
            </a:pPr>
            <a:r>
              <a:rPr lang="en-US" sz="2000" dirty="0" smtClean="0">
                <a:latin typeface="Garamond" pitchFamily="18" charset="0"/>
              </a:rPr>
              <a:t>We are also responsible because we do not protect our personal data. </a:t>
            </a:r>
          </a:p>
          <a:p>
            <a:pPr marL="0" indent="0" algn="ctr">
              <a:buNone/>
            </a:pPr>
            <a:r>
              <a:rPr lang="en-US" sz="2000" dirty="0" smtClean="0">
                <a:latin typeface="Garamond" pitchFamily="18" charset="0"/>
              </a:rPr>
              <a:t>We ourselves are willingly reducing and limiting our right to privacy. Or perhaps we agree to lose our privacy because it seems reasonable price to pay for the services we are offered. </a:t>
            </a:r>
          </a:p>
          <a:p>
            <a:pPr marL="0" indent="0" algn="ctr">
              <a:buNone/>
            </a:pPr>
            <a:r>
              <a:rPr lang="en-US" sz="2000" dirty="0" smtClean="0">
                <a:latin typeface="Garamond" pitchFamily="18" charset="0"/>
              </a:rPr>
              <a:t>Starting from these considerations, </a:t>
            </a:r>
            <a:r>
              <a:rPr lang="en-US" sz="2000" u="sng" dirty="0" smtClean="0">
                <a:latin typeface="Garamond" pitchFamily="18" charset="0"/>
              </a:rPr>
              <a:t>self-regulation</a:t>
            </a:r>
            <a:r>
              <a:rPr lang="en-US" sz="2000" dirty="0" smtClean="0">
                <a:latin typeface="Garamond" pitchFamily="18" charset="0"/>
              </a:rPr>
              <a:t> assumes an even more important role for individuals on social networks such as </a:t>
            </a:r>
            <a:r>
              <a:rPr lang="en-US" sz="2000" dirty="0" err="1" smtClean="0">
                <a:latin typeface="Garamond" pitchFamily="18" charset="0"/>
              </a:rPr>
              <a:t>Facebook</a:t>
            </a:r>
            <a:r>
              <a:rPr lang="en-US" sz="2000" dirty="0" smtClean="0">
                <a:latin typeface="Garamond" pitchFamily="18" charset="0"/>
              </a:rPr>
              <a:t>, </a:t>
            </a:r>
            <a:r>
              <a:rPr lang="en-US" sz="2000" dirty="0" err="1" smtClean="0">
                <a:latin typeface="Garamond" pitchFamily="18" charset="0"/>
              </a:rPr>
              <a:t>Instagram</a:t>
            </a:r>
            <a:r>
              <a:rPr lang="en-US" sz="2000" dirty="0" smtClean="0">
                <a:latin typeface="Garamond" pitchFamily="18" charset="0"/>
              </a:rPr>
              <a:t>, or Twitter. </a:t>
            </a:r>
          </a:p>
          <a:p>
            <a:pPr marL="0" indent="0" algn="ctr">
              <a:buNone/>
            </a:pPr>
            <a:r>
              <a:rPr lang="en-US" sz="2000" dirty="0" smtClean="0">
                <a:latin typeface="Garamond" pitchFamily="18" charset="0"/>
              </a:rPr>
              <a:t>Understanding how apps use personal data and learning about the tools available to protect them, are the only weapons available to us, the customer/user.</a:t>
            </a:r>
          </a:p>
          <a:p>
            <a:pPr marL="0" indent="0" algn="ctr">
              <a:buNone/>
            </a:pPr>
            <a:r>
              <a:rPr lang="en-US" sz="2000" dirty="0" smtClean="0">
                <a:latin typeface="Garamond" pitchFamily="18" charset="0"/>
              </a:rPr>
              <a:t>Social platforms continuously monitor and analyze the data they collect in order to create an accurate profile of each user. </a:t>
            </a:r>
          </a:p>
          <a:p>
            <a:pPr marL="0" indent="0" algn="ctr">
              <a:buNone/>
            </a:pPr>
            <a:r>
              <a:rPr lang="en-US" sz="2000" dirty="0" smtClean="0">
                <a:latin typeface="Garamond" pitchFamily="18" charset="0"/>
              </a:rPr>
              <a:t>It is amazing how much they learn about us from the information we leave, often unknowingly, on the web. The alarming thing not knowing who has our data and how they will use it.</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428736"/>
            <a:ext cx="8229600" cy="4697427"/>
          </a:xfrm>
        </p:spPr>
        <p:txBody>
          <a:bodyPr>
            <a:normAutofit/>
          </a:bodyPr>
          <a:lstStyle/>
          <a:p>
            <a:pPr marL="0" indent="0" algn="ctr">
              <a:buNone/>
            </a:pPr>
            <a:r>
              <a:rPr lang="en-US" sz="2000" dirty="0" smtClean="0">
                <a:latin typeface="Garamond" pitchFamily="18" charset="0"/>
              </a:rPr>
              <a:t>It is worrying to realize how personal data can be used and manipulated without our knowledge. </a:t>
            </a:r>
          </a:p>
          <a:p>
            <a:pPr marL="0" indent="0" algn="ctr">
              <a:buNone/>
            </a:pPr>
            <a:r>
              <a:rPr lang="en-US" sz="2000" u="sng" dirty="0" smtClean="0">
                <a:latin typeface="Garamond" pitchFamily="18" charset="0"/>
              </a:rPr>
              <a:t>The first </a:t>
            </a:r>
            <a:r>
              <a:rPr lang="en-US" sz="2000" dirty="0" smtClean="0">
                <a:latin typeface="Garamond" pitchFamily="18" charset="0"/>
              </a:rPr>
              <a:t>objective is to raise awareness of social media tools; </a:t>
            </a:r>
            <a:r>
              <a:rPr lang="en-US" sz="2000" u="sng" dirty="0" smtClean="0">
                <a:latin typeface="Garamond" pitchFamily="18" charset="0"/>
              </a:rPr>
              <a:t>the second </a:t>
            </a:r>
            <a:r>
              <a:rPr lang="en-US" sz="2000" dirty="0" smtClean="0">
                <a:latin typeface="Garamond" pitchFamily="18" charset="0"/>
              </a:rPr>
              <a:t>is to propose strategies for a reasoned use of the same, without giving up on social media."Reasoned" is a keyword here. It means acting in opposition to the logic that governs the network and its applications. These apps are based on speed, on the continuous and superficial consumption of content, and on the continuous request for consent to use the so-called cookies, which work, precisely, to create our profiles and to collect and store our data en masse.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100" b="1" dirty="0" smtClean="0">
                <a:solidFill>
                  <a:srgbClr val="FF0000"/>
                </a:solidFill>
                <a:latin typeface="Garamond" pitchFamily="18" charset="0"/>
              </a:rPr>
              <a:t>BEING ONLINE? CHOOSE HOW TO REPRESENT YOURSELF.</a:t>
            </a:r>
            <a:endParaRPr lang="it-IT" sz="21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Being online </a:t>
            </a:r>
            <a:r>
              <a:rPr lang="en-US" sz="2000" dirty="0" err="1" smtClean="0">
                <a:latin typeface="Garamond" pitchFamily="18" charset="0"/>
              </a:rPr>
              <a:t>presuppones</a:t>
            </a:r>
            <a:r>
              <a:rPr lang="en-US" sz="2000" dirty="0" smtClean="0">
                <a:latin typeface="Garamond" pitchFamily="18" charset="0"/>
              </a:rPr>
              <a:t> responsibility and the ability to choose. </a:t>
            </a:r>
          </a:p>
          <a:p>
            <a:pPr marL="0" indent="0" algn="ctr">
              <a:buNone/>
            </a:pPr>
            <a:r>
              <a:rPr lang="en-US" sz="2000" dirty="0" smtClean="0">
                <a:latin typeface="Garamond" pitchFamily="18" charset="0"/>
              </a:rPr>
              <a:t>It means having the possibility of disconnecting from a platform without complications. </a:t>
            </a:r>
          </a:p>
          <a:p>
            <a:pPr marL="0" indent="0" algn="ctr">
              <a:buNone/>
            </a:pPr>
            <a:r>
              <a:rPr lang="en-US" sz="2000" u="sng" dirty="0" smtClean="0">
                <a:latin typeface="Garamond" pitchFamily="18" charset="0"/>
              </a:rPr>
              <a:t>The right to disconnect </a:t>
            </a:r>
            <a:r>
              <a:rPr lang="en-US" sz="2000" dirty="0" smtClean="0">
                <a:latin typeface="Garamond" pitchFamily="18" charset="0"/>
              </a:rPr>
              <a:t>as well as the right to be forgotten are trending topics in all forums concerned with the protection of privacy, and despite the legislative and jurisdictional efforts aimed at better recognition, the sensation is, and remains the same: it may be too little,  and maybe a little bit of "us" gets trapped forever. This is why digital training should be imperative in schools and universities, and why continuous training within companies, can no longer be postponed.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214422"/>
            <a:ext cx="822960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Institutional digital training </a:t>
            </a:r>
            <a:r>
              <a:rPr lang="en-US" sz="2000" dirty="0" smtClean="0">
                <a:latin typeface="Garamond" pitchFamily="18" charset="0"/>
              </a:rPr>
              <a:t>for the governing bodies of States and their administrations should also be a priority, as should the training of public and private computer technicians. These individuals have the responsibility to process and protect data from improper use and to handle digital systems securely to prevent attacks by unauthorized third parties with criminal intent. </a:t>
            </a:r>
          </a:p>
          <a:p>
            <a:pPr marL="0" indent="0" algn="ctr">
              <a:buNone/>
            </a:pPr>
            <a:r>
              <a:rPr lang="en-US" sz="2000" dirty="0" smtClean="0">
                <a:latin typeface="Garamond" pitchFamily="18" charset="0"/>
              </a:rPr>
              <a:t>This is the </a:t>
            </a:r>
            <a:r>
              <a:rPr lang="en-US" sz="2000" u="sng" dirty="0" smtClean="0">
                <a:latin typeface="Garamond" pitchFamily="18" charset="0"/>
              </a:rPr>
              <a:t>real challenge of the century </a:t>
            </a:r>
            <a:r>
              <a:rPr lang="en-US" sz="2000" dirty="0" smtClean="0">
                <a:latin typeface="Garamond" pitchFamily="18" charset="0"/>
              </a:rPr>
              <a:t>with regard to the increasingly widespread use of "digitalization.“</a:t>
            </a:r>
          </a:p>
          <a:p>
            <a:pPr marL="0" indent="0" algn="ctr">
              <a:buNone/>
            </a:pPr>
            <a:r>
              <a:rPr lang="en-US" sz="2000" dirty="0" smtClean="0">
                <a:latin typeface="Garamond" pitchFamily="18" charset="0"/>
              </a:rPr>
              <a:t>We can talk about risk awareness and continuous education. The growth of cyber crime must correspond to a parallel increase in </a:t>
            </a:r>
            <a:r>
              <a:rPr lang="en-US" sz="2000" dirty="0" err="1" smtClean="0">
                <a:latin typeface="Garamond" pitchFamily="18" charset="0"/>
              </a:rPr>
              <a:t>cybersecurity</a:t>
            </a:r>
            <a:r>
              <a:rPr lang="en-US" sz="2000" dirty="0" smtClean="0">
                <a:latin typeface="Garamond" pitchFamily="18" charset="0"/>
              </a:rPr>
              <a:t>, or more simply said, the growth of a </a:t>
            </a:r>
            <a:r>
              <a:rPr lang="en-US" sz="2000" u="sng" dirty="0" smtClean="0">
                <a:latin typeface="Garamond" pitchFamily="18" charset="0"/>
              </a:rPr>
              <a:t>digital security culture.  </a:t>
            </a:r>
            <a:endParaRPr lang="it-IT" sz="2000" u="sng"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00116"/>
            <a:ext cx="8229600" cy="1143000"/>
          </a:xfrm>
        </p:spPr>
        <p:txBody>
          <a:bodyPr>
            <a:normAutofit/>
          </a:bodyPr>
          <a:lstStyle/>
          <a:p>
            <a:r>
              <a:rPr lang="it-IT" sz="2200" b="1" dirty="0" smtClean="0">
                <a:solidFill>
                  <a:srgbClr val="FF0000"/>
                </a:solidFill>
                <a:latin typeface="Garamond" pitchFamily="18" charset="0"/>
              </a:rPr>
              <a:t>SECURITY PHILOSOPHY</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giants of the global technology market have decided to entrust philosophy graduates with important leadership roles within their companies.</a:t>
            </a:r>
          </a:p>
          <a:p>
            <a:pPr marL="0" indent="0" algn="ctr">
              <a:buNone/>
            </a:pPr>
            <a:r>
              <a:rPr lang="en-US" sz="2000" dirty="0" smtClean="0">
                <a:latin typeface="Garamond" pitchFamily="18" charset="0"/>
              </a:rPr>
              <a:t> </a:t>
            </a:r>
            <a:r>
              <a:rPr lang="en-US" sz="2000" u="sng" dirty="0" smtClean="0">
                <a:latin typeface="Garamond" pitchFamily="18" charset="0"/>
              </a:rPr>
              <a:t>Google</a:t>
            </a:r>
            <a:r>
              <a:rPr lang="en-US" sz="2000" dirty="0" smtClean="0">
                <a:latin typeface="Garamond" pitchFamily="18" charset="0"/>
              </a:rPr>
              <a:t>, in particular, has led the way by creating the position </a:t>
            </a:r>
            <a:r>
              <a:rPr lang="en-US" sz="2000" u="sng" dirty="0" smtClean="0">
                <a:latin typeface="Garamond" pitchFamily="18" charset="0"/>
              </a:rPr>
              <a:t>of Chief Philosophy Officer (CPO)</a:t>
            </a:r>
            <a:r>
              <a:rPr lang="en-US" sz="2000" dirty="0" smtClean="0">
                <a:latin typeface="Garamond" pitchFamily="18" charset="0"/>
              </a:rPr>
              <a:t>. </a:t>
            </a:r>
          </a:p>
          <a:p>
            <a:pPr marL="0" indent="0" algn="ctr">
              <a:buNone/>
            </a:pPr>
            <a:r>
              <a:rPr lang="en-US" sz="2000" dirty="0" smtClean="0">
                <a:latin typeface="Garamond" pitchFamily="18" charset="0"/>
              </a:rPr>
              <a:t>The </a:t>
            </a:r>
            <a:r>
              <a:rPr lang="en-US" sz="2000" u="sng" dirty="0" smtClean="0">
                <a:latin typeface="Garamond" pitchFamily="18" charset="0"/>
              </a:rPr>
              <a:t>CPO is responsible for bringing innovations</a:t>
            </a:r>
            <a:r>
              <a:rPr lang="en-US" sz="2000" dirty="0" smtClean="0">
                <a:latin typeface="Garamond" pitchFamily="18" charset="0"/>
              </a:rPr>
              <a:t> to the company through the methodologies of the philosophical disciplines. Philosophical thought and practice help great managers find answers that go beyond the simple computation and collection of data.</a:t>
            </a:r>
          </a:p>
          <a:p>
            <a:pPr marL="0" indent="0" algn="ctr">
              <a:buNone/>
            </a:pP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pandemic, and the enormous questions it has raised, has demonstrated how philosophy should be a fundamental practice for questioning and finding answers.</a:t>
            </a:r>
          </a:p>
          <a:p>
            <a:pPr marL="0" indent="0" algn="ctr">
              <a:buNone/>
            </a:pPr>
            <a:r>
              <a:rPr lang="en-US" sz="2000" dirty="0" smtClean="0">
                <a:latin typeface="Garamond" pitchFamily="18" charset="0"/>
              </a:rPr>
              <a:t>For Umberto </a:t>
            </a:r>
            <a:r>
              <a:rPr lang="en-US" sz="2000" dirty="0" err="1" smtClean="0">
                <a:latin typeface="Garamond" pitchFamily="18" charset="0"/>
              </a:rPr>
              <a:t>Galimberti</a:t>
            </a:r>
            <a:r>
              <a:rPr lang="en-US" sz="2000" dirty="0" smtClean="0">
                <a:latin typeface="Garamond" pitchFamily="18" charset="0"/>
              </a:rPr>
              <a:t>, “</a:t>
            </a:r>
            <a:r>
              <a:rPr lang="en-US" sz="2000" u="sng" dirty="0" smtClean="0">
                <a:latin typeface="Garamond" pitchFamily="18" charset="0"/>
              </a:rPr>
              <a:t>Philosophy</a:t>
            </a:r>
            <a:r>
              <a:rPr lang="en-US" sz="2000" dirty="0" smtClean="0">
                <a:latin typeface="Garamond" pitchFamily="18" charset="0"/>
              </a:rPr>
              <a:t> is not knowledge, but an </a:t>
            </a:r>
            <a:r>
              <a:rPr lang="en-US" sz="2000" u="sng" dirty="0" smtClean="0">
                <a:latin typeface="Garamond" pitchFamily="18" charset="0"/>
              </a:rPr>
              <a:t>attitude</a:t>
            </a:r>
            <a:r>
              <a:rPr lang="en-US" sz="2000" dirty="0" smtClean="0">
                <a:latin typeface="Garamond" pitchFamily="18" charset="0"/>
              </a:rPr>
              <a:t>. The attitude of someone who never stops asking questions and questioning all the answers that seem definitive." </a:t>
            </a:r>
          </a:p>
          <a:p>
            <a:pPr marL="0" indent="0" algn="ctr">
              <a:buNone/>
            </a:pPr>
            <a:r>
              <a:rPr lang="en-US" sz="2000" u="sng" dirty="0" smtClean="0">
                <a:latin typeface="Garamond" pitchFamily="18" charset="0"/>
              </a:rPr>
              <a:t>Questioning aspects of the world</a:t>
            </a:r>
            <a:r>
              <a:rPr lang="en-US" sz="2000" dirty="0" smtClean="0">
                <a:latin typeface="Garamond" pitchFamily="18" charset="0"/>
              </a:rPr>
              <a:t> is one of the chief characteristics of children and one of the purest and most spontaneous dynamics of knowledge. </a:t>
            </a:r>
          </a:p>
          <a:p>
            <a:pPr marL="0" indent="0" algn="ctr">
              <a:buNone/>
            </a:pPr>
            <a:r>
              <a:rPr lang="en-US" sz="2000" dirty="0" smtClean="0">
                <a:latin typeface="Garamond" pitchFamily="18" charset="0"/>
              </a:rPr>
              <a:t>It is no coincidence that for Plato, "Philosophy does not originate from anything other than wonder."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dirty="0" smtClean="0">
                <a:latin typeface="Garamond" pitchFamily="18" charset="0"/>
              </a:rPr>
              <a:t>In recent years, more and more companies (from Sergio </a:t>
            </a:r>
            <a:r>
              <a:rPr lang="en-US" sz="2000" dirty="0" err="1" smtClean="0">
                <a:latin typeface="Garamond" pitchFamily="18" charset="0"/>
              </a:rPr>
              <a:t>Marchionne</a:t>
            </a:r>
            <a:r>
              <a:rPr lang="en-US" sz="2000" dirty="0" smtClean="0">
                <a:latin typeface="Garamond" pitchFamily="18" charset="0"/>
              </a:rPr>
              <a:t> at Fiat to Reid Hoffman, the founder of LinkedIn) have relied on philosophy graduates to manage their "human capital." </a:t>
            </a:r>
          </a:p>
          <a:p>
            <a:pPr marL="0" indent="0" algn="ctr">
              <a:buNone/>
            </a:pPr>
            <a:r>
              <a:rPr lang="en-US" sz="2000" dirty="0" smtClean="0">
                <a:latin typeface="Garamond" pitchFamily="18" charset="0"/>
              </a:rPr>
              <a:t>Automation and the massive use of robotics will make the characteristics that separate humans from artificial intelligence central: creativity, the search for the right answer and the right question, and the ability to adapt one's thoughts to context will be the strengths that the study of philosophy guarantees more than any other discipline.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dirty="0" smtClean="0">
                <a:latin typeface="Garamond" pitchFamily="18" charset="0"/>
              </a:rPr>
              <a:t>Over the centuries, evolution in the scientific, social, and technological fields has drawn on the foundations of philosophy to intervene in different aspects of civilization. </a:t>
            </a:r>
          </a:p>
          <a:p>
            <a:pPr marL="0" indent="0" algn="ctr">
              <a:buNone/>
            </a:pPr>
            <a:r>
              <a:rPr lang="en-US" sz="2000" dirty="0" smtClean="0">
                <a:latin typeface="Garamond" pitchFamily="18" charset="0"/>
              </a:rPr>
              <a:t>Generally speaking, Security Awareness is an action that raises the level of user awareness about </a:t>
            </a:r>
            <a:r>
              <a:rPr lang="en-US" sz="2000" dirty="0" err="1" smtClean="0">
                <a:latin typeface="Garamond" pitchFamily="18" charset="0"/>
              </a:rPr>
              <a:t>cybersecurity</a:t>
            </a:r>
            <a:r>
              <a:rPr lang="en-US" sz="2000" dirty="0" smtClean="0">
                <a:latin typeface="Garamond" pitchFamily="18" charset="0"/>
              </a:rPr>
              <a:t>. </a:t>
            </a:r>
          </a:p>
          <a:p>
            <a:pPr marL="0" indent="0" algn="ctr">
              <a:buNone/>
            </a:pPr>
            <a:r>
              <a:rPr lang="en-US" sz="2000" dirty="0" smtClean="0">
                <a:latin typeface="Garamond" pitchFamily="18" charset="0"/>
              </a:rPr>
              <a:t>In today's world, digital technology is an integral part of our lives; data travels fast and cyber threats increase exponentially. </a:t>
            </a:r>
            <a:r>
              <a:rPr lang="en-US" sz="2000" dirty="0" err="1" smtClean="0">
                <a:latin typeface="Garamond" pitchFamily="18" charset="0"/>
              </a:rPr>
              <a:t>Cybersecurity</a:t>
            </a:r>
            <a:r>
              <a:rPr lang="en-US" sz="2000" dirty="0" smtClean="0">
                <a:latin typeface="Garamond" pitchFamily="18" charset="0"/>
              </a:rPr>
              <a:t> is not only a responsibility of the digital professional but also a responsibility that must be shared by all.</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u="sng" dirty="0" smtClean="0">
                <a:latin typeface="Garamond" pitchFamily="18" charset="0"/>
              </a:rPr>
              <a:t>Each of us should be aware of the means for protecting information and digital profiles</a:t>
            </a:r>
            <a:r>
              <a:rPr lang="en-US" sz="2000" dirty="0" smtClean="0">
                <a:latin typeface="Garamond" pitchFamily="18" charset="0"/>
              </a:rPr>
              <a:t>, through measures including the use of complex passwords, two-factor authentication, etc….One of the main objectives of cyber criminals is obtaining credentials for accessing bank accounts. </a:t>
            </a:r>
          </a:p>
          <a:p>
            <a:pPr marL="0" indent="0" algn="ctr">
              <a:buNone/>
            </a:pPr>
            <a:r>
              <a:rPr lang="en-US" sz="2000" dirty="0" smtClean="0">
                <a:latin typeface="Garamond" pitchFamily="18" charset="0"/>
              </a:rPr>
              <a:t>A search on the web is enough to understand how computer violations have become increasingly common. It is, therefore, important to manage and protect our information in the most professional way possible and to understand why, when we browse, we are inclined to grant the right to third parties to our information. </a:t>
            </a:r>
          </a:p>
          <a:p>
            <a:pPr marL="0" indent="0" algn="ctr">
              <a:buNone/>
            </a:pPr>
            <a:r>
              <a:rPr lang="en-US" sz="2000" u="sng" dirty="0" smtClean="0">
                <a:latin typeface="Garamond" pitchFamily="18" charset="0"/>
              </a:rPr>
              <a:t>Awareness programs are important to educate users</a:t>
            </a:r>
            <a:r>
              <a:rPr lang="en-US" sz="2000" dirty="0" smtClean="0">
                <a:latin typeface="Garamond" pitchFamily="18" charset="0"/>
              </a:rPr>
              <a:t> about the security practices to adopt in order to respond appropriately to any threat.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dirty="0" smtClean="0">
                <a:latin typeface="Garamond" pitchFamily="18" charset="0"/>
              </a:rPr>
              <a:t>Attacks can also come from simply opening suspicious emails or clicking on a wrong link. You do not necessarily need to be an expert to be able to avoid IT risks; basic notions like knowing what malware or phishing emails are, would suffice and can be obtained by taking security awareness courses.</a:t>
            </a:r>
          </a:p>
          <a:p>
            <a:pPr marL="0" indent="0" algn="ctr">
              <a:buNone/>
            </a:pPr>
            <a:r>
              <a:rPr lang="en-US" sz="2000" dirty="0" smtClean="0">
                <a:latin typeface="Garamond" pitchFamily="18" charset="0"/>
              </a:rPr>
              <a:t>Even within companies, data is a source of wealth and the loss of the latter should always be considered potential economic damage.</a:t>
            </a:r>
          </a:p>
          <a:p>
            <a:pPr marL="0" indent="0" algn="ctr">
              <a:buNone/>
            </a:pPr>
            <a:r>
              <a:rPr lang="en-US" sz="2000" dirty="0" smtClean="0">
                <a:latin typeface="Garamond" pitchFamily="18" charset="0"/>
              </a:rPr>
              <a:t>From recent research, the attacks that cause the loss of company data are the following: hardware anomalies or generic malfunctions (44%), human error (32%), malware (7%), software corruption (14%), natural disasters (3%).</a:t>
            </a:r>
          </a:p>
          <a:p>
            <a:pPr marL="0" indent="0" algn="ctr">
              <a:buNone/>
            </a:pPr>
            <a:r>
              <a:rPr lang="en-US" sz="2000" dirty="0" smtClean="0">
                <a:latin typeface="Garamond" pitchFamily="18" charset="0"/>
              </a:rPr>
              <a:t>For this reason, it is advisable to invest more in security awareness, providing users with a certain level of competence in the protection of corporate and personal data, thus increasing both corporate and personal security.</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00174"/>
            <a:ext cx="8229600" cy="4197361"/>
          </a:xfrm>
        </p:spPr>
        <p:txBody>
          <a:bodyPr>
            <a:normAutofit/>
          </a:bodyPr>
          <a:lstStyle/>
          <a:p>
            <a:pPr marL="0" indent="0" algn="ctr">
              <a:buNone/>
            </a:pPr>
            <a:r>
              <a:rPr lang="en-US" sz="2000" dirty="0" smtClean="0">
                <a:latin typeface="Garamond" pitchFamily="18" charset="0"/>
              </a:rPr>
              <a:t>Training and awareness should not be considered initiatives directed only at employees - excluding executives and managers. One of the many responsibilities of executives and managers is to develop human resources and ensure that employees are trained and prepared. </a:t>
            </a:r>
          </a:p>
          <a:p>
            <a:pPr marL="0" indent="0" algn="ctr">
              <a:buNone/>
            </a:pPr>
            <a:r>
              <a:rPr lang="en-US" sz="2000" dirty="0" smtClean="0">
                <a:latin typeface="Garamond" pitchFamily="18" charset="0"/>
              </a:rPr>
              <a:t>It is essential that they too acquire the same security criteria transmitted to the personnel. </a:t>
            </a:r>
          </a:p>
          <a:p>
            <a:pPr marL="0" indent="0" algn="ctr">
              <a:buNone/>
            </a:pPr>
            <a:r>
              <a:rPr lang="en-US" sz="2000" dirty="0" smtClean="0">
                <a:latin typeface="Garamond" pitchFamily="18" charset="0"/>
              </a:rPr>
              <a:t>While collaborative software and applications are becoming more common, greater attention must still be paid to everything related to </a:t>
            </a:r>
            <a:r>
              <a:rPr lang="en-US" sz="2000" dirty="0" err="1" smtClean="0">
                <a:latin typeface="Garamond" pitchFamily="18" charset="0"/>
              </a:rPr>
              <a:t>cybersecurity</a:t>
            </a:r>
            <a:r>
              <a:rPr lang="en-US" sz="2000" dirty="0" smtClean="0">
                <a:latin typeface="Garamond" pitchFamily="18" charset="0"/>
              </a:rPr>
              <a:t> and to the protection of one's data. Awareness of the centrality of </a:t>
            </a:r>
            <a:r>
              <a:rPr lang="en-US" sz="2000" dirty="0" err="1" smtClean="0">
                <a:latin typeface="Garamond" pitchFamily="18" charset="0"/>
              </a:rPr>
              <a:t>cybersecurity</a:t>
            </a:r>
            <a:r>
              <a:rPr lang="en-US" sz="2000" dirty="0" smtClean="0">
                <a:latin typeface="Garamond" pitchFamily="18" charset="0"/>
              </a:rPr>
              <a:t> allows companies to defend themselves against the ever-lurking IT threats.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Every company should have a </a:t>
            </a:r>
            <a:r>
              <a:rPr lang="en-US" sz="2000" dirty="0" err="1" smtClean="0">
                <a:latin typeface="Garamond" pitchFamily="18" charset="0"/>
              </a:rPr>
              <a:t>cybersecurity</a:t>
            </a:r>
            <a:r>
              <a:rPr lang="en-US" sz="2000" dirty="0" smtClean="0">
                <a:latin typeface="Garamond" pitchFamily="18" charset="0"/>
              </a:rPr>
              <a:t> manager using adequate tools and qualified personnel.</a:t>
            </a:r>
          </a:p>
          <a:p>
            <a:pPr marL="0" indent="0" algn="ctr">
              <a:buNone/>
            </a:pPr>
            <a:r>
              <a:rPr lang="en-US" sz="2000" dirty="0" smtClean="0">
                <a:latin typeface="Garamond" pitchFamily="18" charset="0"/>
              </a:rPr>
              <a:t>Computer security serves to defend against or neutralize any type of computer risk, including the effects of an occasional accident, like the failure of a hard disk, thus ensuring the integrity, confidentiality, and availability of information.</a:t>
            </a:r>
          </a:p>
          <a:p>
            <a:pPr marL="0" indent="0" algn="ctr">
              <a:buNone/>
            </a:pPr>
            <a:r>
              <a:rPr lang="en-US" sz="2000" dirty="0" smtClean="0">
                <a:latin typeface="Garamond" pitchFamily="18" charset="0"/>
              </a:rPr>
              <a:t>The </a:t>
            </a:r>
            <a:r>
              <a:rPr lang="en-US" sz="2000" dirty="0" err="1" smtClean="0">
                <a:latin typeface="Garamond" pitchFamily="18" charset="0"/>
              </a:rPr>
              <a:t>cybersecurity</a:t>
            </a:r>
            <a:r>
              <a:rPr lang="en-US" sz="2000" dirty="0" smtClean="0">
                <a:latin typeface="Garamond" pitchFamily="18" charset="0"/>
              </a:rPr>
              <a:t> measures used until recently are now outdated because people today use different devices to manage their work information, including </a:t>
            </a:r>
            <a:r>
              <a:rPr lang="en-US" sz="2000" dirty="0" err="1" smtClean="0">
                <a:latin typeface="Garamond" pitchFamily="18" charset="0"/>
              </a:rPr>
              <a:t>smartphones</a:t>
            </a:r>
            <a:r>
              <a:rPr lang="en-US" sz="2000" dirty="0" smtClean="0">
                <a:latin typeface="Garamond" pitchFamily="18" charset="0"/>
              </a:rPr>
              <a:t>, PCs, wearable devices, and tablets. Today people are also using network connections and cloud services to collaborate, share, and back up files.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71612"/>
            <a:ext cx="8229600" cy="4197361"/>
          </a:xfrm>
        </p:spPr>
        <p:txBody>
          <a:bodyPr>
            <a:normAutofit/>
          </a:bodyPr>
          <a:lstStyle/>
          <a:p>
            <a:pPr marL="0" indent="0" algn="ctr">
              <a:buNone/>
            </a:pPr>
            <a:r>
              <a:rPr lang="en-US" sz="2000" dirty="0" err="1" smtClean="0">
                <a:latin typeface="Garamond" pitchFamily="18" charset="0"/>
              </a:rPr>
              <a:t>Cybersecurity</a:t>
            </a:r>
            <a:r>
              <a:rPr lang="en-US" sz="2000" dirty="0" smtClean="0">
                <a:latin typeface="Garamond" pitchFamily="18" charset="0"/>
              </a:rPr>
              <a:t> strategy must make use of specific tools to guarantee effective protection against cyber-attacks on the devices and connections in use. In order to talk about </a:t>
            </a:r>
            <a:r>
              <a:rPr lang="en-US" sz="2000" dirty="0" err="1" smtClean="0">
                <a:latin typeface="Garamond" pitchFamily="18" charset="0"/>
              </a:rPr>
              <a:t>cybersecurity</a:t>
            </a:r>
            <a:r>
              <a:rPr lang="en-US" sz="2000" dirty="0" smtClean="0">
                <a:latin typeface="Garamond" pitchFamily="18" charset="0"/>
              </a:rPr>
              <a:t>, it is important to consider the following aspects: </a:t>
            </a:r>
          </a:p>
          <a:p>
            <a:pPr marL="0" indent="0" algn="ctr">
              <a:buNone/>
            </a:pPr>
            <a:r>
              <a:rPr lang="en-US" sz="2000" dirty="0" smtClean="0">
                <a:latin typeface="Garamond" pitchFamily="18" charset="0"/>
              </a:rPr>
              <a:t>• </a:t>
            </a:r>
            <a:r>
              <a:rPr lang="en-US" sz="2000" b="1" dirty="0" smtClean="0">
                <a:latin typeface="Garamond" pitchFamily="18" charset="0"/>
              </a:rPr>
              <a:t>Network security and data management</a:t>
            </a:r>
          </a:p>
          <a:p>
            <a:pPr marL="0" indent="0" algn="ctr">
              <a:buNone/>
            </a:pPr>
            <a:endParaRPr lang="en-US" sz="2000" b="1" dirty="0" smtClean="0">
              <a:latin typeface="Garamond" pitchFamily="18" charset="0"/>
            </a:endParaRPr>
          </a:p>
          <a:p>
            <a:pPr marL="0" indent="0" algn="ctr">
              <a:buNone/>
            </a:pPr>
            <a:r>
              <a:rPr lang="en-US" sz="2000" b="1" dirty="0" smtClean="0">
                <a:latin typeface="Garamond" pitchFamily="18" charset="0"/>
              </a:rPr>
              <a:t>• Recognition of suspicious links and identification of malicious emails</a:t>
            </a:r>
          </a:p>
          <a:p>
            <a:pPr marL="0" indent="0" algn="ctr">
              <a:buNone/>
            </a:pPr>
            <a:endParaRPr lang="en-US" sz="2000" b="1" dirty="0" smtClean="0">
              <a:latin typeface="Garamond" pitchFamily="18" charset="0"/>
            </a:endParaRPr>
          </a:p>
          <a:p>
            <a:pPr marL="0" indent="0" algn="ctr">
              <a:buNone/>
            </a:pPr>
            <a:r>
              <a:rPr lang="en-US" sz="2000" b="1" dirty="0" smtClean="0">
                <a:latin typeface="Garamond" pitchFamily="18" charset="0"/>
              </a:rPr>
              <a:t>• Secure management of passwords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500174"/>
            <a:ext cx="8229600" cy="4197361"/>
          </a:xfrm>
        </p:spPr>
        <p:txBody>
          <a:bodyPr>
            <a:normAutofit/>
          </a:bodyPr>
          <a:lstStyle/>
          <a:p>
            <a:pPr marL="0" indent="0" algn="ctr">
              <a:buNone/>
            </a:pPr>
            <a:r>
              <a:rPr lang="en-US" sz="2000" dirty="0" smtClean="0">
                <a:latin typeface="Garamond" pitchFamily="18" charset="0"/>
              </a:rPr>
              <a:t>For a company, cyber risks come from both outside and inside, so though it is important to defend the network against cyber attacks from outside, it is also important to monitor any suspicious </a:t>
            </a:r>
            <a:r>
              <a:rPr lang="en-US" sz="2000" u="sng" dirty="0" smtClean="0">
                <a:latin typeface="Garamond" pitchFamily="18" charset="0"/>
              </a:rPr>
              <a:t>internal behavior by staff</a:t>
            </a:r>
            <a:r>
              <a:rPr lang="en-US" sz="2000" dirty="0" smtClean="0">
                <a:latin typeface="Garamond" pitchFamily="18" charset="0"/>
              </a:rPr>
              <a:t>. </a:t>
            </a:r>
          </a:p>
          <a:p>
            <a:pPr marL="0" indent="0" algn="ctr">
              <a:buNone/>
            </a:pPr>
            <a:r>
              <a:rPr lang="en-US" sz="2000" dirty="0" smtClean="0">
                <a:latin typeface="Garamond" pitchFamily="18" charset="0"/>
              </a:rPr>
              <a:t>Information and data security is a central to </a:t>
            </a:r>
            <a:r>
              <a:rPr lang="en-US" sz="2000" dirty="0" err="1" smtClean="0">
                <a:latin typeface="Garamond" pitchFamily="18" charset="0"/>
              </a:rPr>
              <a:t>cybersecurity</a:t>
            </a:r>
            <a:r>
              <a:rPr lang="en-US" sz="2000" dirty="0" smtClean="0">
                <a:latin typeface="Garamond" pitchFamily="18" charset="0"/>
              </a:rPr>
              <a:t>. Confidentiality, integrity, and availability of information must be preserved. If adequate protection is not in place, it can take months or even years before the company becomes aware of an incursion into its systems; meanwhile, the intruder can steal information and control services, creating immense damage.</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Current threat detection systems collect data and correlate a series of information from different security devices, such as firewalls, server logs, emails, and antivirus programs and use them to detect anomalies. In doing so, the risk of generating incorrect reports is always a possibility so, for this reason, </a:t>
            </a:r>
            <a:r>
              <a:rPr lang="en-US" sz="2000" u="sng" dirty="0" smtClean="0">
                <a:latin typeface="Garamond" pitchFamily="18" charset="0"/>
              </a:rPr>
              <a:t>artificial intelligence algorithms are used to catalog and prioritize alarms and outsourced managed detection and response services are offered, </a:t>
            </a:r>
            <a:r>
              <a:rPr lang="en-US" sz="2000" dirty="0" smtClean="0">
                <a:latin typeface="Garamond" pitchFamily="18" charset="0"/>
              </a:rPr>
              <a:t>with trained and specialized personnel, in </a:t>
            </a:r>
            <a:r>
              <a:rPr lang="en-US" sz="2000" u="sng" dirty="0" smtClean="0">
                <a:latin typeface="Garamond" pitchFamily="18" charset="0"/>
              </a:rPr>
              <a:t>assessing any threats.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p14="http://schemas.microsoft.com/office/powerpoint/2010/main" xmlns=""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4023</TotalTime>
  <Words>2737</Words>
  <Application>Microsoft Macintosh PowerPoint</Application>
  <PresentationFormat>Presentazione su schermo (4:3)</PresentationFormat>
  <Paragraphs>187</Paragraphs>
  <Slides>25</Slides>
  <Notes>25</Notes>
  <HiddenSlides>0</HiddenSlides>
  <MMClips>0</MMClips>
  <ScaleCrop>false</ScaleCrop>
  <HeadingPairs>
    <vt:vector size="4" baseType="variant">
      <vt:variant>
        <vt:lpstr>Tema</vt:lpstr>
      </vt:variant>
      <vt:variant>
        <vt:i4>1</vt:i4>
      </vt:variant>
      <vt:variant>
        <vt:lpstr>Titoli diapositive</vt:lpstr>
      </vt:variant>
      <vt:variant>
        <vt:i4>25</vt:i4>
      </vt:variant>
    </vt:vector>
  </HeadingPairs>
  <TitlesOfParts>
    <vt:vector size="26" baseType="lpstr">
      <vt:lpstr>Tema di Office</vt:lpstr>
      <vt:lpstr>CORSO DI CYBERSECURITY AWARENESS   DIGITAL AWARNESS  1</vt:lpstr>
      <vt:lpstr>INDEX </vt:lpstr>
      <vt:lpstr>INTRODUCTION</vt:lpstr>
      <vt:lpstr>AWARENESS OF THE MEDIA</vt:lpstr>
      <vt:lpstr>Diapositiva 5</vt:lpstr>
      <vt:lpstr>Diapositiva 6</vt:lpstr>
      <vt:lpstr>Diapositiva 7</vt:lpstr>
      <vt:lpstr>Diapositiva 8</vt:lpstr>
      <vt:lpstr>ETHICAL ASPECTS: FREEDOM AND PRIVACY ONLINE</vt:lpstr>
      <vt:lpstr>Diapositiva 10</vt:lpstr>
      <vt:lpstr>Diapositiva 11</vt:lpstr>
      <vt:lpstr>BEING ONLINE? CHOOSE HOW TO REPRESENT YOURSELF.</vt:lpstr>
      <vt:lpstr>Diapositiva 13</vt:lpstr>
      <vt:lpstr>SECURITY PHILOSOPHY</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REVISIONE DEL SISTEMA SANZIONATORIO PENALE TRIBUTARIO</dc:title>
  <dc:creator>Utente</dc:creator>
  <cp:lastModifiedBy>Alessandro</cp:lastModifiedBy>
  <cp:revision>414</cp:revision>
  <dcterms:created xsi:type="dcterms:W3CDTF">2017-03-21T08:05:44Z</dcterms:created>
  <dcterms:modified xsi:type="dcterms:W3CDTF">2023-07-19T09:45:24Z</dcterms:modified>
</cp:coreProperties>
</file>